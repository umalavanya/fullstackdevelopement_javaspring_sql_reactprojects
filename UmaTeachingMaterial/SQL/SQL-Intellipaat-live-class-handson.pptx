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notesMasterIdLst>
    <p:notesMasterId r:id="rId10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varScale="1">
        <p:scale>
          <a:sx n="75" d="100"/>
          <a:sy n="75" d="100"/>
        </p:scale>
        <p:origin x="170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A9D74-977A-405A-A11C-78ABDA349A4B}" type="datetimeFigureOut">
              <a:rPr lang="en-US" smtClean="0"/>
              <a:t>6/17/2026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34DD8C-06A5-4FC5-86FD-BCAC51D02D82}" type="slidenum">
              <a:rPr lang="en-US" smtClean="0"/>
              <a:t>‹#›</a:t>
            </a:fld>
            <a:endParaRPr lang="en-US"/>
          </a:p>
        </p:txBody>
      </p:sp>
    </p:spTree>
    <p:extLst>
      <p:ext uri="{BB962C8B-B14F-4D97-AF65-F5344CB8AC3E}">
        <p14:creationId xmlns:p14="http://schemas.microsoft.com/office/powerpoint/2010/main" val="1117002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34DD8C-06A5-4FC5-86FD-BCAC51D02D82}" type="slidenum">
              <a:rPr lang="en-US" smtClean="0"/>
              <a:t>38</a:t>
            </a:fld>
            <a:endParaRPr lang="en-US"/>
          </a:p>
        </p:txBody>
      </p:sp>
    </p:spTree>
    <p:extLst>
      <p:ext uri="{BB962C8B-B14F-4D97-AF65-F5344CB8AC3E}">
        <p14:creationId xmlns:p14="http://schemas.microsoft.com/office/powerpoint/2010/main" val="3133972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6/17/2026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A3D3FA-6B62-2458-5261-BFC0D9B5CDF4}"/>
              </a:ext>
            </a:extLst>
          </p:cNvPr>
          <p:cNvSpPr txBox="1"/>
          <p:nvPr/>
        </p:nvSpPr>
        <p:spPr>
          <a:xfrm>
            <a:off x="256481" y="66908"/>
            <a:ext cx="1354858" cy="369332"/>
          </a:xfrm>
          <a:prstGeom prst="rect">
            <a:avLst/>
          </a:prstGeom>
          <a:noFill/>
          <a:ln>
            <a:solidFill>
              <a:schemeClr val="tx2">
                <a:lumMod val="10000"/>
                <a:lumOff val="90000"/>
              </a:schemeClr>
            </a:solidFill>
          </a:ln>
        </p:spPr>
        <p:txBody>
          <a:bodyPr wrap="none" rtlCol="0">
            <a:spAutoFit/>
          </a:bodyPr>
          <a:lstStyle/>
          <a:p>
            <a:r>
              <a:rPr lang="en-US" dirty="0"/>
              <a:t>SQL Basics </a:t>
            </a:r>
          </a:p>
        </p:txBody>
      </p:sp>
      <p:sp>
        <p:nvSpPr>
          <p:cNvPr id="4" name="TextBox 3">
            <a:extLst>
              <a:ext uri="{FF2B5EF4-FFF2-40B4-BE49-F238E27FC236}">
                <a16:creationId xmlns:a16="http://schemas.microsoft.com/office/drawing/2014/main" id="{E70BD4DD-92C3-F366-35C2-4F24557F90F4}"/>
              </a:ext>
            </a:extLst>
          </p:cNvPr>
          <p:cNvSpPr txBox="1"/>
          <p:nvPr/>
        </p:nvSpPr>
        <p:spPr>
          <a:xfrm>
            <a:off x="-11147" y="436240"/>
            <a:ext cx="2274848" cy="646331"/>
          </a:xfrm>
          <a:prstGeom prst="rect">
            <a:avLst/>
          </a:prstGeom>
          <a:noFill/>
          <a:ln>
            <a:solidFill>
              <a:schemeClr val="tx2">
                <a:lumMod val="10000"/>
                <a:lumOff val="90000"/>
              </a:schemeClr>
            </a:solidFill>
          </a:ln>
        </p:spPr>
        <p:txBody>
          <a:bodyPr wrap="square">
            <a:spAutoFit/>
          </a:bodyPr>
          <a:lstStyle/>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database</a:t>
            </a:r>
            <a:r>
              <a:rPr lang="en-US" sz="900" dirty="0">
                <a:solidFill>
                  <a:srgbClr val="000000"/>
                </a:solidFill>
                <a:latin typeface="Consolas" panose="020B0609020204030204" pitchFamily="49" charset="0"/>
              </a:rPr>
              <a:t> SQLTRAINING</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use</a:t>
            </a:r>
            <a:r>
              <a:rPr lang="en-US" sz="900" dirty="0">
                <a:solidFill>
                  <a:srgbClr val="000000"/>
                </a:solidFill>
                <a:latin typeface="Consolas" panose="020B0609020204030204" pitchFamily="49" charset="0"/>
              </a:rPr>
              <a:t> SQLTRAINING</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dirty="0"/>
          </a:p>
        </p:txBody>
      </p:sp>
      <p:sp>
        <p:nvSpPr>
          <p:cNvPr id="6" name="TextBox 5">
            <a:extLst>
              <a:ext uri="{FF2B5EF4-FFF2-40B4-BE49-F238E27FC236}">
                <a16:creationId xmlns:a16="http://schemas.microsoft.com/office/drawing/2014/main" id="{1B3088B4-EFC2-8E11-29E1-34F5DD2FECB4}"/>
              </a:ext>
            </a:extLst>
          </p:cNvPr>
          <p:cNvSpPr txBox="1"/>
          <p:nvPr/>
        </p:nvSpPr>
        <p:spPr>
          <a:xfrm>
            <a:off x="39017" y="1082571"/>
            <a:ext cx="3144644" cy="2446824"/>
          </a:xfrm>
          <a:prstGeom prst="rect">
            <a:avLst/>
          </a:prstGeom>
          <a:noFill/>
          <a:ln>
            <a:solidFill>
              <a:schemeClr val="tx2">
                <a:lumMod val="10000"/>
                <a:lumOff val="90000"/>
              </a:schemeClr>
            </a:solidFill>
          </a:ln>
        </p:spPr>
        <p:txBody>
          <a:bodyPr wrap="square">
            <a:spAutoFit/>
          </a:bodyPr>
          <a:lstStyle/>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sales_1</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empid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f_name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l_name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fr-FR" sz="900" dirty="0" err="1">
                <a:solidFill>
                  <a:srgbClr val="000000"/>
                </a:solidFill>
                <a:latin typeface="Consolas" panose="020B0609020204030204" pitchFamily="49" charset="0"/>
              </a:rPr>
              <a:t>mobile_no</a:t>
            </a:r>
            <a:r>
              <a:rPr lang="fr-FR" sz="900" dirty="0">
                <a:solidFill>
                  <a:srgbClr val="000000"/>
                </a:solidFill>
                <a:latin typeface="Consolas" panose="020B0609020204030204" pitchFamily="49" charset="0"/>
              </a:rPr>
              <a:t> </a:t>
            </a:r>
            <a:r>
              <a:rPr lang="fr-FR" sz="900" dirty="0" err="1">
                <a:solidFill>
                  <a:srgbClr val="0000FF"/>
                </a:solidFill>
                <a:latin typeface="Consolas" panose="020B0609020204030204" pitchFamily="49" charset="0"/>
              </a:rPr>
              <a:t>bigint</a:t>
            </a:r>
            <a:r>
              <a:rPr lang="fr-FR" sz="900" dirty="0">
                <a:solidFill>
                  <a:srgbClr val="000000"/>
                </a:solidFill>
                <a:latin typeface="Consolas" panose="020B0609020204030204" pitchFamily="49" charset="0"/>
              </a:rPr>
              <a:t> </a:t>
            </a:r>
            <a:r>
              <a:rPr lang="fr-FR" sz="900" dirty="0">
                <a:solidFill>
                  <a:srgbClr val="0000FF"/>
                </a:solidFill>
                <a:latin typeface="Consolas" panose="020B0609020204030204" pitchFamily="49" charset="0"/>
              </a:rPr>
              <a:t>UNIQUE</a:t>
            </a:r>
            <a:r>
              <a:rPr lang="fr-FR" sz="900" dirty="0">
                <a:solidFill>
                  <a:srgbClr val="000000"/>
                </a:solidFill>
                <a:latin typeface="Consolas" panose="020B0609020204030204" pitchFamily="49" charset="0"/>
              </a:rPr>
              <a:t> </a:t>
            </a:r>
            <a:r>
              <a:rPr lang="fr-FR" sz="900" dirty="0">
                <a:solidFill>
                  <a:srgbClr val="0000FF"/>
                </a:solidFill>
                <a:latin typeface="Consolas" panose="020B0609020204030204" pitchFamily="49" charset="0"/>
              </a:rPr>
              <a:t>DEFAULT</a:t>
            </a:r>
            <a:r>
              <a:rPr lang="fr-FR" sz="900" dirty="0">
                <a:solidFill>
                  <a:srgbClr val="000000"/>
                </a:solidFill>
                <a:latin typeface="Consolas" panose="020B0609020204030204" pitchFamily="49" charset="0"/>
              </a:rPr>
              <a:t> </a:t>
            </a:r>
            <a:r>
              <a:rPr lang="fr-FR" sz="900" dirty="0">
                <a:solidFill>
                  <a:srgbClr val="FF0000"/>
                </a:solidFill>
                <a:latin typeface="Consolas" panose="020B0609020204030204" pitchFamily="49" charset="0"/>
              </a:rPr>
              <a:t>'444400000'</a:t>
            </a:r>
            <a:r>
              <a:rPr lang="fr-FR" sz="900" dirty="0">
                <a:solidFill>
                  <a:srgbClr val="808080"/>
                </a:solidFill>
                <a:latin typeface="Consolas" panose="020B0609020204030204" pitchFamily="49" charset="0"/>
              </a:rPr>
              <a:t>,</a:t>
            </a:r>
            <a:endParaRPr lang="fr-FR"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DOB </a:t>
            </a:r>
            <a:r>
              <a:rPr lang="en-US" sz="900" dirty="0">
                <a:solidFill>
                  <a:srgbClr val="0000FF"/>
                </a:solidFill>
                <a:latin typeface="Consolas" panose="020B0609020204030204" pitchFamily="49" charset="0"/>
              </a:rPr>
              <a:t>date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CHECK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DOB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'1980-01-01'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a:t>
            </a:r>
            <a:r>
              <a:rPr lang="en-US" sz="900" dirty="0">
                <a:solidFill>
                  <a:srgbClr val="000000"/>
                </a:solidFill>
                <a:latin typeface="Consolas" panose="020B0609020204030204" pitchFamily="49" charset="0"/>
              </a:rPr>
              <a:t> </a:t>
            </a:r>
            <a:r>
              <a:rPr lang="en-US" sz="900" dirty="0" err="1">
                <a:solidFill>
                  <a:srgbClr val="800000"/>
                </a:solidFill>
                <a:latin typeface="Consolas" panose="020B0609020204030204" pitchFamily="49" charset="0"/>
              </a:rPr>
              <a:t>sp_help</a:t>
            </a:r>
            <a:r>
              <a:rPr lang="en-US" sz="900" dirty="0">
                <a:solidFill>
                  <a:srgbClr val="0000FF"/>
                </a:solidFill>
                <a:latin typeface="Consolas" panose="020B0609020204030204" pitchFamily="49" charset="0"/>
              </a:rPr>
              <a:t> </a:t>
            </a:r>
            <a:r>
              <a:rPr lang="en-US" sz="900" dirty="0">
                <a:solidFill>
                  <a:srgbClr val="000000"/>
                </a:solidFill>
                <a:latin typeface="Consolas" panose="020B0609020204030204" pitchFamily="49" charset="0"/>
              </a:rPr>
              <a:t>sales_1</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--drop table orders_1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--drop table sales_1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--truncate table orders_1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--truncate table sales_1</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orders_1</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sales_1</a:t>
            </a:r>
            <a:endParaRPr lang="en-US" dirty="0"/>
          </a:p>
        </p:txBody>
      </p:sp>
      <p:sp>
        <p:nvSpPr>
          <p:cNvPr id="8" name="TextBox 7">
            <a:extLst>
              <a:ext uri="{FF2B5EF4-FFF2-40B4-BE49-F238E27FC236}">
                <a16:creationId xmlns:a16="http://schemas.microsoft.com/office/drawing/2014/main" id="{922AE01F-7978-4C23-8821-51F633CBF1E8}"/>
              </a:ext>
            </a:extLst>
          </p:cNvPr>
          <p:cNvSpPr txBox="1"/>
          <p:nvPr/>
        </p:nvSpPr>
        <p:spPr>
          <a:xfrm>
            <a:off x="-11147" y="3529395"/>
            <a:ext cx="3501482" cy="2862322"/>
          </a:xfrm>
          <a:prstGeom prst="rect">
            <a:avLst/>
          </a:prstGeom>
          <a:noFill/>
          <a:ln>
            <a:solidFill>
              <a:schemeClr val="tx2">
                <a:lumMod val="10000"/>
                <a:lumOff val="90000"/>
              </a:schemeClr>
            </a:solidFill>
          </a:ln>
        </p:spPr>
        <p:txBody>
          <a:bodyPr wrap="square">
            <a:spAutoFit/>
          </a:bodyPr>
          <a:lstStyle/>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sales_1 </a:t>
            </a:r>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1</a:t>
            </a:r>
            <a:r>
              <a:rPr lang="it-IT" sz="900" dirty="0">
                <a:solidFill>
                  <a:srgbClr val="808080"/>
                </a:solidFill>
                <a:latin typeface="Consolas" panose="020B0609020204030204" pitchFamily="49" charset="0"/>
              </a:rPr>
              <a:t>,</a:t>
            </a:r>
            <a:r>
              <a:rPr lang="it-IT" sz="900" dirty="0">
                <a:solidFill>
                  <a:srgbClr val="FF0000"/>
                </a:solidFill>
                <a:latin typeface="Consolas" panose="020B0609020204030204" pitchFamily="49" charset="0"/>
              </a:rPr>
              <a:t>'peter'</a:t>
            </a:r>
            <a:r>
              <a:rPr lang="it-IT" sz="900" dirty="0">
                <a:solidFill>
                  <a:srgbClr val="808080"/>
                </a:solidFill>
                <a:latin typeface="Consolas" panose="020B0609020204030204" pitchFamily="49" charset="0"/>
              </a:rPr>
              <a:t>,</a:t>
            </a:r>
            <a:r>
              <a:rPr lang="it-IT" sz="900" dirty="0">
                <a:solidFill>
                  <a:srgbClr val="FF0000"/>
                </a:solidFill>
                <a:latin typeface="Consolas" panose="020B0609020204030204" pitchFamily="49" charset="0"/>
              </a:rPr>
              <a:t>'paul'</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9987667543</a:t>
            </a:r>
            <a:r>
              <a:rPr lang="it-IT" sz="900" dirty="0">
                <a:solidFill>
                  <a:srgbClr val="808080"/>
                </a:solidFill>
                <a:latin typeface="Consolas" panose="020B0609020204030204" pitchFamily="49" charset="0"/>
              </a:rPr>
              <a:t>,</a:t>
            </a:r>
            <a:r>
              <a:rPr lang="it-IT" sz="900" dirty="0">
                <a:solidFill>
                  <a:srgbClr val="FF0000"/>
                </a:solidFill>
                <a:latin typeface="Consolas" panose="020B0609020204030204" pitchFamily="49" charset="0"/>
              </a:rPr>
              <a:t>'1988-12-18'</a:t>
            </a:r>
            <a:r>
              <a:rPr lang="it-IT" sz="900" dirty="0">
                <a:solidFill>
                  <a:srgbClr val="808080"/>
                </a:solidFill>
                <a:latin typeface="Consolas" panose="020B0609020204030204" pitchFamily="49" charset="0"/>
              </a:rPr>
              <a:t>),</a:t>
            </a:r>
            <a:endParaRPr lang="it-IT"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'nancy'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'idi'</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085748898</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'1991-03-01'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'joy'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'dike'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9389499009</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'1981-03-04'</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da-DK" sz="900" dirty="0">
                <a:solidFill>
                  <a:srgbClr val="808080"/>
                </a:solidFill>
                <a:latin typeface="Consolas" panose="020B0609020204030204" pitchFamily="49" charset="0"/>
              </a:rPr>
              <a:t>(</a:t>
            </a:r>
            <a:r>
              <a:rPr lang="da-DK" sz="900" dirty="0">
                <a:solidFill>
                  <a:srgbClr val="000000"/>
                </a:solidFill>
                <a:latin typeface="Consolas" panose="020B0609020204030204" pitchFamily="49" charset="0"/>
              </a:rPr>
              <a:t>4</a:t>
            </a:r>
            <a:r>
              <a:rPr lang="da-DK" sz="900" dirty="0">
                <a:solidFill>
                  <a:srgbClr val="808080"/>
                </a:solidFill>
                <a:latin typeface="Consolas" panose="020B0609020204030204" pitchFamily="49" charset="0"/>
              </a:rPr>
              <a:t>,</a:t>
            </a:r>
            <a:r>
              <a:rPr lang="da-DK" sz="900" dirty="0">
                <a:solidFill>
                  <a:srgbClr val="000000"/>
                </a:solidFill>
                <a:latin typeface="Consolas" panose="020B0609020204030204" pitchFamily="49" charset="0"/>
              </a:rPr>
              <a:t> </a:t>
            </a:r>
            <a:r>
              <a:rPr lang="da-DK" sz="900" dirty="0">
                <a:solidFill>
                  <a:srgbClr val="FF0000"/>
                </a:solidFill>
                <a:latin typeface="Consolas" panose="020B0609020204030204" pitchFamily="49" charset="0"/>
              </a:rPr>
              <a:t>'ike'</a:t>
            </a:r>
            <a:r>
              <a:rPr lang="da-DK" sz="900" dirty="0">
                <a:solidFill>
                  <a:srgbClr val="808080"/>
                </a:solidFill>
                <a:latin typeface="Consolas" panose="020B0609020204030204" pitchFamily="49" charset="0"/>
              </a:rPr>
              <a:t>,</a:t>
            </a:r>
            <a:r>
              <a:rPr lang="da-DK" sz="900" dirty="0">
                <a:solidFill>
                  <a:srgbClr val="000000"/>
                </a:solidFill>
                <a:latin typeface="Consolas" panose="020B0609020204030204" pitchFamily="49" charset="0"/>
              </a:rPr>
              <a:t> </a:t>
            </a:r>
            <a:r>
              <a:rPr lang="da-DK" sz="900" dirty="0">
                <a:solidFill>
                  <a:srgbClr val="FF0000"/>
                </a:solidFill>
                <a:latin typeface="Consolas" panose="020B0609020204030204" pitchFamily="49" charset="0"/>
              </a:rPr>
              <a:t>'fueu'</a:t>
            </a:r>
            <a:r>
              <a:rPr lang="da-DK" sz="900" dirty="0">
                <a:solidFill>
                  <a:srgbClr val="808080"/>
                </a:solidFill>
                <a:latin typeface="Consolas" panose="020B0609020204030204" pitchFamily="49" charset="0"/>
              </a:rPr>
              <a:t>,</a:t>
            </a:r>
            <a:r>
              <a:rPr lang="da-DK" sz="900" dirty="0">
                <a:solidFill>
                  <a:srgbClr val="000000"/>
                </a:solidFill>
                <a:latin typeface="Consolas" panose="020B0609020204030204" pitchFamily="49" charset="0"/>
              </a:rPr>
              <a:t> 8658796006</a:t>
            </a:r>
            <a:r>
              <a:rPr lang="da-DK" sz="900" dirty="0">
                <a:solidFill>
                  <a:srgbClr val="808080"/>
                </a:solidFill>
                <a:latin typeface="Consolas" panose="020B0609020204030204" pitchFamily="49" charset="0"/>
              </a:rPr>
              <a:t>,</a:t>
            </a:r>
            <a:r>
              <a:rPr lang="da-DK" sz="900" dirty="0">
                <a:solidFill>
                  <a:srgbClr val="FF0000"/>
                </a:solidFill>
                <a:latin typeface="Consolas" panose="020B0609020204030204" pitchFamily="49" charset="0"/>
              </a:rPr>
              <a:t>'2020-01-03'</a:t>
            </a:r>
            <a:r>
              <a:rPr lang="da-DK" sz="900" dirty="0">
                <a:solidFill>
                  <a:srgbClr val="808080"/>
                </a:solidFill>
                <a:latin typeface="Consolas" panose="020B0609020204030204" pitchFamily="49" charset="0"/>
              </a:rPr>
              <a:t>);</a:t>
            </a:r>
            <a:endParaRPr lang="da-DK"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sales_1</a:t>
            </a:r>
          </a:p>
          <a:p>
            <a:r>
              <a:rPr lang="en-US" sz="900" dirty="0">
                <a:solidFill>
                  <a:srgbClr val="008000"/>
                </a:solidFill>
                <a:latin typeface="Consolas" panose="020B0609020204030204" pitchFamily="49" charset="0"/>
              </a:rPr>
              <a:t>--CHECK CONSTRAINT VALIDATION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sales_1 </a:t>
            </a:r>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roy</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lewis</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9389677009</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'1979-03-04'</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--UNIQUE CONSTRAINT VALIDATION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sales_1 </a:t>
            </a:r>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roy</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lewis</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9389499009</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'1979-03-04'</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--DEFAULT CONSTRAINT VALIDATION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sales_1</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empid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f_name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l_name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DOB</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roy</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'lewis'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'1989-03-04'</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--delete from sales_1 where empid=5</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
        <p:nvSpPr>
          <p:cNvPr id="12" name="TextBox 11">
            <a:extLst>
              <a:ext uri="{FF2B5EF4-FFF2-40B4-BE49-F238E27FC236}">
                <a16:creationId xmlns:a16="http://schemas.microsoft.com/office/drawing/2014/main" id="{7BF296D1-22B0-1DA5-F810-956198329E6F}"/>
              </a:ext>
            </a:extLst>
          </p:cNvPr>
          <p:cNvSpPr txBox="1"/>
          <p:nvPr/>
        </p:nvSpPr>
        <p:spPr>
          <a:xfrm>
            <a:off x="3947535" y="1448358"/>
            <a:ext cx="5731725" cy="3000821"/>
          </a:xfrm>
          <a:prstGeom prst="rect">
            <a:avLst/>
          </a:prstGeom>
          <a:noFill/>
          <a:ln>
            <a:solidFill>
              <a:schemeClr val="tx2">
                <a:lumMod val="10000"/>
                <a:lumOff val="90000"/>
              </a:schemeClr>
            </a:solidFill>
          </a:ln>
        </p:spPr>
        <p:txBody>
          <a:bodyPr wrap="square">
            <a:spAutoFit/>
          </a:bodyPr>
          <a:lstStyle/>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orders_1</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empid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Foreign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References</a:t>
            </a:r>
            <a:r>
              <a:rPr lang="en-US" sz="900" dirty="0">
                <a:solidFill>
                  <a:srgbClr val="000000"/>
                </a:solidFill>
                <a:latin typeface="Consolas" panose="020B0609020204030204" pitchFamily="49" charset="0"/>
              </a:rPr>
              <a:t> sales_1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UNIQUE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product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city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DEFAULT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'Mumbai'</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--drop table sales_1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--drop table orders_1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sales_1</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orders_1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110</a:t>
            </a:r>
          </a:p>
          <a:p>
            <a:r>
              <a:rPr lang="en-US" sz="900" dirty="0">
                <a:solidFill>
                  <a:srgbClr val="0000FF"/>
                </a:solidFill>
                <a:latin typeface="Consolas" panose="020B0609020204030204" pitchFamily="49" charset="0"/>
              </a:rPr>
              <a:t>truncate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orders_1</a:t>
            </a:r>
          </a:p>
          <a:p>
            <a:r>
              <a:rPr lang="en-US" sz="900" dirty="0">
                <a:solidFill>
                  <a:srgbClr val="0000FF"/>
                </a:solidFill>
                <a:latin typeface="Consolas" panose="020B0609020204030204" pitchFamily="49" charset="0"/>
              </a:rPr>
              <a:t>truncate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sales_1</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orders_1 </a:t>
            </a:r>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'banana'</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'Surat'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112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'apple'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'Mumbai'</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113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'grapes'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'Bengaluru'</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orders_1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city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'Mumbai'</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
        <p:nvSpPr>
          <p:cNvPr id="16" name="TextBox 15">
            <a:extLst>
              <a:ext uri="{FF2B5EF4-FFF2-40B4-BE49-F238E27FC236}">
                <a16:creationId xmlns:a16="http://schemas.microsoft.com/office/drawing/2014/main" id="{3599432F-892E-0C4F-0393-2CA90EED460F}"/>
              </a:ext>
            </a:extLst>
          </p:cNvPr>
          <p:cNvSpPr txBox="1"/>
          <p:nvPr/>
        </p:nvSpPr>
        <p:spPr>
          <a:xfrm>
            <a:off x="3490335" y="4485654"/>
            <a:ext cx="4047892" cy="2308324"/>
          </a:xfrm>
          <a:prstGeom prst="rect">
            <a:avLst/>
          </a:prstGeom>
          <a:noFill/>
          <a:ln>
            <a:solidFill>
              <a:schemeClr val="tx2">
                <a:lumMod val="10000"/>
                <a:lumOff val="90000"/>
              </a:schemeClr>
            </a:solidFill>
          </a:ln>
        </p:spPr>
        <p:txBody>
          <a:bodyPr wrap="square">
            <a:spAutoFit/>
          </a:bodyPr>
          <a:lstStyle/>
          <a:p>
            <a:r>
              <a:rPr lang="en-US" sz="900" dirty="0">
                <a:solidFill>
                  <a:srgbClr val="008000"/>
                </a:solidFill>
                <a:latin typeface="Consolas" panose="020B0609020204030204" pitchFamily="49" charset="0"/>
              </a:rPr>
              <a:t>--Create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tblstudent</a:t>
            </a:r>
            <a:r>
              <a:rPr lang="en-US" sz="900" dirty="0">
                <a:solidFill>
                  <a:srgbClr val="000000"/>
                </a:solidFill>
                <a:latin typeface="Consolas" panose="020B0609020204030204" pitchFamily="49" charset="0"/>
              </a:rPr>
              <a:t>]</a:t>
            </a: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[id]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student_code</a:t>
            </a:r>
            <a:r>
              <a:rPr lang="en-US" sz="900" dirty="0">
                <a:solidFill>
                  <a:srgbClr val="000000"/>
                </a:solidFill>
                <a:latin typeface="Consolas" panose="020B0609020204030204" pitchFamily="49" charset="0"/>
              </a:rPr>
              <a:t>]      [VARCHAR]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student_firstname</a:t>
            </a:r>
            <a:r>
              <a:rPr lang="en-US" sz="900" dirty="0">
                <a:solidFill>
                  <a:srgbClr val="000000"/>
                </a:solidFill>
                <a:latin typeface="Consolas" panose="020B0609020204030204" pitchFamily="49" charset="0"/>
              </a:rPr>
              <a:t>] [VARCHAR]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250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student_lastname</a:t>
            </a:r>
            <a:r>
              <a:rPr lang="en-US" sz="900" dirty="0">
                <a:solidFill>
                  <a:srgbClr val="000000"/>
                </a:solidFill>
                <a:latin typeface="Consolas" panose="020B0609020204030204" pitchFamily="49" charset="0"/>
              </a:rPr>
              <a:t>]  [VARCHAR]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[address]           [VARCHAR]</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max</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city_code</a:t>
            </a:r>
            <a:r>
              <a:rPr lang="en-US" sz="900" dirty="0">
                <a:solidFill>
                  <a:srgbClr val="000000"/>
                </a:solidFill>
                <a:latin typeface="Consolas" panose="020B0609020204030204" pitchFamily="49" charset="0"/>
              </a:rPr>
              <a:t>]         [VARCHAR]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school_code</a:t>
            </a:r>
            <a:r>
              <a:rPr lang="en-US" sz="900" dirty="0">
                <a:solidFill>
                  <a:srgbClr val="000000"/>
                </a:solidFill>
                <a:latin typeface="Consolas" panose="020B0609020204030204" pitchFamily="49" charset="0"/>
              </a:rPr>
              <a:t>]       [VARCHAR]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admissiondate</a:t>
            </a:r>
            <a:r>
              <a:rPr lang="en-US" sz="900" dirty="0">
                <a:solidFill>
                  <a:srgbClr val="000000"/>
                </a:solidFill>
                <a:latin typeface="Consolas" panose="020B0609020204030204" pitchFamily="49" charset="0"/>
              </a:rPr>
              <a:t>]     [DATETIME]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CONSTRAINT</a:t>
            </a:r>
            <a:r>
              <a:rPr lang="en-US" sz="900" dirty="0">
                <a:solidFill>
                  <a:srgbClr val="000000"/>
                </a:solidFill>
                <a:latin typeface="Consolas" panose="020B0609020204030204" pitchFamily="49" charset="0"/>
              </a:rPr>
              <a:t> [PK_ID]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CLUSTERED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[id] </a:t>
            </a:r>
            <a:r>
              <a:rPr lang="en-US" sz="900" dirty="0">
                <a:solidFill>
                  <a:srgbClr val="0000FF"/>
                </a:solidFill>
                <a:latin typeface="Consolas" panose="020B0609020204030204" pitchFamily="49" charset="0"/>
              </a:rPr>
              <a:t>ASC</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SELECT </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student_code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student_firstname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truncate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endParaRPr lang="en-US" sz="900" dirty="0">
              <a:solidFill>
                <a:srgbClr val="000000"/>
              </a:solidFill>
              <a:latin typeface="Consolas" panose="020B0609020204030204" pitchFamily="49" charset="0"/>
            </a:endParaRPr>
          </a:p>
        </p:txBody>
      </p:sp>
      <p:sp>
        <p:nvSpPr>
          <p:cNvPr id="20" name="TextBox 19">
            <a:extLst>
              <a:ext uri="{FF2B5EF4-FFF2-40B4-BE49-F238E27FC236}">
                <a16:creationId xmlns:a16="http://schemas.microsoft.com/office/drawing/2014/main" id="{AB584945-ED22-2CD9-1BDC-D3EC7DB4B385}"/>
              </a:ext>
            </a:extLst>
          </p:cNvPr>
          <p:cNvSpPr txBox="1"/>
          <p:nvPr/>
        </p:nvSpPr>
        <p:spPr>
          <a:xfrm>
            <a:off x="3183661" y="64022"/>
            <a:ext cx="4951140" cy="1338828"/>
          </a:xfrm>
          <a:prstGeom prst="rect">
            <a:avLst/>
          </a:prstGeom>
          <a:noFill/>
          <a:ln>
            <a:solidFill>
              <a:schemeClr val="tx2">
                <a:lumMod val="10000"/>
                <a:lumOff val="90000"/>
              </a:schemeClr>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solidFill>
                  <a:srgbClr val="008000"/>
                </a:solidFill>
                <a:effectLst/>
                <a:uLnTx/>
                <a:uFillTx/>
                <a:latin typeface="Consolas" panose="020B0609020204030204" pitchFamily="49" charset="0"/>
                <a:ea typeface="+mn-ea"/>
                <a:cs typeface="+mn-cs"/>
              </a:rPr>
              <a:t>-- DEFAULT CONSTRAINT VALIDATION</a:t>
            </a:r>
            <a:endPar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solidFill>
                  <a:srgbClr val="0000FF"/>
                </a:solidFill>
                <a:effectLst/>
                <a:uLnTx/>
                <a:uFillTx/>
                <a:latin typeface="Consolas" panose="020B0609020204030204" pitchFamily="49" charset="0"/>
                <a:ea typeface="+mn-ea"/>
                <a:cs typeface="+mn-cs"/>
              </a:rPr>
              <a:t>insert</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solidFill>
                  <a:srgbClr val="0000FF"/>
                </a:solidFill>
                <a:effectLst/>
                <a:uLnTx/>
                <a:uFillTx/>
                <a:latin typeface="Consolas" panose="020B0609020204030204" pitchFamily="49" charset="0"/>
                <a:ea typeface="+mn-ea"/>
                <a:cs typeface="+mn-cs"/>
              </a:rPr>
              <a:t>into</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orders_1</a:t>
            </a:r>
            <a:r>
              <a:rPr kumimoji="0" lang="en-US" sz="900" b="0" i="0" u="none" strike="noStrike" kern="1200" cap="none" spc="0" normalizeH="0" baseline="0" noProof="0" dirty="0">
                <a:solidFill>
                  <a:srgbClr val="0000FF"/>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solidFill>
                  <a:srgbClr val="000000"/>
                </a:solidFill>
                <a:effectLst/>
                <a:uLnTx/>
                <a:uFillTx/>
                <a:latin typeface="Consolas" panose="020B0609020204030204" pitchFamily="49" charset="0"/>
                <a:ea typeface="+mn-ea"/>
                <a:cs typeface="+mn-cs"/>
              </a:rPr>
              <a:t>empid</a:t>
            </a:r>
            <a:r>
              <a:rPr kumimoji="0" lang="en-US" sz="900" b="0" i="0" u="none" strike="noStrike" kern="1200" cap="none" spc="0" normalizeH="0" baseline="0" noProof="0" dirty="0" err="1">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solidFill>
                  <a:srgbClr val="000000"/>
                </a:solidFill>
                <a:effectLst/>
                <a:uLnTx/>
                <a:uFillTx/>
                <a:latin typeface="Consolas" panose="020B0609020204030204" pitchFamily="49" charset="0"/>
                <a:ea typeface="+mn-ea"/>
                <a:cs typeface="+mn-cs"/>
              </a:rPr>
              <a:t>order_id</a:t>
            </a:r>
            <a:r>
              <a:rPr kumimoji="0" lang="en-US" sz="900" b="0" i="0" u="none" strike="noStrike" kern="1200" cap="none" spc="0" normalizeH="0" baseline="0" noProof="0" dirty="0" err="1">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solidFill>
                  <a:srgbClr val="FF00FF"/>
                </a:solidFill>
                <a:effectLst/>
                <a:uLnTx/>
                <a:uFillTx/>
                <a:latin typeface="Consolas" panose="020B0609020204030204" pitchFamily="49" charset="0"/>
                <a:ea typeface="+mn-ea"/>
                <a:cs typeface="+mn-cs"/>
              </a:rPr>
              <a:t>product</a:t>
            </a:r>
            <a:r>
              <a:rPr kumimoji="0" lang="en-US" sz="900" b="0" i="0" u="none" strike="noStrike" kern="1200" cap="none" spc="0" normalizeH="0" baseline="0" noProof="0" dirty="0">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solidFill>
                  <a:srgbClr val="0000FF"/>
                </a:solidFill>
                <a:effectLst/>
                <a:uLnTx/>
                <a:uFillTx/>
                <a:latin typeface="Consolas" panose="020B0609020204030204" pitchFamily="49" charset="0"/>
                <a:ea typeface="+mn-ea"/>
                <a:cs typeface="+mn-cs"/>
              </a:rPr>
              <a:t>values</a:t>
            </a:r>
            <a:r>
              <a:rPr kumimoji="0" lang="en-US" sz="900" b="0" i="0" u="none" strike="noStrike" kern="1200" cap="none" spc="0" normalizeH="0" baseline="0" noProof="0" dirty="0">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4</a:t>
            </a:r>
            <a:r>
              <a:rPr kumimoji="0" lang="en-US" sz="900" b="0" i="0" u="none" strike="noStrike" kern="1200" cap="none" spc="0" normalizeH="0" baseline="0" noProof="0" dirty="0">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115</a:t>
            </a:r>
            <a:r>
              <a:rPr kumimoji="0" lang="en-US" sz="900" b="0" i="0" u="none" strike="noStrike" kern="1200" cap="none" spc="0" normalizeH="0" baseline="0" noProof="0" dirty="0">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solidFill>
                  <a:srgbClr val="FF0000"/>
                </a:solidFill>
                <a:effectLst/>
                <a:uLnTx/>
                <a:uFillTx/>
                <a:latin typeface="Consolas" panose="020B0609020204030204" pitchFamily="49" charset="0"/>
                <a:ea typeface="+mn-ea"/>
                <a:cs typeface="+mn-cs"/>
              </a:rPr>
              <a:t>'mango'</a:t>
            </a:r>
            <a:r>
              <a:rPr kumimoji="0" lang="en-US" sz="900" b="0" i="0" u="none" strike="noStrike" kern="1200" cap="none" spc="0" normalizeH="0" baseline="0" noProof="0" dirty="0">
                <a:solidFill>
                  <a:srgbClr val="80808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solidFill>
                  <a:srgbClr val="0000FF"/>
                </a:solidFill>
                <a:effectLst/>
                <a:uLnTx/>
                <a:uFillTx/>
                <a:latin typeface="Consolas" panose="020B0609020204030204" pitchFamily="49" charset="0"/>
                <a:ea typeface="+mn-ea"/>
                <a:cs typeface="+mn-cs"/>
              </a:rPr>
              <a:t>select</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solidFill>
                  <a:srgbClr val="0000FF"/>
                </a:solidFill>
                <a:effectLst/>
                <a:uLnTx/>
                <a:uFillTx/>
                <a:latin typeface="Consolas" panose="020B0609020204030204" pitchFamily="49" charset="0"/>
                <a:ea typeface="+mn-ea"/>
                <a:cs typeface="+mn-cs"/>
              </a:rPr>
              <a:t>from</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orders_1 </a:t>
            </a:r>
            <a:r>
              <a:rPr kumimoji="0" lang="en-US" sz="900" b="0" i="0" u="none" strike="noStrike" kern="1200" cap="none" spc="0" normalizeH="0" baseline="0" noProof="0" dirty="0">
                <a:solidFill>
                  <a:srgbClr val="0000FF"/>
                </a:solidFill>
                <a:effectLst/>
                <a:uLnTx/>
                <a:uFillTx/>
                <a:latin typeface="Consolas" panose="020B0609020204030204" pitchFamily="49" charset="0"/>
                <a:ea typeface="+mn-ea"/>
                <a:cs typeface="+mn-cs"/>
              </a:rPr>
              <a:t>where</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city </a:t>
            </a:r>
            <a:r>
              <a:rPr kumimoji="0" lang="en-US" sz="900" b="0" i="0" u="none" strike="noStrike" kern="1200" cap="none" spc="0" normalizeH="0" baseline="0" noProof="0" dirty="0">
                <a:solidFill>
                  <a:srgbClr val="808080"/>
                </a:solidFill>
                <a:effectLst/>
                <a:uLnTx/>
                <a:uFillTx/>
                <a:latin typeface="Consolas" panose="020B0609020204030204" pitchFamily="49" charset="0"/>
                <a:ea typeface="+mn-ea"/>
                <a:cs typeface="+mn-cs"/>
              </a:rPr>
              <a:t>like</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solidFill>
                  <a:srgbClr val="FF000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solidFill>
                  <a:srgbClr val="FF0000"/>
                </a:solidFill>
                <a:effectLst/>
                <a:uLnTx/>
                <a:uFillTx/>
                <a:latin typeface="Consolas" panose="020B0609020204030204" pitchFamily="49" charset="0"/>
                <a:ea typeface="+mn-ea"/>
                <a:cs typeface="+mn-cs"/>
              </a:rPr>
              <a:t>S_r_t</a:t>
            </a:r>
            <a:r>
              <a:rPr kumimoji="0" lang="en-US" sz="900" b="0" i="0" u="none" strike="noStrike" kern="1200" cap="none" spc="0" normalizeH="0" baseline="0" noProof="0" dirty="0">
                <a:solidFill>
                  <a:srgbClr val="FF000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solidFill>
                  <a:srgbClr val="0000FF"/>
                </a:solidFill>
                <a:effectLst/>
                <a:uLnTx/>
                <a:uFillTx/>
                <a:latin typeface="Consolas" panose="020B0609020204030204" pitchFamily="49" charset="0"/>
                <a:ea typeface="+mn-ea"/>
                <a:cs typeface="+mn-cs"/>
              </a:rPr>
              <a:t>use</a:t>
            </a:r>
            <a:r>
              <a:rPr kumimoji="0" lang="en-US" sz="900" b="0" i="0" u="none" strike="noStrike" kern="1200" cap="none" spc="0" normalizeH="0" baseline="0" noProof="0" dirty="0">
                <a:solidFill>
                  <a:srgbClr val="000000"/>
                </a:solidFill>
                <a:effectLst/>
                <a:uLnTx/>
                <a:uFillTx/>
                <a:latin typeface="Consolas" panose="020B0609020204030204" pitchFamily="49" charset="0"/>
                <a:ea typeface="+mn-ea"/>
                <a:cs typeface="+mn-cs"/>
              </a:rPr>
              <a:t> SQLTRAINING</a:t>
            </a:r>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EBDB2B-50DA-ED6B-5BC5-D055A26534B6}"/>
              </a:ext>
            </a:extLst>
          </p:cNvPr>
          <p:cNvSpPr txBox="1"/>
          <p:nvPr/>
        </p:nvSpPr>
        <p:spPr>
          <a:xfrm>
            <a:off x="0" y="0"/>
            <a:ext cx="5452946" cy="3831818"/>
          </a:xfrm>
          <a:prstGeom prst="rect">
            <a:avLst/>
          </a:prstGeom>
          <a:noFill/>
        </p:spPr>
        <p:txBody>
          <a:bodyPr wrap="square">
            <a:spAutoFit/>
          </a:bodyPr>
          <a:lstStyle/>
          <a:p>
            <a:r>
              <a:rPr lang="en-US" sz="900" dirty="0">
                <a:solidFill>
                  <a:srgbClr val="008000"/>
                </a:solidFill>
                <a:latin typeface="Consolas" panose="020B0609020204030204" pitchFamily="49" charset="0"/>
              </a:rPr>
              <a:t>--INSERT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001</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'S001'</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'seema'</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'tyagi'</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'hgsgjhshjkhskjh'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'MH'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'DPS-MUM'</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'2022-11-17'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002</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'S002'</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'geeta'</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'kumar'</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'hjjkhkjhjkhjhks'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'BN'</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'DPS-BNG'</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'2021-07-21'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003</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'S003'</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'smaeer'</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'tyagi'</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'hgsgjhshjkhskjh'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'MH'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'DPS-MUM'</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'2022-05-11'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004</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'S004'</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'ritesh'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'gujaran'</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'hgsgjhshjkhskjh'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'BN'</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'DPS-BNG'</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'2022-08-12'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005</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'S005'</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'karan'</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'yadav'</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'hgsgjhshjkhskjh'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'MH'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'DPS-MUM'</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'2022-11-12'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006</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'S006'</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'seema'</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'devadiga'</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'hgsgjhshjkhskjh'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'MH'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'DPS-MUM'</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'2022-11-27'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truncate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student_lastname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--alter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ALTER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tblstudent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ADD</a:t>
            </a:r>
            <a:r>
              <a:rPr lang="en-US" sz="900" dirty="0">
                <a:solidFill>
                  <a:srgbClr val="000000"/>
                </a:solidFill>
                <a:latin typeface="Consolas" panose="020B0609020204030204" pitchFamily="49" charset="0"/>
              </a:rPr>
              <a:t> GENDER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808080"/>
                </a:solidFill>
                <a:latin typeface="Consolas" panose="020B0609020204030204" pitchFamily="49" charset="0"/>
              </a:rPr>
              <a:t>NULL,</a:t>
            </a:r>
            <a:r>
              <a:rPr lang="en-US" sz="900" dirty="0" err="1">
                <a:solidFill>
                  <a:srgbClr val="000000"/>
                </a:solidFill>
                <a:latin typeface="Consolas" panose="020B0609020204030204" pitchFamily="49" charset="0"/>
              </a:rPr>
              <a:t>mobile_no</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a:t>
            </a:r>
            <a:r>
              <a:rPr lang="en-US" sz="900" dirty="0">
                <a:solidFill>
                  <a:srgbClr val="000000"/>
                </a:solidFill>
                <a:latin typeface="Consolas" panose="020B0609020204030204" pitchFamily="49" charset="0"/>
              </a:rPr>
              <a:t> </a:t>
            </a:r>
            <a:r>
              <a:rPr lang="en-US" sz="900" dirty="0" err="1">
                <a:solidFill>
                  <a:srgbClr val="800000"/>
                </a:solidFill>
                <a:latin typeface="Consolas" panose="020B0609020204030204" pitchFamily="49" charset="0"/>
              </a:rPr>
              <a:t>sp_rename</a:t>
            </a:r>
            <a:r>
              <a:rPr lang="en-US" sz="900" dirty="0">
                <a:solidFill>
                  <a:srgbClr val="0000FF"/>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dbo.tblstudent.Address</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TempAddress</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Alter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alter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column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Tempaddress</a:t>
            </a:r>
            <a:r>
              <a:rPr lang="en-US" sz="900" dirty="0">
                <a:solidFill>
                  <a:srgbClr val="000000"/>
                </a:solidFill>
                <a:latin typeface="Consolas" panose="020B0609020204030204" pitchFamily="49" charset="0"/>
              </a:rPr>
              <a:t> </a:t>
            </a:r>
            <a:r>
              <a:rPr lang="en-US" sz="900" dirty="0" err="1">
                <a:solidFill>
                  <a:srgbClr val="0000FF"/>
                </a:solidFill>
                <a:latin typeface="Consolas" panose="020B0609020204030204" pitchFamily="49" charset="0"/>
              </a:rPr>
              <a:t>nvarchar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1500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Alter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drop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column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Tempaddress</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err="1">
                <a:solidFill>
                  <a:srgbClr val="800000"/>
                </a:solidFill>
                <a:latin typeface="Consolas" panose="020B0609020204030204" pitchFamily="49" charset="0"/>
              </a:rPr>
              <a:t>sp_help</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E11AC9F2-BF38-CCA9-8341-949693D53C2A}"/>
              </a:ext>
            </a:extLst>
          </p:cNvPr>
          <p:cNvSpPr txBox="1"/>
          <p:nvPr/>
        </p:nvSpPr>
        <p:spPr>
          <a:xfrm>
            <a:off x="1860" y="3831818"/>
            <a:ext cx="4951140" cy="2723823"/>
          </a:xfrm>
          <a:prstGeom prst="rect">
            <a:avLst/>
          </a:prstGeom>
          <a:noFill/>
        </p:spPr>
        <p:txBody>
          <a:bodyPr wrap="square">
            <a:spAutoFit/>
          </a:bodyPr>
          <a:lstStyle/>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--DROP</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DROP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--UPDATE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UPDATE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address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'SARJAPURA MAIN ROAD'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student_code</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'S004'</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--UPDATE FROM ANOTHER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UPDATE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address</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city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orders_1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student_code</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'S004'</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---UPDATE WITH TOP</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UPDATE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tblstudent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address</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city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orders_1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p:txBody>
      </p:sp>
      <p:sp>
        <p:nvSpPr>
          <p:cNvPr id="7" name="TextBox 6">
            <a:extLst>
              <a:ext uri="{FF2B5EF4-FFF2-40B4-BE49-F238E27FC236}">
                <a16:creationId xmlns:a16="http://schemas.microsoft.com/office/drawing/2014/main" id="{0B7652E3-871C-3BE6-5C0B-DEBCF341C34C}"/>
              </a:ext>
            </a:extLst>
          </p:cNvPr>
          <p:cNvSpPr txBox="1"/>
          <p:nvPr/>
        </p:nvSpPr>
        <p:spPr>
          <a:xfrm>
            <a:off x="5051503" y="751344"/>
            <a:ext cx="4650058" cy="5355312"/>
          </a:xfrm>
          <a:prstGeom prst="rect">
            <a:avLst/>
          </a:prstGeom>
          <a:noFill/>
        </p:spPr>
        <p:txBody>
          <a:bodyPr wrap="square">
            <a:spAutoFit/>
          </a:bodyPr>
          <a:lstStyle/>
          <a:p>
            <a:r>
              <a:rPr lang="en-US" sz="900" dirty="0">
                <a:solidFill>
                  <a:srgbClr val="008000"/>
                </a:solidFill>
                <a:latin typeface="Consolas" panose="020B0609020204030204" pitchFamily="49" charset="0"/>
              </a:rPr>
              <a:t>--------MERGE----------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USE</a:t>
            </a:r>
            <a:r>
              <a:rPr lang="en-US" sz="900" dirty="0">
                <a:solidFill>
                  <a:srgbClr val="000000"/>
                </a:solidFill>
                <a:latin typeface="Consolas" panose="020B0609020204030204" pitchFamily="49" charset="0"/>
              </a:rPr>
              <a:t> [SQLTRAINING]</a:t>
            </a: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Object:  Table [</a:t>
            </a:r>
            <a:r>
              <a:rPr lang="en-US" sz="900" dirty="0" err="1">
                <a:solidFill>
                  <a:srgbClr val="008000"/>
                </a:solidFill>
                <a:latin typeface="Consolas" panose="020B0609020204030204" pitchFamily="49" charset="0"/>
              </a:rPr>
              <a:t>dbo</a:t>
            </a:r>
            <a:r>
              <a:rPr lang="en-US" sz="900" dirty="0">
                <a:solidFill>
                  <a:srgbClr val="008000"/>
                </a:solidFill>
                <a:latin typeface="Consolas" panose="020B0609020204030204" pitchFamily="49" charset="0"/>
              </a:rPr>
              <a:t>].[sales]    Script Date: 07-01-2023 16:24:35 ******/</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ANSI_NULLS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DROP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Employee_Source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DROP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Employee_Target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QUOTED_IDENTIFIER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--Source Table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Employee_Source</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[id] [int]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[name] [varchar]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--Target Table </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Employee_Target</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[id] [int]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[name] [varchar]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TRUNCATE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Employee_Source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TRUNCATE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Employee_Target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Employee_Source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'Ritesh'</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'Aarushi'</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'Chetan'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update </a:t>
            </a:r>
            <a:r>
              <a:rPr lang="en-US" sz="900" dirty="0" err="1">
                <a:solidFill>
                  <a:srgbClr val="008000"/>
                </a:solidFill>
                <a:latin typeface="Consolas" panose="020B0609020204030204" pitchFamily="49" charset="0"/>
              </a:rPr>
              <a:t>Employee_Target</a:t>
            </a:r>
            <a:r>
              <a:rPr lang="en-US" sz="900" dirty="0">
                <a:solidFill>
                  <a:srgbClr val="008000"/>
                </a:solidFill>
                <a:latin typeface="Consolas" panose="020B0609020204030204" pitchFamily="49" charset="0"/>
              </a:rPr>
              <a:t> set name='Mike' where id=1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update </a:t>
            </a:r>
            <a:r>
              <a:rPr lang="en-US" sz="900" dirty="0" err="1">
                <a:solidFill>
                  <a:srgbClr val="008000"/>
                </a:solidFill>
                <a:latin typeface="Consolas" panose="020B0609020204030204" pitchFamily="49" charset="0"/>
              </a:rPr>
              <a:t>Employee_Target</a:t>
            </a:r>
            <a:r>
              <a:rPr lang="en-US" sz="900" dirty="0">
                <a:solidFill>
                  <a:srgbClr val="008000"/>
                </a:solidFill>
                <a:latin typeface="Consolas" panose="020B0609020204030204" pitchFamily="49" charset="0"/>
              </a:rPr>
              <a:t> set name='Tom' where id=2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Employee_Target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'Saksham'</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Employee_Source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Employee_Target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E32B6B-0EF0-AD31-BCFE-FD5576668ADA}"/>
              </a:ext>
            </a:extLst>
          </p:cNvPr>
          <p:cNvSpPr txBox="1"/>
          <p:nvPr/>
        </p:nvSpPr>
        <p:spPr>
          <a:xfrm>
            <a:off x="323386" y="123874"/>
            <a:ext cx="3021980" cy="3554819"/>
          </a:xfrm>
          <a:prstGeom prst="rect">
            <a:avLst/>
          </a:prstGeom>
          <a:noFill/>
        </p:spPr>
        <p:txBody>
          <a:bodyPr wrap="square">
            <a:spAutoFit/>
          </a:bodyPr>
          <a:lstStyle/>
          <a:p>
            <a:r>
              <a:rPr lang="en-US" sz="900" dirty="0">
                <a:solidFill>
                  <a:srgbClr val="008000"/>
                </a:solidFill>
                <a:latin typeface="Consolas" panose="020B0609020204030204" pitchFamily="49" charset="0"/>
              </a:rPr>
              <a:t>--Merge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MERGE</a:t>
            </a:r>
            <a:r>
              <a:rPr lang="en-US" sz="900" dirty="0">
                <a:solidFill>
                  <a:srgbClr val="000000"/>
                </a:solidFill>
                <a:latin typeface="Consolas" panose="020B0609020204030204" pitchFamily="49" charset="0"/>
              </a:rPr>
              <a:t> [TARGET]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T </a:t>
            </a:r>
          </a:p>
          <a:p>
            <a:r>
              <a:rPr lang="en-US" sz="900" dirty="0">
                <a:solidFill>
                  <a:srgbClr val="0000FF"/>
                </a:solidFill>
                <a:latin typeface="Consolas" panose="020B0609020204030204" pitchFamily="49" charset="0"/>
              </a:rPr>
              <a:t>USING</a:t>
            </a:r>
            <a:r>
              <a:rPr lang="en-US" sz="900" dirty="0">
                <a:solidFill>
                  <a:srgbClr val="000000"/>
                </a:solidFill>
                <a:latin typeface="Consolas" panose="020B0609020204030204" pitchFamily="49" charset="0"/>
              </a:rPr>
              <a:t> [SOURCE]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S</a:t>
            </a: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[JOIN CONDITION]</a:t>
            </a:r>
          </a:p>
          <a:p>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MATCHED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[UPDATE STATEMENT]</a:t>
            </a:r>
          </a:p>
          <a:p>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MATCHED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TARGET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[INSERT STATEMENT]</a:t>
            </a:r>
          </a:p>
          <a:p>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MATCHED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SOURCE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[DELETE STATEMENT]</a:t>
            </a: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Merge Example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Merge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Employee_Target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T</a:t>
            </a:r>
          </a:p>
          <a:p>
            <a:r>
              <a:rPr lang="en-US" sz="900" dirty="0">
                <a:solidFill>
                  <a:srgbClr val="0000FF"/>
                </a:solidFill>
                <a:latin typeface="Consolas" panose="020B0609020204030204" pitchFamily="49" charset="0"/>
              </a:rPr>
              <a:t>Using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Employee_Source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S</a:t>
            </a:r>
          </a:p>
          <a:p>
            <a:r>
              <a:rPr lang="fi-FI" sz="900" dirty="0">
                <a:solidFill>
                  <a:srgbClr val="0000FF"/>
                </a:solidFill>
                <a:latin typeface="Consolas" panose="020B0609020204030204" pitchFamily="49" charset="0"/>
              </a:rPr>
              <a:t>ON</a:t>
            </a:r>
            <a:r>
              <a:rPr lang="fi-FI" sz="900" dirty="0">
                <a:solidFill>
                  <a:srgbClr val="000000"/>
                </a:solidFill>
                <a:latin typeface="Consolas" panose="020B0609020204030204" pitchFamily="49" charset="0"/>
              </a:rPr>
              <a:t> T</a:t>
            </a:r>
            <a:r>
              <a:rPr lang="fi-FI" sz="900" dirty="0">
                <a:solidFill>
                  <a:srgbClr val="808080"/>
                </a:solidFill>
                <a:latin typeface="Consolas" panose="020B0609020204030204" pitchFamily="49" charset="0"/>
              </a:rPr>
              <a:t>.</a:t>
            </a:r>
            <a:r>
              <a:rPr lang="fi-FI" sz="900" dirty="0">
                <a:solidFill>
                  <a:srgbClr val="000000"/>
                </a:solidFill>
                <a:latin typeface="Consolas" panose="020B0609020204030204" pitchFamily="49" charset="0"/>
              </a:rPr>
              <a:t>id</a:t>
            </a:r>
            <a:r>
              <a:rPr lang="fi-FI" sz="900" dirty="0">
                <a:solidFill>
                  <a:srgbClr val="808080"/>
                </a:solidFill>
                <a:latin typeface="Consolas" panose="020B0609020204030204" pitchFamily="49" charset="0"/>
              </a:rPr>
              <a:t>=</a:t>
            </a:r>
            <a:r>
              <a:rPr lang="fi-FI" sz="900" dirty="0">
                <a:solidFill>
                  <a:srgbClr val="000000"/>
                </a:solidFill>
                <a:latin typeface="Consolas" panose="020B0609020204030204" pitchFamily="49" charset="0"/>
              </a:rPr>
              <a:t>S</a:t>
            </a:r>
            <a:r>
              <a:rPr lang="fi-FI" sz="900" dirty="0">
                <a:solidFill>
                  <a:srgbClr val="808080"/>
                </a:solidFill>
                <a:latin typeface="Consolas" panose="020B0609020204030204" pitchFamily="49" charset="0"/>
              </a:rPr>
              <a:t>.</a:t>
            </a:r>
            <a:r>
              <a:rPr lang="fi-FI" sz="900" dirty="0">
                <a:solidFill>
                  <a:srgbClr val="000000"/>
                </a:solidFill>
                <a:latin typeface="Consolas" panose="020B0609020204030204" pitchFamily="49" charset="0"/>
              </a:rPr>
              <a:t>id</a:t>
            </a:r>
          </a:p>
          <a:p>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MATCHED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UPDATE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MATCHED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TARGET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id</a:t>
            </a:r>
            <a:r>
              <a:rPr lang="en-US" sz="900" dirty="0" err="1">
                <a:solidFill>
                  <a:srgbClr val="808080"/>
                </a:solidFill>
                <a:latin typeface="Consolas" panose="020B0609020204030204" pitchFamily="49" charset="0"/>
              </a:rPr>
              <a:t>,</a:t>
            </a:r>
            <a:r>
              <a:rPr lang="en-US" sz="900" dirty="0" err="1">
                <a:solidFill>
                  <a:srgbClr val="0000FF"/>
                </a:solidFill>
                <a:latin typeface="Consolas" panose="020B0609020204030204" pitchFamily="49" charset="0"/>
              </a:rPr>
              <a: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id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FF"/>
                </a:solidFill>
                <a:latin typeface="Consolas" panose="020B0609020204030204" pitchFamily="49" charset="0"/>
              </a:rPr>
              <a:t>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MATCHED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SOURCE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DELETE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00373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22D8FD-4522-A72A-2FDC-3391864048DA}"/>
              </a:ext>
            </a:extLst>
          </p:cNvPr>
          <p:cNvSpPr txBox="1"/>
          <p:nvPr/>
        </p:nvSpPr>
        <p:spPr>
          <a:xfrm>
            <a:off x="1860" y="0"/>
            <a:ext cx="3811857" cy="1892826"/>
          </a:xfrm>
          <a:prstGeom prst="rect">
            <a:avLst/>
          </a:prstGeom>
          <a:noFill/>
        </p:spPr>
        <p:txBody>
          <a:bodyPr wrap="square">
            <a:spAutoFit/>
          </a:bodyPr>
          <a:lstStyle/>
          <a:p>
            <a:r>
              <a:rPr lang="en-US" sz="900" dirty="0">
                <a:solidFill>
                  <a:srgbClr val="008000"/>
                </a:solidFill>
                <a:latin typeface="Consolas" panose="020B0609020204030204" pitchFamily="49" charset="0"/>
              </a:rPr>
              <a:t>--Lets create a new schema named </a:t>
            </a:r>
            <a:r>
              <a:rPr lang="en-US" sz="900" dirty="0" err="1">
                <a:solidFill>
                  <a:srgbClr val="008000"/>
                </a:solidFill>
                <a:latin typeface="Consolas" panose="020B0609020204030204" pitchFamily="49" charset="0"/>
              </a:rPr>
              <a:t>hr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a SQL database, a schema is a list of logical structures of data. A database user owns the schema, which has the same name as the database manager. As of SQL Server 2005, a  schema is an individual entity (container of objects) distinct from the user who constructs the object. In other words, schemas are similar to separate namespaces or containers used to handle database files. Schemas may be assigned security permissions, making them an effective method for distinguishing and defending database objects based on user access privileges. It increases the database's stability for security-related management.</a:t>
            </a:r>
            <a:endParaRPr lang="en-US" dirty="0"/>
          </a:p>
        </p:txBody>
      </p:sp>
      <p:sp>
        <p:nvSpPr>
          <p:cNvPr id="5" name="TextBox 4">
            <a:extLst>
              <a:ext uri="{FF2B5EF4-FFF2-40B4-BE49-F238E27FC236}">
                <a16:creationId xmlns:a16="http://schemas.microsoft.com/office/drawing/2014/main" id="{63967C19-ABB7-EAEE-3F2F-5F735EB0D458}"/>
              </a:ext>
            </a:extLst>
          </p:cNvPr>
          <p:cNvSpPr txBox="1"/>
          <p:nvPr/>
        </p:nvSpPr>
        <p:spPr>
          <a:xfrm>
            <a:off x="1860" y="1934522"/>
            <a:ext cx="3265447" cy="3416320"/>
          </a:xfrm>
          <a:prstGeom prst="rect">
            <a:avLst/>
          </a:prstGeom>
          <a:noFill/>
        </p:spPr>
        <p:txBody>
          <a:bodyPr wrap="square">
            <a:spAutoFit/>
          </a:bodyPr>
          <a:lstStyle/>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SCHEMA</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--Create two new tables named candidates and employees in the </a:t>
            </a:r>
            <a:r>
              <a:rPr lang="en-US" sz="900" dirty="0" err="1">
                <a:solidFill>
                  <a:srgbClr val="008000"/>
                </a:solidFill>
                <a:latin typeface="Consolas" panose="020B0609020204030204" pitchFamily="49" charset="0"/>
              </a:rPr>
              <a:t>hr</a:t>
            </a:r>
            <a:r>
              <a:rPr lang="en-US" sz="900" dirty="0">
                <a:solidFill>
                  <a:srgbClr val="008000"/>
                </a:solidFill>
                <a:latin typeface="Consolas" panose="020B0609020204030204" pitchFamily="49" charset="0"/>
              </a:rPr>
              <a:t> schema and insert the below values into it: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candidates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id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IDENTITY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id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IDENTITY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candidates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'John Doe'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'Lily Bush'</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'Peter Drucker'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'Jane Doe'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FE8287B0-4CBB-9A63-28E3-99F7E80B175A}"/>
              </a:ext>
            </a:extLst>
          </p:cNvPr>
          <p:cNvSpPr txBox="1"/>
          <p:nvPr/>
        </p:nvSpPr>
        <p:spPr>
          <a:xfrm>
            <a:off x="1860" y="5299924"/>
            <a:ext cx="2529467" cy="1477328"/>
          </a:xfrm>
          <a:prstGeom prst="rect">
            <a:avLst/>
          </a:prstGeom>
          <a:noFill/>
        </p:spPr>
        <p:txBody>
          <a:bodyPr wrap="square">
            <a:spAutoFit/>
          </a:bodyPr>
          <a:lstStyle/>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'John Doe'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'Jane Doe'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'Michael Scott'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'Jack Sparrow'</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candidates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9" name="TextBox 8">
            <a:extLst>
              <a:ext uri="{FF2B5EF4-FFF2-40B4-BE49-F238E27FC236}">
                <a16:creationId xmlns:a16="http://schemas.microsoft.com/office/drawing/2014/main" id="{142674D8-37E3-9B48-8AF7-C4AA2303481F}"/>
              </a:ext>
            </a:extLst>
          </p:cNvPr>
          <p:cNvSpPr txBox="1"/>
          <p:nvPr/>
        </p:nvSpPr>
        <p:spPr>
          <a:xfrm>
            <a:off x="3724507" y="109159"/>
            <a:ext cx="4951140" cy="2446824"/>
          </a:xfrm>
          <a:prstGeom prst="rect">
            <a:avLst/>
          </a:prstGeom>
          <a:noFill/>
        </p:spPr>
        <p:txBody>
          <a:bodyPr wrap="square">
            <a:spAutoFit/>
          </a:bodyPr>
          <a:lstStyle/>
          <a:p>
            <a:r>
              <a:rPr lang="en-US" sz="900" dirty="0">
                <a:solidFill>
                  <a:srgbClr val="008000"/>
                </a:solidFill>
                <a:latin typeface="Consolas" panose="020B0609020204030204" pitchFamily="49" charset="0"/>
              </a:rPr>
              <a:t>---INNER JOIN--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--Inner join produces a data set that includes matching rows from left table and the right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uses the inner join clause to get the rows from the candidates table that has the corresponding rows with the same values in the </a:t>
            </a:r>
            <a:r>
              <a:rPr lang="en-US" sz="900" dirty="0" err="1">
                <a:solidFill>
                  <a:srgbClr val="008000"/>
                </a:solidFill>
                <a:latin typeface="Consolas" panose="020B0609020204030204" pitchFamily="49" charset="0"/>
              </a:rPr>
              <a:t>fullname</a:t>
            </a:r>
            <a:r>
              <a:rPr lang="en-US" sz="900" dirty="0">
                <a:solidFill>
                  <a:srgbClr val="008000"/>
                </a:solidFill>
                <a:latin typeface="Consolas" panose="020B0609020204030204" pitchFamily="49" charset="0"/>
              </a:rPr>
              <a:t> column of the employees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 </a:t>
            </a:r>
            <a:r>
              <a:rPr lang="en-US" sz="900" dirty="0" err="1">
                <a:solidFill>
                  <a:srgbClr val="000000"/>
                </a:solidFill>
                <a:latin typeface="Consolas" panose="020B0609020204030204" pitchFamily="49" charset="0"/>
              </a:rPr>
              <a:t>candidate_id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candidate_name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 </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candidates</a:t>
            </a:r>
            <a:r>
              <a:rPr lang="en-US" sz="900" dirty="0">
                <a:solidFill>
                  <a:srgbClr val="000000"/>
                </a:solidFill>
                <a:latin typeface="Consolas" panose="020B0609020204030204" pitchFamily="49" charset="0"/>
              </a:rPr>
              <a:t> c</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employees</a:t>
            </a:r>
            <a:r>
              <a:rPr lang="en-US" sz="900" dirty="0">
                <a:solidFill>
                  <a:srgbClr val="000000"/>
                </a:solidFill>
                <a:latin typeface="Consolas" panose="020B0609020204030204" pitchFamily="49" charset="0"/>
              </a:rPr>
              <a:t> e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11" name="TextBox 10">
            <a:extLst>
              <a:ext uri="{FF2B5EF4-FFF2-40B4-BE49-F238E27FC236}">
                <a16:creationId xmlns:a16="http://schemas.microsoft.com/office/drawing/2014/main" id="{6215B186-1549-AC80-5F8C-9534B792D19A}"/>
              </a:ext>
            </a:extLst>
          </p:cNvPr>
          <p:cNvSpPr txBox="1"/>
          <p:nvPr/>
        </p:nvSpPr>
        <p:spPr>
          <a:xfrm>
            <a:off x="3523786" y="2593858"/>
            <a:ext cx="4951140" cy="3416320"/>
          </a:xfrm>
          <a:prstGeom prst="rect">
            <a:avLst/>
          </a:prstGeom>
          <a:noFill/>
        </p:spPr>
        <p:txBody>
          <a:bodyPr wrap="square">
            <a:spAutoFit/>
          </a:bodyPr>
          <a:lstStyle/>
          <a:p>
            <a:r>
              <a:rPr lang="en-US" sz="900" dirty="0">
                <a:solidFill>
                  <a:srgbClr val="008000"/>
                </a:solidFill>
                <a:latin typeface="Consolas" panose="020B0609020204030204" pitchFamily="49" charset="0"/>
              </a:rPr>
              <a:t>-------Left Join-------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--Left join selects data starting from the left table and matching rows in the right table. The left join returns all rows from the left table and the matching rows from the right table. If a row in the left table does not have a matching row in the right table, the columns of the right table will have nulls.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left join is also known as the left outer join. The outer keyword is optional.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below statement joins the candidates table with the employees table using left join: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 </a:t>
            </a:r>
            <a:r>
              <a:rPr lang="en-US" sz="900" dirty="0" err="1">
                <a:solidFill>
                  <a:srgbClr val="000000"/>
                </a:solidFill>
                <a:latin typeface="Consolas" panose="020B0609020204030204" pitchFamily="49" charset="0"/>
              </a:rPr>
              <a:t>candidate_id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candidate_name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 </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candidates</a:t>
            </a:r>
            <a:r>
              <a:rPr lang="en-US" sz="900" dirty="0">
                <a:solidFill>
                  <a:srgbClr val="000000"/>
                </a:solidFill>
                <a:latin typeface="Consolas" panose="020B0609020204030204" pitchFamily="49" charset="0"/>
              </a:rPr>
              <a:t> c</a:t>
            </a:r>
          </a:p>
          <a:p>
            <a:r>
              <a:rPr lang="en-US" sz="900" dirty="0">
                <a:solidFill>
                  <a:srgbClr val="808080"/>
                </a:solidFill>
                <a:latin typeface="Consolas" panose="020B0609020204030204" pitchFamily="49" charset="0"/>
              </a:rPr>
              <a:t>LEFT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employees</a:t>
            </a:r>
            <a:r>
              <a:rPr lang="en-US" sz="900" dirty="0">
                <a:solidFill>
                  <a:srgbClr val="000000"/>
                </a:solidFill>
                <a:latin typeface="Consolas" panose="020B0609020204030204" pitchFamily="49" charset="0"/>
              </a:rPr>
              <a:t> e </a:t>
            </a: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25845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9334F5-9C2C-B1D8-3CEF-C505B499D4A5}"/>
              </a:ext>
            </a:extLst>
          </p:cNvPr>
          <p:cNvSpPr txBox="1"/>
          <p:nvPr/>
        </p:nvSpPr>
        <p:spPr>
          <a:xfrm>
            <a:off x="1860" y="0"/>
            <a:ext cx="4951140" cy="3277820"/>
          </a:xfrm>
          <a:prstGeom prst="rect">
            <a:avLst/>
          </a:prstGeom>
          <a:noFill/>
        </p:spPr>
        <p:txBody>
          <a:bodyPr wrap="square">
            <a:spAutoFit/>
          </a:bodyPr>
          <a:lstStyle/>
          <a:p>
            <a:r>
              <a:rPr lang="en-US" sz="900" dirty="0">
                <a:solidFill>
                  <a:srgbClr val="008000"/>
                </a:solidFill>
                <a:latin typeface="Consolas" panose="020B0609020204030204" pitchFamily="49" charset="0"/>
              </a:rPr>
              <a:t>-------Right Join-------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right join or right outer join selects data starting from the right table. It is a reversed version of the left join.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right join returns a result set that contains all rows from the right table and the matching rows in the left table. If a row in the right table does not have a matching row in the left table, all columns in the left table will contain nulls.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uses the right join to query rows from candidates and employees tables: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 </a:t>
            </a:r>
            <a:r>
              <a:rPr lang="en-US" sz="900" dirty="0" err="1">
                <a:solidFill>
                  <a:srgbClr val="000000"/>
                </a:solidFill>
                <a:latin typeface="Consolas" panose="020B0609020204030204" pitchFamily="49" charset="0"/>
              </a:rPr>
              <a:t>candidate_id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candidate_name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 </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candidates</a:t>
            </a:r>
            <a:r>
              <a:rPr lang="en-US" sz="900" dirty="0">
                <a:solidFill>
                  <a:srgbClr val="000000"/>
                </a:solidFill>
                <a:latin typeface="Consolas" panose="020B0609020204030204" pitchFamily="49" charset="0"/>
              </a:rPr>
              <a:t> c</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RIGHT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employees</a:t>
            </a:r>
            <a:r>
              <a:rPr lang="en-US" sz="900" dirty="0">
                <a:solidFill>
                  <a:srgbClr val="000000"/>
                </a:solidFill>
                <a:latin typeface="Consolas" panose="020B0609020204030204" pitchFamily="49" charset="0"/>
              </a:rPr>
              <a:t> e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54C8780D-606D-AED0-CF1F-E4F54967969D}"/>
              </a:ext>
            </a:extLst>
          </p:cNvPr>
          <p:cNvSpPr txBox="1"/>
          <p:nvPr/>
        </p:nvSpPr>
        <p:spPr>
          <a:xfrm>
            <a:off x="0" y="3429000"/>
            <a:ext cx="4951140" cy="2585323"/>
          </a:xfrm>
          <a:prstGeom prst="rect">
            <a:avLst/>
          </a:prstGeom>
          <a:noFill/>
        </p:spPr>
        <p:txBody>
          <a:bodyPr wrap="square">
            <a:spAutoFit/>
          </a:bodyPr>
          <a:lstStyle/>
          <a:p>
            <a:r>
              <a:rPr lang="en-US" sz="900" dirty="0">
                <a:solidFill>
                  <a:srgbClr val="008000"/>
                </a:solidFill>
                <a:latin typeface="Consolas" panose="020B0609020204030204" pitchFamily="49" charset="0"/>
              </a:rPr>
              <a:t>-------- Full join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full outer join or full join returns a result set that contains all rows from both left and right tables, with the matching rows from both sides where available. In case there is no match, the missing side will have NULL values.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The below example shows how to perform a full join between the candidates and employees tables: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 </a:t>
            </a:r>
            <a:r>
              <a:rPr lang="en-US" sz="900" dirty="0" err="1">
                <a:solidFill>
                  <a:srgbClr val="000000"/>
                </a:solidFill>
                <a:latin typeface="Consolas" panose="020B0609020204030204" pitchFamily="49" charset="0"/>
              </a:rPr>
              <a:t>candidate_id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candidate_name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 </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candidates</a:t>
            </a:r>
            <a:r>
              <a:rPr lang="en-US" sz="900" dirty="0">
                <a:solidFill>
                  <a:srgbClr val="000000"/>
                </a:solidFill>
                <a:latin typeface="Consolas" panose="020B0609020204030204" pitchFamily="49" charset="0"/>
              </a:rPr>
              <a:t> c</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FULL</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employees</a:t>
            </a:r>
            <a:r>
              <a:rPr lang="en-US" sz="900" dirty="0">
                <a:solidFill>
                  <a:srgbClr val="000000"/>
                </a:solidFill>
                <a:latin typeface="Consolas" panose="020B0609020204030204" pitchFamily="49" charset="0"/>
              </a:rPr>
              <a:t> e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9" name="TextBox 8">
            <a:extLst>
              <a:ext uri="{FF2B5EF4-FFF2-40B4-BE49-F238E27FC236}">
                <a16:creationId xmlns:a16="http://schemas.microsoft.com/office/drawing/2014/main" id="{F2F2CB54-7781-01E2-43CA-38E5087E5650}"/>
              </a:ext>
            </a:extLst>
          </p:cNvPr>
          <p:cNvSpPr txBox="1"/>
          <p:nvPr/>
        </p:nvSpPr>
        <p:spPr>
          <a:xfrm>
            <a:off x="4954860" y="0"/>
            <a:ext cx="4951140" cy="2169825"/>
          </a:xfrm>
          <a:prstGeom prst="rect">
            <a:avLst/>
          </a:prstGeom>
          <a:noFill/>
        </p:spPr>
        <p:txBody>
          <a:bodyPr wrap="square">
            <a:spAutoFit/>
          </a:bodyPr>
          <a:lstStyle/>
          <a:p>
            <a:r>
              <a:rPr lang="en-US" sz="900" dirty="0">
                <a:solidFill>
                  <a:srgbClr val="008000"/>
                </a:solidFill>
                <a:latin typeface="Consolas" panose="020B0609020204030204" pitchFamily="49" charset="0"/>
              </a:rPr>
              <a:t>-----------Joins Using </a:t>
            </a:r>
            <a:r>
              <a:rPr lang="en-US" sz="900" dirty="0" err="1">
                <a:solidFill>
                  <a:srgbClr val="008000"/>
                </a:solidFill>
                <a:latin typeface="Consolas" panose="020B0609020204030204" pitchFamily="49" charset="0"/>
              </a:rPr>
              <a:t>GroupBy</a:t>
            </a:r>
            <a:r>
              <a:rPr lang="en-US" sz="900" dirty="0">
                <a:solidFill>
                  <a:srgbClr val="008000"/>
                </a:solidFill>
                <a:latin typeface="Consolas" panose="020B0609020204030204" pitchFamily="49" charset="0"/>
              </a:rPr>
              <a:t> and Having Clause-------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AVG</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avg_price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a:t>
            </a: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brands</a:t>
            </a:r>
            <a:r>
              <a:rPr lang="en-US" sz="900" dirty="0">
                <a:solidFill>
                  <a:srgbClr val="000000"/>
                </a:solidFill>
                <a:latin typeface="Consolas" panose="020B0609020204030204" pitchFamily="49" charset="0"/>
              </a:rPr>
              <a:t> b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HAVING</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1000</a:t>
            </a:r>
            <a:endParaRPr lang="en-US" dirty="0"/>
          </a:p>
        </p:txBody>
      </p:sp>
      <p:sp>
        <p:nvSpPr>
          <p:cNvPr id="11" name="TextBox 10">
            <a:extLst>
              <a:ext uri="{FF2B5EF4-FFF2-40B4-BE49-F238E27FC236}">
                <a16:creationId xmlns:a16="http://schemas.microsoft.com/office/drawing/2014/main" id="{A87EDF45-1D84-D7BF-EC80-5D7049A54F1A}"/>
              </a:ext>
            </a:extLst>
          </p:cNvPr>
          <p:cNvSpPr txBox="1"/>
          <p:nvPr/>
        </p:nvSpPr>
        <p:spPr>
          <a:xfrm>
            <a:off x="4951140" y="2321005"/>
            <a:ext cx="4951140" cy="1892826"/>
          </a:xfrm>
          <a:prstGeom prst="rect">
            <a:avLst/>
          </a:prstGeom>
          <a:noFill/>
        </p:spPr>
        <p:txBody>
          <a:bodyPr wrap="square">
            <a:spAutoFit/>
          </a:bodyPr>
          <a:lstStyle/>
          <a:p>
            <a:r>
              <a:rPr lang="en-US" sz="900" dirty="0">
                <a:solidFill>
                  <a:srgbClr val="008000"/>
                </a:solidFill>
                <a:latin typeface="Consolas" panose="020B0609020204030204" pitchFamily="49" charset="0"/>
              </a:rPr>
              <a:t>-----------Joins Using </a:t>
            </a:r>
            <a:r>
              <a:rPr lang="en-US" sz="900" dirty="0" err="1">
                <a:solidFill>
                  <a:srgbClr val="008000"/>
                </a:solidFill>
                <a:latin typeface="Consolas" panose="020B0609020204030204" pitchFamily="49" charset="0"/>
              </a:rPr>
              <a:t>GroupBy</a:t>
            </a:r>
            <a:r>
              <a:rPr lang="en-US" sz="900" dirty="0">
                <a:solidFill>
                  <a:srgbClr val="008000"/>
                </a:solidFill>
                <a:latin typeface="Consolas" panose="020B0609020204030204" pitchFamily="49" charset="0"/>
              </a:rPr>
              <a:t> and Order Clause-------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AVG</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avg_price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a:t>
            </a: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brands</a:t>
            </a:r>
            <a:r>
              <a:rPr lang="en-US" sz="900" dirty="0">
                <a:solidFill>
                  <a:srgbClr val="000000"/>
                </a:solidFill>
                <a:latin typeface="Consolas" panose="020B0609020204030204" pitchFamily="49" charset="0"/>
              </a:rPr>
              <a:t> b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endParaRPr lang="en-US" dirty="0"/>
          </a:p>
        </p:txBody>
      </p:sp>
    </p:spTree>
    <p:extLst>
      <p:ext uri="{BB962C8B-B14F-4D97-AF65-F5344CB8AC3E}">
        <p14:creationId xmlns:p14="http://schemas.microsoft.com/office/powerpoint/2010/main" val="292836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74FA2B6-DBA3-B724-BD31-C96E6DE1ACFC}"/>
              </a:ext>
            </a:extLst>
          </p:cNvPr>
          <p:cNvSpPr txBox="1"/>
          <p:nvPr/>
        </p:nvSpPr>
        <p:spPr>
          <a:xfrm>
            <a:off x="122663" y="128658"/>
            <a:ext cx="4951140" cy="5909310"/>
          </a:xfrm>
          <a:prstGeom prst="rect">
            <a:avLst/>
          </a:prstGeom>
          <a:noFill/>
        </p:spPr>
        <p:txBody>
          <a:bodyPr wrap="square">
            <a:spAutoFit/>
          </a:bodyPr>
          <a:lstStyle/>
          <a:p>
            <a:r>
              <a:rPr lang="en-US" sz="900" dirty="0">
                <a:solidFill>
                  <a:srgbClr val="008000"/>
                </a:solidFill>
                <a:latin typeface="Consolas" panose="020B0609020204030204" pitchFamily="49" charset="0"/>
              </a:rPr>
              <a:t>-------------Cross Join-------------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illustrates the syntax of SQL Server CROSS JOIN of two tables: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select_list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CROSS JOIN T2;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CROSS JOIN joined every row from the first table (T1) with every row from the second table (T2). In other words, the cross join returns a Cartesian product of rows from both tables.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Unlike the INNER JOIN or LEFT JOIN, the cross join does not establish a relationship between the joined tables.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Suppose the T1 table contains three rows 1, 2, and 3 and the T2 table contains three rows A, B, and C.</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CROSS JOIN gets a row from the first table (T1) and then creates a new row for every row in the second table (T2). It then does the same for the next row for in the first table (T1) and so 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returns the combinations of all products and stores. The result set can be used for stocktaking procedure during the month-end and year-end closings: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0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quantity</a:t>
            </a: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CROSS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4766D809-75A8-484F-243B-79967EE812C1}"/>
              </a:ext>
            </a:extLst>
          </p:cNvPr>
          <p:cNvSpPr txBox="1"/>
          <p:nvPr/>
        </p:nvSpPr>
        <p:spPr>
          <a:xfrm>
            <a:off x="4832197" y="128658"/>
            <a:ext cx="2616818" cy="2585323"/>
          </a:xfrm>
          <a:prstGeom prst="rect">
            <a:avLst/>
          </a:prstGeom>
          <a:noFill/>
        </p:spPr>
        <p:txBody>
          <a:bodyPr wrap="square">
            <a:spAutoFit/>
          </a:bodyPr>
          <a:lstStyle/>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pc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avgListPrice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r>
              <a:rPr lang="en-US" sz="900" dirty="0">
                <a:solidFill>
                  <a:srgbClr val="000000"/>
                </a:solidFill>
                <a:latin typeface="Consolas" panose="020B0609020204030204" pitchFamily="49" charset="0"/>
              </a:rPr>
              <a:t> pc</a:t>
            </a: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pp</a:t>
            </a: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pc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pc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HAVING</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500</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avgListPrice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ASC</a:t>
            </a:r>
            <a:r>
              <a:rPr lang="en-US" sz="900" dirty="0">
                <a:solidFill>
                  <a:srgbClr val="808080"/>
                </a:solidFill>
                <a:latin typeface="Consolas" panose="020B0609020204030204" pitchFamily="49" charset="0"/>
              </a:rPr>
              <a:t>;</a:t>
            </a:r>
            <a:endParaRPr lang="en-US" dirty="0"/>
          </a:p>
        </p:txBody>
      </p:sp>
      <p:sp>
        <p:nvSpPr>
          <p:cNvPr id="7" name="TextBox 6">
            <a:extLst>
              <a:ext uri="{FF2B5EF4-FFF2-40B4-BE49-F238E27FC236}">
                <a16:creationId xmlns:a16="http://schemas.microsoft.com/office/drawing/2014/main" id="{DF42F43E-9DEF-A347-5092-F8D80CCE44E1}"/>
              </a:ext>
            </a:extLst>
          </p:cNvPr>
          <p:cNvSpPr txBox="1"/>
          <p:nvPr/>
        </p:nvSpPr>
        <p:spPr>
          <a:xfrm>
            <a:off x="4953000" y="3083313"/>
            <a:ext cx="4592444" cy="3277820"/>
          </a:xfrm>
          <a:prstGeom prst="rect">
            <a:avLst/>
          </a:prstGeom>
          <a:noFill/>
        </p:spPr>
        <p:txBody>
          <a:bodyPr wrap="square">
            <a:spAutoFit/>
          </a:bodyPr>
          <a:lstStyle/>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Write a query to find all data from products table and matching category name, average price of products from </a:t>
            </a:r>
            <a:r>
              <a:rPr lang="en-US" sz="900" dirty="0" err="1">
                <a:solidFill>
                  <a:srgbClr val="008000"/>
                </a:solidFill>
                <a:latin typeface="Consolas" panose="020B0609020204030204" pitchFamily="49" charset="0"/>
              </a:rPr>
              <a:t>production.products</a:t>
            </a:r>
            <a:r>
              <a:rPr lang="en-US" sz="900" dirty="0">
                <a:solidFill>
                  <a:srgbClr val="008000"/>
                </a:solidFill>
                <a:latin typeface="Consolas" panose="020B0609020204030204" pitchFamily="49" charset="0"/>
              </a:rPr>
              <a:t> &amp; </a:t>
            </a:r>
            <a:r>
              <a:rPr lang="en-US" sz="900" dirty="0" err="1">
                <a:solidFill>
                  <a:srgbClr val="008000"/>
                </a:solidFill>
                <a:latin typeface="Consolas" panose="020B0609020204030204" pitchFamily="49" charset="0"/>
              </a:rPr>
              <a:t>production.categories</a:t>
            </a:r>
            <a:r>
              <a:rPr lang="en-US" sz="900" dirty="0">
                <a:solidFill>
                  <a:srgbClr val="008000"/>
                </a:solidFill>
                <a:latin typeface="Consolas" panose="020B0609020204030204" pitchFamily="49" charset="0"/>
              </a:rPr>
              <a:t> and display average price per category where average is greater than 500 and sort it by category name in desc order*/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pc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avgListPrice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pp</a:t>
            </a:r>
          </a:p>
          <a:p>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LEFT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r>
              <a:rPr lang="en-US" sz="900" dirty="0">
                <a:solidFill>
                  <a:srgbClr val="000000"/>
                </a:solidFill>
                <a:latin typeface="Consolas" panose="020B0609020204030204" pitchFamily="49" charset="0"/>
              </a:rPr>
              <a:t> pc</a:t>
            </a: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pc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category_name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HAVING</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500 </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32704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E65DF1-D021-0120-348A-605274D3C192}"/>
              </a:ext>
            </a:extLst>
          </p:cNvPr>
          <p:cNvSpPr txBox="1"/>
          <p:nvPr/>
        </p:nvSpPr>
        <p:spPr>
          <a:xfrm>
            <a:off x="133815" y="111502"/>
            <a:ext cx="4951140" cy="2308324"/>
          </a:xfrm>
          <a:prstGeom prst="rect">
            <a:avLst/>
          </a:prstGeom>
          <a:noFill/>
        </p:spPr>
        <p:txBody>
          <a:bodyPr wrap="square">
            <a:spAutoFit/>
          </a:bodyPr>
          <a:lstStyle/>
          <a:p>
            <a:r>
              <a:rPr lang="en-US" sz="900" dirty="0">
                <a:solidFill>
                  <a:srgbClr val="008000"/>
                </a:solidFill>
                <a:latin typeface="Consolas" panose="020B0609020204030204" pitchFamily="49" charset="0"/>
              </a:rPr>
              <a:t>--------AND OPERATOR-----------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AND is a logical operator that allows you to combine two Boolean expressions. It returns TRUE only when both expressions evaluate to TRUE.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 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finds the products where the category identification number is one and the list price is greater than 400:</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p>
          <a:p>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400</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3928BB1D-C98F-9DF8-1015-06CC739899FE}"/>
              </a:ext>
            </a:extLst>
          </p:cNvPr>
          <p:cNvSpPr txBox="1"/>
          <p:nvPr/>
        </p:nvSpPr>
        <p:spPr>
          <a:xfrm>
            <a:off x="1860" y="2598223"/>
            <a:ext cx="4951140" cy="2308324"/>
          </a:xfrm>
          <a:prstGeom prst="rect">
            <a:avLst/>
          </a:prstGeom>
          <a:noFill/>
        </p:spPr>
        <p:txBody>
          <a:bodyPr wrap="square">
            <a:spAutoFit/>
          </a:bodyPr>
          <a:lstStyle/>
          <a:p>
            <a:r>
              <a:rPr lang="en-US" sz="900" dirty="0">
                <a:solidFill>
                  <a:srgbClr val="008000"/>
                </a:solidFill>
                <a:latin typeface="Consolas" panose="020B0609020204030204" pitchFamily="49" charset="0"/>
              </a:rPr>
              <a:t>--Example 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The following statement finds the products that meet all the following conditions: category id is 1, the list price is greater than 400, and the brand id is 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p>
          <a:p>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400</a:t>
            </a:r>
          </a:p>
          <a:p>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CAAF890C-C2C5-46CB-63D6-599305A18371}"/>
              </a:ext>
            </a:extLst>
          </p:cNvPr>
          <p:cNvSpPr txBox="1"/>
          <p:nvPr/>
        </p:nvSpPr>
        <p:spPr>
          <a:xfrm>
            <a:off x="1761893" y="3907040"/>
            <a:ext cx="4951140" cy="2723823"/>
          </a:xfrm>
          <a:prstGeom prst="rect">
            <a:avLst/>
          </a:prstGeom>
          <a:noFill/>
        </p:spPr>
        <p:txBody>
          <a:bodyPr wrap="square">
            <a:spAutoFit/>
          </a:bodyPr>
          <a:lstStyle/>
          <a:p>
            <a:r>
              <a:rPr lang="en-US" sz="900" dirty="0">
                <a:solidFill>
                  <a:srgbClr val="008000"/>
                </a:solidFill>
                <a:latin typeface="Consolas" panose="020B0609020204030204" pitchFamily="49" charset="0"/>
              </a:rPr>
              <a:t>--Example 3:</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we used both OR and </a:t>
            </a:r>
            <a:r>
              <a:rPr lang="en-US" sz="900" dirty="0" err="1">
                <a:solidFill>
                  <a:srgbClr val="008000"/>
                </a:solidFill>
                <a:latin typeface="Consolas" panose="020B0609020204030204" pitchFamily="49" charset="0"/>
              </a:rPr>
              <a:t>AND</a:t>
            </a:r>
            <a:r>
              <a:rPr lang="en-US" sz="900" dirty="0">
                <a:solidFill>
                  <a:srgbClr val="008000"/>
                </a:solidFill>
                <a:latin typeface="Consolas" panose="020B0609020204030204" pitchFamily="49" charset="0"/>
              </a:rPr>
              <a:t> operators in the condition. As always, SQL Server evaluated the AND operator first. Therefore, the query retrieved the products whose brand id is two and list price is greater than 1,000 or those whose brand id is one.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get the product whose brand id is one or two and list price is larger than 1,000, you use parentheses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 </a:t>
            </a:r>
            <a:r>
              <a:rPr lang="en-US" sz="900" dirty="0">
                <a:solidFill>
                  <a:srgbClr val="808080"/>
                </a:solidFill>
                <a:latin typeface="Consolas" panose="020B0609020204030204" pitchFamily="49" charset="0"/>
              </a:rPr>
              <a:t>OR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1000</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9" name="TextBox 8">
            <a:extLst>
              <a:ext uri="{FF2B5EF4-FFF2-40B4-BE49-F238E27FC236}">
                <a16:creationId xmlns:a16="http://schemas.microsoft.com/office/drawing/2014/main" id="{EAC6B2B6-D584-BEF7-DCB2-BD841D802323}"/>
              </a:ext>
            </a:extLst>
          </p:cNvPr>
          <p:cNvSpPr txBox="1"/>
          <p:nvPr/>
        </p:nvSpPr>
        <p:spPr>
          <a:xfrm>
            <a:off x="4954860" y="227137"/>
            <a:ext cx="4951140" cy="3139321"/>
          </a:xfrm>
          <a:prstGeom prst="rect">
            <a:avLst/>
          </a:prstGeom>
          <a:noFill/>
        </p:spPr>
        <p:txBody>
          <a:bodyPr wrap="square">
            <a:spAutoFit/>
          </a:bodyPr>
          <a:lstStyle/>
          <a:p>
            <a:r>
              <a:rPr lang="en-US" sz="900" dirty="0">
                <a:solidFill>
                  <a:srgbClr val="008000"/>
                </a:solidFill>
                <a:latin typeface="Consolas" panose="020B0609020204030204" pitchFamily="49" charset="0"/>
              </a:rPr>
              <a:t>-----------OR Operator---------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SQL Server OR is a logical operator that allows you to combine two Boolean expressions. It returns TRUE when either of the conditions evaluates to TRUE.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 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finds the products whose list price is less than 200 or greater than 6,000:</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200</a:t>
            </a:r>
          </a:p>
          <a:p>
            <a:r>
              <a:rPr lang="en-US" sz="900" dirty="0">
                <a:solidFill>
                  <a:srgbClr val="808080"/>
                </a:solidFill>
                <a:latin typeface="Consolas" panose="020B0609020204030204" pitchFamily="49" charset="0"/>
              </a:rPr>
              <a:t>OR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6000</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11" name="TextBox 10">
            <a:extLst>
              <a:ext uri="{FF2B5EF4-FFF2-40B4-BE49-F238E27FC236}">
                <a16:creationId xmlns:a16="http://schemas.microsoft.com/office/drawing/2014/main" id="{FB8AE660-CDA1-32C1-92E7-49A5C779B0DF}"/>
              </a:ext>
            </a:extLst>
          </p:cNvPr>
          <p:cNvSpPr txBox="1"/>
          <p:nvPr/>
        </p:nvSpPr>
        <p:spPr>
          <a:xfrm>
            <a:off x="7023409" y="2033295"/>
            <a:ext cx="2488581" cy="2308324"/>
          </a:xfrm>
          <a:prstGeom prst="rect">
            <a:avLst/>
          </a:prstGeom>
          <a:noFill/>
        </p:spPr>
        <p:txBody>
          <a:bodyPr wrap="square">
            <a:spAutoFit/>
          </a:bodyPr>
          <a:lstStyle/>
          <a:p>
            <a:r>
              <a:rPr lang="en-US" sz="900" dirty="0">
                <a:solidFill>
                  <a:srgbClr val="008000"/>
                </a:solidFill>
                <a:latin typeface="Consolas" panose="020B0609020204030204" pitchFamily="49" charset="0"/>
              </a:rPr>
              <a:t>--Example 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finds the products whose brand id is 1, 2, or 4:</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p>
          <a:p>
            <a:r>
              <a:rPr lang="en-US" sz="900" dirty="0">
                <a:solidFill>
                  <a:srgbClr val="808080"/>
                </a:solidFill>
                <a:latin typeface="Consolas" panose="020B0609020204030204" pitchFamily="49" charset="0"/>
              </a:rPr>
              <a:t>OR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p>
          <a:p>
            <a:r>
              <a:rPr lang="en-US" sz="900" dirty="0">
                <a:solidFill>
                  <a:srgbClr val="808080"/>
                </a:solidFill>
                <a:latin typeface="Consolas" panose="020B0609020204030204" pitchFamily="49" charset="0"/>
              </a:rPr>
              <a:t>OR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13" name="TextBox 12">
            <a:extLst>
              <a:ext uri="{FF2B5EF4-FFF2-40B4-BE49-F238E27FC236}">
                <a16:creationId xmlns:a16="http://schemas.microsoft.com/office/drawing/2014/main" id="{64684EDA-2738-ED90-6079-206A70EA400F}"/>
              </a:ext>
            </a:extLst>
          </p:cNvPr>
          <p:cNvSpPr txBox="1"/>
          <p:nvPr/>
        </p:nvSpPr>
        <p:spPr>
          <a:xfrm>
            <a:off x="7023409" y="4715075"/>
            <a:ext cx="2453266" cy="1338828"/>
          </a:xfrm>
          <a:prstGeom prst="rect">
            <a:avLst/>
          </a:prstGeom>
          <a:noFill/>
        </p:spPr>
        <p:txBody>
          <a:bodyPr wrap="square">
            <a:spAutoFit/>
          </a:bodyPr>
          <a:lstStyle/>
          <a:p>
            <a:r>
              <a:rPr lang="en-US" sz="900" dirty="0">
                <a:solidFill>
                  <a:srgbClr val="008000"/>
                </a:solidFill>
                <a:latin typeface="Consolas" panose="020B0609020204030204" pitchFamily="49" charset="0"/>
              </a:rPr>
              <a:t>-----------NOT Operator---------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endParaRPr lang="en-US" dirty="0"/>
          </a:p>
        </p:txBody>
      </p:sp>
    </p:spTree>
    <p:extLst>
      <p:ext uri="{BB962C8B-B14F-4D97-AF65-F5344CB8AC3E}">
        <p14:creationId xmlns:p14="http://schemas.microsoft.com/office/powerpoint/2010/main" val="81685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67F322-799A-9797-228F-BBC5A1C8535A}"/>
              </a:ext>
            </a:extLst>
          </p:cNvPr>
          <p:cNvSpPr txBox="1"/>
          <p:nvPr/>
        </p:nvSpPr>
        <p:spPr>
          <a:xfrm>
            <a:off x="-11149" y="100108"/>
            <a:ext cx="2152185" cy="4108817"/>
          </a:xfrm>
          <a:prstGeom prst="rect">
            <a:avLst/>
          </a:prstGeom>
          <a:noFill/>
        </p:spPr>
        <p:txBody>
          <a:bodyPr wrap="square">
            <a:spAutoFit/>
          </a:bodyPr>
          <a:lstStyle/>
          <a:p>
            <a:r>
              <a:rPr lang="en-US" sz="900" dirty="0">
                <a:solidFill>
                  <a:srgbClr val="008000"/>
                </a:solidFill>
                <a:latin typeface="Consolas" panose="020B0609020204030204" pitchFamily="49" charset="0"/>
              </a:rPr>
              <a:t>UNION &amp; UNION ALL OPERATOR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SQL Server UNION is one of the set operations that allow you to combine results of two SELECT statements into a single result set which includes all the rows that belong to the SELECT statements in the union.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By default, the UNION operator removes all duplicate rows from the result sets. However, if you want to retain the duplicate rows, you need to specify the ALL keyword is explicitly as shown below: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UNION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3EEED29C-C273-C66D-D8F8-B5BB746DA3C1}"/>
              </a:ext>
            </a:extLst>
          </p:cNvPr>
          <p:cNvSpPr txBox="1"/>
          <p:nvPr/>
        </p:nvSpPr>
        <p:spPr>
          <a:xfrm>
            <a:off x="2107586" y="100108"/>
            <a:ext cx="1806497" cy="2446824"/>
          </a:xfrm>
          <a:prstGeom prst="rect">
            <a:avLst/>
          </a:prstGeom>
          <a:noFill/>
        </p:spPr>
        <p:txBody>
          <a:bodyPr wrap="square">
            <a:spAutoFit/>
          </a:bodyPr>
          <a:lstStyle/>
          <a:p>
            <a:r>
              <a:rPr lang="en-US" sz="900" dirty="0">
                <a:solidFill>
                  <a:srgbClr val="008000"/>
                </a:solidFill>
                <a:latin typeface="Consolas" panose="020B0609020204030204" pitchFamily="49" charset="0"/>
              </a:rPr>
              <a:t>--The staffs table has 10 rows and the customers table has 1,445 rows as shown in the following queries: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-- 10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-- 1454</a:t>
            </a:r>
            <a:endParaRPr lang="en-US" sz="9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87F27BFD-06DA-8F8E-83C7-BFB75FE40148}"/>
              </a:ext>
            </a:extLst>
          </p:cNvPr>
          <p:cNvSpPr txBox="1"/>
          <p:nvPr/>
        </p:nvSpPr>
        <p:spPr>
          <a:xfrm>
            <a:off x="2007224" y="2546932"/>
            <a:ext cx="1918009" cy="3139321"/>
          </a:xfrm>
          <a:prstGeom prst="rect">
            <a:avLst/>
          </a:prstGeom>
          <a:noFill/>
        </p:spPr>
        <p:txBody>
          <a:bodyPr wrap="square">
            <a:spAutoFit/>
          </a:bodyPr>
          <a:lstStyle/>
          <a:p>
            <a:r>
              <a:rPr lang="en-US" sz="900" dirty="0">
                <a:solidFill>
                  <a:srgbClr val="008000"/>
                </a:solidFill>
                <a:latin typeface="Consolas" panose="020B0609020204030204" pitchFamily="49" charset="0"/>
              </a:rPr>
              <a:t>--Because the result set of the union returns only 1,454 rows, it means that one duplicate row was removed.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To</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include</a:t>
            </a:r>
            <a:r>
              <a:rPr lang="en-US" sz="900" dirty="0">
                <a:solidFill>
                  <a:srgbClr val="000000"/>
                </a:solidFill>
                <a:latin typeface="Consolas" panose="020B0609020204030204" pitchFamily="49" charset="0"/>
              </a:rPr>
              <a:t> the duplicate </a:t>
            </a:r>
            <a:r>
              <a:rPr lang="en-US" sz="900" dirty="0">
                <a:solidFill>
                  <a:srgbClr val="0000FF"/>
                </a:solidFill>
                <a:latin typeface="Consolas" panose="020B0609020204030204" pitchFamily="49" charset="0"/>
              </a:rPr>
              <a:t>row</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you </a:t>
            </a:r>
            <a:r>
              <a:rPr lang="en-US" sz="900" dirty="0">
                <a:solidFill>
                  <a:srgbClr val="0000FF"/>
                </a:solidFill>
                <a:latin typeface="Consolas" panose="020B0609020204030204" pitchFamily="49" charset="0"/>
              </a:rPr>
              <a:t>use</a:t>
            </a:r>
            <a:r>
              <a:rPr lang="en-US" sz="900" dirty="0">
                <a:solidFill>
                  <a:srgbClr val="000000"/>
                </a:solidFill>
                <a:latin typeface="Consolas" panose="020B0609020204030204" pitchFamily="49" charset="0"/>
              </a:rPr>
              <a:t> the </a:t>
            </a:r>
            <a:r>
              <a:rPr lang="en-US" sz="900" dirty="0">
                <a:solidFill>
                  <a:srgbClr val="0000FF"/>
                </a:solidFill>
                <a:latin typeface="Consolas" panose="020B0609020204030204" pitchFamily="49" charset="0"/>
              </a:rPr>
              <a:t>UNION</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shown </a:t>
            </a:r>
            <a:r>
              <a:rPr lang="en-US" sz="900" dirty="0">
                <a:solidFill>
                  <a:srgbClr val="808080"/>
                </a:solidFill>
                <a:latin typeface="Consolas" panose="020B0609020204030204" pitchFamily="49" charset="0"/>
              </a:rPr>
              <a:t>in</a:t>
            </a:r>
            <a:r>
              <a:rPr lang="en-US" sz="900" dirty="0">
                <a:solidFill>
                  <a:srgbClr val="000000"/>
                </a:solidFill>
                <a:latin typeface="Consolas" panose="020B0609020204030204" pitchFamily="49" charset="0"/>
              </a:rPr>
              <a:t> the </a:t>
            </a:r>
            <a:r>
              <a:rPr lang="en-US" sz="900" dirty="0">
                <a:solidFill>
                  <a:srgbClr val="0000FF"/>
                </a:solidFill>
                <a:latin typeface="Consolas" panose="020B0609020204030204" pitchFamily="49" charset="0"/>
              </a:rPr>
              <a:t>following</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query: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UNION</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ALL</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9" name="TextBox 8">
            <a:extLst>
              <a:ext uri="{FF2B5EF4-FFF2-40B4-BE49-F238E27FC236}">
                <a16:creationId xmlns:a16="http://schemas.microsoft.com/office/drawing/2014/main" id="{73B1B323-8B18-3115-1CD0-6E38F3EB7A94}"/>
              </a:ext>
            </a:extLst>
          </p:cNvPr>
          <p:cNvSpPr txBox="1"/>
          <p:nvPr/>
        </p:nvSpPr>
        <p:spPr>
          <a:xfrm>
            <a:off x="3847178" y="100108"/>
            <a:ext cx="1918009" cy="4385816"/>
          </a:xfrm>
          <a:prstGeom prst="rect">
            <a:avLst/>
          </a:prstGeom>
          <a:noFill/>
        </p:spPr>
        <p:txBody>
          <a:bodyPr wrap="square">
            <a:spAutoFit/>
          </a:bodyPr>
          <a:lstStyle/>
          <a:p>
            <a:r>
              <a:rPr lang="en-US" sz="900" dirty="0">
                <a:solidFill>
                  <a:srgbClr val="008000"/>
                </a:solidFill>
                <a:latin typeface="Consolas" panose="020B0609020204030204" pitchFamily="49" charset="0"/>
              </a:rPr>
              <a:t>------------INTERSECT-----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SQL Server INTERSECT combines result sets of two or more queries and returns distinct rows that are output by both queries.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first query finds all cities of the customers and the second query finds the cities of the stores. The whole query, which uses INTERSECT, returns the common cities of customers and stores, which are the cities output by both input queries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city</a:t>
            </a: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INTERSECT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city</a:t>
            </a: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city</a:t>
            </a:r>
            <a:r>
              <a:rPr lang="en-US" sz="900" dirty="0">
                <a:solidFill>
                  <a:srgbClr val="808080"/>
                </a:solidFill>
                <a:latin typeface="Consolas" panose="020B0609020204030204" pitchFamily="49" charset="0"/>
              </a:rPr>
              <a:t>;</a:t>
            </a:r>
            <a:endParaRPr lang="en-US" dirty="0"/>
          </a:p>
        </p:txBody>
      </p:sp>
      <p:sp>
        <p:nvSpPr>
          <p:cNvPr id="11" name="TextBox 10">
            <a:extLst>
              <a:ext uri="{FF2B5EF4-FFF2-40B4-BE49-F238E27FC236}">
                <a16:creationId xmlns:a16="http://schemas.microsoft.com/office/drawing/2014/main" id="{2CA0D472-2144-BD15-D143-913F6962B5A2}"/>
              </a:ext>
            </a:extLst>
          </p:cNvPr>
          <p:cNvSpPr txBox="1"/>
          <p:nvPr/>
        </p:nvSpPr>
        <p:spPr>
          <a:xfrm>
            <a:off x="5720582" y="100108"/>
            <a:ext cx="1661531" cy="4108817"/>
          </a:xfrm>
          <a:prstGeom prst="rect">
            <a:avLst/>
          </a:prstGeom>
          <a:noFill/>
        </p:spPr>
        <p:txBody>
          <a:bodyPr wrap="square">
            <a:spAutoFit/>
          </a:bodyPr>
          <a:lstStyle/>
          <a:p>
            <a:r>
              <a:rPr lang="en-US" sz="900" dirty="0">
                <a:solidFill>
                  <a:srgbClr val="008000"/>
                </a:solidFill>
                <a:latin typeface="Consolas" panose="020B0609020204030204" pitchFamily="49" charset="0"/>
              </a:rPr>
              <a:t>--------EXCEPT----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SQL Server EXCEPT compares the result sets of two queries and returns the distinct rows from the first query that are not output by the\second query. In other words, the EXCEPT subtracts the result set of a query from another.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uses the EXCEPT operator to find the products that have no sales: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EXCEPT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13" name="TextBox 12">
            <a:extLst>
              <a:ext uri="{FF2B5EF4-FFF2-40B4-BE49-F238E27FC236}">
                <a16:creationId xmlns:a16="http://schemas.microsoft.com/office/drawing/2014/main" id="{55957A7B-28DB-7346-4C1D-9E25F9BF2DC2}"/>
              </a:ext>
            </a:extLst>
          </p:cNvPr>
          <p:cNvSpPr txBox="1"/>
          <p:nvPr/>
        </p:nvSpPr>
        <p:spPr>
          <a:xfrm>
            <a:off x="7382113" y="77806"/>
            <a:ext cx="2297155" cy="6878806"/>
          </a:xfrm>
          <a:prstGeom prst="rect">
            <a:avLst/>
          </a:prstGeom>
          <a:noFill/>
        </p:spPr>
        <p:txBody>
          <a:bodyPr wrap="square">
            <a:spAutoFit/>
          </a:bodyPr>
          <a:lstStyle/>
          <a:p>
            <a:r>
              <a:rPr lang="en-US" sz="900" dirty="0">
                <a:solidFill>
                  <a:srgbClr val="008000"/>
                </a:solidFill>
                <a:latin typeface="Consolas" panose="020B0609020204030204" pitchFamily="49" charset="0"/>
              </a:rPr>
              <a:t>------------LIKE------------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SQL Server LIKE is a logical operator that determines if a character string matches a specified pattern. A pattern may include regular characters and wildcard characters. The LIKE operator is used in the WHERE clause of the SELECT, UPDATE, and DELETE statements to filter rows based on pattern matching.</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Pattern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pattern is a sequence of characters to search for in the column or expression. It can include the following valid wildcard characters: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percent wildcard (%): any string of zero or more characters.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underscore (_) wildcard: any single character.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[list of characters] wildcard: any single character within the specified set.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 any single character not within a list or a range.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wildcard characters makes the LIKE operator more flexible than the equal (=) and not equal (!=) string comparison operators.*/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 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finds the customers whose last name starts with the letter z:</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LIKE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'z%'</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14576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3FA7E3-641C-BF5B-D857-98CACC610965}"/>
              </a:ext>
            </a:extLst>
          </p:cNvPr>
          <p:cNvSpPr txBox="1"/>
          <p:nvPr/>
        </p:nvSpPr>
        <p:spPr>
          <a:xfrm>
            <a:off x="100362" y="0"/>
            <a:ext cx="2029522" cy="4939814"/>
          </a:xfrm>
          <a:prstGeom prst="rect">
            <a:avLst/>
          </a:prstGeom>
          <a:noFill/>
        </p:spPr>
        <p:txBody>
          <a:bodyPr wrap="square">
            <a:spAutoFit/>
          </a:bodyPr>
          <a:lstStyle/>
          <a:p>
            <a:r>
              <a:rPr lang="en-US" sz="900" dirty="0">
                <a:solidFill>
                  <a:srgbClr val="008000"/>
                </a:solidFill>
                <a:latin typeface="Consolas" panose="020B0609020204030204" pitchFamily="49" charset="0"/>
              </a:rPr>
              <a:t>--Example 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returns the customers whose last name ends with the string 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LIKE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'%er'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 3</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retrieves the customers whose last name starts with the letter t and ends with the letter 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LIKE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t%s</a:t>
            </a:r>
            <a:r>
              <a:rPr lang="en-US" sz="900" dirty="0">
                <a:solidFill>
                  <a:srgbClr val="FF0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6FB72DB4-73D1-7AEB-8C70-C5F1E07D7480}"/>
              </a:ext>
            </a:extLst>
          </p:cNvPr>
          <p:cNvSpPr txBox="1"/>
          <p:nvPr/>
        </p:nvSpPr>
        <p:spPr>
          <a:xfrm>
            <a:off x="1973767" y="0"/>
            <a:ext cx="2029522" cy="3970318"/>
          </a:xfrm>
          <a:prstGeom prst="rect">
            <a:avLst/>
          </a:prstGeom>
          <a:noFill/>
        </p:spPr>
        <p:txBody>
          <a:bodyPr wrap="square">
            <a:spAutoFit/>
          </a:bodyPr>
          <a:lstStyle/>
          <a:p>
            <a:r>
              <a:rPr lang="en-US" sz="900" dirty="0">
                <a:solidFill>
                  <a:srgbClr val="008000"/>
                </a:solidFill>
                <a:latin typeface="Consolas" panose="020B0609020204030204" pitchFamily="49" charset="0"/>
              </a:rPr>
              <a:t>--Example 4</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underscore represents a single character. For example, the following statement returns the customers where the second character is the letter u:</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pattern _u%</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first underscore character ( _) matches any single character.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second letter u matches the letter u exactly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third character % matches any sequence of characters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LIKE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'_u%'</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endParaRPr lang="en-US" dirty="0"/>
          </a:p>
        </p:txBody>
      </p:sp>
      <p:sp>
        <p:nvSpPr>
          <p:cNvPr id="7" name="TextBox 6">
            <a:extLst>
              <a:ext uri="{FF2B5EF4-FFF2-40B4-BE49-F238E27FC236}">
                <a16:creationId xmlns:a16="http://schemas.microsoft.com/office/drawing/2014/main" id="{5E064FE6-7C8F-6B2D-2C67-7613DE503BBD}"/>
              </a:ext>
            </a:extLst>
          </p:cNvPr>
          <p:cNvSpPr txBox="1"/>
          <p:nvPr/>
        </p:nvSpPr>
        <p:spPr>
          <a:xfrm>
            <a:off x="1973767" y="4048375"/>
            <a:ext cx="2029522" cy="2446824"/>
          </a:xfrm>
          <a:prstGeom prst="rect">
            <a:avLst/>
          </a:prstGeom>
          <a:noFill/>
        </p:spPr>
        <p:txBody>
          <a:bodyPr wrap="square">
            <a:spAutoFit/>
          </a:bodyPr>
          <a:lstStyle/>
          <a:p>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Exmaple</a:t>
            </a:r>
            <a:r>
              <a:rPr lang="en-US" sz="900" dirty="0">
                <a:solidFill>
                  <a:srgbClr val="008000"/>
                </a:solidFill>
                <a:latin typeface="Consolas" panose="020B0609020204030204" pitchFamily="49" charset="0"/>
              </a:rPr>
              <a:t> 5</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query returns the customers where the first character in the last name is not the letter in the range A through 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LIKE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'[^A-X]%'</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endParaRPr lang="en-US" dirty="0"/>
          </a:p>
        </p:txBody>
      </p:sp>
      <p:sp>
        <p:nvSpPr>
          <p:cNvPr id="9" name="TextBox 8">
            <a:extLst>
              <a:ext uri="{FF2B5EF4-FFF2-40B4-BE49-F238E27FC236}">
                <a16:creationId xmlns:a16="http://schemas.microsoft.com/office/drawing/2014/main" id="{38E98E99-D608-9B2F-243E-C587F18478C9}"/>
              </a:ext>
            </a:extLst>
          </p:cNvPr>
          <p:cNvSpPr txBox="1"/>
          <p:nvPr/>
        </p:nvSpPr>
        <p:spPr>
          <a:xfrm>
            <a:off x="4062763" y="93983"/>
            <a:ext cx="1895707" cy="6186309"/>
          </a:xfrm>
          <a:prstGeom prst="rect">
            <a:avLst/>
          </a:prstGeom>
          <a:noFill/>
        </p:spPr>
        <p:txBody>
          <a:bodyPr wrap="square">
            <a:spAutoFit/>
          </a:bodyPr>
          <a:lstStyle/>
          <a:p>
            <a:r>
              <a:rPr lang="en-US" sz="900" dirty="0">
                <a:solidFill>
                  <a:srgbClr val="008000"/>
                </a:solidFill>
                <a:latin typeface="Consolas" panose="020B0609020204030204" pitchFamily="49" charset="0"/>
              </a:rPr>
              <a:t>------BETWEEN &amp; NOT BETWEEN--------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BETWEEN operator is a logical operator that allows you to specify a range to test.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query finds the products whose list prices are between 149.99 and 199.99:</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BETWEEN</a:t>
            </a:r>
            <a:r>
              <a:rPr lang="en-US" sz="900" dirty="0">
                <a:solidFill>
                  <a:srgbClr val="000000"/>
                </a:solidFill>
                <a:latin typeface="Consolas" panose="020B0609020204030204" pitchFamily="49" charset="0"/>
              </a:rPr>
              <a:t> 149.99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199.99</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get the products whose list prices are not in the range of 149.99 and 199.99, you use the NOT BETWEEN operator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BETWEEN</a:t>
            </a:r>
            <a:r>
              <a:rPr lang="en-US" sz="900" dirty="0">
                <a:solidFill>
                  <a:srgbClr val="000000"/>
                </a:solidFill>
                <a:latin typeface="Consolas" panose="020B0609020204030204" pitchFamily="49" charset="0"/>
              </a:rPr>
              <a:t> 149.99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199.99</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11" name="TextBox 10">
            <a:extLst>
              <a:ext uri="{FF2B5EF4-FFF2-40B4-BE49-F238E27FC236}">
                <a16:creationId xmlns:a16="http://schemas.microsoft.com/office/drawing/2014/main" id="{CC0E9B3F-14EA-151F-42A5-2A04CCC89B8B}"/>
              </a:ext>
            </a:extLst>
          </p:cNvPr>
          <p:cNvSpPr txBox="1"/>
          <p:nvPr/>
        </p:nvSpPr>
        <p:spPr>
          <a:xfrm>
            <a:off x="5917584" y="93983"/>
            <a:ext cx="2014649" cy="2723823"/>
          </a:xfrm>
          <a:prstGeom prst="rect">
            <a:avLst/>
          </a:prstGeom>
          <a:noFill/>
        </p:spPr>
        <p:txBody>
          <a:bodyPr wrap="square">
            <a:spAutoFit/>
          </a:bodyPr>
          <a:lstStyle/>
          <a:p>
            <a:r>
              <a:rPr lang="en-US" sz="900" dirty="0">
                <a:solidFill>
                  <a:srgbClr val="008000"/>
                </a:solidFill>
                <a:latin typeface="Consolas" panose="020B0609020204030204" pitchFamily="49" charset="0"/>
              </a:rPr>
              <a:t>--Example3</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query finds the orders that customers placed between January 15, 2017 and January 17, 2017:</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order_date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BETWEEN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'20170115'</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'20170117'</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endParaRPr lang="en-US" dirty="0"/>
          </a:p>
        </p:txBody>
      </p:sp>
      <p:sp>
        <p:nvSpPr>
          <p:cNvPr id="13" name="TextBox 12">
            <a:extLst>
              <a:ext uri="{FF2B5EF4-FFF2-40B4-BE49-F238E27FC236}">
                <a16:creationId xmlns:a16="http://schemas.microsoft.com/office/drawing/2014/main" id="{C77F842E-3CFA-204D-8312-1E0306C2C500}"/>
              </a:ext>
            </a:extLst>
          </p:cNvPr>
          <p:cNvSpPr txBox="1"/>
          <p:nvPr/>
        </p:nvSpPr>
        <p:spPr>
          <a:xfrm>
            <a:off x="5765181" y="2817805"/>
            <a:ext cx="2977375" cy="3693319"/>
          </a:xfrm>
          <a:prstGeom prst="rect">
            <a:avLst/>
          </a:prstGeom>
          <a:noFill/>
        </p:spPr>
        <p:txBody>
          <a:bodyPr wrap="square">
            <a:spAutoFit/>
          </a:bodyPr>
          <a:lstStyle/>
          <a:p>
            <a:r>
              <a:rPr lang="en-US" sz="900" dirty="0">
                <a:solidFill>
                  <a:srgbClr val="008000"/>
                </a:solidFill>
                <a:latin typeface="Consolas" panose="020B0609020204030204" pitchFamily="49" charset="0"/>
              </a:rPr>
              <a:t>--WHERE CLAUSE AND ORDERBY CLUASE----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--When you use the SELECT statement to query data against a table, you get all the rows of that table, which is unnecessary because the application may only process a set of rows at the time.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get the rows from the table that satisfy one or more conditions, you use the WHERE 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sort the rows in ASCENDING OR DESCENDING we use </a:t>
            </a:r>
            <a:r>
              <a:rPr lang="en-US" sz="900" dirty="0" err="1">
                <a:solidFill>
                  <a:srgbClr val="008000"/>
                </a:solidFill>
                <a:latin typeface="Consolas" panose="020B0609020204030204" pitchFamily="49" charset="0"/>
              </a:rPr>
              <a:t>orderby</a:t>
            </a:r>
            <a:r>
              <a:rPr lang="en-US" sz="900" dirty="0">
                <a:solidFill>
                  <a:srgbClr val="008000"/>
                </a:solidFill>
                <a:latin typeface="Consolas" panose="020B0609020204030204" pitchFamily="49" charset="0"/>
              </a:rPr>
              <a:t> clause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--Example1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retrieves all products with the category id 1:</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15" name="TextBox 14">
            <a:extLst>
              <a:ext uri="{FF2B5EF4-FFF2-40B4-BE49-F238E27FC236}">
                <a16:creationId xmlns:a16="http://schemas.microsoft.com/office/drawing/2014/main" id="{8262646E-A1BB-F073-43B7-5A428C2A6F4D}"/>
              </a:ext>
            </a:extLst>
          </p:cNvPr>
          <p:cNvSpPr txBox="1"/>
          <p:nvPr/>
        </p:nvSpPr>
        <p:spPr>
          <a:xfrm>
            <a:off x="7725939" y="27077"/>
            <a:ext cx="2137320" cy="2862322"/>
          </a:xfrm>
          <a:prstGeom prst="rect">
            <a:avLst/>
          </a:prstGeom>
          <a:noFill/>
        </p:spPr>
        <p:txBody>
          <a:bodyPr wrap="square">
            <a:spAutoFit/>
          </a:bodyPr>
          <a:lstStyle/>
          <a:p>
            <a:r>
              <a:rPr lang="en-US" sz="900" dirty="0">
                <a:solidFill>
                  <a:srgbClr val="008000"/>
                </a:solidFill>
                <a:latin typeface="Consolas" panose="020B0609020204030204" pitchFamily="49" charset="0"/>
              </a:rPr>
              <a:t>--The following example returns products that meet two conditions: category id is 1, and the model is 2018. It uses the logical operator AND to combine the two conditions.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5550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5122EE-2A28-4852-BF7B-3D8C5840E51D}"/>
              </a:ext>
            </a:extLst>
          </p:cNvPr>
          <p:cNvSpPr txBox="1"/>
          <p:nvPr/>
        </p:nvSpPr>
        <p:spPr>
          <a:xfrm>
            <a:off x="0" y="0"/>
            <a:ext cx="4259766" cy="3000821"/>
          </a:xfrm>
          <a:prstGeom prst="rect">
            <a:avLst/>
          </a:prstGeom>
          <a:noFill/>
        </p:spPr>
        <p:txBody>
          <a:bodyPr wrap="square">
            <a:spAutoFit/>
          </a:bodyPr>
          <a:lstStyle/>
          <a:p>
            <a:r>
              <a:rPr lang="en-US" sz="900" dirty="0">
                <a:solidFill>
                  <a:srgbClr val="008000"/>
                </a:solidFill>
                <a:latin typeface="Consolas" panose="020B0609020204030204" pitchFamily="49" charset="0"/>
              </a:rPr>
              <a:t>------------GROUPBY--------------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GROUP BY clause allows you to arrange the rows of a query in groups. The groups are determined by the columns that you specify in the GROUP BY clause.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query, the GROUP BY clause produced a group for each combination of the values in the columns listed in the GROUP BY clause.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--Consider the following example: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order_year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F6AE326D-C7A6-4CC6-F3B4-F4B1997197AF}"/>
              </a:ext>
            </a:extLst>
          </p:cNvPr>
          <p:cNvSpPr txBox="1"/>
          <p:nvPr/>
        </p:nvSpPr>
        <p:spPr>
          <a:xfrm>
            <a:off x="78059" y="3164681"/>
            <a:ext cx="3936380" cy="3693319"/>
          </a:xfrm>
          <a:prstGeom prst="rect">
            <a:avLst/>
          </a:prstGeom>
          <a:noFill/>
        </p:spPr>
        <p:txBody>
          <a:bodyPr wrap="square">
            <a:spAutoFit/>
          </a:bodyPr>
          <a:lstStyle/>
          <a:p>
            <a:r>
              <a:rPr lang="en-US" sz="900" dirty="0">
                <a:solidFill>
                  <a:srgbClr val="008000"/>
                </a:solidFill>
                <a:latin typeface="Consolas" panose="020B0609020204030204" pitchFamily="49" charset="0"/>
              </a:rPr>
              <a:t>--- In this example, we retrieved the customer id and the ordered year of the customers with customer id one and two.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As you can see clearly from the output, the customer with the id one placed one order in 2016 and two orders in 2018. The customer with id two placed two orders in 2017 and one order in 2018.</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Let’s add a GROUP BY clause to the query to see the effect: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GROUP BY clause arranged the first three rows into two groups and the next three rows into the other two groups with the unique combinations of the customer id and order year.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order_year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13962C66-4334-51E9-BCA2-90C56B6562B6}"/>
              </a:ext>
            </a:extLst>
          </p:cNvPr>
          <p:cNvSpPr txBox="1"/>
          <p:nvPr/>
        </p:nvSpPr>
        <p:spPr>
          <a:xfrm>
            <a:off x="4259766" y="0"/>
            <a:ext cx="4259766" cy="2308324"/>
          </a:xfrm>
          <a:prstGeom prst="rect">
            <a:avLst/>
          </a:prstGeom>
          <a:noFill/>
        </p:spPr>
        <p:txBody>
          <a:bodyPr wrap="square">
            <a:spAutoFit/>
          </a:bodyPr>
          <a:lstStyle/>
          <a:p>
            <a:r>
              <a:rPr lang="en-US" sz="900" dirty="0">
                <a:solidFill>
                  <a:srgbClr val="008000"/>
                </a:solidFill>
                <a:latin typeface="Consolas" panose="020B0609020204030204" pitchFamily="49" charset="0"/>
              </a:rPr>
              <a:t>-----Example 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query returns the number of customers in every city: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city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city</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city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city</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'Amsterdam'</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dirty="0"/>
          </a:p>
        </p:txBody>
      </p:sp>
      <p:sp>
        <p:nvSpPr>
          <p:cNvPr id="11" name="TextBox 10">
            <a:extLst>
              <a:ext uri="{FF2B5EF4-FFF2-40B4-BE49-F238E27FC236}">
                <a16:creationId xmlns:a16="http://schemas.microsoft.com/office/drawing/2014/main" id="{DC856828-F646-F596-DD34-5060AFDCD0FA}"/>
              </a:ext>
            </a:extLst>
          </p:cNvPr>
          <p:cNvSpPr txBox="1"/>
          <p:nvPr/>
        </p:nvSpPr>
        <p:spPr>
          <a:xfrm>
            <a:off x="4259766" y="2564518"/>
            <a:ext cx="4951140" cy="3970318"/>
          </a:xfrm>
          <a:prstGeom prst="rect">
            <a:avLst/>
          </a:prstGeom>
          <a:noFill/>
        </p:spPr>
        <p:txBody>
          <a:bodyPr wrap="square">
            <a:spAutoFit/>
          </a:bodyPr>
          <a:lstStyle/>
          <a:p>
            <a:r>
              <a:rPr lang="en-US" sz="900" dirty="0">
                <a:solidFill>
                  <a:srgbClr val="008000"/>
                </a:solidFill>
                <a:latin typeface="Consolas" panose="020B0609020204030204" pitchFamily="49" charset="0"/>
              </a:rPr>
              <a:t>--------------HAVING CLAUSE-----------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HAVING clause is often used with the GROUP BY clause to filter groups based on a specified list of conditions.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uses the HAVING clause to find the customers who placed at least two orders per year: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First, the GROUP BY clause groups the sales order by customer and order year. The COUNT() function returns the number of orders each customer placed in each year.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 the HAVING clause filtered out all the customers whose number of orders is less than two.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HAVING</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2</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1688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A73673-EE44-266E-F1B8-27FA7DBBC910}"/>
              </a:ext>
            </a:extLst>
          </p:cNvPr>
          <p:cNvSpPr txBox="1"/>
          <p:nvPr/>
        </p:nvSpPr>
        <p:spPr>
          <a:xfrm>
            <a:off x="223025" y="120310"/>
            <a:ext cx="4951140" cy="2446824"/>
          </a:xfrm>
          <a:prstGeom prst="rect">
            <a:avLst/>
          </a:prstGeom>
          <a:noFill/>
        </p:spPr>
        <p:txBody>
          <a:bodyPr wrap="square">
            <a:spAutoFit/>
          </a:bodyPr>
          <a:lstStyle/>
          <a:p>
            <a:r>
              <a:rPr lang="en-US" sz="900" dirty="0">
                <a:solidFill>
                  <a:srgbClr val="008000"/>
                </a:solidFill>
                <a:latin typeface="Consolas" panose="020B0609020204030204" pitchFamily="49" charset="0"/>
              </a:rPr>
              <a:t>--------------------Temporary tables----------------------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----Temporary tables are tables that exist temporarily on the SQL Server.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temporary tables are useful for storing the immediate result sets that are accessed multiple times.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create a temporary table is to use the CREATE TABLE statement: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#haro_products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MAX</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##haro_products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MAX</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FD1E6274-91F9-2B46-256C-A80D26A9C58A}"/>
              </a:ext>
            </a:extLst>
          </p:cNvPr>
          <p:cNvSpPr txBox="1"/>
          <p:nvPr/>
        </p:nvSpPr>
        <p:spPr>
          <a:xfrm>
            <a:off x="1860" y="2790456"/>
            <a:ext cx="4951140" cy="3000821"/>
          </a:xfrm>
          <a:prstGeom prst="rect">
            <a:avLst/>
          </a:prstGeom>
          <a:noFill/>
        </p:spPr>
        <p:txBody>
          <a:bodyPr wrap="square">
            <a:spAutoFit/>
          </a:bodyPr>
          <a:lstStyle/>
          <a:p>
            <a:r>
              <a:rPr lang="en-US" sz="900" dirty="0">
                <a:solidFill>
                  <a:srgbClr val="008000"/>
                </a:solidFill>
                <a:latin typeface="Consolas" panose="020B0609020204030204" pitchFamily="49" charset="0"/>
              </a:rPr>
              <a:t>--This statement has the same syntax as creating a regular table. However, the name of the temporary table starts with a hash symbol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--After creating the temporary table, you can insert data into this table as a regular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#haro_products</a:t>
            </a: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Of</a:t>
            </a:r>
            <a:r>
              <a:rPr lang="en-US" sz="900" dirty="0">
                <a:solidFill>
                  <a:srgbClr val="000000"/>
                </a:solidFill>
                <a:latin typeface="Consolas" panose="020B0609020204030204" pitchFamily="49" charset="0"/>
              </a:rPr>
              <a:t> course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you can query </a:t>
            </a:r>
            <a:r>
              <a:rPr lang="en-US" sz="900" dirty="0">
                <a:solidFill>
                  <a:srgbClr val="0000FF"/>
                </a:solidFill>
                <a:latin typeface="Consolas" panose="020B0609020204030204" pitchFamily="49" charset="0"/>
              </a:rPr>
              <a:t>data</a:t>
            </a:r>
            <a:r>
              <a:rPr lang="en-US" sz="900" dirty="0">
                <a:solidFill>
                  <a:srgbClr val="000000"/>
                </a:solidFill>
                <a:latin typeface="Consolas" panose="020B0609020204030204" pitchFamily="49" charset="0"/>
              </a:rPr>
              <a:t> against it </a:t>
            </a:r>
            <a:r>
              <a:rPr lang="en-US" sz="900" dirty="0">
                <a:solidFill>
                  <a:srgbClr val="0000FF"/>
                </a:solidFill>
                <a:latin typeface="Consolas" panose="020B0609020204030204" pitchFamily="49" charset="0"/>
              </a:rPr>
              <a:t>within</a:t>
            </a:r>
            <a:r>
              <a:rPr lang="en-US" sz="900" dirty="0">
                <a:solidFill>
                  <a:srgbClr val="000000"/>
                </a:solidFill>
                <a:latin typeface="Consolas" panose="020B0609020204030204" pitchFamily="49" charset="0"/>
              </a:rPr>
              <a:t> the </a:t>
            </a:r>
            <a:r>
              <a:rPr lang="en-US" sz="900" dirty="0">
                <a:solidFill>
                  <a:srgbClr val="0000FF"/>
                </a:solidFill>
                <a:latin typeface="Consolas" panose="020B0609020204030204" pitchFamily="49" charset="0"/>
              </a:rPr>
              <a:t>current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session: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#haro_products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3AD0D6FC-1287-1141-C0D2-445EC4895697}"/>
              </a:ext>
            </a:extLst>
          </p:cNvPr>
          <p:cNvSpPr txBox="1"/>
          <p:nvPr/>
        </p:nvSpPr>
        <p:spPr>
          <a:xfrm>
            <a:off x="4953000" y="0"/>
            <a:ext cx="2601952" cy="7017306"/>
          </a:xfrm>
          <a:prstGeom prst="rect">
            <a:avLst/>
          </a:prstGeom>
          <a:noFill/>
        </p:spPr>
        <p:txBody>
          <a:bodyPr wrap="square">
            <a:spAutoFit/>
          </a:bodyPr>
          <a:lstStyle/>
          <a:p>
            <a:r>
              <a:rPr lang="en-US" sz="900" dirty="0">
                <a:solidFill>
                  <a:srgbClr val="008000"/>
                </a:solidFill>
                <a:latin typeface="Consolas" panose="020B0609020204030204" pitchFamily="49" charset="0"/>
              </a:rPr>
              <a:t>-- Global Temporary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---Sometimes, you may want to create a temporary table that is accessible across connections. In this case, you can use global temporary tables.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--Unlike a temporary table, the name of a global temporary table starts with a double hash symbol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statements first create a global temporary table named ##heller_products and then populate data from the </a:t>
            </a:r>
            <a:r>
              <a:rPr lang="en-US" sz="900" dirty="0" err="1">
                <a:solidFill>
                  <a:srgbClr val="008000"/>
                </a:solidFill>
                <a:latin typeface="Consolas" panose="020B0609020204030204" pitchFamily="49" charset="0"/>
              </a:rPr>
              <a:t>production.products</a:t>
            </a:r>
            <a:r>
              <a:rPr lang="en-US" sz="900" dirty="0">
                <a:solidFill>
                  <a:srgbClr val="008000"/>
                </a:solidFill>
                <a:latin typeface="Consolas" panose="020B0609020204030204" pitchFamily="49" charset="0"/>
              </a:rPr>
              <a:t> table into this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##heller_products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MAX</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##heller_products</a:t>
            </a: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2016</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6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500 </a:t>
            </a:r>
            <a:r>
              <a:rPr lang="en-US" sz="900" dirty="0">
                <a:solidFill>
                  <a:srgbClr val="808080"/>
                </a:solidFill>
                <a:latin typeface="Consolas" panose="020B0609020204030204" pitchFamily="49" charset="0"/>
              </a:rPr>
              <a:t>AND</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 </a:t>
            </a:r>
            <a:r>
              <a:rPr lang="en-US" sz="900" dirty="0">
                <a:solidFill>
                  <a:srgbClr val="808080"/>
                </a:solidFill>
                <a:latin typeface="Consolas" panose="020B0609020204030204" pitchFamily="49" charset="0"/>
              </a:rPr>
              <a:t>OR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LIKE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S%n</a:t>
            </a:r>
            <a:r>
              <a:rPr lang="en-US" sz="900" dirty="0">
                <a:solidFill>
                  <a:srgbClr val="FF0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ASC</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9" name="TextBox 8">
            <a:extLst>
              <a:ext uri="{FF2B5EF4-FFF2-40B4-BE49-F238E27FC236}">
                <a16:creationId xmlns:a16="http://schemas.microsoft.com/office/drawing/2014/main" id="{B7F54012-6D3A-B3E1-417D-B9E8635053AC}"/>
              </a:ext>
            </a:extLst>
          </p:cNvPr>
          <p:cNvSpPr txBox="1"/>
          <p:nvPr/>
        </p:nvSpPr>
        <p:spPr>
          <a:xfrm>
            <a:off x="7776117" y="1856679"/>
            <a:ext cx="2129883" cy="3416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SELECT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production</a:t>
            </a:r>
            <a:r>
              <a:rPr kumimoji="0" lang="en-US" sz="900" b="0" i="0" u="none" strike="noStrike" kern="1200" cap="none" spc="0" normalizeH="0" baseline="0" noProof="0" dirty="0" err="1">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products</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WHERE</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list_price</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300 </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AND</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list_price</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800 </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SELECT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customer_id</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FF00FF"/>
                </a:solidFill>
                <a:effectLst/>
                <a:uLnTx/>
                <a:uFillTx/>
                <a:latin typeface="Consolas" panose="020B0609020204030204" pitchFamily="49" charset="0"/>
                <a:ea typeface="+mn-ea"/>
                <a:cs typeface="+mn-cs"/>
              </a:rPr>
              <a:t>COUNT</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customer_id</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AS</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orders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sales</a:t>
            </a:r>
            <a:r>
              <a:rPr kumimoji="0" lang="en-US" sz="900" b="0" i="0" u="none" strike="noStrike" kern="1200" cap="none" spc="0" normalizeH="0" baseline="0" noProof="0" dirty="0" err="1">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orders</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GROUP</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BY</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customer_id</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HAVING</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FF00FF"/>
                </a:solidFill>
                <a:effectLst/>
                <a:uLnTx/>
                <a:uFillTx/>
                <a:latin typeface="Consolas" panose="020B0609020204030204" pitchFamily="49" charset="0"/>
                <a:ea typeface="+mn-ea"/>
                <a:cs typeface="+mn-cs"/>
              </a:rPr>
              <a:t>COUNT</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customer_id</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3 </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SELECT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first_name</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last_name</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sales</a:t>
            </a:r>
            <a:r>
              <a:rPr kumimoji="0" lang="en-US" sz="900" b="0" i="0" u="none" strike="noStrike" kern="1200" cap="none" spc="0" normalizeH="0" baseline="0" noProof="0" dirty="0" err="1">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staffs</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UNION</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SELECT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first_name</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last_name</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sales</a:t>
            </a:r>
            <a:r>
              <a:rPr kumimoji="0" lang="en-US" sz="900" b="0" i="0" u="none" strike="noStrike" kern="1200" cap="none" spc="0" normalizeH="0" baseline="0" noProof="0" dirty="0" err="1">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customers</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SELECT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first_name</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last_name</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sales</a:t>
            </a:r>
            <a:r>
              <a:rPr kumimoji="0" lang="en-US" sz="900" b="0" i="0" u="none" strike="noStrike" kern="1200" cap="none" spc="0" normalizeH="0" baseline="0" noProof="0" dirty="0" err="1">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staffs</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UNION</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ALL</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SELECT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first_name</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last_name</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sales</a:t>
            </a:r>
            <a:r>
              <a:rPr kumimoji="0" lang="en-US" sz="900" b="0" i="0" u="none" strike="noStrike" kern="1200" cap="none" spc="0" normalizeH="0" baseline="0" noProof="0" dirty="0" err="1">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customers</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2026343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C88C83-AFF9-3B55-D5AD-3542AC378A07}"/>
              </a:ext>
            </a:extLst>
          </p:cNvPr>
          <p:cNvSpPr txBox="1"/>
          <p:nvPr/>
        </p:nvSpPr>
        <p:spPr>
          <a:xfrm>
            <a:off x="144966" y="0"/>
            <a:ext cx="4951140" cy="2723823"/>
          </a:xfrm>
          <a:prstGeom prst="rect">
            <a:avLst/>
          </a:prstGeom>
          <a:noFill/>
        </p:spPr>
        <p:txBody>
          <a:bodyPr wrap="square">
            <a:spAutoFit/>
          </a:bodyPr>
          <a:lstStyle/>
          <a:p>
            <a:r>
              <a:rPr lang="en-US" sz="900" dirty="0">
                <a:solidFill>
                  <a:srgbClr val="008000"/>
                </a:solidFill>
                <a:latin typeface="Consolas" panose="020B0609020204030204" pitchFamily="49" charset="0"/>
              </a:rPr>
              <a:t>----------Aggregate Functions----------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--AVG()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AVG() function is an aggregate function that returns the average value of a group.</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returns the average list price of all products: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the AVG() function returned a single value for the whole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average_of_listprice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dirty="0"/>
          </a:p>
        </p:txBody>
      </p:sp>
      <p:sp>
        <p:nvSpPr>
          <p:cNvPr id="5" name="TextBox 4">
            <a:extLst>
              <a:ext uri="{FF2B5EF4-FFF2-40B4-BE49-F238E27FC236}">
                <a16:creationId xmlns:a16="http://schemas.microsoft.com/office/drawing/2014/main" id="{0FBA824F-BA1C-9639-132C-56747E86D4B9}"/>
              </a:ext>
            </a:extLst>
          </p:cNvPr>
          <p:cNvSpPr txBox="1"/>
          <p:nvPr/>
        </p:nvSpPr>
        <p:spPr>
          <a:xfrm>
            <a:off x="144966" y="3164681"/>
            <a:ext cx="4951140" cy="3693319"/>
          </a:xfrm>
          <a:prstGeom prst="rect">
            <a:avLst/>
          </a:prstGeom>
          <a:noFill/>
        </p:spPr>
        <p:txBody>
          <a:bodyPr wrap="square">
            <a:spAutoFit/>
          </a:bodyPr>
          <a:lstStyle/>
          <a:p>
            <a:r>
              <a:rPr lang="en-US" sz="900" dirty="0">
                <a:solidFill>
                  <a:srgbClr val="008000"/>
                </a:solidFill>
                <a:latin typeface="Consolas" panose="020B0609020204030204" pitchFamily="49" charset="0"/>
              </a:rPr>
              <a:t>--Example1--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returns the average list price for each product category: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the GROUP BY clause divides the products by brands into groups.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 the AVG() function calculates average list price for each group.</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Third, the HAVING clause removes the brand whose average list price is less than 500.*/</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ROUND</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avg_product_price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r>
              <a:rPr lang="en-US" sz="900" dirty="0">
                <a:solidFill>
                  <a:srgbClr val="000000"/>
                </a:solidFill>
                <a:latin typeface="Consolas" panose="020B0609020204030204" pitchFamily="49" charset="0"/>
              </a:rPr>
              <a:t> c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DB05716E-C162-9964-5368-08FB52315248}"/>
              </a:ext>
            </a:extLst>
          </p:cNvPr>
          <p:cNvSpPr txBox="1"/>
          <p:nvPr/>
        </p:nvSpPr>
        <p:spPr>
          <a:xfrm>
            <a:off x="5064510" y="0"/>
            <a:ext cx="4808034" cy="6740307"/>
          </a:xfrm>
          <a:prstGeom prst="rect">
            <a:avLst/>
          </a:prstGeom>
          <a:noFill/>
        </p:spPr>
        <p:txBody>
          <a:bodyPr wrap="square">
            <a:spAutoFit/>
          </a:bodyPr>
          <a:lstStyle/>
          <a:p>
            <a:r>
              <a:rPr lang="en-US" sz="900" dirty="0">
                <a:solidFill>
                  <a:srgbClr val="008000"/>
                </a:solidFill>
                <a:latin typeface="Consolas" panose="020B0609020204030204" pitchFamily="49" charset="0"/>
              </a:rPr>
              <a:t>--COUNT ()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COUNT() is an aggregate function that returns the number of items found in a set.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--Exmaple1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returns the number of products in the products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--Exmaple2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uses the COUNT(*) function to find the number of products whose model year is 2016 and the list price is higher than 999.99:</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model_year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2016</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999.99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--Eaxmple3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COUNT() with GROUP BY clause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uses the COUNT(*) function to find the number of products in each product category: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first, the GROUP BY clause divided the products into groups using category name then the COUNT() function is applied to each group.</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r>
              <a:rPr lang="en-US" sz="900" dirty="0">
                <a:solidFill>
                  <a:srgbClr val="000000"/>
                </a:solidFill>
                <a:latin typeface="Consolas" panose="020B0609020204030204" pitchFamily="49" charset="0"/>
              </a:rPr>
              <a:t> c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product_count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424937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F81294-05BC-B103-190B-796A6669A05A}"/>
              </a:ext>
            </a:extLst>
          </p:cNvPr>
          <p:cNvSpPr txBox="1"/>
          <p:nvPr/>
        </p:nvSpPr>
        <p:spPr>
          <a:xfrm>
            <a:off x="0" y="79830"/>
            <a:ext cx="4951140" cy="2862322"/>
          </a:xfrm>
          <a:prstGeom prst="rect">
            <a:avLst/>
          </a:prstGeom>
          <a:noFill/>
        </p:spPr>
        <p:txBody>
          <a:bodyPr wrap="square">
            <a:spAutoFit/>
          </a:bodyPr>
          <a:lstStyle/>
          <a:p>
            <a:r>
              <a:rPr lang="en-US" sz="900" dirty="0">
                <a:solidFill>
                  <a:srgbClr val="008000"/>
                </a:solidFill>
                <a:latin typeface="Consolas" panose="020B0609020204030204" pitchFamily="49" charset="0"/>
              </a:rPr>
              <a:t>--Example4</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COUNT() with HAVING clause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returns the brand and the number of products for each. In addition, it returns only the brands that have the number of products greater than 20: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a:t>
            </a:r>
          </a:p>
          <a:p>
            <a:r>
              <a:rPr lang="fr-FR" sz="900" dirty="0">
                <a:solidFill>
                  <a:srgbClr val="000000"/>
                </a:solidFill>
                <a:latin typeface="Consolas" panose="020B0609020204030204" pitchFamily="49" charset="0"/>
              </a:rPr>
              <a:t>    </a:t>
            </a:r>
            <a:r>
              <a:rPr lang="fr-FR" sz="900" dirty="0">
                <a:solidFill>
                  <a:srgbClr val="808080"/>
                </a:solidFill>
                <a:latin typeface="Consolas" panose="020B0609020204030204" pitchFamily="49" charset="0"/>
              </a:rPr>
              <a:t>INNER</a:t>
            </a:r>
            <a:r>
              <a:rPr lang="fr-FR" sz="900" dirty="0">
                <a:solidFill>
                  <a:srgbClr val="000000"/>
                </a:solidFill>
                <a:latin typeface="Consolas" panose="020B0609020204030204" pitchFamily="49" charset="0"/>
              </a:rPr>
              <a:t> </a:t>
            </a:r>
            <a:r>
              <a:rPr lang="fr-FR" sz="900" dirty="0">
                <a:solidFill>
                  <a:srgbClr val="808080"/>
                </a:solidFill>
                <a:latin typeface="Consolas" panose="020B0609020204030204" pitchFamily="49" charset="0"/>
              </a:rPr>
              <a:t>JOIN</a:t>
            </a:r>
            <a:r>
              <a:rPr lang="fr-FR" sz="900" dirty="0">
                <a:solidFill>
                  <a:srgbClr val="000000"/>
                </a:solidFill>
                <a:latin typeface="Consolas" panose="020B0609020204030204" pitchFamily="49" charset="0"/>
              </a:rPr>
              <a:t> </a:t>
            </a:r>
            <a:r>
              <a:rPr lang="fr-FR" sz="900" dirty="0" err="1">
                <a:solidFill>
                  <a:srgbClr val="000000"/>
                </a:solidFill>
                <a:latin typeface="Consolas" panose="020B0609020204030204" pitchFamily="49" charset="0"/>
              </a:rPr>
              <a:t>production</a:t>
            </a:r>
            <a:r>
              <a:rPr lang="fr-FR" sz="900" dirty="0" err="1">
                <a:solidFill>
                  <a:srgbClr val="808080"/>
                </a:solidFill>
                <a:latin typeface="Consolas" panose="020B0609020204030204" pitchFamily="49" charset="0"/>
              </a:rPr>
              <a:t>.</a:t>
            </a:r>
            <a:r>
              <a:rPr lang="fr-FR" sz="900" dirty="0" err="1">
                <a:solidFill>
                  <a:srgbClr val="000000"/>
                </a:solidFill>
                <a:latin typeface="Consolas" panose="020B0609020204030204" pitchFamily="49" charset="0"/>
              </a:rPr>
              <a:t>brands</a:t>
            </a:r>
            <a:r>
              <a:rPr lang="fr-FR" sz="900" dirty="0">
                <a:solidFill>
                  <a:srgbClr val="000000"/>
                </a:solidFill>
                <a:latin typeface="Consolas" panose="020B0609020204030204" pitchFamily="49" charset="0"/>
              </a:rPr>
              <a:t> c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HAVING</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20</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product_count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ACF59342-E332-B63A-53D0-006BBA3B287C}"/>
              </a:ext>
            </a:extLst>
          </p:cNvPr>
          <p:cNvSpPr txBox="1"/>
          <p:nvPr/>
        </p:nvSpPr>
        <p:spPr>
          <a:xfrm>
            <a:off x="4750420" y="266596"/>
            <a:ext cx="4951140" cy="6324808"/>
          </a:xfrm>
          <a:prstGeom prst="rect">
            <a:avLst/>
          </a:prstGeom>
          <a:noFill/>
        </p:spPr>
        <p:txBody>
          <a:bodyPr wrap="square">
            <a:spAutoFit/>
          </a:bodyPr>
          <a:lstStyle/>
          <a:p>
            <a:r>
              <a:rPr lang="en-US" sz="900" dirty="0">
                <a:solidFill>
                  <a:srgbClr val="008000"/>
                </a:solidFill>
                <a:latin typeface="Consolas" panose="020B0609020204030204" pitchFamily="49" charset="0"/>
              </a:rPr>
              <a:t>------MAX()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MAX() function is an aggregate function that returns the maximum value in a set.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 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find the product with the highest list price, you use the following statement </a:t>
            </a:r>
            <a:r>
              <a:rPr lang="en-US" sz="900" dirty="0" err="1">
                <a:solidFill>
                  <a:srgbClr val="008000"/>
                </a:solidFill>
                <a:latin typeface="Consolas" panose="020B0609020204030204" pitchFamily="49" charset="0"/>
              </a:rPr>
              <a:t>wwith</a:t>
            </a:r>
            <a:r>
              <a:rPr lang="en-US" sz="900" dirty="0">
                <a:solidFill>
                  <a:srgbClr val="008000"/>
                </a:solidFill>
                <a:latin typeface="Consolas" panose="020B0609020204030204" pitchFamily="49" charset="0"/>
              </a:rPr>
              <a:t> max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the subquery used the MAX() function to return the highest list price of all products.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--Then, the outer query selected the product whose list price is equal to the highest list price returned from the subquery.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MAX</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 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MAX() with GROUP BY clause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gets the brand name and the highest list price of products in each brand: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MAX</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max_list_price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brands</a:t>
            </a:r>
            <a:r>
              <a:rPr lang="en-US" sz="900" dirty="0">
                <a:solidFill>
                  <a:srgbClr val="000000"/>
                </a:solidFill>
                <a:latin typeface="Consolas" panose="020B0609020204030204" pitchFamily="49" charset="0"/>
              </a:rPr>
              <a:t> b</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99E2716C-3E60-2951-3122-00565E9DA648}"/>
              </a:ext>
            </a:extLst>
          </p:cNvPr>
          <p:cNvSpPr txBox="1"/>
          <p:nvPr/>
        </p:nvSpPr>
        <p:spPr>
          <a:xfrm>
            <a:off x="-100360" y="3429000"/>
            <a:ext cx="4951140" cy="2723823"/>
          </a:xfrm>
          <a:prstGeom prst="rect">
            <a:avLst/>
          </a:prstGeom>
          <a:noFill/>
        </p:spPr>
        <p:txBody>
          <a:bodyPr wrap="square">
            <a:spAutoFit/>
          </a:bodyPr>
          <a:lstStyle/>
          <a:p>
            <a:r>
              <a:rPr lang="en-US" sz="900" dirty="0">
                <a:solidFill>
                  <a:srgbClr val="008000"/>
                </a:solidFill>
                <a:latin typeface="Consolas" panose="020B0609020204030204" pitchFamily="49" charset="0"/>
              </a:rPr>
              <a:t>-- Homework to be done by student--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Write a query which finds the brand names and the highest list price for each. In addition it uses HAVING clause to find all brands whose max  </a:t>
            </a:r>
            <a:r>
              <a:rPr lang="en-US" sz="900" dirty="0" err="1">
                <a:solidFill>
                  <a:srgbClr val="008000"/>
                </a:solidFill>
                <a:latin typeface="Consolas" panose="020B0609020204030204" pitchFamily="49" charset="0"/>
              </a:rPr>
              <a:t>listprice</a:t>
            </a:r>
            <a:r>
              <a:rPr lang="en-US" sz="900" dirty="0">
                <a:solidFill>
                  <a:srgbClr val="008000"/>
                </a:solidFill>
                <a:latin typeface="Consolas" panose="020B0609020204030204" pitchFamily="49" charset="0"/>
              </a:rPr>
              <a:t> is greater that 1000 and order by max list price descending. </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MAX</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maxListPrice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pp</a:t>
            </a:r>
          </a:p>
          <a:p>
            <a:r>
              <a:rPr lang="fr-FR" sz="900" dirty="0">
                <a:solidFill>
                  <a:srgbClr val="000000"/>
                </a:solidFill>
                <a:latin typeface="Consolas" panose="020B0609020204030204" pitchFamily="49" charset="0"/>
              </a:rPr>
              <a:t>    </a:t>
            </a:r>
            <a:r>
              <a:rPr lang="fr-FR" sz="900" dirty="0">
                <a:solidFill>
                  <a:srgbClr val="808080"/>
                </a:solidFill>
                <a:latin typeface="Consolas" panose="020B0609020204030204" pitchFamily="49" charset="0"/>
              </a:rPr>
              <a:t>INNER</a:t>
            </a:r>
            <a:r>
              <a:rPr lang="fr-FR" sz="900" dirty="0">
                <a:solidFill>
                  <a:srgbClr val="000000"/>
                </a:solidFill>
                <a:latin typeface="Consolas" panose="020B0609020204030204" pitchFamily="49" charset="0"/>
              </a:rPr>
              <a:t> </a:t>
            </a:r>
            <a:r>
              <a:rPr lang="fr-FR" sz="900" dirty="0">
                <a:solidFill>
                  <a:srgbClr val="808080"/>
                </a:solidFill>
                <a:latin typeface="Consolas" panose="020B0609020204030204" pitchFamily="49" charset="0"/>
              </a:rPr>
              <a:t>JOIN</a:t>
            </a:r>
            <a:r>
              <a:rPr lang="fr-FR" sz="900" dirty="0">
                <a:solidFill>
                  <a:srgbClr val="000000"/>
                </a:solidFill>
                <a:latin typeface="Consolas" panose="020B0609020204030204" pitchFamily="49" charset="0"/>
              </a:rPr>
              <a:t> </a:t>
            </a:r>
            <a:r>
              <a:rPr lang="fr-FR" sz="900" dirty="0" err="1">
                <a:solidFill>
                  <a:srgbClr val="000000"/>
                </a:solidFill>
                <a:latin typeface="Consolas" panose="020B0609020204030204" pitchFamily="49" charset="0"/>
              </a:rPr>
              <a:t>production</a:t>
            </a:r>
            <a:r>
              <a:rPr lang="fr-FR" sz="900" dirty="0" err="1">
                <a:solidFill>
                  <a:srgbClr val="808080"/>
                </a:solidFill>
                <a:latin typeface="Consolas" panose="020B0609020204030204" pitchFamily="49" charset="0"/>
              </a:rPr>
              <a:t>.</a:t>
            </a:r>
            <a:r>
              <a:rPr lang="fr-FR" sz="900" dirty="0" err="1">
                <a:solidFill>
                  <a:srgbClr val="000000"/>
                </a:solidFill>
                <a:latin typeface="Consolas" panose="020B0609020204030204" pitchFamily="49" charset="0"/>
              </a:rPr>
              <a:t>brands</a:t>
            </a:r>
            <a:r>
              <a:rPr lang="fr-FR" sz="900" dirty="0">
                <a:solidFill>
                  <a:srgbClr val="000000"/>
                </a:solidFill>
                <a:latin typeface="Consolas" panose="020B0609020204030204" pitchFamily="49" charset="0"/>
              </a:rPr>
              <a:t> pb</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pb</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HAVING</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MAX</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1000 </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maxListPrice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22793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5A8075-1BA8-A432-9F7B-6856BD51AC86}"/>
              </a:ext>
            </a:extLst>
          </p:cNvPr>
          <p:cNvSpPr txBox="1"/>
          <p:nvPr/>
        </p:nvSpPr>
        <p:spPr>
          <a:xfrm>
            <a:off x="156117" y="88177"/>
            <a:ext cx="4951140" cy="6324808"/>
          </a:xfrm>
          <a:prstGeom prst="rect">
            <a:avLst/>
          </a:prstGeom>
          <a:noFill/>
        </p:spPr>
        <p:txBody>
          <a:bodyPr wrap="square">
            <a:spAutoFit/>
          </a:bodyPr>
          <a:lstStyle/>
          <a:p>
            <a:r>
              <a:rPr lang="en-US" sz="900" dirty="0">
                <a:solidFill>
                  <a:srgbClr val="008000"/>
                </a:solidFill>
                <a:latin typeface="Consolas" panose="020B0609020204030204" pitchFamily="49" charset="0"/>
              </a:rPr>
              <a:t>---------MIN()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MIN() function is an aggregate function that allows you to find the minimum value in a set. The following illustrates the syntax of the MIN()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finds the lowest list price of all products: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MIN</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min_list_price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Example2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find the product with the lowest price, you use the following query: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MIN</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 3</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finds the lowest list price for each product category: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MIN</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min_list_price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r>
              <a:rPr lang="en-US" sz="900" dirty="0">
                <a:solidFill>
                  <a:srgbClr val="000000"/>
                </a:solidFill>
                <a:latin typeface="Consolas" panose="020B0609020204030204" pitchFamily="49" charset="0"/>
              </a:rPr>
              <a:t> c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5BA86144-F3FB-E818-DF7C-36DCB59B9C0C}"/>
              </a:ext>
            </a:extLst>
          </p:cNvPr>
          <p:cNvSpPr txBox="1"/>
          <p:nvPr/>
        </p:nvSpPr>
        <p:spPr>
          <a:xfrm>
            <a:off x="4798743" y="1717277"/>
            <a:ext cx="4951140" cy="2308324"/>
          </a:xfrm>
          <a:prstGeom prst="rect">
            <a:avLst/>
          </a:prstGeom>
          <a:noFill/>
        </p:spPr>
        <p:txBody>
          <a:bodyPr wrap="square">
            <a:spAutoFit/>
          </a:bodyPr>
          <a:lstStyle/>
          <a:p>
            <a:r>
              <a:rPr lang="en-US" sz="900" dirty="0">
                <a:solidFill>
                  <a:srgbClr val="008000"/>
                </a:solidFill>
                <a:latin typeface="Consolas" panose="020B0609020204030204" pitchFamily="49" charset="0"/>
              </a:rPr>
              <a:t>--Homework to be done by students--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--Write a query which uses the MIN() function in the HAVING clause to get the product category with the minimum list price greater than 500.</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MIN</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minListPrice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pp</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r>
              <a:rPr lang="en-US" sz="900" dirty="0">
                <a:solidFill>
                  <a:srgbClr val="000000"/>
                </a:solidFill>
                <a:latin typeface="Consolas" panose="020B0609020204030204" pitchFamily="49" charset="0"/>
              </a:rPr>
              <a:t> pc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HAVING</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MIN</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500</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482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0D2618-1F18-2064-FFDB-45EB5BB8C397}"/>
              </a:ext>
            </a:extLst>
          </p:cNvPr>
          <p:cNvSpPr txBox="1"/>
          <p:nvPr/>
        </p:nvSpPr>
        <p:spPr>
          <a:xfrm>
            <a:off x="122663" y="0"/>
            <a:ext cx="4951140" cy="5216813"/>
          </a:xfrm>
          <a:prstGeom prst="rect">
            <a:avLst/>
          </a:prstGeom>
          <a:noFill/>
        </p:spPr>
        <p:txBody>
          <a:bodyPr wrap="square">
            <a:spAutoFit/>
          </a:bodyPr>
          <a:lstStyle/>
          <a:p>
            <a:r>
              <a:rPr lang="en-US" sz="900" dirty="0">
                <a:solidFill>
                  <a:srgbClr val="008000"/>
                </a:solidFill>
                <a:latin typeface="Consolas" panose="020B0609020204030204" pitchFamily="49" charset="0"/>
              </a:rPr>
              <a:t>-----------SUM()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SQL Server SUM() function is an aggregate function that calculates the sum of all or distinct values in an expression.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returns the total stocks of all products in all stores: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total_stocks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stocks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 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finds total stocks by store 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store_stocks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stocks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you want to display the store name instead of store id, you can use the following statement: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store_stocks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stocks</a:t>
            </a:r>
            <a:r>
              <a:rPr lang="en-US" sz="900" dirty="0">
                <a:solidFill>
                  <a:srgbClr val="000000"/>
                </a:solidFill>
                <a:latin typeface="Consolas" panose="020B0609020204030204" pitchFamily="49" charset="0"/>
              </a:rPr>
              <a:t> w</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stores</a:t>
            </a:r>
            <a:r>
              <a:rPr lang="en-US" sz="900" dirty="0">
                <a:solidFill>
                  <a:srgbClr val="000000"/>
                </a:solidFill>
                <a:latin typeface="Consolas" panose="020B0609020204030204" pitchFamily="49" charset="0"/>
              </a:rPr>
              <a:t> s</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E9291BFB-7BFF-BC00-AA63-9931FA434596}"/>
              </a:ext>
            </a:extLst>
          </p:cNvPr>
          <p:cNvSpPr txBox="1"/>
          <p:nvPr/>
        </p:nvSpPr>
        <p:spPr>
          <a:xfrm>
            <a:off x="4832197" y="1326984"/>
            <a:ext cx="4951140" cy="2308324"/>
          </a:xfrm>
          <a:prstGeom prst="rect">
            <a:avLst/>
          </a:prstGeom>
          <a:noFill/>
        </p:spPr>
        <p:txBody>
          <a:bodyPr wrap="square">
            <a:spAutoFit/>
          </a:bodyPr>
          <a:lstStyle/>
          <a:p>
            <a:r>
              <a:rPr lang="en-US" sz="900" dirty="0">
                <a:solidFill>
                  <a:srgbClr val="008000"/>
                </a:solidFill>
                <a:latin typeface="Consolas" panose="020B0609020204030204" pitchFamily="49" charset="0"/>
              </a:rPr>
              <a:t>---The following statement finds stocks for each product and returns only products whose stocks are greater than 100:</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total_stocks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stocks</a:t>
            </a:r>
            <a:r>
              <a:rPr lang="en-US" sz="900" dirty="0">
                <a:solidFill>
                  <a:srgbClr val="000000"/>
                </a:solidFill>
                <a:latin typeface="Consolas" panose="020B0609020204030204" pitchFamily="49" charset="0"/>
              </a:rPr>
              <a:t> s</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HAVING</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100</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total_stocks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398243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E7CFA1-430F-0ACD-295D-A8AF79626DBF}"/>
              </a:ext>
            </a:extLst>
          </p:cNvPr>
          <p:cNvSpPr txBox="1"/>
          <p:nvPr/>
        </p:nvSpPr>
        <p:spPr>
          <a:xfrm>
            <a:off x="133814" y="0"/>
            <a:ext cx="9601201" cy="6463308"/>
          </a:xfrm>
          <a:prstGeom prst="rect">
            <a:avLst/>
          </a:prstGeom>
          <a:noFill/>
        </p:spPr>
        <p:txBody>
          <a:bodyPr wrap="square">
            <a:spAutoFit/>
          </a:bodyPr>
          <a:lstStyle/>
          <a:p>
            <a:r>
              <a:rPr lang="en-US" sz="900" dirty="0">
                <a:solidFill>
                  <a:srgbClr val="008000"/>
                </a:solidFill>
                <a:latin typeface="Consolas" panose="020B0609020204030204" pitchFamily="49" charset="0"/>
              </a:rPr>
              <a:t>------------VAR() AND VARP() STDEV() AND STDEVP()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--Variance is a measure of the spread of a data distribution. It measures the distance of the data points from the mean of the dataset. The smaller the variance of a dataset, then the closer is the numbers in the dataset to each other.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WindowTable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WindowID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IDENTITY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House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64</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PhysicalSkill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MentalSkill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Decimal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WindowTable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House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PhysicalSkill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MentalSkill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sv-SE" sz="900" dirty="0">
                <a:solidFill>
                  <a:srgbClr val="808080"/>
                </a:solidFill>
                <a:latin typeface="Consolas" panose="020B0609020204030204" pitchFamily="49" charset="0"/>
              </a:rPr>
              <a:t>(</a:t>
            </a:r>
            <a:r>
              <a:rPr lang="sv-SE" sz="900" dirty="0">
                <a:solidFill>
                  <a:srgbClr val="FF0000"/>
                </a:solidFill>
                <a:latin typeface="Consolas" panose="020B0609020204030204" pitchFamily="49" charset="0"/>
              </a:rPr>
              <a:t>'Stark'</a:t>
            </a:r>
            <a:r>
              <a:rPr lang="sv-SE" sz="900" dirty="0">
                <a:solidFill>
                  <a:srgbClr val="808080"/>
                </a:solidFill>
                <a:latin typeface="Consolas" panose="020B0609020204030204" pitchFamily="49" charset="0"/>
              </a:rPr>
              <a:t>,</a:t>
            </a:r>
            <a:r>
              <a:rPr lang="sv-SE" sz="900" dirty="0">
                <a:solidFill>
                  <a:srgbClr val="000000"/>
                </a:solidFill>
                <a:latin typeface="Consolas" panose="020B0609020204030204" pitchFamily="49" charset="0"/>
              </a:rPr>
              <a:t> </a:t>
            </a:r>
            <a:r>
              <a:rPr lang="sv-SE" sz="900" dirty="0">
                <a:solidFill>
                  <a:srgbClr val="FF0000"/>
                </a:solidFill>
                <a:latin typeface="Consolas" panose="020B0609020204030204" pitchFamily="49" charset="0"/>
              </a:rPr>
              <a:t>'Robb Stark'</a:t>
            </a:r>
            <a:r>
              <a:rPr lang="sv-SE" sz="900" dirty="0">
                <a:solidFill>
                  <a:srgbClr val="808080"/>
                </a:solidFill>
                <a:latin typeface="Consolas" panose="020B0609020204030204" pitchFamily="49" charset="0"/>
              </a:rPr>
              <a:t>,</a:t>
            </a:r>
            <a:r>
              <a:rPr lang="sv-SE" sz="900" dirty="0">
                <a:solidFill>
                  <a:srgbClr val="000000"/>
                </a:solidFill>
                <a:latin typeface="Consolas" panose="020B0609020204030204" pitchFamily="49" charset="0"/>
              </a:rPr>
              <a:t> 6</a:t>
            </a:r>
            <a:r>
              <a:rPr lang="sv-SE" sz="900" dirty="0">
                <a:solidFill>
                  <a:srgbClr val="808080"/>
                </a:solidFill>
                <a:latin typeface="Consolas" panose="020B0609020204030204" pitchFamily="49" charset="0"/>
              </a:rPr>
              <a:t>,</a:t>
            </a:r>
            <a:r>
              <a:rPr lang="sv-SE" sz="900" dirty="0">
                <a:solidFill>
                  <a:srgbClr val="000000"/>
                </a:solidFill>
                <a:latin typeface="Consolas" panose="020B0609020204030204" pitchFamily="49" charset="0"/>
              </a:rPr>
              <a:t> 6</a:t>
            </a:r>
            <a:r>
              <a:rPr lang="sv-SE" sz="900" dirty="0">
                <a:solidFill>
                  <a:srgbClr val="808080"/>
                </a:solidFill>
                <a:latin typeface="Consolas" panose="020B0609020204030204" pitchFamily="49" charset="0"/>
              </a:rPr>
              <a:t>),</a:t>
            </a:r>
            <a:endParaRPr lang="sv-SE"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'Stark'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'Ned Stark'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sv-SE" sz="900" dirty="0">
                <a:solidFill>
                  <a:srgbClr val="808080"/>
                </a:solidFill>
                <a:latin typeface="Consolas" panose="020B0609020204030204" pitchFamily="49" charset="0"/>
              </a:rPr>
              <a:t>(</a:t>
            </a:r>
            <a:r>
              <a:rPr lang="sv-SE" sz="900" dirty="0">
                <a:solidFill>
                  <a:srgbClr val="FF0000"/>
                </a:solidFill>
                <a:latin typeface="Consolas" panose="020B0609020204030204" pitchFamily="49" charset="0"/>
              </a:rPr>
              <a:t>'Stark'</a:t>
            </a:r>
            <a:r>
              <a:rPr lang="sv-SE" sz="900" dirty="0">
                <a:solidFill>
                  <a:srgbClr val="808080"/>
                </a:solidFill>
                <a:latin typeface="Consolas" panose="020B0609020204030204" pitchFamily="49" charset="0"/>
              </a:rPr>
              <a:t>,</a:t>
            </a:r>
            <a:r>
              <a:rPr lang="sv-SE" sz="900" dirty="0">
                <a:solidFill>
                  <a:srgbClr val="000000"/>
                </a:solidFill>
                <a:latin typeface="Consolas" panose="020B0609020204030204" pitchFamily="49" charset="0"/>
              </a:rPr>
              <a:t> </a:t>
            </a:r>
            <a:r>
              <a:rPr lang="sv-SE" sz="900" dirty="0">
                <a:solidFill>
                  <a:srgbClr val="FF0000"/>
                </a:solidFill>
                <a:latin typeface="Consolas" panose="020B0609020204030204" pitchFamily="49" charset="0"/>
              </a:rPr>
              <a:t>'Bran Stark'</a:t>
            </a:r>
            <a:r>
              <a:rPr lang="sv-SE" sz="900" dirty="0">
                <a:solidFill>
                  <a:srgbClr val="808080"/>
                </a:solidFill>
                <a:latin typeface="Consolas" panose="020B0609020204030204" pitchFamily="49" charset="0"/>
              </a:rPr>
              <a:t>,</a:t>
            </a:r>
            <a:r>
              <a:rPr lang="sv-SE" sz="900" dirty="0">
                <a:solidFill>
                  <a:srgbClr val="000000"/>
                </a:solidFill>
                <a:latin typeface="Consolas" panose="020B0609020204030204" pitchFamily="49" charset="0"/>
              </a:rPr>
              <a:t> 2</a:t>
            </a:r>
            <a:r>
              <a:rPr lang="sv-SE" sz="900" dirty="0">
                <a:solidFill>
                  <a:srgbClr val="808080"/>
                </a:solidFill>
                <a:latin typeface="Consolas" panose="020B0609020204030204" pitchFamily="49" charset="0"/>
              </a:rPr>
              <a:t>,</a:t>
            </a:r>
            <a:r>
              <a:rPr lang="sv-SE" sz="900" dirty="0">
                <a:solidFill>
                  <a:srgbClr val="000000"/>
                </a:solidFill>
                <a:latin typeface="Consolas" panose="020B0609020204030204" pitchFamily="49" charset="0"/>
              </a:rPr>
              <a:t> 9</a:t>
            </a:r>
            <a:r>
              <a:rPr lang="sv-SE" sz="900" dirty="0">
                <a:solidFill>
                  <a:srgbClr val="808080"/>
                </a:solidFill>
                <a:latin typeface="Consolas" panose="020B0609020204030204" pitchFamily="49" charset="0"/>
              </a:rPr>
              <a:t>),</a:t>
            </a:r>
            <a:endParaRPr lang="sv-SE" sz="900" dirty="0">
              <a:solidFill>
                <a:srgbClr val="000000"/>
              </a:solidFill>
              <a:latin typeface="Consolas" panose="020B0609020204030204" pitchFamily="49" charset="0"/>
            </a:endParaRPr>
          </a:p>
          <a:p>
            <a:r>
              <a:rPr lang="sv-SE" sz="900" dirty="0">
                <a:solidFill>
                  <a:srgbClr val="808080"/>
                </a:solidFill>
                <a:latin typeface="Consolas" panose="020B0609020204030204" pitchFamily="49" charset="0"/>
              </a:rPr>
              <a:t>(</a:t>
            </a:r>
            <a:r>
              <a:rPr lang="sv-SE" sz="900" dirty="0">
                <a:solidFill>
                  <a:srgbClr val="FF0000"/>
                </a:solidFill>
                <a:latin typeface="Consolas" panose="020B0609020204030204" pitchFamily="49" charset="0"/>
              </a:rPr>
              <a:t>'Stark'</a:t>
            </a:r>
            <a:r>
              <a:rPr lang="sv-SE" sz="900" dirty="0">
                <a:solidFill>
                  <a:srgbClr val="808080"/>
                </a:solidFill>
                <a:latin typeface="Consolas" panose="020B0609020204030204" pitchFamily="49" charset="0"/>
              </a:rPr>
              <a:t>,</a:t>
            </a:r>
            <a:r>
              <a:rPr lang="sv-SE" sz="900" dirty="0">
                <a:solidFill>
                  <a:srgbClr val="000000"/>
                </a:solidFill>
                <a:latin typeface="Consolas" panose="020B0609020204030204" pitchFamily="49" charset="0"/>
              </a:rPr>
              <a:t> </a:t>
            </a:r>
            <a:r>
              <a:rPr lang="sv-SE" sz="900" dirty="0">
                <a:solidFill>
                  <a:srgbClr val="FF0000"/>
                </a:solidFill>
                <a:latin typeface="Consolas" panose="020B0609020204030204" pitchFamily="49" charset="0"/>
              </a:rPr>
              <a:t>'Arya Stark'</a:t>
            </a:r>
            <a:r>
              <a:rPr lang="sv-SE" sz="900" dirty="0">
                <a:solidFill>
                  <a:srgbClr val="808080"/>
                </a:solidFill>
                <a:latin typeface="Consolas" panose="020B0609020204030204" pitchFamily="49" charset="0"/>
              </a:rPr>
              <a:t>,</a:t>
            </a:r>
            <a:r>
              <a:rPr lang="sv-SE" sz="900" dirty="0">
                <a:solidFill>
                  <a:srgbClr val="000000"/>
                </a:solidFill>
                <a:latin typeface="Consolas" panose="020B0609020204030204" pitchFamily="49" charset="0"/>
              </a:rPr>
              <a:t> 4</a:t>
            </a:r>
            <a:r>
              <a:rPr lang="sv-SE" sz="900" dirty="0">
                <a:solidFill>
                  <a:srgbClr val="808080"/>
                </a:solidFill>
                <a:latin typeface="Consolas" panose="020B0609020204030204" pitchFamily="49" charset="0"/>
              </a:rPr>
              <a:t>,</a:t>
            </a:r>
            <a:r>
              <a:rPr lang="sv-SE" sz="900" dirty="0">
                <a:solidFill>
                  <a:srgbClr val="000000"/>
                </a:solidFill>
                <a:latin typeface="Consolas" panose="020B0609020204030204" pitchFamily="49" charset="0"/>
              </a:rPr>
              <a:t> 6</a:t>
            </a:r>
            <a:r>
              <a:rPr lang="sv-SE" sz="900" dirty="0">
                <a:solidFill>
                  <a:srgbClr val="808080"/>
                </a:solidFill>
                <a:latin typeface="Consolas" panose="020B0609020204030204" pitchFamily="49" charset="0"/>
              </a:rPr>
              <a:t>),</a:t>
            </a:r>
            <a:endParaRPr lang="sv-SE"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'Lannister'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'Jamie Lannister'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fi-FI" sz="900" dirty="0">
                <a:solidFill>
                  <a:srgbClr val="808080"/>
                </a:solidFill>
                <a:latin typeface="Consolas" panose="020B0609020204030204" pitchFamily="49" charset="0"/>
              </a:rPr>
              <a:t>(</a:t>
            </a:r>
            <a:r>
              <a:rPr lang="fi-FI" sz="900" dirty="0">
                <a:solidFill>
                  <a:srgbClr val="FF0000"/>
                </a:solidFill>
                <a:latin typeface="Consolas" panose="020B0609020204030204" pitchFamily="49" charset="0"/>
              </a:rPr>
              <a:t>'Lannister'</a:t>
            </a:r>
            <a:r>
              <a:rPr lang="fi-FI" sz="900" dirty="0">
                <a:solidFill>
                  <a:srgbClr val="808080"/>
                </a:solidFill>
                <a:latin typeface="Consolas" panose="020B0609020204030204" pitchFamily="49" charset="0"/>
              </a:rPr>
              <a:t>,</a:t>
            </a:r>
            <a:r>
              <a:rPr lang="fi-FI" sz="900" dirty="0">
                <a:solidFill>
                  <a:srgbClr val="000000"/>
                </a:solidFill>
                <a:latin typeface="Consolas" panose="020B0609020204030204" pitchFamily="49" charset="0"/>
              </a:rPr>
              <a:t> </a:t>
            </a:r>
            <a:r>
              <a:rPr lang="fi-FI" sz="900" dirty="0">
                <a:solidFill>
                  <a:srgbClr val="FF0000"/>
                </a:solidFill>
                <a:latin typeface="Consolas" panose="020B0609020204030204" pitchFamily="49" charset="0"/>
              </a:rPr>
              <a:t>'Tyrion Lannister'</a:t>
            </a:r>
            <a:r>
              <a:rPr lang="fi-FI" sz="900" dirty="0">
                <a:solidFill>
                  <a:srgbClr val="808080"/>
                </a:solidFill>
                <a:latin typeface="Consolas" panose="020B0609020204030204" pitchFamily="49" charset="0"/>
              </a:rPr>
              <a:t>,</a:t>
            </a:r>
            <a:r>
              <a:rPr lang="fi-FI" sz="900" dirty="0">
                <a:solidFill>
                  <a:srgbClr val="000000"/>
                </a:solidFill>
                <a:latin typeface="Consolas" panose="020B0609020204030204" pitchFamily="49" charset="0"/>
              </a:rPr>
              <a:t> 3</a:t>
            </a:r>
            <a:r>
              <a:rPr lang="fi-FI" sz="900" dirty="0">
                <a:solidFill>
                  <a:srgbClr val="808080"/>
                </a:solidFill>
                <a:latin typeface="Consolas" panose="020B0609020204030204" pitchFamily="49" charset="0"/>
              </a:rPr>
              <a:t>,</a:t>
            </a:r>
            <a:r>
              <a:rPr lang="fi-FI" sz="900" dirty="0">
                <a:solidFill>
                  <a:srgbClr val="000000"/>
                </a:solidFill>
                <a:latin typeface="Consolas" panose="020B0609020204030204" pitchFamily="49" charset="0"/>
              </a:rPr>
              <a:t> 10</a:t>
            </a:r>
            <a:r>
              <a:rPr lang="fi-FI" sz="900" dirty="0">
                <a:solidFill>
                  <a:srgbClr val="808080"/>
                </a:solidFill>
                <a:latin typeface="Consolas" panose="020B0609020204030204" pitchFamily="49" charset="0"/>
              </a:rPr>
              <a:t>),</a:t>
            </a:r>
            <a:endParaRPr lang="fi-FI"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'Lannister'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'Tywin Lannister'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8</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WindowTable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SQL Server, VAR and VARP calculate the variance of a dataset. VAR is a common mathematical function that measures the variance of a sample data set.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VARP measures the variance against a population. This function is used when you're working with the entire data set, rather than just a sample set. The internal calculation is slightly different.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STDEV calculates the standard deviation. The standard deviation and variance are tightly connected – STDEV is just the square root of the variance.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Like VARP, STDEVP calculates the standard deviation against a entire population.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Since we know the entire population in our example, VARP and STDEVP can be used. With OVER, it's easy to see the average and standard deviation for each individual. We can also verify that the standard deviation is the square root of the variance using another SQL function, SQRT.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House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PhysicalSkill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AVG</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(ALL</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PhysicalSkill</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PARTITION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house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APartitionByVGPhysicalSkillByHouse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VARP</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ALL</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PhysicalSkill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PARTITION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house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VarPPhysicalSkillByHouse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STDEVP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ALL</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PhysicalSkill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PARTITION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house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StDevPPhysicalSkillByHouse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SQRT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VARP</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ALL</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PhysicalSkill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PARTITION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house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SquareRootOfVariance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WindowTable</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21149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ECF503-AC4B-24D0-4ECA-8E404108180B}"/>
              </a:ext>
            </a:extLst>
          </p:cNvPr>
          <p:cNvSpPr txBox="1"/>
          <p:nvPr/>
        </p:nvSpPr>
        <p:spPr>
          <a:xfrm>
            <a:off x="144967" y="135025"/>
            <a:ext cx="4951140" cy="3554819"/>
          </a:xfrm>
          <a:prstGeom prst="rect">
            <a:avLst/>
          </a:prstGeom>
          <a:noFill/>
        </p:spPr>
        <p:txBody>
          <a:bodyPr wrap="square">
            <a:spAutoFit/>
          </a:bodyPr>
          <a:lstStyle/>
          <a:p>
            <a:r>
              <a:rPr lang="en-US" sz="900" dirty="0">
                <a:solidFill>
                  <a:srgbClr val="008000"/>
                </a:solidFill>
                <a:latin typeface="Consolas" panose="020B0609020204030204" pitchFamily="49" charset="0"/>
              </a:rPr>
              <a:t>---------CHECKSUM_AGG()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SQL Server, CHECKSUM_AGG returns the checksum of all values in a group, ignoring NULLs. This is a simplified way to determine if the data in a row or group of rows has changed: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House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PhysicalSkill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CHECKSUM_AGG</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ALL</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CAST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PhysicalSkill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PARTITION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house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CheckSumAGG</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WindowTable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----Now lets update </a:t>
            </a:r>
            <a:r>
              <a:rPr lang="en-US" sz="900" dirty="0" err="1">
                <a:solidFill>
                  <a:srgbClr val="008000"/>
                </a:solidFill>
                <a:latin typeface="Consolas" panose="020B0609020204030204" pitchFamily="49" charset="0"/>
              </a:rPr>
              <a:t>physucal</a:t>
            </a:r>
            <a:r>
              <a:rPr lang="en-US" sz="900" dirty="0">
                <a:solidFill>
                  <a:srgbClr val="008000"/>
                </a:solidFill>
                <a:latin typeface="Consolas" panose="020B0609020204030204" pitchFamily="49" charset="0"/>
              </a:rPr>
              <a:t> skill for one person and then the </a:t>
            </a:r>
            <a:r>
              <a:rPr lang="en-US" sz="900" dirty="0" err="1">
                <a:solidFill>
                  <a:srgbClr val="008000"/>
                </a:solidFill>
                <a:latin typeface="Consolas" panose="020B0609020204030204" pitchFamily="49" charset="0"/>
              </a:rPr>
              <a:t>checksum_agg</a:t>
            </a:r>
            <a:r>
              <a:rPr lang="en-US" sz="900" dirty="0">
                <a:solidFill>
                  <a:srgbClr val="008000"/>
                </a:solidFill>
                <a:latin typeface="Consolas" panose="020B0609020204030204" pitchFamily="49" charset="0"/>
              </a:rPr>
              <a:t> output.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UPDATE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WindowTable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PhysicalSkill</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'Arya Stark'</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House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PhysicalSkill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CHECKSUM_AGG</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ALL</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CAST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PhysicalSkill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PARTITION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house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CheckSumAGG</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WindowTable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--As you can see clearly from the output, the result of the CHECKSUM_AGG() changed. It means that the data in the Physical column has been changed since the last checksum calculation.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A64BCBA7-ECCD-95EC-FE21-320018768868}"/>
              </a:ext>
            </a:extLst>
          </p:cNvPr>
          <p:cNvSpPr txBox="1"/>
          <p:nvPr/>
        </p:nvSpPr>
        <p:spPr>
          <a:xfrm>
            <a:off x="4953000" y="135025"/>
            <a:ext cx="4951140" cy="6324808"/>
          </a:xfrm>
          <a:prstGeom prst="rect">
            <a:avLst/>
          </a:prstGeom>
          <a:noFill/>
        </p:spPr>
        <p:txBody>
          <a:bodyPr wrap="square">
            <a:spAutoFit/>
          </a:bodyPr>
          <a:lstStyle/>
          <a:p>
            <a:r>
              <a:rPr lang="en-US" sz="900" dirty="0">
                <a:solidFill>
                  <a:srgbClr val="008000"/>
                </a:solidFill>
                <a:latin typeface="Consolas" panose="020B0609020204030204" pitchFamily="49" charset="0"/>
              </a:rPr>
              <a:t>--------------------Mathematical Function-------------------------------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--SQUARE(): Returns the square of a value.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--Syntax: SQUARE (number)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Square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S_Temp</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--ABS(): A mathematical function that returns he absolute (positive) value of the specified numeric expression.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--Syntax: ABS ( </a:t>
            </a:r>
            <a:r>
              <a:rPr lang="en-US" sz="900" dirty="0" err="1">
                <a:solidFill>
                  <a:srgbClr val="008000"/>
                </a:solidFill>
                <a:latin typeface="Consolas" panose="020B0609020204030204" pitchFamily="49" charset="0"/>
              </a:rPr>
              <a:t>numeric_expression</a:t>
            </a:r>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ABS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ABS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ABS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p>
          <a:p>
            <a:r>
              <a:rPr lang="en-US" sz="900" dirty="0">
                <a:solidFill>
                  <a:srgbClr val="008000"/>
                </a:solidFill>
                <a:latin typeface="Consolas" panose="020B0609020204030204" pitchFamily="49" charset="0"/>
              </a:rPr>
              <a:t>--CEILING(): This function returns the smallest integer greater than, or equal to, the specified numeric expression.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--Syntax: CEILING ( </a:t>
            </a:r>
            <a:r>
              <a:rPr lang="en-US" sz="900" dirty="0" err="1">
                <a:solidFill>
                  <a:srgbClr val="008000"/>
                </a:solidFill>
                <a:latin typeface="Consolas" panose="020B0609020204030204" pitchFamily="49" charset="0"/>
              </a:rPr>
              <a:t>numeric_expression</a:t>
            </a:r>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CEILING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CelingValue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FLOOR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FloorValue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Round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RoundValue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--FLOOR(): Returns the largest integer less than or equal to the specified numeric expression.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--Syntax: FLOOR ( </a:t>
            </a:r>
            <a:r>
              <a:rPr lang="en-US" sz="900" dirty="0" err="1">
                <a:solidFill>
                  <a:srgbClr val="008000"/>
                </a:solidFill>
                <a:latin typeface="Consolas" panose="020B0609020204030204" pitchFamily="49" charset="0"/>
              </a:rPr>
              <a:t>numeric_expression</a:t>
            </a:r>
            <a:r>
              <a:rPr lang="en-US" sz="900" dirty="0">
                <a:solidFill>
                  <a:srgbClr val="008000"/>
                </a:solidFill>
                <a:latin typeface="Consolas" panose="020B0609020204030204" pitchFamily="49" charset="0"/>
              </a:rPr>
              <a:t> )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err="1">
                <a:solidFill>
                  <a:srgbClr val="808080"/>
                </a:solidFill>
                <a:latin typeface="Consolas" panose="020B0609020204030204" pitchFamily="49" charset="0"/>
              </a:rPr>
              <a:t>,</a:t>
            </a:r>
            <a:r>
              <a:rPr lang="en-US" sz="900" dirty="0" err="1">
                <a:solidFill>
                  <a:srgbClr val="FF00FF"/>
                </a:solidFill>
                <a:latin typeface="Consolas" panose="020B0609020204030204" pitchFamily="49" charset="0"/>
              </a:rPr>
              <a:t>FLOOR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FloorValue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--ROUND(): Returns a numeric value, rounded to the specified length or precision.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--Syntax: ROUND (</a:t>
            </a:r>
            <a:r>
              <a:rPr lang="en-US" sz="900" dirty="0" err="1">
                <a:solidFill>
                  <a:srgbClr val="008000"/>
                </a:solidFill>
                <a:latin typeface="Consolas" panose="020B0609020204030204" pitchFamily="49" charset="0"/>
              </a:rPr>
              <a:t>number,decimal,operation</a:t>
            </a:r>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Round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RoundValue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--POWER(): Returns the value of the specified expression to the specified power.</a:t>
            </a:r>
            <a:endParaRPr lang="en-US" sz="900" dirty="0">
              <a:solidFill>
                <a:srgbClr val="000000"/>
              </a:solidFill>
              <a:latin typeface="Consolas" panose="020B0609020204030204" pitchFamily="49" charset="0"/>
            </a:endParaRPr>
          </a:p>
          <a:p>
            <a:r>
              <a:rPr lang="fr-FR" sz="900" dirty="0">
                <a:solidFill>
                  <a:srgbClr val="008000"/>
                </a:solidFill>
                <a:latin typeface="Consolas" panose="020B0609020204030204" pitchFamily="49" charset="0"/>
              </a:rPr>
              <a:t>--</a:t>
            </a:r>
            <a:r>
              <a:rPr lang="fr-FR" sz="900" dirty="0" err="1">
                <a:solidFill>
                  <a:srgbClr val="008000"/>
                </a:solidFill>
                <a:latin typeface="Consolas" panose="020B0609020204030204" pitchFamily="49" charset="0"/>
              </a:rPr>
              <a:t>Syntax</a:t>
            </a:r>
            <a:r>
              <a:rPr lang="fr-FR" sz="900" dirty="0">
                <a:solidFill>
                  <a:srgbClr val="008000"/>
                </a:solidFill>
                <a:latin typeface="Consolas" panose="020B0609020204030204" pitchFamily="49" charset="0"/>
              </a:rPr>
              <a:t>: POWER ( </a:t>
            </a:r>
            <a:r>
              <a:rPr lang="fr-FR" sz="900" dirty="0" err="1">
                <a:solidFill>
                  <a:srgbClr val="008000"/>
                </a:solidFill>
                <a:latin typeface="Consolas" panose="020B0609020204030204" pitchFamily="49" charset="0"/>
              </a:rPr>
              <a:t>float_expression</a:t>
            </a:r>
            <a:r>
              <a:rPr lang="fr-FR" sz="900" dirty="0">
                <a:solidFill>
                  <a:srgbClr val="008000"/>
                </a:solidFill>
                <a:latin typeface="Consolas" panose="020B0609020204030204" pitchFamily="49" charset="0"/>
              </a:rPr>
              <a:t> , y )</a:t>
            </a:r>
            <a:endParaRPr lang="fr-FR"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POWER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PowerofThree</a:t>
            </a:r>
            <a:endParaRPr lang="en-US" dirty="0"/>
          </a:p>
        </p:txBody>
      </p:sp>
    </p:spTree>
    <p:extLst>
      <p:ext uri="{BB962C8B-B14F-4D97-AF65-F5344CB8AC3E}">
        <p14:creationId xmlns:p14="http://schemas.microsoft.com/office/powerpoint/2010/main" val="329660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705DFDE-E98B-171F-9C32-588059E45D9D}"/>
              </a:ext>
            </a:extLst>
          </p:cNvPr>
          <p:cNvSpPr txBox="1"/>
          <p:nvPr/>
        </p:nvSpPr>
        <p:spPr>
          <a:xfrm>
            <a:off x="100361" y="319445"/>
            <a:ext cx="9656956" cy="5632311"/>
          </a:xfrm>
          <a:prstGeom prst="rect">
            <a:avLst/>
          </a:prstGeom>
          <a:noFill/>
        </p:spPr>
        <p:txBody>
          <a:bodyPr wrap="square">
            <a:spAutoFit/>
          </a:bodyPr>
          <a:lstStyle/>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--------------------Date </a:t>
            </a:r>
            <a:r>
              <a:rPr lang="en-US" sz="900" dirty="0" err="1">
                <a:solidFill>
                  <a:srgbClr val="008000"/>
                </a:solidFill>
                <a:latin typeface="Consolas" panose="020B0609020204030204" pitchFamily="49" charset="0"/>
              </a:rPr>
              <a:t>Fuctions</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CURRENT_TIMESTAMP() function is used to see the system's current date and time without considering the </a:t>
            </a:r>
            <a:r>
              <a:rPr lang="en-US" sz="900" dirty="0" err="1">
                <a:solidFill>
                  <a:srgbClr val="008000"/>
                </a:solidFill>
                <a:latin typeface="Consolas" panose="020B0609020204030204" pitchFamily="49" charset="0"/>
              </a:rPr>
              <a:t>timezone</a:t>
            </a:r>
            <a:r>
              <a:rPr lang="en-US" sz="900" dirty="0">
                <a:solidFill>
                  <a:srgbClr val="008000"/>
                </a:solidFill>
                <a:latin typeface="Consolas" panose="020B0609020204030204" pitchFamily="49" charset="0"/>
              </a:rPr>
              <a:t> in the output: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FF00FF"/>
                </a:solidFill>
                <a:latin typeface="Consolas" panose="020B0609020204030204" pitchFamily="49" charset="0"/>
              </a:rPr>
              <a:t>current_timestamp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--GETDATE() function is used to see the system's current date and time on which the SQL Server is running:</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--GETUTCDATE() function is used  to see the system's current date and time based on the UTC timestamp as an integer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GETUTCDATE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--UK DATE AND TIME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SYSDATETIME() function is used to see the system's current date and time with more fractional precision in milliseconds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SYSDATETIME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--SYSUTCDATETIME() function is used to see the system's current date and time based on the UTC timestamp as an integer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SYSUTCDATETIME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--This example uses the SYSDATETIMEOFFSET() function is used to see the system's current date and time with the </a:t>
            </a:r>
            <a:r>
              <a:rPr lang="en-US" sz="900" dirty="0" err="1">
                <a:solidFill>
                  <a:srgbClr val="008000"/>
                </a:solidFill>
                <a:latin typeface="Consolas" panose="020B0609020204030204" pitchFamily="49" charset="0"/>
              </a:rPr>
              <a:t>timezone</a:t>
            </a:r>
            <a:r>
              <a:rPr lang="en-US" sz="900" dirty="0">
                <a:solidFill>
                  <a:srgbClr val="008000"/>
                </a:solidFill>
                <a:latin typeface="Consolas" panose="020B0609020204030204" pitchFamily="49" charset="0"/>
              </a:rPr>
              <a:t> offset: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SYSDATETIMEOFFSET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-------****DATEFROMPARTS()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shows the syntax of the DATEFROMPARTS() function: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--Return a DATE value from the year, month, and day.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DATEFROMPARTS(year, month, day)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DATEFROMPARTS() function accepts three arguments: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year is an integer expression that resolves to a year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month is an integer expression that evaluates to a month that ranges from 1 to 12.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day is an integer expression that specifies a day, ranging from 1 to 31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DATEFROMPARTS() function returns a DATE value. If any argument is NULL, the function will return NULL.*/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to construct a date from the day, month, and year values.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--DATEFROMPARTS(year, month, day)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DATEFROMPARTS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DATEFROMPARTS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31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--Executing the statement will show the below output. Here we see the result1 return the date, but result2 returns NULL as the month argument is NULL.</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8943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813F50-4DC9-10E9-9057-0C79EC4AA4DC}"/>
              </a:ext>
            </a:extLst>
          </p:cNvPr>
          <p:cNvSpPr txBox="1"/>
          <p:nvPr/>
        </p:nvSpPr>
        <p:spPr>
          <a:xfrm>
            <a:off x="1860" y="164454"/>
            <a:ext cx="4951140" cy="5770811"/>
          </a:xfrm>
          <a:prstGeom prst="rect">
            <a:avLst/>
          </a:prstGeom>
          <a:noFill/>
        </p:spPr>
        <p:txBody>
          <a:bodyPr wrap="square">
            <a:spAutoFit/>
          </a:bodyPr>
          <a:lstStyle/>
          <a:p>
            <a:r>
              <a:rPr lang="en-US" sz="900" dirty="0">
                <a:solidFill>
                  <a:srgbClr val="008000"/>
                </a:solidFill>
                <a:latin typeface="Consolas" panose="020B0609020204030204" pitchFamily="49" charset="0"/>
              </a:rPr>
              <a:t>------****DATETIME2FROMPARTS() function-------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--Returns a DATETIME2 value from the date and time arguments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--DATETIME2FROMPARTS ( year, month, day, hour, minute, seconds, fractions, precision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DATETIME2FROMPARTS() function returns a date value constructed from the year, month, day, hour, minute, seconds, fractions, and precision value.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DATETIME2FROMPARTS() function accepts eight arguments: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year is an integer expression that resolves to a year.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month is an integer expression that evaluates to a month that ranges from 1 to 12.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day is an integer expression that identifies a day, ranging from 1 to 31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hour is an integer expression that identifies the hours.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minute is an integer expression that identifies the minutes.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seconds is an integer expression that identifies the seconds.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fractions is an integer expression that identifies a fractional seconds value.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precision is an integer expression that identifies the precision of the DATETIME2 value.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DATETIME2FROMPARTS() function returns a value of the DATETIME2 type. If any argument is NULL, the function will return NULL.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one argument has an invalid value, the DATETIME2FROMPARTS() function will raise an error.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DATETIME2FROMPARTS() function to construct a datetime2 value from the day, month, year, hour, minute, seconds, fractions, and precision values.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DATETIME2FROMPARTS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2029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DATETIME2FROMPARTS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31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--Executing the statement will show the below output. Here we see the result1 return the datetime value, but result2 returns NULL as the month argument is NULL.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0EFDD72F-F2A2-5254-4FDF-12CAF0604AAD}"/>
              </a:ext>
            </a:extLst>
          </p:cNvPr>
          <p:cNvSpPr txBox="1"/>
          <p:nvPr/>
        </p:nvSpPr>
        <p:spPr>
          <a:xfrm>
            <a:off x="4850781" y="718452"/>
            <a:ext cx="4951140" cy="5216813"/>
          </a:xfrm>
          <a:prstGeom prst="rect">
            <a:avLst/>
          </a:prstGeom>
          <a:noFill/>
        </p:spPr>
        <p:txBody>
          <a:bodyPr wrap="square">
            <a:spAutoFit/>
          </a:bodyPr>
          <a:lstStyle/>
          <a:p>
            <a:r>
              <a:rPr lang="en-US" sz="900" dirty="0">
                <a:solidFill>
                  <a:srgbClr val="008000"/>
                </a:solidFill>
                <a:latin typeface="Consolas" panose="020B0609020204030204" pitchFamily="49" charset="0"/>
              </a:rPr>
              <a:t>-----*****DATETIMEOFFSETFROMPARTS()-------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DATETIMEOFFSETFROMPARTS() constructs a DATETIMEOFFSET value from the specified date and time arguments.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Returns a DATETIMEOFFSET value from the date and time arguments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shows the syntax of DATETIMEOFFSETFROMPARTS() function: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DATETIMEOFFSETFROMPARTS ( year, month, day, hour, minute, seconds, fractions, </a:t>
            </a:r>
            <a:r>
              <a:rPr lang="en-US" sz="900" dirty="0" err="1">
                <a:solidFill>
                  <a:srgbClr val="008000"/>
                </a:solidFill>
                <a:latin typeface="Consolas" panose="020B0609020204030204" pitchFamily="49" charset="0"/>
              </a:rPr>
              <a:t>hour_offset</a:t>
            </a:r>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minute_offset</a:t>
            </a:r>
            <a:r>
              <a:rPr lang="en-US" sz="900" dirty="0">
                <a:solidFill>
                  <a:srgbClr val="008000"/>
                </a:solidFill>
                <a:latin typeface="Consolas" panose="020B0609020204030204" pitchFamily="49" charset="0"/>
              </a:rPr>
              <a:t>, precision )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DATETIMEOFFSETFROMPARTS() function accepts the following arguments: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year is an integer expression that resolves to a year.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month is an integer expression that evaluates to a month that ranges from 1 to 12.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day is an integer expression that identifies a day, ranging from 1 to 31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hour is an integer expression that identifies the hours.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minute is an integer expression that identifies the minutes.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seconds is an integer expression that identifies the seconds.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fractions is an integer expression that identifies a fractional seconds value.</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hour_offsetis</a:t>
            </a:r>
            <a:r>
              <a:rPr lang="en-US" sz="900" dirty="0">
                <a:solidFill>
                  <a:srgbClr val="008000"/>
                </a:solidFill>
                <a:latin typeface="Consolas" panose="020B0609020204030204" pitchFamily="49" charset="0"/>
              </a:rPr>
              <a:t> an integer expression that specifies the hour portion of the time zone offset.</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minute_offsetis</a:t>
            </a:r>
            <a:r>
              <a:rPr lang="en-US" sz="900" dirty="0">
                <a:solidFill>
                  <a:srgbClr val="008000"/>
                </a:solidFill>
                <a:latin typeface="Consolas" panose="020B0609020204030204" pitchFamily="49" charset="0"/>
              </a:rPr>
              <a:t> an integer expression that specifies the minute portion of the time zone offset.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precision is an integer expression that identifies the precision of the DATETIMEOFFSET value.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DATETIMEOFFSETFROMPARTS() function to construct a </a:t>
            </a:r>
            <a:r>
              <a:rPr lang="en-US" sz="900" dirty="0" err="1">
                <a:solidFill>
                  <a:srgbClr val="008000"/>
                </a:solidFill>
                <a:latin typeface="Consolas" panose="020B0609020204030204" pitchFamily="49" charset="0"/>
              </a:rPr>
              <a:t>datetimeoffset</a:t>
            </a:r>
            <a:r>
              <a:rPr lang="en-US" sz="900" dirty="0">
                <a:solidFill>
                  <a:srgbClr val="008000"/>
                </a:solidFill>
                <a:latin typeface="Consolas" panose="020B0609020204030204" pitchFamily="49" charset="0"/>
              </a:rPr>
              <a:t> value from the date and time values.*/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DATETIMEOFFSETFROMPARTS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2021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DATETIMEOFFSETFROMPARTS</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8000"/>
                </a:solidFill>
                <a:latin typeface="Consolas" panose="020B0609020204030204" pitchFamily="49" charset="0"/>
              </a:rPr>
              <a:t>--Executing the statement will show the below output. Here we see the result1 return the </a:t>
            </a:r>
            <a:r>
              <a:rPr lang="en-US" sz="900" dirty="0" err="1">
                <a:solidFill>
                  <a:srgbClr val="008000"/>
                </a:solidFill>
                <a:latin typeface="Consolas" panose="020B0609020204030204" pitchFamily="49" charset="0"/>
              </a:rPr>
              <a:t>datetimeoffset</a:t>
            </a:r>
            <a:r>
              <a:rPr lang="en-US" sz="900" dirty="0">
                <a:solidFill>
                  <a:srgbClr val="008000"/>
                </a:solidFill>
                <a:latin typeface="Consolas" panose="020B0609020204030204" pitchFamily="49" charset="0"/>
              </a:rPr>
              <a:t> value, but result2 returns NULL as the year argument is NULL.</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416432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92BA7A-0689-18CC-A1CE-90A163FFE619}"/>
              </a:ext>
            </a:extLst>
          </p:cNvPr>
          <p:cNvSpPr txBox="1"/>
          <p:nvPr/>
        </p:nvSpPr>
        <p:spPr>
          <a:xfrm>
            <a:off x="1860" y="0"/>
            <a:ext cx="4951140" cy="3693319"/>
          </a:xfrm>
          <a:prstGeom prst="rect">
            <a:avLst/>
          </a:prstGeom>
          <a:noFill/>
        </p:spPr>
        <p:txBody>
          <a:bodyPr wrap="square">
            <a:spAutoFit/>
          </a:bodyPr>
          <a:lstStyle/>
          <a:p>
            <a:r>
              <a:rPr lang="en-US" sz="900" dirty="0">
                <a:solidFill>
                  <a:srgbClr val="008000"/>
                </a:solidFill>
                <a:latin typeface="Consolas" panose="020B0609020204030204" pitchFamily="49" charset="0"/>
              </a:rPr>
              <a:t>---****TIMEFROMPARTS() function-----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--Returns a TIME value from the time parts with the precisions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TIMEFROMPARTS() function returns a fully initialized time value. It requires five arguments as shown in the following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TIMEFROMPARTS ( hour, minute, seconds, fractions, precision )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hour – specifies hours.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minute – specifies minutes.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seconds – specifies seconds.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fractions – specifies fractions.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precision – specifies the precision of the time value. The precision cannot be null. If it is null, the function will raise an error.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TIMEFROMPARTS() function returns a value of type time(precision)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to construct a time value for the specified time and precision values.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TIMEFROMPARTS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TIMEFROMPARTS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8000"/>
                </a:solidFill>
                <a:latin typeface="Consolas" panose="020B0609020204030204" pitchFamily="49" charset="0"/>
              </a:rPr>
              <a:t>--Executing the statement will show the below output. Here we see the result1 return the time value without fraction, but result2 returns the time with fractions. The fraction value is calculated as 5/100 or 0.05 of a second as the given precision is 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98090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353824-DDB3-0388-906C-833542A2F845}"/>
              </a:ext>
            </a:extLst>
          </p:cNvPr>
          <p:cNvSpPr txBox="1"/>
          <p:nvPr/>
        </p:nvSpPr>
        <p:spPr>
          <a:xfrm>
            <a:off x="1860" y="86956"/>
            <a:ext cx="4090638" cy="5216813"/>
          </a:xfrm>
          <a:prstGeom prst="rect">
            <a:avLst/>
          </a:prstGeom>
          <a:noFill/>
        </p:spPr>
        <p:txBody>
          <a:bodyPr wrap="square">
            <a:spAutoFit/>
          </a:bodyPr>
          <a:lstStyle/>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DAY</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'2023/01/07'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MONTH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'2023/01/07'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'2023/01/07'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--DATENAME() function is used  to extract the part of the date such as day, month, or year.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DATENAME</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day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'2021/09/10'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DATENAME</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month</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'2021/09/10'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DATENAME</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'2021/09/10'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/*DATEPART() function is used to extract the part of the date as an integer value,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which makes it different from the DATENAME() function.*/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DATEPART</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day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'2021/09/10'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DATEPART</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month</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'2021/09/10'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DATEPART</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'2021/09/10'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DATEDIFF() function and displays the differences between the starting and ending date expressions.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DATEDIFF</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MONTH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'2022/01/07'</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'2023/01/07'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DATEDIFF</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dd</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'2019/2/3'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'2020/3/5'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TotalDays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DATEDIFF</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MM</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'2019/2/3'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'2020/3/5'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TotalMonths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DATEDIFF</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WK</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'2019/2/3'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'2020/3/5'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TotalWeeks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This example uses the DATEADD() function and returns a new date value after adding an integer value to the date portion.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DATEADD</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YY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'2023/01/07'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DATEADD</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MM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'2023/01/07'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DATEADD</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'2023/01/07'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DATEADD</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second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'2020-12-31 23:59:59'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DATEADD</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day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'2020-12-31 20:59:59'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102982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6A876D-CFC0-0828-421F-1B8392A42D47}"/>
              </a:ext>
            </a:extLst>
          </p:cNvPr>
          <p:cNvSpPr txBox="1"/>
          <p:nvPr/>
        </p:nvSpPr>
        <p:spPr>
          <a:xfrm>
            <a:off x="100361" y="0"/>
            <a:ext cx="4951140" cy="5493812"/>
          </a:xfrm>
          <a:prstGeom prst="rect">
            <a:avLst/>
          </a:prstGeom>
          <a:noFill/>
        </p:spPr>
        <p:txBody>
          <a:bodyPr wrap="square">
            <a:spAutoFit/>
          </a:bodyPr>
          <a:lstStyle/>
          <a:p>
            <a:r>
              <a:rPr lang="en-US" sz="900" dirty="0">
                <a:solidFill>
                  <a:srgbClr val="008000"/>
                </a:solidFill>
                <a:latin typeface="Consolas" panose="020B0609020204030204" pitchFamily="49" charset="0"/>
              </a:rPr>
              <a:t>---------------STRING FUNCTIONS()-----------------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--Let's create below </a:t>
            </a:r>
            <a:r>
              <a:rPr lang="en-US" sz="900" dirty="0" err="1">
                <a:solidFill>
                  <a:srgbClr val="008000"/>
                </a:solidFill>
                <a:latin typeface="Consolas" panose="020B0609020204030204" pitchFamily="49" charset="0"/>
              </a:rPr>
              <a:t>Faculty_Info</a:t>
            </a:r>
            <a:r>
              <a:rPr lang="en-US" sz="900" dirty="0">
                <a:solidFill>
                  <a:srgbClr val="008000"/>
                </a:solidFill>
                <a:latin typeface="Consolas" panose="020B0609020204030204" pitchFamily="49" charset="0"/>
              </a:rPr>
              <a:t> tables and insert values into it.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r>
              <a:rPr lang="en-US" sz="900" dirty="0">
                <a:solidFill>
                  <a:srgbClr val="000000"/>
                </a:solidFill>
                <a:latin typeface="Consolas" panose="020B0609020204030204" pitchFamily="49" charset="0"/>
              </a:rPr>
              <a:t>  </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Faculty_ID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Faculty_First_Name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Faculty_Last_Name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Faculty_Dept_Id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Faculty_Address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Faculty_City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Faculty_Salary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8000"/>
                </a:solidFill>
                <a:latin typeface="Consolas" panose="020B0609020204030204" pitchFamily="49" charset="0"/>
              </a:rPr>
              <a:t>--truncate table </a:t>
            </a:r>
            <a:r>
              <a:rPr lang="en-US" sz="900" dirty="0" err="1">
                <a:solidFill>
                  <a:srgbClr val="008000"/>
                </a:solidFill>
                <a:latin typeface="Consolas" panose="020B0609020204030204" pitchFamily="49" charset="0"/>
              </a:rPr>
              <a:t>Faculty_Info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Faculty_Last_Name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Faculty_Dept_Id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Faculty_Address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Faculty_City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'Arushi'</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Yadav'</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4001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'Aman Vihar'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'Delhi'</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Faculty_Last_Name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Faculty_Dept_Id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Faculty_Address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Faculty_City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'Bulbul'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Sharma'</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4002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'Nirman Vihar'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'Delhi'</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38000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Faculty_Last_Name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Faculty_Dept_Id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Faculty_Address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Faculty_City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'Virat'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Kohli'</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4001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'Sector 128'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'Mumbai'</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45000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Faculty_Last_Name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Faculty_Dept_Id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Faculty_Address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Faculty_City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'Rohit'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Sharma'</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4001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'Vivek Vihar'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'Kolkata'</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42000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Faculty_Last_Name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Faculty_Dept_Id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Faculty_Address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Faculty_City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1006</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'Ritesh'</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err="1">
                <a:solidFill>
                  <a:srgbClr val="FF0000"/>
                </a:solidFill>
                <a:latin typeface="Consolas" panose="020B0609020204030204" pitchFamily="49" charset="0"/>
              </a:rPr>
              <a:t>Gujaran</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4002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Sarvodya</a:t>
            </a:r>
            <a:r>
              <a:rPr lang="en-US" sz="900" dirty="0">
                <a:solidFill>
                  <a:srgbClr val="FF0000"/>
                </a:solidFill>
                <a:latin typeface="Consolas" panose="020B0609020204030204" pitchFamily="49" charset="0"/>
              </a:rPr>
              <a:t> </a:t>
            </a:r>
            <a:r>
              <a:rPr lang="en-US" sz="900" dirty="0" err="1">
                <a:solidFill>
                  <a:srgbClr val="FF0000"/>
                </a:solidFill>
                <a:latin typeface="Consolas" panose="020B0609020204030204" pitchFamily="49" charset="0"/>
              </a:rPr>
              <a:t>Calony</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'Bangalore'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28000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Faculty_Last_Name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Faculty_Dept_Id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Faculty_Address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Faculty_City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Faculty_Salary</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'Shivam'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Biswas'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4003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'Krishna Nagar'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'Lucknow'</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35000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B14354F4-C3C5-1FE2-C4E1-62C3F4A57810}"/>
              </a:ext>
            </a:extLst>
          </p:cNvPr>
          <p:cNvSpPr txBox="1"/>
          <p:nvPr/>
        </p:nvSpPr>
        <p:spPr>
          <a:xfrm>
            <a:off x="5241072" y="0"/>
            <a:ext cx="4296937" cy="5909310"/>
          </a:xfrm>
          <a:prstGeom prst="rect">
            <a:avLst/>
          </a:prstGeom>
          <a:noFill/>
        </p:spPr>
        <p:txBody>
          <a:bodyPr wrap="square">
            <a:spAutoFit/>
          </a:bodyPr>
          <a:lstStyle/>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--LTRIM String Function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string function cuts the given character or string from the left of the given original string. It also removes the space from the left of the specified string.</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SELECT query trims the space from the specified string:</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LTRIM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INTELLIPAAT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RTRIM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INTELLIPAAT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 : The following SELECT query uses LTRIM() with the </a:t>
            </a:r>
            <a:r>
              <a:rPr lang="en-US" sz="900" dirty="0" err="1">
                <a:solidFill>
                  <a:srgbClr val="008000"/>
                </a:solidFill>
                <a:latin typeface="Consolas" panose="020B0609020204030204" pitchFamily="49" charset="0"/>
              </a:rPr>
              <a:t>Faculty_Last_Name</a:t>
            </a:r>
            <a:r>
              <a:rPr lang="en-US" sz="900" dirty="0">
                <a:solidFill>
                  <a:srgbClr val="008000"/>
                </a:solidFill>
                <a:latin typeface="Consolas" panose="020B0609020204030204" pitchFamily="49" charset="0"/>
              </a:rPr>
              <a:t> column of above </a:t>
            </a:r>
            <a:r>
              <a:rPr lang="en-US" sz="900" dirty="0" err="1">
                <a:solidFill>
                  <a:srgbClr val="008000"/>
                </a:solidFill>
                <a:latin typeface="Consolas" panose="020B0609020204030204" pitchFamily="49" charset="0"/>
              </a:rPr>
              <a:t>Faculty_Info</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RTRIM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LTRIM_LastName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lower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Faculty_First_Name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Faculty_Info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--LOWER()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--SELECT LOWER(</a:t>
            </a:r>
            <a:r>
              <a:rPr lang="en-US" sz="900" dirty="0" err="1">
                <a:solidFill>
                  <a:srgbClr val="008000"/>
                </a:solidFill>
                <a:latin typeface="Consolas" panose="020B0609020204030204" pitchFamily="49" charset="0"/>
              </a:rPr>
              <a:t>Column_Name</a:t>
            </a:r>
            <a:r>
              <a:rPr lang="en-US" sz="900" dirty="0">
                <a:solidFill>
                  <a:srgbClr val="008000"/>
                </a:solidFill>
                <a:latin typeface="Consolas" panose="020B0609020204030204" pitchFamily="49" charset="0"/>
              </a:rPr>
              <a:t>) AS </a:t>
            </a:r>
            <a:r>
              <a:rPr lang="en-US" sz="900" dirty="0" err="1">
                <a:solidFill>
                  <a:srgbClr val="008000"/>
                </a:solidFill>
                <a:latin typeface="Consolas" panose="020B0609020204030204" pitchFamily="49" charset="0"/>
              </a:rPr>
              <a:t>Alias_Name</a:t>
            </a:r>
            <a:r>
              <a:rPr lang="en-US" sz="900" dirty="0">
                <a:solidFill>
                  <a:srgbClr val="008000"/>
                </a:solidFill>
                <a:latin typeface="Consolas" panose="020B0609020204030204" pitchFamily="49" charset="0"/>
              </a:rPr>
              <a:t> FROM </a:t>
            </a:r>
            <a:r>
              <a:rPr lang="en-US" sz="900" dirty="0" err="1">
                <a:solidFill>
                  <a:srgbClr val="008000"/>
                </a:solidFill>
                <a:latin typeface="Consolas" panose="020B0609020204030204" pitchFamily="49" charset="0"/>
              </a:rPr>
              <a:t>Table_Name</a:t>
            </a:r>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--SELECT LOWER(String);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 1: The following SELECT query converts the upper case letters of the given string into the lower case letters.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LOWER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'NEW DELHI IS THE CAPITAL OF INDIA'</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--UPPER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--Below example returns uppercase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UPPER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ritesh</a:t>
            </a:r>
            <a:r>
              <a:rPr lang="en-US" sz="900" dirty="0">
                <a:solidFill>
                  <a:srgbClr val="FF0000"/>
                </a:solidFill>
                <a:latin typeface="Consolas" panose="020B0609020204030204" pitchFamily="49" charset="0"/>
              </a:rPr>
              <a:t> is a good teacher'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--REVERSE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--Returns Reverse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REVERSE</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ritesh</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--Returns length of characters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LEN</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ritesh</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--REPLACE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REPLACE</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TheHomeDepot</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'DEPOT'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'DEPARTMENT'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REPLACED_DATA</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endParaRPr lang="en-US" dirty="0"/>
          </a:p>
        </p:txBody>
      </p:sp>
    </p:spTree>
    <p:extLst>
      <p:ext uri="{BB962C8B-B14F-4D97-AF65-F5344CB8AC3E}">
        <p14:creationId xmlns:p14="http://schemas.microsoft.com/office/powerpoint/2010/main" val="537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BAA79A-A5D4-54C5-6AE5-3CF302D243E8}"/>
              </a:ext>
            </a:extLst>
          </p:cNvPr>
          <p:cNvSpPr txBox="1"/>
          <p:nvPr/>
        </p:nvSpPr>
        <p:spPr>
          <a:xfrm>
            <a:off x="1860" y="0"/>
            <a:ext cx="4951140" cy="4801314"/>
          </a:xfrm>
          <a:prstGeom prst="rect">
            <a:avLst/>
          </a:prstGeom>
          <a:noFill/>
        </p:spPr>
        <p:txBody>
          <a:bodyPr wrap="square">
            <a:spAutoFit/>
          </a:bodyPr>
          <a:lstStyle/>
          <a:p>
            <a:r>
              <a:rPr lang="en-US" sz="900" dirty="0">
                <a:solidFill>
                  <a:srgbClr val="008000"/>
                </a:solidFill>
                <a:latin typeface="Consolas" panose="020B0609020204030204" pitchFamily="49" charset="0"/>
              </a:rPr>
              <a:t>--Substring</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SUBSTRING string function in Structured Query Language shows the characters or sub-string from the specific index value of the original string.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a:t>
            </a:r>
            <a:r>
              <a:rPr lang="en-US" sz="900" dirty="0" err="1">
                <a:solidFill>
                  <a:srgbClr val="008000"/>
                </a:solidFill>
                <a:latin typeface="Consolas" panose="020B0609020204030204" pitchFamily="49" charset="0"/>
              </a:rPr>
              <a:t>exmaple</a:t>
            </a:r>
            <a:r>
              <a:rPr lang="en-US" sz="900" dirty="0">
                <a:solidFill>
                  <a:srgbClr val="008000"/>
                </a:solidFill>
                <a:latin typeface="Consolas" panose="020B0609020204030204" pitchFamily="49" charset="0"/>
              </a:rPr>
              <a:t> will show </a:t>
            </a:r>
            <a:r>
              <a:rPr lang="en-US" sz="900" dirty="0" err="1">
                <a:solidFill>
                  <a:srgbClr val="008000"/>
                </a:solidFill>
                <a:latin typeface="Consolas" panose="020B0609020204030204" pitchFamily="49" charset="0"/>
              </a:rPr>
              <a:t>th</a:t>
            </a:r>
            <a:r>
              <a:rPr lang="en-US" sz="900" dirty="0">
                <a:solidFill>
                  <a:srgbClr val="008000"/>
                </a:solidFill>
                <a:latin typeface="Consolas" panose="020B0609020204030204" pitchFamily="49" charset="0"/>
              </a:rPr>
              <a:t> 1 to 25 characters including spaces from the passed string.</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SUBSTRING</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Intellipaat</a:t>
            </a:r>
            <a:r>
              <a:rPr lang="en-US" sz="900" dirty="0">
                <a:solidFill>
                  <a:srgbClr val="FF0000"/>
                </a:solidFill>
                <a:latin typeface="Consolas" panose="020B0609020204030204" pitchFamily="49" charset="0"/>
              </a:rPr>
              <a:t> is a learning place for professionals'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substring_1_25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8000"/>
                </a:solidFill>
                <a:latin typeface="Consolas" panose="020B0609020204030204" pitchFamily="49" charset="0"/>
              </a:rPr>
              <a:t>--This </a:t>
            </a:r>
            <a:r>
              <a:rPr lang="en-US" sz="900" dirty="0" err="1">
                <a:solidFill>
                  <a:srgbClr val="008000"/>
                </a:solidFill>
                <a:latin typeface="Consolas" panose="020B0609020204030204" pitchFamily="49" charset="0"/>
              </a:rPr>
              <a:t>exmaple</a:t>
            </a:r>
            <a:r>
              <a:rPr lang="en-US" sz="900" dirty="0">
                <a:solidFill>
                  <a:srgbClr val="008000"/>
                </a:solidFill>
                <a:latin typeface="Consolas" panose="020B0609020204030204" pitchFamily="49" charset="0"/>
              </a:rPr>
              <a:t> will show </a:t>
            </a:r>
            <a:r>
              <a:rPr lang="en-US" sz="900" dirty="0" err="1">
                <a:solidFill>
                  <a:srgbClr val="008000"/>
                </a:solidFill>
                <a:latin typeface="Consolas" panose="020B0609020204030204" pitchFamily="49" charset="0"/>
              </a:rPr>
              <a:t>th</a:t>
            </a:r>
            <a:r>
              <a:rPr lang="en-US" sz="900" dirty="0">
                <a:solidFill>
                  <a:srgbClr val="008000"/>
                </a:solidFill>
                <a:latin typeface="Consolas" panose="020B0609020204030204" pitchFamily="49" charset="0"/>
              </a:rPr>
              <a:t> 7th position in the string</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SUBSTRING</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Intellipaat</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substring_7_2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SUBSTRING</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Intellipaat</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substring_8_4</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SUBSTRING</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Intellipaat</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substring_7_1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SUBSTRING</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Intellipaat</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substring_7_1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----------------------SYSTEM FUNCTIONS----------------------------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-------Lets create a table named employee----------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[employee]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[name] [varchar]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[occupation] [varchar]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working_date</a:t>
            </a:r>
            <a:r>
              <a:rPr lang="en-US" sz="900" dirty="0">
                <a:solidFill>
                  <a:srgbClr val="000000"/>
                </a:solidFill>
                <a:latin typeface="Consolas" panose="020B0609020204030204" pitchFamily="49" charset="0"/>
              </a:rPr>
              <a:t>] [date]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working_hours</a:t>
            </a:r>
            <a:r>
              <a:rPr lang="en-US" sz="900" dirty="0">
                <a:solidFill>
                  <a:srgbClr val="000000"/>
                </a:solidFill>
                <a:latin typeface="Consolas" panose="020B0609020204030204" pitchFamily="49" charset="0"/>
              </a:rPr>
              <a:t>] [varchar]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[salary] [int]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[weight] [decimal]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empstatus</a:t>
            </a:r>
            <a:r>
              <a:rPr lang="en-US" sz="900" dirty="0">
                <a:solidFill>
                  <a:srgbClr val="000000"/>
                </a:solidFill>
                <a:latin typeface="Consolas" panose="020B0609020204030204" pitchFamily="49" charset="0"/>
              </a:rPr>
              <a:t>] [int]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[PRIMARY]</a:t>
            </a:r>
          </a:p>
          <a:p>
            <a:r>
              <a:rPr lang="en-US" sz="900" dirty="0">
                <a:solidFill>
                  <a:srgbClr val="0000FF"/>
                </a:solidFill>
                <a:latin typeface="Consolas" panose="020B0609020204030204" pitchFamily="49" charset="0"/>
              </a:rPr>
              <a:t>GO</a:t>
            </a:r>
            <a:endParaRPr lang="en-US" dirty="0"/>
          </a:p>
        </p:txBody>
      </p:sp>
      <p:sp>
        <p:nvSpPr>
          <p:cNvPr id="5" name="TextBox 4">
            <a:extLst>
              <a:ext uri="{FF2B5EF4-FFF2-40B4-BE49-F238E27FC236}">
                <a16:creationId xmlns:a16="http://schemas.microsoft.com/office/drawing/2014/main" id="{BE9627F3-1046-D50C-CB46-FF0B8B562D8B}"/>
              </a:ext>
            </a:extLst>
          </p:cNvPr>
          <p:cNvSpPr txBox="1"/>
          <p:nvPr/>
        </p:nvSpPr>
        <p:spPr>
          <a:xfrm>
            <a:off x="4953000" y="0"/>
            <a:ext cx="4951140" cy="3554819"/>
          </a:xfrm>
          <a:prstGeom prst="rect">
            <a:avLst/>
          </a:prstGeom>
          <a:noFill/>
        </p:spPr>
        <p:txBody>
          <a:bodyPr wrap="square">
            <a:spAutoFit/>
          </a:bodyPr>
          <a:lstStyle/>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[employee]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[occupation]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working_date</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working_hours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[weight]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empstatus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err="1">
                <a:solidFill>
                  <a:srgbClr val="FF0000"/>
                </a:solidFill>
                <a:latin typeface="Consolas" panose="020B0609020204030204" pitchFamily="49" charset="0"/>
              </a:rPr>
              <a:t>N'Jake</a:t>
            </a:r>
            <a:r>
              <a:rPr lang="en-US" sz="900" dirty="0">
                <a:solidFill>
                  <a:srgbClr val="FF0000"/>
                </a:solidFill>
                <a:latin typeface="Consolas" panose="020B0609020204030204" pitchFamily="49" charset="0"/>
              </a:rPr>
              <a:t> Evans'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N'HR'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N'2020-10-04'</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25000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80.35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[employee]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[occupation]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working_date</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working_hours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[weight]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empstatus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err="1">
                <a:solidFill>
                  <a:srgbClr val="FF0000"/>
                </a:solidFill>
                <a:latin typeface="Consolas" panose="020B0609020204030204" pitchFamily="49" charset="0"/>
              </a:rPr>
              <a:t>N'Brad</a:t>
            </a:r>
            <a:r>
              <a:rPr lang="en-US" sz="900" dirty="0">
                <a:solidFill>
                  <a:srgbClr val="FF0000"/>
                </a:solidFill>
                <a:latin typeface="Consolas" panose="020B0609020204030204" pitchFamily="49" charset="0"/>
              </a:rPr>
              <a:t> Simmons'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FF0000"/>
                </a:solidFill>
                <a:latin typeface="Consolas" panose="020B0609020204030204" pitchFamily="49" charset="0"/>
              </a:rPr>
              <a:t>N'Engineer</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N'2020-10-04'</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N'12'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65000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90.15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[employee]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[occupation]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working_date</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working_hours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[weight]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empstatus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err="1">
                <a:solidFill>
                  <a:srgbClr val="FF0000"/>
                </a:solidFill>
                <a:latin typeface="Consolas" panose="020B0609020204030204" pitchFamily="49" charset="0"/>
              </a:rPr>
              <a:t>N'Lily</a:t>
            </a:r>
            <a:r>
              <a:rPr lang="en-US" sz="900" dirty="0">
                <a:solidFill>
                  <a:srgbClr val="FF0000"/>
                </a:solidFill>
                <a:latin typeface="Consolas" panose="020B0609020204030204" pitchFamily="49" charset="0"/>
              </a:rPr>
              <a:t> Huges'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FF0000"/>
                </a:solidFill>
                <a:latin typeface="Consolas" panose="020B0609020204030204" pitchFamily="49" charset="0"/>
              </a:rPr>
              <a:t>N'Writer</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N'2020-10-04'</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N'13'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35000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70.45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[employee]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[occupation]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working_date</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working_hours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[weight]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empstatus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err="1">
                <a:solidFill>
                  <a:srgbClr val="FF0000"/>
                </a:solidFill>
                <a:latin typeface="Consolas" panose="020B0609020204030204" pitchFamily="49" charset="0"/>
              </a:rPr>
              <a:t>N'Laura</a:t>
            </a:r>
            <a:r>
              <a:rPr lang="en-US" sz="900" dirty="0">
                <a:solidFill>
                  <a:srgbClr val="FF0000"/>
                </a:solidFill>
                <a:latin typeface="Consolas" panose="020B0609020204030204" pitchFamily="49" charset="0"/>
              </a:rPr>
              <a:t> Paul'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FF0000"/>
                </a:solidFill>
                <a:latin typeface="Consolas" panose="020B0609020204030204" pitchFamily="49" charset="0"/>
              </a:rPr>
              <a:t>N'Manager</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N'2020-10-04'</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45000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40.75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[employee]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[occupation]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working_date</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working_hours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[weight]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empstatus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err="1">
                <a:solidFill>
                  <a:srgbClr val="FF0000"/>
                </a:solidFill>
                <a:latin typeface="Consolas" panose="020B0609020204030204" pitchFamily="49" charset="0"/>
              </a:rPr>
              <a:t>N'Diego</a:t>
            </a:r>
            <a:r>
              <a:rPr lang="en-US" sz="900" dirty="0">
                <a:solidFill>
                  <a:srgbClr val="FF0000"/>
                </a:solidFill>
                <a:latin typeface="Consolas" panose="020B0609020204030204" pitchFamily="49" charset="0"/>
              </a:rPr>
              <a:t> Simmons'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FF0000"/>
                </a:solidFill>
                <a:latin typeface="Consolas" panose="020B0609020204030204" pitchFamily="49" charset="0"/>
              </a:rPr>
              <a:t>N'Teacher</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N'2020-10-04'</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N'12'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52.55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[employee]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[occupation]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working_date</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working_hours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[weight]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empstatus</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err="1">
                <a:solidFill>
                  <a:srgbClr val="FF0000"/>
                </a:solidFill>
                <a:latin typeface="Consolas" panose="020B0609020204030204" pitchFamily="49" charset="0"/>
              </a:rPr>
              <a:t>N'Antonio</a:t>
            </a:r>
            <a:r>
              <a:rPr lang="en-US" sz="900" dirty="0">
                <a:solidFill>
                  <a:srgbClr val="FF0000"/>
                </a:solidFill>
                <a:latin typeface="Consolas" panose="020B0609020204030204" pitchFamily="49" charset="0"/>
              </a:rPr>
              <a:t> Bennet'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FF0000"/>
                </a:solidFill>
                <a:latin typeface="Consolas" panose="020B0609020204030204" pitchFamily="49" charset="0"/>
              </a:rPr>
              <a:t>N'Writer</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N'2020-10-04'</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N'13'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35000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67.85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dirty="0"/>
          </a:p>
        </p:txBody>
      </p:sp>
      <p:sp>
        <p:nvSpPr>
          <p:cNvPr id="7" name="TextBox 6">
            <a:extLst>
              <a:ext uri="{FF2B5EF4-FFF2-40B4-BE49-F238E27FC236}">
                <a16:creationId xmlns:a16="http://schemas.microsoft.com/office/drawing/2014/main" id="{438428A0-AFBE-3002-D3FA-BB6C1A86DCEB}"/>
              </a:ext>
            </a:extLst>
          </p:cNvPr>
          <p:cNvSpPr txBox="1"/>
          <p:nvPr/>
        </p:nvSpPr>
        <p:spPr>
          <a:xfrm>
            <a:off x="4850781" y="3857179"/>
            <a:ext cx="4951140" cy="3000821"/>
          </a:xfrm>
          <a:prstGeom prst="rect">
            <a:avLst/>
          </a:prstGeom>
          <a:noFill/>
        </p:spPr>
        <p:txBody>
          <a:bodyPr wrap="square">
            <a:spAutoFit/>
          </a:bodyPr>
          <a:lstStyle/>
          <a:p>
            <a:r>
              <a:rPr lang="en-US" sz="900" dirty="0">
                <a:solidFill>
                  <a:srgbClr val="008000"/>
                </a:solidFill>
                <a:latin typeface="Consolas" panose="020B0609020204030204" pitchFamily="49" charset="0"/>
              </a:rPr>
              <a:t>--CAST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SQL CAST function is mainly used to convert the expression from one data type to another data type.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the SQL Server CAST function is unable to convert a declaration to the desired data type, this function returns an error.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--We use the CAST function to convert numeric data into character or string data.</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--CAST (expression AS [data type])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--truncate table employee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weight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weight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Int_weight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This example convert the decimal to integer value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FF"/>
                </a:solidFill>
                <a:latin typeface="Consolas" panose="020B0609020204030204" pitchFamily="49" charset="0"/>
              </a:rPr>
              <a:t>name</a:t>
            </a:r>
            <a:r>
              <a:rPr lang="en-US" sz="900" dirty="0" err="1">
                <a:solidFill>
                  <a:srgbClr val="808080"/>
                </a:solidFill>
                <a:latin typeface="Consolas" panose="020B0609020204030204" pitchFamily="49" charset="0"/>
              </a:rPr>
              <a:t>,</a:t>
            </a:r>
            <a:r>
              <a:rPr lang="en-US" sz="900" dirty="0" err="1">
                <a:solidFill>
                  <a:srgbClr val="0000FF"/>
                </a:solidFill>
                <a:latin typeface="Consolas" panose="020B0609020204030204" pitchFamily="49" charset="0"/>
              </a:rPr>
              <a:t>weight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weight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Integer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weightininteger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a:t>
            </a:r>
          </a:p>
          <a:p>
            <a:r>
              <a:rPr lang="en-US" sz="900" dirty="0">
                <a:solidFill>
                  <a:srgbClr val="008000"/>
                </a:solidFill>
                <a:latin typeface="Consolas" panose="020B0609020204030204" pitchFamily="49" charset="0"/>
              </a:rPr>
              <a:t>-- This example convert the decimal to character value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FF"/>
                </a:solidFill>
                <a:latin typeface="Consolas" panose="020B0609020204030204" pitchFamily="49" charset="0"/>
              </a:rPr>
              <a:t>name</a:t>
            </a:r>
            <a:r>
              <a:rPr lang="en-US" sz="900" dirty="0" err="1">
                <a:solidFill>
                  <a:srgbClr val="808080"/>
                </a:solidFill>
                <a:latin typeface="Consolas" panose="020B0609020204030204" pitchFamily="49" charset="0"/>
              </a:rPr>
              <a:t>,</a:t>
            </a:r>
            <a:r>
              <a:rPr lang="en-US" sz="900" dirty="0" err="1">
                <a:solidFill>
                  <a:srgbClr val="0000FF"/>
                </a:solidFill>
                <a:latin typeface="Consolas" panose="020B0609020204030204" pitchFamily="49" charset="0"/>
              </a:rPr>
              <a:t>weight</a:t>
            </a:r>
            <a:r>
              <a:rPr lang="en-US" sz="900" dirty="0" err="1">
                <a:solidFill>
                  <a:srgbClr val="808080"/>
                </a:solidFill>
                <a:latin typeface="Consolas" panose="020B0609020204030204" pitchFamily="49" charset="0"/>
              </a:rPr>
              <a:t>,</a:t>
            </a:r>
            <a:r>
              <a:rPr lang="en-US" sz="900" dirty="0" err="1">
                <a:solidFill>
                  <a:srgbClr val="FF00FF"/>
                </a:solidFill>
                <a:latin typeface="Consolas" panose="020B0609020204030204" pitchFamily="49" charset="0"/>
              </a:rPr>
              <a:t>CAST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weight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weightwithchardatatype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a:t>
            </a:r>
            <a:endParaRPr lang="en-US" dirty="0"/>
          </a:p>
        </p:txBody>
      </p:sp>
    </p:spTree>
    <p:extLst>
      <p:ext uri="{BB962C8B-B14F-4D97-AF65-F5344CB8AC3E}">
        <p14:creationId xmlns:p14="http://schemas.microsoft.com/office/powerpoint/2010/main" val="426840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B20151-FD10-7D20-BA41-C2DE5118B020}"/>
              </a:ext>
            </a:extLst>
          </p:cNvPr>
          <p:cNvSpPr txBox="1"/>
          <p:nvPr/>
        </p:nvSpPr>
        <p:spPr>
          <a:xfrm>
            <a:off x="33460" y="-10403"/>
            <a:ext cx="4951140" cy="6878806"/>
          </a:xfrm>
          <a:prstGeom prst="rect">
            <a:avLst/>
          </a:prstGeom>
          <a:noFill/>
        </p:spPr>
        <p:txBody>
          <a:bodyPr wrap="square">
            <a:spAutoFit/>
          </a:bodyPr>
          <a:lstStyle/>
          <a:p>
            <a:r>
              <a:rPr lang="en-US" sz="900" dirty="0">
                <a:solidFill>
                  <a:srgbClr val="008000"/>
                </a:solidFill>
                <a:latin typeface="Consolas" panose="020B0609020204030204" pitchFamily="49" charset="0"/>
              </a:rPr>
              <a:t>--CONVERT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--CONVERT ( </a:t>
            </a:r>
            <a:r>
              <a:rPr lang="en-US" sz="900" dirty="0" err="1">
                <a:solidFill>
                  <a:srgbClr val="008000"/>
                </a:solidFill>
                <a:latin typeface="Consolas" panose="020B0609020204030204" pitchFamily="49" charset="0"/>
              </a:rPr>
              <a:t>data_type</a:t>
            </a:r>
            <a:r>
              <a:rPr lang="en-US" sz="900" dirty="0">
                <a:solidFill>
                  <a:srgbClr val="008000"/>
                </a:solidFill>
                <a:latin typeface="Consolas" panose="020B0609020204030204" pitchFamily="49" charset="0"/>
              </a:rPr>
              <a:t> (length) , expr, style)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the syntax, we have used the following parameters: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data_type</a:t>
            </a:r>
            <a:r>
              <a:rPr lang="en-US" sz="900" dirty="0">
                <a:solidFill>
                  <a:srgbClr val="008000"/>
                </a:solidFill>
                <a:latin typeface="Consolas" panose="020B0609020204030204" pitchFamily="49" charset="0"/>
              </a:rPr>
              <a:t>: It represents the target data type in which we want to convert the expression. It can include the following data types as an input: </a:t>
            </a:r>
            <a:r>
              <a:rPr lang="en-US" sz="900" dirty="0" err="1">
                <a:solidFill>
                  <a:srgbClr val="008000"/>
                </a:solidFill>
                <a:latin typeface="Consolas" panose="020B0609020204030204" pitchFamily="49" charset="0"/>
              </a:rPr>
              <a:t>bigint</a:t>
            </a:r>
            <a:r>
              <a:rPr lang="en-US" sz="900" dirty="0">
                <a:solidFill>
                  <a:srgbClr val="008000"/>
                </a:solidFill>
                <a:latin typeface="Consolas" panose="020B0609020204030204" pitchFamily="49" charset="0"/>
              </a:rPr>
              <a:t>, int, </a:t>
            </a:r>
            <a:r>
              <a:rPr lang="en-US" sz="900" dirty="0" err="1">
                <a:solidFill>
                  <a:srgbClr val="008000"/>
                </a:solidFill>
                <a:latin typeface="Consolas" panose="020B0609020204030204" pitchFamily="49" charset="0"/>
              </a:rPr>
              <a:t>smallint</a:t>
            </a:r>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tinyint</a:t>
            </a:r>
            <a:r>
              <a:rPr lang="en-US" sz="900" dirty="0">
                <a:solidFill>
                  <a:srgbClr val="008000"/>
                </a:solidFill>
                <a:latin typeface="Consolas" panose="020B0609020204030204" pitchFamily="49" charset="0"/>
              </a:rPr>
              <a:t>, bit, decimal, numeric, money, float, datetime, char, </a:t>
            </a:r>
            <a:r>
              <a:rPr lang="en-US" sz="900" dirty="0" err="1">
                <a:solidFill>
                  <a:srgbClr val="008000"/>
                </a:solidFill>
                <a:latin typeface="Consolas" panose="020B0609020204030204" pitchFamily="49" charset="0"/>
              </a:rPr>
              <a:t>nchar</a:t>
            </a:r>
            <a:r>
              <a:rPr lang="en-US" sz="900" dirty="0">
                <a:solidFill>
                  <a:srgbClr val="008000"/>
                </a:solidFill>
                <a:latin typeface="Consolas" panose="020B0609020204030204" pitchFamily="49" charset="0"/>
              </a:rPr>
              <a:t>, varchar, </a:t>
            </a:r>
            <a:r>
              <a:rPr lang="en-US" sz="900" dirty="0" err="1">
                <a:solidFill>
                  <a:srgbClr val="008000"/>
                </a:solidFill>
                <a:latin typeface="Consolas" panose="020B0609020204030204" pitchFamily="49" charset="0"/>
              </a:rPr>
              <a:t>nvarchar</a:t>
            </a:r>
            <a:r>
              <a:rPr lang="en-US" sz="900" dirty="0">
                <a:solidFill>
                  <a:srgbClr val="008000"/>
                </a:solidFill>
                <a:latin typeface="Consolas" panose="020B0609020204030204" pitchFamily="49" charset="0"/>
              </a:rPr>
              <a:t>, text, </a:t>
            </a:r>
            <a:r>
              <a:rPr lang="en-US" sz="900" dirty="0" err="1">
                <a:solidFill>
                  <a:srgbClr val="008000"/>
                </a:solidFill>
                <a:latin typeface="Consolas" panose="020B0609020204030204" pitchFamily="49" charset="0"/>
              </a:rPr>
              <a:t>ntext</a:t>
            </a:r>
            <a:r>
              <a:rPr lang="en-US" sz="900" dirty="0">
                <a:solidFill>
                  <a:srgbClr val="008000"/>
                </a:solidFill>
                <a:latin typeface="Consolas" panose="020B0609020204030204" pitchFamily="49" charset="0"/>
              </a:rPr>
              <a:t>, binary, image, etc. We make sure that the input data type should not be an alias type.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-length: It is an optional parameter for specifying the length of the target data type. By default, its value is 30.</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-expr: It specifies a valid expression that we are going to convert into another type.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-style: It is an optional value that indicates the output style of the converted value. We will get the NULL value when it is NULL. It is useful for the DATE data type format.*/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converts the data type of float value to an integer. Here we have first declared a float variable and then assign them float value. Next, we will convert the float value to an integer with the help of the CONVERT function and print the result.*/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--Declare float variable  </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@floatvalue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Float</a:t>
            </a:r>
            <a:r>
              <a:rPr lang="en-US" sz="900" dirty="0">
                <a:solidFill>
                  <a:srgbClr val="000000"/>
                </a:solidFill>
                <a:latin typeface="Consolas" panose="020B0609020204030204" pitchFamily="49" charset="0"/>
              </a:rPr>
              <a:t>  </a:t>
            </a:r>
          </a:p>
          <a:p>
            <a:r>
              <a:rPr lang="en-US" sz="900" dirty="0">
                <a:solidFill>
                  <a:srgbClr val="008000"/>
                </a:solidFill>
                <a:latin typeface="Consolas" panose="020B0609020204030204" pitchFamily="49" charset="0"/>
              </a:rPr>
              <a:t>--Assign value into a float variable  </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@floatvalue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345.1346   </a:t>
            </a:r>
          </a:p>
          <a:p>
            <a:r>
              <a:rPr lang="en-US" sz="900" dirty="0">
                <a:solidFill>
                  <a:srgbClr val="008000"/>
                </a:solidFill>
                <a:latin typeface="Consolas" panose="020B0609020204030204" pitchFamily="49" charset="0"/>
              </a:rPr>
              <a:t>--Use Convert function for conversion  </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@floatvalue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Actual_Value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@floatvalue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  </a:t>
            </a: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will convert the decimal number into another decimal number with zero scales with the help of the CONVERT function. The rounding and truncation behavior of this function works similarly to the CAST function in SQL Server.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@decimalVal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DECIMAL</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@decimalVal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9.956  </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@decimalVal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  </a:t>
            </a: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@myInt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INTEGER</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@myInt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2346 </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INTEGER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@myInt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  </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@TempVar </a:t>
            </a:r>
            <a:r>
              <a:rPr lang="en-US" sz="900" dirty="0">
                <a:solidFill>
                  <a:srgbClr val="0000FF"/>
                </a:solidFill>
                <a:latin typeface="Consolas" panose="020B0609020204030204" pitchFamily="49" charset="0"/>
              </a:rPr>
              <a:t>INT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@TempVar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2346</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PRINT</a:t>
            </a:r>
            <a:r>
              <a:rPr lang="en-US" sz="900" dirty="0">
                <a:solidFill>
                  <a:srgbClr val="000000"/>
                </a:solidFill>
                <a:latin typeface="Consolas" panose="020B0609020204030204" pitchFamily="49" charset="0"/>
              </a:rPr>
              <a:t> @TempVar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C0736F9A-8DDF-8891-E15D-7EB8C750BDD7}"/>
              </a:ext>
            </a:extLst>
          </p:cNvPr>
          <p:cNvSpPr txBox="1"/>
          <p:nvPr/>
        </p:nvSpPr>
        <p:spPr>
          <a:xfrm>
            <a:off x="4954860" y="280551"/>
            <a:ext cx="4951140" cy="2862322"/>
          </a:xfrm>
          <a:prstGeom prst="rect">
            <a:avLst/>
          </a:prstGeom>
          <a:noFill/>
        </p:spPr>
        <p:txBody>
          <a:bodyPr wrap="square">
            <a:spAutoFit/>
          </a:bodyPr>
          <a:lstStyle/>
          <a:p>
            <a:r>
              <a:rPr lang="en-US" sz="900" dirty="0">
                <a:solidFill>
                  <a:srgbClr val="008000"/>
                </a:solidFill>
                <a:latin typeface="Consolas" panose="020B0609020204030204" pitchFamily="49" charset="0"/>
              </a:rPr>
              <a:t>--CHOOSE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CHOOSE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'First'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'Second'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'Third'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Below example  CHOOSE() function will return the </a:t>
            </a:r>
            <a:r>
              <a:rPr lang="en-US" sz="900" dirty="0" err="1">
                <a:solidFill>
                  <a:srgbClr val="008000"/>
                </a:solidFill>
                <a:latin typeface="Consolas" panose="020B0609020204030204" pitchFamily="49" charset="0"/>
              </a:rPr>
              <a:t>curent</a:t>
            </a:r>
            <a:r>
              <a:rPr lang="en-US" sz="900" dirty="0">
                <a:solidFill>
                  <a:srgbClr val="008000"/>
                </a:solidFill>
                <a:latin typeface="Consolas" panose="020B0609020204030204" pitchFamily="49" charset="0"/>
              </a:rPr>
              <a:t> status based on the value in </a:t>
            </a:r>
            <a:r>
              <a:rPr lang="en-US" sz="900" dirty="0" err="1">
                <a:solidFill>
                  <a:srgbClr val="008000"/>
                </a:solidFill>
                <a:latin typeface="Consolas" panose="020B0609020204030204" pitchFamily="49" charset="0"/>
              </a:rPr>
              <a:t>empstatus</a:t>
            </a:r>
            <a:r>
              <a:rPr lang="en-US" sz="900" dirty="0">
                <a:solidFill>
                  <a:srgbClr val="008000"/>
                </a:solidFill>
                <a:latin typeface="Consolas" panose="020B0609020204030204" pitchFamily="49" charset="0"/>
              </a:rPr>
              <a:t> column of the employee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occupation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working_hours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working_date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empstatus</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CHOOSE</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empstatus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Active'</a:t>
            </a:r>
            <a:r>
              <a:rPr lang="en-US" sz="900" dirty="0" err="1">
                <a:solidFill>
                  <a:srgbClr val="808080"/>
                </a:solidFill>
                <a:latin typeface="Consolas" panose="020B0609020204030204" pitchFamily="49" charset="0"/>
              </a:rPr>
              <a:t>,</a:t>
            </a:r>
            <a:r>
              <a:rPr lang="en-US" sz="900" dirty="0" err="1">
                <a:solidFill>
                  <a:srgbClr val="FF0000"/>
                </a:solidFill>
                <a:latin typeface="Consolas" panose="020B0609020204030204" pitchFamily="49" charset="0"/>
              </a:rPr>
              <a:t>'Inactive</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currentstatus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--ALTER TABLE employee add </a:t>
            </a:r>
            <a:r>
              <a:rPr lang="en-US" sz="900" dirty="0" err="1">
                <a:solidFill>
                  <a:srgbClr val="008000"/>
                </a:solidFill>
                <a:latin typeface="Consolas" panose="020B0609020204030204" pitchFamily="49" charset="0"/>
              </a:rPr>
              <a:t>empstatus</a:t>
            </a:r>
            <a:r>
              <a:rPr lang="en-US" sz="900" dirty="0">
                <a:solidFill>
                  <a:srgbClr val="008000"/>
                </a:solidFill>
                <a:latin typeface="Consolas" panose="020B0609020204030204" pitchFamily="49" charset="0"/>
              </a:rPr>
              <a:t> int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UPDATE employee SET </a:t>
            </a:r>
            <a:r>
              <a:rPr lang="en-US" sz="900" dirty="0" err="1">
                <a:solidFill>
                  <a:srgbClr val="008000"/>
                </a:solidFill>
                <a:latin typeface="Consolas" panose="020B0609020204030204" pitchFamily="49" charset="0"/>
              </a:rPr>
              <a:t>empstatus</a:t>
            </a:r>
            <a:r>
              <a:rPr lang="en-US" sz="900" dirty="0">
                <a:solidFill>
                  <a:srgbClr val="008000"/>
                </a:solidFill>
                <a:latin typeface="Consolas" panose="020B0609020204030204" pitchFamily="49" charset="0"/>
              </a:rPr>
              <a:t>=1 where name ='Jake Evans'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UPDATE employee SET </a:t>
            </a:r>
            <a:r>
              <a:rPr lang="en-US" sz="900" dirty="0" err="1">
                <a:solidFill>
                  <a:srgbClr val="008000"/>
                </a:solidFill>
                <a:latin typeface="Consolas" panose="020B0609020204030204" pitchFamily="49" charset="0"/>
              </a:rPr>
              <a:t>empstatus</a:t>
            </a:r>
            <a:r>
              <a:rPr lang="en-US" sz="900" dirty="0">
                <a:solidFill>
                  <a:srgbClr val="008000"/>
                </a:solidFill>
                <a:latin typeface="Consolas" panose="020B0609020204030204" pitchFamily="49" charset="0"/>
              </a:rPr>
              <a:t>=1 where name ='Brad Simmons'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UPDATE employee SET </a:t>
            </a:r>
            <a:r>
              <a:rPr lang="en-US" sz="900" dirty="0" err="1">
                <a:solidFill>
                  <a:srgbClr val="008000"/>
                </a:solidFill>
                <a:latin typeface="Consolas" panose="020B0609020204030204" pitchFamily="49" charset="0"/>
              </a:rPr>
              <a:t>empstatus</a:t>
            </a:r>
            <a:r>
              <a:rPr lang="en-US" sz="900" dirty="0">
                <a:solidFill>
                  <a:srgbClr val="008000"/>
                </a:solidFill>
                <a:latin typeface="Consolas" panose="020B0609020204030204" pitchFamily="49" charset="0"/>
              </a:rPr>
              <a:t>=2 where name ='Lily Huges'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UPDATE employee SET </a:t>
            </a:r>
            <a:r>
              <a:rPr lang="en-US" sz="900" dirty="0" err="1">
                <a:solidFill>
                  <a:srgbClr val="008000"/>
                </a:solidFill>
                <a:latin typeface="Consolas" panose="020B0609020204030204" pitchFamily="49" charset="0"/>
              </a:rPr>
              <a:t>empstatus</a:t>
            </a:r>
            <a:r>
              <a:rPr lang="en-US" sz="900" dirty="0">
                <a:solidFill>
                  <a:srgbClr val="008000"/>
                </a:solidFill>
                <a:latin typeface="Consolas" panose="020B0609020204030204" pitchFamily="49" charset="0"/>
              </a:rPr>
              <a:t>=1 where name ='Laura Paul'</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UPDATE employee SET </a:t>
            </a:r>
            <a:r>
              <a:rPr lang="en-US" sz="900" dirty="0" err="1">
                <a:solidFill>
                  <a:srgbClr val="008000"/>
                </a:solidFill>
                <a:latin typeface="Consolas" panose="020B0609020204030204" pitchFamily="49" charset="0"/>
              </a:rPr>
              <a:t>empstatus</a:t>
            </a:r>
            <a:r>
              <a:rPr lang="en-US" sz="900" dirty="0">
                <a:solidFill>
                  <a:srgbClr val="008000"/>
                </a:solidFill>
                <a:latin typeface="Consolas" panose="020B0609020204030204" pitchFamily="49" charset="0"/>
              </a:rPr>
              <a:t>=2 where name ='Diego Simmons'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UPDATE employee SET </a:t>
            </a:r>
            <a:r>
              <a:rPr lang="en-US" sz="900" dirty="0" err="1">
                <a:solidFill>
                  <a:srgbClr val="008000"/>
                </a:solidFill>
                <a:latin typeface="Consolas" panose="020B0609020204030204" pitchFamily="49" charset="0"/>
              </a:rPr>
              <a:t>empstatus</a:t>
            </a:r>
            <a:r>
              <a:rPr lang="en-US" sz="900" dirty="0">
                <a:solidFill>
                  <a:srgbClr val="008000"/>
                </a:solidFill>
                <a:latin typeface="Consolas" panose="020B0609020204030204" pitchFamily="49" charset="0"/>
              </a:rPr>
              <a:t>=2 where name ='Antonio Bennet' */</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407764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6CD253-E874-6A5E-0DBD-55CF43EFB19B}"/>
              </a:ext>
            </a:extLst>
          </p:cNvPr>
          <p:cNvSpPr txBox="1"/>
          <p:nvPr/>
        </p:nvSpPr>
        <p:spPr>
          <a:xfrm>
            <a:off x="0" y="202232"/>
            <a:ext cx="9905999" cy="6740307"/>
          </a:xfrm>
          <a:prstGeom prst="rect">
            <a:avLst/>
          </a:prstGeom>
          <a:noFill/>
        </p:spPr>
        <p:txBody>
          <a:bodyPr wrap="square">
            <a:spAutoFit/>
          </a:bodyPr>
          <a:lstStyle/>
          <a:p>
            <a:r>
              <a:rPr lang="en-US" sz="900" dirty="0">
                <a:solidFill>
                  <a:srgbClr val="008000"/>
                </a:solidFill>
                <a:latin typeface="Consolas" panose="020B0609020204030204" pitchFamily="49" charset="0"/>
              </a:rPr>
              <a:t>---------ISNULL----------</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ISNULL() function returns the replacement if the expression evaluates to NULL. Before returning a value, it implicitly converts the type of replacement to the type of the expression if the types of the two arguments are different.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case the expression is not NULL, the ISNULL() function returns the value of the expression.*/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ISNULL</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------Lets create table names divisions to understand ISNULL Function------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divisions</a:t>
            </a: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id      </a:t>
            </a:r>
            <a:r>
              <a:rPr lang="en-US" sz="900" dirty="0">
                <a:solidFill>
                  <a:srgbClr val="0000FF"/>
                </a:solidFill>
                <a:latin typeface="Consolas" panose="020B0609020204030204" pitchFamily="49" charset="0"/>
              </a:rPr>
              <a:t>INT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IDENTITY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min_age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DEFAULT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max_age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divisions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min_age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max_age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30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min_age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max_age</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divisions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ISNULL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min_age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min_age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ISNULL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max_age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99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max_age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divisions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a division does not require minimum age, the </a:t>
            </a:r>
            <a:r>
              <a:rPr lang="en-US" sz="900" dirty="0" err="1">
                <a:solidFill>
                  <a:srgbClr val="008000"/>
                </a:solidFill>
                <a:latin typeface="Consolas" panose="020B0609020204030204" pitchFamily="49" charset="0"/>
              </a:rPr>
              <a:t>min_age</a:t>
            </a:r>
            <a:r>
              <a:rPr lang="en-US" sz="900" dirty="0">
                <a:solidFill>
                  <a:srgbClr val="008000"/>
                </a:solidFill>
                <a:latin typeface="Consolas" panose="020B0609020204030204" pitchFamily="49" charset="0"/>
              </a:rPr>
              <a:t> column will have NULL. Similarly, if a division does not require maximum age the </a:t>
            </a:r>
            <a:r>
              <a:rPr lang="en-US" sz="900" dirty="0" err="1">
                <a:solidFill>
                  <a:srgbClr val="008000"/>
                </a:solidFill>
                <a:latin typeface="Consolas" panose="020B0609020204030204" pitchFamily="49" charset="0"/>
              </a:rPr>
              <a:t>max_age</a:t>
            </a:r>
            <a:r>
              <a:rPr lang="en-US" sz="900" dirty="0">
                <a:solidFill>
                  <a:srgbClr val="008000"/>
                </a:solidFill>
                <a:latin typeface="Consolas" panose="020B0609020204030204" pitchFamily="49" charset="0"/>
              </a:rPr>
              <a:t> column will also have NULL.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Last, use the ISNULL() function to convert NULL in the </a:t>
            </a:r>
            <a:r>
              <a:rPr lang="en-US" sz="900" dirty="0" err="1">
                <a:solidFill>
                  <a:srgbClr val="008000"/>
                </a:solidFill>
                <a:latin typeface="Consolas" panose="020B0609020204030204" pitchFamily="49" charset="0"/>
              </a:rPr>
              <a:t>min_age</a:t>
            </a:r>
            <a:r>
              <a:rPr lang="en-US" sz="900" dirty="0">
                <a:solidFill>
                  <a:srgbClr val="008000"/>
                </a:solidFill>
                <a:latin typeface="Consolas" panose="020B0609020204030204" pitchFamily="49" charset="0"/>
              </a:rPr>
              <a:t> column to 0 and NULL in the </a:t>
            </a:r>
            <a:r>
              <a:rPr lang="en-US" sz="900" dirty="0" err="1">
                <a:solidFill>
                  <a:srgbClr val="008000"/>
                </a:solidFill>
                <a:latin typeface="Consolas" panose="020B0609020204030204" pitchFamily="49" charset="0"/>
              </a:rPr>
              <a:t>max_age</a:t>
            </a:r>
            <a:r>
              <a:rPr lang="en-US" sz="900" dirty="0">
                <a:solidFill>
                  <a:srgbClr val="008000"/>
                </a:solidFill>
                <a:latin typeface="Consolas" panose="020B0609020204030204" pitchFamily="49" charset="0"/>
              </a:rPr>
              <a:t> column to 99:*/</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ISNULL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min_age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min_age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ISNULL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max_age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99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max_age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divisions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52822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08D9A4-2BC5-B5C1-E81A-19F465C573F9}"/>
              </a:ext>
            </a:extLst>
          </p:cNvPr>
          <p:cNvSpPr txBox="1"/>
          <p:nvPr/>
        </p:nvSpPr>
        <p:spPr>
          <a:xfrm>
            <a:off x="111512" y="103353"/>
            <a:ext cx="4951140" cy="410881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The ISNUMERIC() accepts an expression and returns 1 if the expression is a valid numeric type; otherwise, it returns 0.</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The following shows the syntax of the ISNUMERIC() function:</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ISNUMERIC ( expression )  </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In this syntax, the expression is any valid expression to be evaluated.</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Note that a valid numeric type is one of the following:</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Exact numbers: BIGINT, INT, SMALLINT, TINYINT, and BIT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Fixed precision: DECIMAL, NUMERIC</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Approximate: FLOAT, REAL</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Monetary values: MONEY, SMALLMONEY</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The ISNUMERIC() actually checks if a value can be converted to a numeric data type and returns the right answer. However, it doesn’t tell you which datatype and properly handle the overflow.</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This was why the TRY_CAST(), TRY_PARSE(), and TRY_CONVERT() function was introduced since SQL Server 2012.*/</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--This example uses the ISNUMERIC() function to check if the string '$10' can be converted to a number or not: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SELECT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FF00FF"/>
                </a:solidFill>
                <a:effectLst/>
                <a:uLnTx/>
                <a:uFillTx/>
                <a:latin typeface="Consolas" panose="020B0609020204030204" pitchFamily="49" charset="0"/>
                <a:ea typeface="+mn-ea"/>
                <a:cs typeface="+mn-cs"/>
              </a:rPr>
              <a:t>ISNUMERIC</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'$10'</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result</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SELECT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FF00FF"/>
                </a:solidFill>
                <a:effectLst/>
                <a:uLnTx/>
                <a:uFillTx/>
                <a:latin typeface="Consolas" panose="020B0609020204030204" pitchFamily="49" charset="0"/>
                <a:ea typeface="+mn-ea"/>
                <a:cs typeface="+mn-cs"/>
              </a:rPr>
              <a:t>ISNUMERIC</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'-2.23E-308'</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result</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SELECT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900" b="0" i="0" u="none" strike="noStrike" kern="1200" cap="none" spc="0" normalizeH="0" baseline="0" noProof="0" dirty="0">
                <a:ln>
                  <a:noFill/>
                </a:ln>
                <a:solidFill>
                  <a:srgbClr val="FF00FF"/>
                </a:solidFill>
                <a:effectLst/>
                <a:uLnTx/>
                <a:uFillTx/>
                <a:latin typeface="Consolas" panose="020B0609020204030204" pitchFamily="49" charset="0"/>
                <a:ea typeface="+mn-ea"/>
                <a:cs typeface="+mn-cs"/>
              </a:rPr>
              <a:t>ISNUMERIC</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'+ABC'</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result</a:t>
            </a:r>
            <a:r>
              <a:rPr kumimoji="0" lang="en-US" sz="9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2500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C73619-87CB-E72F-CB64-121782932A53}"/>
              </a:ext>
            </a:extLst>
          </p:cNvPr>
          <p:cNvSpPr txBox="1"/>
          <p:nvPr/>
        </p:nvSpPr>
        <p:spPr>
          <a:xfrm>
            <a:off x="0" y="0"/>
            <a:ext cx="9478537" cy="6740307"/>
          </a:xfrm>
          <a:prstGeom prst="rect">
            <a:avLst/>
          </a:prstGeom>
          <a:noFill/>
        </p:spPr>
        <p:txBody>
          <a:bodyPr wrap="square">
            <a:spAutoFit/>
          </a:bodyPr>
          <a:lstStyle/>
          <a:p>
            <a:r>
              <a:rPr lang="en-US" sz="900" dirty="0">
                <a:solidFill>
                  <a:srgbClr val="008000"/>
                </a:solidFill>
                <a:latin typeface="Consolas" panose="020B0609020204030204" pitchFamily="49" charset="0"/>
              </a:rPr>
              <a:t>------IIF----------------</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IIF() function accepts three arguments. It evaluates the first argument and returns the second argument if the first argument is true; otherwise, it returns the third argument.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shows the syntax of the IIF()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IIF(</a:t>
            </a:r>
            <a:r>
              <a:rPr lang="en-US" sz="900" dirty="0" err="1">
                <a:solidFill>
                  <a:srgbClr val="008000"/>
                </a:solidFill>
                <a:latin typeface="Consolas" panose="020B0609020204030204" pitchFamily="49" charset="0"/>
              </a:rPr>
              <a:t>boolean_expression</a:t>
            </a:r>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true_value</a:t>
            </a:r>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false_value</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boolean_expression</a:t>
            </a:r>
            <a:r>
              <a:rPr lang="en-US" sz="900" dirty="0">
                <a:solidFill>
                  <a:srgbClr val="008000"/>
                </a:solidFill>
                <a:latin typeface="Consolas" panose="020B0609020204030204" pitchFamily="49" charset="0"/>
              </a:rPr>
              <a:t> is an expression to be evaluated. It must be a valid Boolean expression, or the function will raise an error.</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true_value</a:t>
            </a:r>
            <a:r>
              <a:rPr lang="en-US" sz="900" dirty="0">
                <a:solidFill>
                  <a:srgbClr val="008000"/>
                </a:solidFill>
                <a:latin typeface="Consolas" panose="020B0609020204030204" pitchFamily="49" charset="0"/>
              </a:rPr>
              <a:t> is the value to be returned if the </a:t>
            </a:r>
            <a:r>
              <a:rPr lang="en-US" sz="900" dirty="0" err="1">
                <a:solidFill>
                  <a:srgbClr val="008000"/>
                </a:solidFill>
                <a:latin typeface="Consolas" panose="020B0609020204030204" pitchFamily="49" charset="0"/>
              </a:rPr>
              <a:t>boolean_expression</a:t>
            </a:r>
            <a:r>
              <a:rPr lang="en-US" sz="900" dirty="0">
                <a:solidFill>
                  <a:srgbClr val="008000"/>
                </a:solidFill>
                <a:latin typeface="Consolas" panose="020B0609020204030204" pitchFamily="49" charset="0"/>
              </a:rPr>
              <a:t> evaluates to true.</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false_value</a:t>
            </a:r>
            <a:r>
              <a:rPr lang="en-US" sz="900" dirty="0">
                <a:solidFill>
                  <a:srgbClr val="008000"/>
                </a:solidFill>
                <a:latin typeface="Consolas" panose="020B0609020204030204" pitchFamily="49" charset="0"/>
              </a:rPr>
              <a:t> is the value to be returned if the </a:t>
            </a:r>
            <a:r>
              <a:rPr lang="en-US" sz="900" dirty="0" err="1">
                <a:solidFill>
                  <a:srgbClr val="008000"/>
                </a:solidFill>
                <a:latin typeface="Consolas" panose="020B0609020204030204" pitchFamily="49" charset="0"/>
              </a:rPr>
              <a:t>boolean_expression</a:t>
            </a:r>
            <a:r>
              <a:rPr lang="en-US" sz="900" dirty="0">
                <a:solidFill>
                  <a:srgbClr val="008000"/>
                </a:solidFill>
                <a:latin typeface="Consolas" panose="020B0609020204030204" pitchFamily="49" charset="0"/>
              </a:rPr>
              <a:t> evaluates to false.*/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IIF() function to check if 10 &lt; 20 and returns the True string:</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'True'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'False'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nests IIF()function inside IIF() functions and returns the corresponding order status based on the status number: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'Pending'</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'Processing'</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'Rejected'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'Completed'</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'N/A'</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IIF() function with the SUM() function to get the number of orders by order status in 2018.</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'Pending'</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'Processing'</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'Rejected'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'Completed'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Total</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76306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E34789-BA68-B48C-4071-06689D5C1745}"/>
              </a:ext>
            </a:extLst>
          </p:cNvPr>
          <p:cNvSpPr txBox="1"/>
          <p:nvPr/>
        </p:nvSpPr>
        <p:spPr>
          <a:xfrm>
            <a:off x="0" y="128096"/>
            <a:ext cx="9906000" cy="6601807"/>
          </a:xfrm>
          <a:prstGeom prst="rect">
            <a:avLst/>
          </a:prstGeom>
          <a:noFill/>
        </p:spPr>
        <p:txBody>
          <a:bodyPr wrap="square">
            <a:spAutoFit/>
          </a:bodyPr>
          <a:lstStyle/>
          <a:p>
            <a:r>
              <a:rPr lang="en-US" sz="900" dirty="0">
                <a:solidFill>
                  <a:srgbClr val="008000"/>
                </a:solidFill>
                <a:latin typeface="Consolas" panose="020B0609020204030204" pitchFamily="49" charset="0"/>
              </a:rPr>
              <a:t>----TRY_CAST()------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The TRY_CAST() function casts a value of one type to another. It returns NULL if the conversion fails.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shows the syntax of the TRY_CAST()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TRY_CAST ( expression AS </a:t>
            </a:r>
            <a:r>
              <a:rPr lang="en-US" sz="900" dirty="0" err="1">
                <a:solidFill>
                  <a:srgbClr val="008000"/>
                </a:solidFill>
                <a:latin typeface="Consolas" panose="020B0609020204030204" pitchFamily="49" charset="0"/>
              </a:rPr>
              <a:t>data_type</a:t>
            </a:r>
            <a:r>
              <a:rPr lang="en-US" sz="900" dirty="0">
                <a:solidFill>
                  <a:srgbClr val="008000"/>
                </a:solidFill>
                <a:latin typeface="Consolas" panose="020B0609020204030204" pitchFamily="49" charset="0"/>
              </a:rPr>
              <a:t> [ ( length ) ] )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TRY_CAST() accepts two arguments: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data_type</a:t>
            </a:r>
            <a:r>
              <a:rPr lang="en-US" sz="900" dirty="0">
                <a:solidFill>
                  <a:srgbClr val="008000"/>
                </a:solidFill>
                <a:latin typeface="Consolas" panose="020B0609020204030204" pitchFamily="49" charset="0"/>
              </a:rPr>
              <a:t> is any valid data type into which the function will cast the expression.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expression is the value to cast.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TRY_CAST() function takes the input value and tries to cast it to a value of the specified data type. It returns the value in the specified data if the cast succeeds; Otherwise, it returns NULL. But, if you request a conversion that is explicitly not allowed, the TRY_CAST() function will fail with an error.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TRY_CAST() vs. CAST()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the cast fails, the TRY_CAST() function returns NULL while the CAST() function raises an error.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You use the NULL handling functions or expressions such as ISNULL(), COALESCE, or CASE to handle the result of the TRY_CAST() function in case the cast fails. On the other hand, you use the TRY...CATCH statement to handle the result of the CAST() function if the cast fails.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shows how the TRY_CAST() function returns NULL when the cast fails: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CASE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TRY_CAST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'test'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'Cast failed'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ELSE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'Cast succeeded'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FF00FF"/>
                </a:solidFill>
                <a:latin typeface="Consolas" panose="020B0609020204030204" pitchFamily="49" charset="0"/>
              </a:rPr>
              <a:t>TRY_CAST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'test'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returns an error because a number cannot be cast into an XML data type: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TRY_CAST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30.5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XML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The following example uses the TRY_CAST() function to convert a string to a decimal: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TRY_CAST</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'12.34'</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uses the TRY_CAST() function to convert the current system date and time to a date value: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TRY_CAST</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The </a:t>
            </a:r>
            <a:r>
              <a:rPr lang="en-US" sz="900" dirty="0" err="1">
                <a:solidFill>
                  <a:srgbClr val="008000"/>
                </a:solidFill>
                <a:latin typeface="Consolas" panose="020B0609020204030204" pitchFamily="49" charset="0"/>
              </a:rPr>
              <a:t>followiung</a:t>
            </a:r>
            <a:r>
              <a:rPr lang="en-US" sz="900" dirty="0">
                <a:solidFill>
                  <a:srgbClr val="008000"/>
                </a:solidFill>
                <a:latin typeface="Consolas" panose="020B0609020204030204" pitchFamily="49" charset="0"/>
              </a:rPr>
              <a:t> example uses TRY_CAST() </a:t>
            </a:r>
            <a:r>
              <a:rPr lang="en-US" sz="900" dirty="0" err="1">
                <a:solidFill>
                  <a:srgbClr val="008000"/>
                </a:solidFill>
                <a:latin typeface="Consolas" panose="020B0609020204030204" pitchFamily="49" charset="0"/>
              </a:rPr>
              <a:t>funtion</a:t>
            </a:r>
            <a:r>
              <a:rPr lang="en-US" sz="900" dirty="0">
                <a:solidFill>
                  <a:srgbClr val="008000"/>
                </a:solidFill>
                <a:latin typeface="Consolas" panose="020B0609020204030204" pitchFamily="49" charset="0"/>
              </a:rPr>
              <a:t> to convert the current system date and time to a time value: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TRY_CAST</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1651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6AFB60-840C-D5D0-AD98-762CFFF49224}"/>
              </a:ext>
            </a:extLst>
          </p:cNvPr>
          <p:cNvSpPr txBox="1"/>
          <p:nvPr/>
        </p:nvSpPr>
        <p:spPr>
          <a:xfrm>
            <a:off x="0" y="0"/>
            <a:ext cx="5419493" cy="6601807"/>
          </a:xfrm>
          <a:prstGeom prst="rect">
            <a:avLst/>
          </a:prstGeom>
          <a:noFill/>
        </p:spPr>
        <p:txBody>
          <a:bodyPr wrap="square">
            <a:spAutoFit/>
          </a:bodyPr>
          <a:lstStyle/>
          <a:p>
            <a:r>
              <a:rPr lang="en-US" sz="900" dirty="0">
                <a:solidFill>
                  <a:srgbClr val="008000"/>
                </a:solidFill>
                <a:latin typeface="Consolas" panose="020B0609020204030204" pitchFamily="49" charset="0"/>
              </a:rPr>
              <a:t>--------------TRY_CONVERT()----------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TRY_CONVERT() function converts a value of one type to another. It returns NULL if the conversion fails.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illustrates the syntax of the TRY_CONVERT()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TRY_CONVERT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data_type</a:t>
            </a:r>
            <a:r>
              <a:rPr lang="en-US" sz="900" dirty="0">
                <a:solidFill>
                  <a:srgbClr val="008000"/>
                </a:solidFill>
                <a:latin typeface="Consolas" panose="020B0609020204030204" pitchFamily="49" charset="0"/>
              </a:rPr>
              <a:t>[(length)],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expression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[,style]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TRY_CONVERT() accepts three arguments: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data_type</a:t>
            </a:r>
            <a:r>
              <a:rPr lang="en-US" sz="900" dirty="0">
                <a:solidFill>
                  <a:srgbClr val="008000"/>
                </a:solidFill>
                <a:latin typeface="Consolas" panose="020B0609020204030204" pitchFamily="49" charset="0"/>
              </a:rPr>
              <a:t> is a valid data type into which the function will cast the expression.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expression is the value to cast.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style is a provided integer that specifies how the function will translate the expression.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TRY_CONVERT() function tries to convert the value passed to it to a specified data type. It returns the value as the specified data if the cast succeeds; Otherwise, it returns. However, if you request a conversion that is explicitly not permitted, the TRY_CONVERT() function will fail with an error.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--TRY_CONVERT() returns NULL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shows how the TRY_CONVERT() function returns NULL when the cast fails: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CASE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TRY_CONVERT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'test'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'Cast failed'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ELSE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'Cast succeeded'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TRY_CONVERT() function to convert a string to an integer: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TRY_CONVERT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TRY_CONVERT() function to convert the current system date and time to a date value: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TRY_CONVERT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TRY_CONVERT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F0FD1635-E217-088F-C97C-E4198E674FBD}"/>
              </a:ext>
            </a:extLst>
          </p:cNvPr>
          <p:cNvSpPr txBox="1"/>
          <p:nvPr/>
        </p:nvSpPr>
        <p:spPr>
          <a:xfrm>
            <a:off x="5508703" y="256193"/>
            <a:ext cx="4070194" cy="6463308"/>
          </a:xfrm>
          <a:prstGeom prst="rect">
            <a:avLst/>
          </a:prstGeom>
          <a:noFill/>
        </p:spPr>
        <p:txBody>
          <a:bodyPr wrap="square">
            <a:spAutoFit/>
          </a:bodyPr>
          <a:lstStyle/>
          <a:p>
            <a:r>
              <a:rPr lang="en-US" sz="900" dirty="0">
                <a:solidFill>
                  <a:srgbClr val="008000"/>
                </a:solidFill>
                <a:latin typeface="Consolas" panose="020B0609020204030204" pitchFamily="49" charset="0"/>
              </a:rPr>
              <a:t>---TRY_PARSE()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TRY_PARSE() function is used to translate the result of an expression to the requested data type. It returns NULL if the cast fails.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Below is the syntax of the TRY_PARSE()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TRY_PARSE ( expression AS </a:t>
            </a:r>
            <a:r>
              <a:rPr lang="en-US" sz="900" dirty="0" err="1">
                <a:solidFill>
                  <a:srgbClr val="008000"/>
                </a:solidFill>
                <a:latin typeface="Consolas" panose="020B0609020204030204" pitchFamily="49" charset="0"/>
              </a:rPr>
              <a:t>data_type</a:t>
            </a:r>
            <a:r>
              <a:rPr lang="en-US" sz="900" dirty="0">
                <a:solidFill>
                  <a:srgbClr val="008000"/>
                </a:solidFill>
                <a:latin typeface="Consolas" panose="020B0609020204030204" pitchFamily="49" charset="0"/>
              </a:rPr>
              <a:t> [ USING culture ] )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expression evaluates to a string value of NVARCHAR(4000).</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data_type</a:t>
            </a:r>
            <a:r>
              <a:rPr lang="en-US" sz="900" dirty="0">
                <a:solidFill>
                  <a:srgbClr val="008000"/>
                </a:solidFill>
                <a:latin typeface="Consolas" panose="020B0609020204030204" pitchFamily="49" charset="0"/>
              </a:rPr>
              <a:t> represents the data type requested for the result.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culture is an optional string that specifies the culture in which expression is formatted. It defaults to the language of the current session. Note that the culture is not limited to the ones supported by SQL; It can accept any culture supported by .NET Framework.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TRY_PARSE() function to convert the string '14 April 2019' to a date: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TRY_PARSE</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'14 April 2019'</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uses the TRY_PARSE() function to convert the string '-1250' to an integer: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TRY_PARSE</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'-1250'</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--Using SQL Server TRY_PARSE() function with CASE expression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TRY_PARSE() function with the CASE to test expression and return the corresponding message if the cast is failed -- or succeeded.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CASE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TRY_PARSE</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'Last year'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'Cast failed'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ELSE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'Cast succeeded'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62361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CEAA7B-4AAF-9D3C-D9E5-43F1963F02B3}"/>
              </a:ext>
            </a:extLst>
          </p:cNvPr>
          <p:cNvSpPr txBox="1"/>
          <p:nvPr/>
        </p:nvSpPr>
        <p:spPr>
          <a:xfrm>
            <a:off x="0" y="-22302"/>
            <a:ext cx="4951140" cy="6740307"/>
          </a:xfrm>
          <a:prstGeom prst="rect">
            <a:avLst/>
          </a:prstGeom>
          <a:noFill/>
        </p:spPr>
        <p:txBody>
          <a:bodyPr wrap="square">
            <a:spAutoFit/>
          </a:bodyPr>
          <a:lstStyle/>
          <a:p>
            <a:r>
              <a:rPr lang="en-US" sz="900" dirty="0">
                <a:solidFill>
                  <a:srgbClr val="008000"/>
                </a:solidFill>
                <a:latin typeface="Consolas" panose="020B0609020204030204" pitchFamily="49" charset="0"/>
              </a:rPr>
              <a:t>-----convert datetime to string-------</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convert a datetime to a string, you use the CONVERT() function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CONVERT(VARCHAR, datetime [,style])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VARCHAR is the first argument that represents the string type.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datetime is an expression that evaluates to date or datetime value that you want to convert to a string</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sytle</a:t>
            </a:r>
            <a:r>
              <a:rPr lang="en-US" sz="900" dirty="0">
                <a:solidFill>
                  <a:srgbClr val="008000"/>
                </a:solidFill>
                <a:latin typeface="Consolas" panose="020B0609020204030204" pitchFamily="49" charset="0"/>
              </a:rPr>
              <a:t> specifies the format of the date. The value of style is a number predefined by SQL Server. The style parameter is optional.*/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NOTE:BElow</a:t>
            </a:r>
            <a:r>
              <a:rPr lang="en-US" sz="900" dirty="0">
                <a:solidFill>
                  <a:srgbClr val="008000"/>
                </a:solidFill>
                <a:latin typeface="Consolas" panose="020B0609020204030204" pitchFamily="49" charset="0"/>
              </a:rPr>
              <a:t> link has all ways to convert datetime to </a:t>
            </a:r>
            <a:r>
              <a:rPr lang="en-US" sz="900" dirty="0" err="1">
                <a:solidFill>
                  <a:srgbClr val="008000"/>
                </a:solidFill>
                <a:latin typeface="Consolas" panose="020B0609020204030204" pitchFamily="49" charset="0"/>
              </a:rPr>
              <a:t>differeant</a:t>
            </a:r>
            <a:r>
              <a:rPr lang="en-US" sz="900" dirty="0">
                <a:solidFill>
                  <a:srgbClr val="008000"/>
                </a:solidFill>
                <a:latin typeface="Consolas" panose="020B0609020204030204" pitchFamily="49" charset="0"/>
              </a:rPr>
              <a:t> formats. Kindly go through table mentioned in below link.</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https://learn.microsoft.com/en-us/sql/t-sql/functions/cast-and-convert-transact-sql?view=sql-server-ver16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Convert datetime to string in </a:t>
            </a:r>
            <a:r>
              <a:rPr lang="en-US" sz="900" dirty="0" err="1">
                <a:solidFill>
                  <a:srgbClr val="008000"/>
                </a:solidFill>
                <a:latin typeface="Consolas" panose="020B0609020204030204" pitchFamily="49" charset="0"/>
              </a:rPr>
              <a:t>mon</a:t>
            </a:r>
            <a:r>
              <a:rPr lang="en-US" sz="900" dirty="0">
                <a:solidFill>
                  <a:srgbClr val="008000"/>
                </a:solidFill>
                <a:latin typeface="Consolas" panose="020B0609020204030204" pitchFamily="49" charset="0"/>
              </a:rPr>
              <a:t> dd </a:t>
            </a:r>
            <a:r>
              <a:rPr lang="en-US" sz="900" dirty="0" err="1">
                <a:solidFill>
                  <a:srgbClr val="008000"/>
                </a:solidFill>
                <a:latin typeface="Consolas" panose="020B0609020204030204" pitchFamily="49" charset="0"/>
              </a:rPr>
              <a:t>yyyy</a:t>
            </a:r>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hh:miAM</a:t>
            </a:r>
            <a:r>
              <a:rPr lang="en-US" sz="900" dirty="0">
                <a:solidFill>
                  <a:srgbClr val="008000"/>
                </a:solidFill>
                <a:latin typeface="Consolas" panose="020B0609020204030204" pitchFamily="49" charset="0"/>
              </a:rPr>
              <a:t> (or PM) format example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@dt </a:t>
            </a:r>
            <a:r>
              <a:rPr lang="en-US" sz="900" dirty="0">
                <a:solidFill>
                  <a:srgbClr val="0000FF"/>
                </a:solidFill>
                <a:latin typeface="Consolas" panose="020B0609020204030204" pitchFamily="49" charset="0"/>
              </a:rPr>
              <a:t>DATETIME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'2022-12-31 14:43:35.863'</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 Convert datetime to string in mm/dd/</a:t>
            </a:r>
            <a:r>
              <a:rPr lang="en-US" sz="900" dirty="0" err="1">
                <a:solidFill>
                  <a:srgbClr val="008000"/>
                </a:solidFill>
                <a:latin typeface="Consolas" panose="020B0609020204030204" pitchFamily="49" charset="0"/>
              </a:rPr>
              <a:t>yy</a:t>
            </a:r>
            <a:r>
              <a:rPr lang="en-US" sz="900" dirty="0">
                <a:solidFill>
                  <a:srgbClr val="008000"/>
                </a:solidFill>
                <a:latin typeface="Consolas" panose="020B0609020204030204" pitchFamily="49" charset="0"/>
              </a:rPr>
              <a:t> and mm/dd/</a:t>
            </a:r>
            <a:r>
              <a:rPr lang="en-US" sz="900" dirty="0" err="1">
                <a:solidFill>
                  <a:srgbClr val="008000"/>
                </a:solidFill>
                <a:latin typeface="Consolas" panose="020B0609020204030204" pitchFamily="49" charset="0"/>
              </a:rPr>
              <a:t>yyyy</a:t>
            </a:r>
            <a:r>
              <a:rPr lang="en-US" sz="900" dirty="0">
                <a:solidFill>
                  <a:srgbClr val="008000"/>
                </a:solidFill>
                <a:latin typeface="Consolas" panose="020B0609020204030204" pitchFamily="49" charset="0"/>
              </a:rPr>
              <a:t> formats example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@dtp </a:t>
            </a:r>
            <a:r>
              <a:rPr lang="en-US" sz="900" dirty="0">
                <a:solidFill>
                  <a:srgbClr val="0000FF"/>
                </a:solidFill>
                <a:latin typeface="Consolas" panose="020B0609020204030204" pitchFamily="49" charset="0"/>
              </a:rPr>
              <a:t>DATETIME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'2022-12-31 14:43:35.863'</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@dtp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@dtp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--c)Convert datetime to string in </a:t>
            </a:r>
            <a:r>
              <a:rPr lang="en-US" sz="900" dirty="0" err="1">
                <a:solidFill>
                  <a:srgbClr val="008000"/>
                </a:solidFill>
                <a:latin typeface="Consolas" panose="020B0609020204030204" pitchFamily="49" charset="0"/>
              </a:rPr>
              <a:t>dd.mm.yy</a:t>
            </a:r>
            <a:r>
              <a:rPr lang="en-US" sz="900" dirty="0">
                <a:solidFill>
                  <a:srgbClr val="008000"/>
                </a:solidFill>
                <a:latin typeface="Consolas" panose="020B0609020204030204" pitchFamily="49" charset="0"/>
              </a:rPr>
              <a:t> and </a:t>
            </a:r>
            <a:r>
              <a:rPr lang="en-US" sz="900" dirty="0" err="1">
                <a:solidFill>
                  <a:srgbClr val="008000"/>
                </a:solidFill>
                <a:latin typeface="Consolas" panose="020B0609020204030204" pitchFamily="49" charset="0"/>
              </a:rPr>
              <a:t>dd.mm.yyyy</a:t>
            </a:r>
            <a:r>
              <a:rPr lang="en-US" sz="900" dirty="0">
                <a:solidFill>
                  <a:srgbClr val="008000"/>
                </a:solidFill>
                <a:latin typeface="Consolas" panose="020B0609020204030204" pitchFamily="49" charset="0"/>
              </a:rPr>
              <a:t> formats example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@dt </a:t>
            </a:r>
            <a:r>
              <a:rPr lang="en-US" sz="900" dirty="0">
                <a:solidFill>
                  <a:srgbClr val="0000FF"/>
                </a:solidFill>
                <a:latin typeface="Consolas" panose="020B0609020204030204" pitchFamily="49" charset="0"/>
              </a:rPr>
              <a:t>DATETIME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'2022-12-31 14:43:35.863'</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--d)Convert datetime to string in dd-mm-</a:t>
            </a:r>
            <a:r>
              <a:rPr lang="en-US" sz="900" dirty="0" err="1">
                <a:solidFill>
                  <a:srgbClr val="008000"/>
                </a:solidFill>
                <a:latin typeface="Consolas" panose="020B0609020204030204" pitchFamily="49" charset="0"/>
              </a:rPr>
              <a:t>yy</a:t>
            </a:r>
            <a:r>
              <a:rPr lang="en-US" sz="900" dirty="0">
                <a:solidFill>
                  <a:srgbClr val="008000"/>
                </a:solidFill>
                <a:latin typeface="Consolas" panose="020B0609020204030204" pitchFamily="49" charset="0"/>
              </a:rPr>
              <a:t> dd-mm-</a:t>
            </a:r>
            <a:r>
              <a:rPr lang="en-US" sz="900" dirty="0" err="1">
                <a:solidFill>
                  <a:srgbClr val="008000"/>
                </a:solidFill>
                <a:latin typeface="Consolas" panose="020B0609020204030204" pitchFamily="49" charset="0"/>
              </a:rPr>
              <a:t>yyyy</a:t>
            </a:r>
            <a:r>
              <a:rPr lang="en-US" sz="900" dirty="0">
                <a:solidFill>
                  <a:srgbClr val="008000"/>
                </a:solidFill>
                <a:latin typeface="Consolas" panose="020B0609020204030204" pitchFamily="49" charset="0"/>
              </a:rPr>
              <a:t> formats example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@dts </a:t>
            </a:r>
            <a:r>
              <a:rPr lang="en-US" sz="900" dirty="0">
                <a:solidFill>
                  <a:srgbClr val="0000FF"/>
                </a:solidFill>
                <a:latin typeface="Consolas" panose="020B0609020204030204" pitchFamily="49" charset="0"/>
              </a:rPr>
              <a:t>DATETIME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'2019-12-31 14:43:35.863'</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@dts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@dts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657639F7-80C4-1AC5-7CC0-BB5B6954B312}"/>
              </a:ext>
            </a:extLst>
          </p:cNvPr>
          <p:cNvSpPr txBox="1"/>
          <p:nvPr/>
        </p:nvSpPr>
        <p:spPr>
          <a:xfrm>
            <a:off x="5051503" y="393196"/>
            <a:ext cx="4650058" cy="5909310"/>
          </a:xfrm>
          <a:prstGeom prst="rect">
            <a:avLst/>
          </a:prstGeom>
          <a:noFill/>
        </p:spPr>
        <p:txBody>
          <a:bodyPr wrap="square">
            <a:spAutoFit/>
          </a:bodyPr>
          <a:lstStyle/>
          <a:p>
            <a:r>
              <a:rPr lang="en-US" sz="900" dirty="0">
                <a:solidFill>
                  <a:srgbClr val="008000"/>
                </a:solidFill>
                <a:latin typeface="Consolas" panose="020B0609020204030204" pitchFamily="49" charset="0"/>
              </a:rPr>
              <a:t>------convert string to datetime------------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provides the CONVERT() function that converts a value of one type to another: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CONVERT(</a:t>
            </a:r>
            <a:r>
              <a:rPr lang="en-US" sz="900" dirty="0" err="1">
                <a:solidFill>
                  <a:srgbClr val="008000"/>
                </a:solidFill>
                <a:latin typeface="Consolas" panose="020B0609020204030204" pitchFamily="49" charset="0"/>
              </a:rPr>
              <a:t>target_type</a:t>
            </a:r>
            <a:r>
              <a:rPr lang="en-US" sz="900" dirty="0">
                <a:solidFill>
                  <a:srgbClr val="008000"/>
                </a:solidFill>
                <a:latin typeface="Consolas" panose="020B0609020204030204" pitchFamily="49" charset="0"/>
              </a:rPr>
              <a:t>, expression [, style])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Besides the CONVERT() function, you can also use the TRY_CONVERT()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TRY_CONVERT(</a:t>
            </a:r>
            <a:r>
              <a:rPr lang="en-US" sz="900" dirty="0" err="1">
                <a:solidFill>
                  <a:srgbClr val="008000"/>
                </a:solidFill>
                <a:latin typeface="Consolas" panose="020B0609020204030204" pitchFamily="49" charset="0"/>
              </a:rPr>
              <a:t>target_type</a:t>
            </a:r>
            <a:r>
              <a:rPr lang="en-US" sz="900" dirty="0">
                <a:solidFill>
                  <a:srgbClr val="008000"/>
                </a:solidFill>
                <a:latin typeface="Consolas" panose="020B0609020204030204" pitchFamily="49" charset="0"/>
              </a:rPr>
              <a:t>, expression [, style])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main difference between CONVERT() and TRY_CONVERT() is that in case of conversion fails, the CONVERT() function raises an error while the TRY_CONVERT() function returns NULL.*/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CONVERT() function to convert a string in ANSI date format to a datetime: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'2019-08-15'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the conversion fails, the CONVERT() function will raise an error: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'2019-18-15'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--Note that the CONVERT() function can also convert an ISO date string without delimiters to a date value as shown in the following </a:t>
            </a:r>
            <a:r>
              <a:rPr lang="en-US" sz="900" dirty="0" err="1">
                <a:solidFill>
                  <a:srgbClr val="008000"/>
                </a:solidFill>
                <a:latin typeface="Consolas" panose="020B0609020204030204" pitchFamily="49" charset="0"/>
              </a:rPr>
              <a:t>eeg</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'20190731'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shows how to use the CONVERT() function to convert strings in ISO date format to datetime values: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'2019-09-25'</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'2019/09/25'</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'2019.09.25'</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'2019-09-25 12:11'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'2019-09-25 12:11:09'</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'2019-09-25 12:11:09.555'</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'2019/09/25 12:11:09.555'</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'2019.09.25 12:11:09.555'</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00818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EC2C57-B8C5-38E7-B9D4-3A83E71905FF}"/>
              </a:ext>
            </a:extLst>
          </p:cNvPr>
          <p:cNvSpPr txBox="1"/>
          <p:nvPr/>
        </p:nvSpPr>
        <p:spPr>
          <a:xfrm>
            <a:off x="1860" y="0"/>
            <a:ext cx="4492081" cy="5770811"/>
          </a:xfrm>
          <a:prstGeom prst="rect">
            <a:avLst/>
          </a:prstGeom>
          <a:noFill/>
        </p:spPr>
        <p:txBody>
          <a:bodyPr wrap="square">
            <a:spAutoFit/>
          </a:bodyPr>
          <a:lstStyle/>
          <a:p>
            <a:r>
              <a:rPr lang="en-US" sz="900" dirty="0">
                <a:solidFill>
                  <a:srgbClr val="008000"/>
                </a:solidFill>
                <a:latin typeface="Consolas" panose="020B0609020204030204" pitchFamily="49" charset="0"/>
              </a:rPr>
              <a:t>--------Convert Datetime to Date-----------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statement uses the CONVERT() function to convert a datetime to a date: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--CONVERT(DATE, </a:t>
            </a:r>
            <a:r>
              <a:rPr lang="en-US" sz="900" dirty="0" err="1">
                <a:solidFill>
                  <a:srgbClr val="008000"/>
                </a:solidFill>
                <a:latin typeface="Consolas" panose="020B0609020204030204" pitchFamily="49" charset="0"/>
              </a:rPr>
              <a:t>datetime_expression</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TRY_CONVERT() function to convert the current datetime to a date: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CONVERT</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CAST() function to convert the current datetime to a date value: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GETDATE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CAST</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-------------Windows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CUME_DIST()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/*Sometimes, you want to make a report that contains the top or bottom x% values from a data set e.g., top 5% sales staffs by net sales. One way to achieve this with SQL Server is to use the CUME_DIST()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CUME_DIST() function calculates the cumulative distribution of a value within a group of values. Simply put, it calculates the relative position of a value in a group of values.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shows the syntax of the CUME_DIST()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CUME_DIST() OVER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[PARTITION BY </a:t>
            </a:r>
            <a:r>
              <a:rPr lang="en-US" sz="900" dirty="0" err="1">
                <a:solidFill>
                  <a:srgbClr val="008000"/>
                </a:solidFill>
                <a:latin typeface="Consolas" panose="020B0609020204030204" pitchFamily="49" charset="0"/>
              </a:rPr>
              <a:t>partition_expression</a:t>
            </a:r>
            <a:r>
              <a:rPr lang="en-US" sz="900" dirty="0">
                <a:solidFill>
                  <a:srgbClr val="008000"/>
                </a:solidFill>
                <a:latin typeface="Consolas" panose="020B0609020204030204" pitchFamily="49" charset="0"/>
              </a:rPr>
              <a:t>, ...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ORDER BY </a:t>
            </a:r>
            <a:r>
              <a:rPr lang="en-US" sz="900" dirty="0" err="1">
                <a:solidFill>
                  <a:srgbClr val="008000"/>
                </a:solidFill>
                <a:latin typeface="Consolas" panose="020B0609020204030204" pitchFamily="49" charset="0"/>
              </a:rPr>
              <a:t>sort_expression</a:t>
            </a:r>
            <a:r>
              <a:rPr lang="en-US" sz="900" dirty="0">
                <a:solidFill>
                  <a:srgbClr val="008000"/>
                </a:solidFill>
                <a:latin typeface="Consolas" panose="020B0609020204030204" pitchFamily="49" charset="0"/>
              </a:rPr>
              <a:t> [ASC | DESC],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dirty="0"/>
          </a:p>
        </p:txBody>
      </p:sp>
      <p:sp>
        <p:nvSpPr>
          <p:cNvPr id="7" name="TextBox 6">
            <a:extLst>
              <a:ext uri="{FF2B5EF4-FFF2-40B4-BE49-F238E27FC236}">
                <a16:creationId xmlns:a16="http://schemas.microsoft.com/office/drawing/2014/main" id="{E1B8F706-F11B-ED29-A417-0DDC5808091F}"/>
              </a:ext>
            </a:extLst>
          </p:cNvPr>
          <p:cNvSpPr txBox="1"/>
          <p:nvPr/>
        </p:nvSpPr>
        <p:spPr>
          <a:xfrm>
            <a:off x="4270917" y="0"/>
            <a:ext cx="5553307" cy="6878806"/>
          </a:xfrm>
          <a:prstGeom prst="rect">
            <a:avLst/>
          </a:prstGeom>
          <a:noFill/>
        </p:spPr>
        <p:txBody>
          <a:bodyPr wrap="square">
            <a:spAutoFit/>
          </a:bodyPr>
          <a:lstStyle/>
          <a:p>
            <a:r>
              <a:rPr lang="en-US" sz="900" dirty="0">
                <a:solidFill>
                  <a:srgbClr val="008000"/>
                </a:solidFill>
                <a:latin typeface="Consolas" panose="020B0609020204030204" pitchFamily="49" charset="0"/>
              </a:rPr>
              <a:t>/*Let’s examine this syntax in detail.</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PARTITION BY 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PARTITION BY clause distributes rows into multiple partitions to which the CUME_DIST() function is applied.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PARTITION BY clause is optional. The CUME_DIST() function will treat the whole result set as a single partition if you omit the PARTITION BY clause.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 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ORDER BY clause specifies the logical order of rows in each partition to which the CUME_DIST() function is applied. The ORDER BY clause considers NULL values as the lowest possible values.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Return value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result of CUME_DIST() is greater than 0 and less than or equal to 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0 &lt; CUME_DIST() &lt;= 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function returns the same cumulative distribution values for the same tie values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creates a view named </a:t>
            </a:r>
            <a:r>
              <a:rPr lang="en-US" sz="900" dirty="0" err="1">
                <a:solidFill>
                  <a:srgbClr val="008000"/>
                </a:solidFill>
                <a:latin typeface="Consolas" panose="020B0609020204030204" pitchFamily="49" charset="0"/>
              </a:rPr>
              <a:t>department_headcounts</a:t>
            </a:r>
            <a:r>
              <a:rPr lang="en-US" sz="900" dirty="0">
                <a:solidFill>
                  <a:srgbClr val="008000"/>
                </a:solidFill>
                <a:latin typeface="Consolas" panose="020B0609020204030204" pitchFamily="49" charset="0"/>
              </a:rPr>
              <a:t> based on the employees and departments tables for the demonstration: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departments</a:t>
            </a: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VIEW</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department_headcounts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department_name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headcount</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employees e</a:t>
            </a: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departments d</a:t>
            </a: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finds the cumulative distribution values by headcount of each department: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department_name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headcount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ROUND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CUME_DIST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headcount</a:t>
            </a: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cume_dist_val</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department_headcounts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3357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45C108-2FD6-0F2A-0B3D-2534E9484DFA}"/>
              </a:ext>
            </a:extLst>
          </p:cNvPr>
          <p:cNvSpPr txBox="1"/>
          <p:nvPr/>
        </p:nvSpPr>
        <p:spPr>
          <a:xfrm>
            <a:off x="1860" y="110479"/>
            <a:ext cx="4951140" cy="6324808"/>
          </a:xfrm>
          <a:prstGeom prst="rect">
            <a:avLst/>
          </a:prstGeom>
          <a:noFill/>
        </p:spPr>
        <p:txBody>
          <a:bodyPr wrap="square">
            <a:spAutoFit/>
          </a:bodyPr>
          <a:lstStyle/>
          <a:p>
            <a:r>
              <a:rPr lang="en-US" sz="900" dirty="0">
                <a:solidFill>
                  <a:srgbClr val="008000"/>
                </a:solidFill>
                <a:latin typeface="Consolas" panose="020B0609020204030204" pitchFamily="49" charset="0"/>
              </a:rPr>
              <a:t>/*In this example, departments were sorted by their number of headcounts in ascending order. The total of rows in the result set is 11.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Administration department has one headcount. The Human Resources and Public Relations also have the same headcount as Administration. As the result, there are three departments that have one headcount. The CUME_DIST() function will use the following formula to calculate the cumulative distribution values of the first row:</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3 / 11 = 0.27</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same logic is applied to the second and third rows.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Marketing department has two headcounts. The function will find other departments which have the number of headcounts less than or equal to 2. The result is 5. Therefore, the CUME_DIST() of the Marketing department is 5 / 11 = 0.45</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same logic is applied to the remaining rows*/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The DENSE_RANK()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DENSE_RANK()is a window function that assigns ranks to rows in partitions with no gaps in the ranking values.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two or more rows in each partition have the same values, they receive the same rank. The next row has the rank increased by one.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Different from the RANK() function, the DENSE_RANK() function always generates consecutive rank values.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syntax of the DENSE_RANK() function is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DENSE_RANK() OVER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PARTITION BY expr1[{,expr2...}]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 expr1 [ASC|DESC], [{,expr2...}]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the PARTITION BY clause divides the result set produced by the FROM clause into partitions.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Then, The ORDER BY specifies the order of rows in each partition.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Finally, the DENSE_RANK() function is applied to the rows in the specified order of each partition. It resets the rank when the partition boundary is crossed.*/</a:t>
            </a:r>
            <a:endParaRPr lang="en-US" dirty="0"/>
          </a:p>
        </p:txBody>
      </p:sp>
      <p:sp>
        <p:nvSpPr>
          <p:cNvPr id="5" name="TextBox 4">
            <a:extLst>
              <a:ext uri="{FF2B5EF4-FFF2-40B4-BE49-F238E27FC236}">
                <a16:creationId xmlns:a16="http://schemas.microsoft.com/office/drawing/2014/main" id="{8E8E6D35-4551-921A-27CC-E5B0657DB925}"/>
              </a:ext>
            </a:extLst>
          </p:cNvPr>
          <p:cNvSpPr txBox="1"/>
          <p:nvPr/>
        </p:nvSpPr>
        <p:spPr>
          <a:xfrm>
            <a:off x="5096108" y="110479"/>
            <a:ext cx="1918009" cy="4108817"/>
          </a:xfrm>
          <a:prstGeom prst="rect">
            <a:avLst/>
          </a:prstGeom>
          <a:noFill/>
        </p:spPr>
        <p:txBody>
          <a:bodyPr wrap="square">
            <a:spAutoFit/>
          </a:bodyPr>
          <a:lstStyle/>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col </a:t>
            </a:r>
            <a:r>
              <a:rPr lang="en-US" sz="900" dirty="0">
                <a:solidFill>
                  <a:srgbClr val="0000FF"/>
                </a:solidFill>
                <a:latin typeface="Consolas" panose="020B0609020204030204" pitchFamily="49" charset="0"/>
              </a:rPr>
              <a:t>CHAR</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truncate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t</a:t>
            </a: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col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'B'</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'B'</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'C'</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FF"/>
                </a:solidFill>
                <a:latin typeface="Consolas" panose="020B0609020204030204" pitchFamily="49" charset="0"/>
              </a:rPr>
              <a:t>FROM</a:t>
            </a:r>
            <a:r>
              <a:rPr lang="en-US" sz="900" dirty="0" err="1">
                <a:solidFill>
                  <a:srgbClr val="000000"/>
                </a:solidFill>
                <a:latin typeface="Consolas" panose="020B0609020204030204" pitchFamily="49" charset="0"/>
              </a:rPr>
              <a:t>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The following statement uses both DENSE_RANK() and RANK() functions to assign ranks to each row of the result set*/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col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DENSE_RANK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col</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my_dense_rank</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RANK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col</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my_rank</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t</a:t>
            </a:r>
            <a:r>
              <a:rPr lang="en-US" sz="900" dirty="0">
                <a:solidFill>
                  <a:srgbClr val="808080"/>
                </a:solidFill>
                <a:latin typeface="Consolas" panose="020B0609020204030204" pitchFamily="49" charset="0"/>
              </a:rPr>
              <a:t>;</a:t>
            </a:r>
            <a:endParaRPr lang="en-US" dirty="0"/>
          </a:p>
        </p:txBody>
      </p:sp>
      <p:sp>
        <p:nvSpPr>
          <p:cNvPr id="7" name="TextBox 6">
            <a:extLst>
              <a:ext uri="{FF2B5EF4-FFF2-40B4-BE49-F238E27FC236}">
                <a16:creationId xmlns:a16="http://schemas.microsoft.com/office/drawing/2014/main" id="{4E1AE707-689D-535B-6F8D-7978DA4D975B}"/>
              </a:ext>
            </a:extLst>
          </p:cNvPr>
          <p:cNvSpPr txBox="1"/>
          <p:nvPr/>
        </p:nvSpPr>
        <p:spPr>
          <a:xfrm>
            <a:off x="7014117" y="110479"/>
            <a:ext cx="2620537" cy="3554819"/>
          </a:xfrm>
          <a:prstGeom prst="rect">
            <a:avLst/>
          </a:prstGeom>
          <a:noFill/>
        </p:spPr>
        <p:txBody>
          <a:bodyPr wrap="square">
            <a:spAutoFit/>
          </a:bodyPr>
          <a:lstStyle/>
          <a:p>
            <a:r>
              <a:rPr lang="en-US" sz="900" dirty="0">
                <a:solidFill>
                  <a:srgbClr val="008000"/>
                </a:solidFill>
                <a:latin typeface="Consolas" panose="020B0609020204030204" pitchFamily="49" charset="0"/>
              </a:rPr>
              <a:t>--The following statement uses the DENSE_RANK() function to rank employees by their salaries: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b) In this example: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the PARTITION BY clause divided the employees by department names into partitions.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Then, the ORDER BY clause sorted the employees in each department (partition) by their salaries.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Finally, the DENSE_RANK() function was applied to each partition to assign the rank to rows based on the salary order.*/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DENSE_RANK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salary </a:t>
            </a:r>
            <a:r>
              <a:rPr lang="en-US" sz="900" dirty="0">
                <a:solidFill>
                  <a:srgbClr val="0000FF"/>
                </a:solidFill>
                <a:latin typeface="Consolas" panose="020B0609020204030204" pitchFamily="49" charset="0"/>
              </a:rPr>
              <a:t>DESC</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salary_rank</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employees</a:t>
            </a:r>
            <a:r>
              <a:rPr lang="en-US" sz="900" dirty="0">
                <a:solidFill>
                  <a:srgbClr val="808080"/>
                </a:solidFill>
                <a:latin typeface="Consolas" panose="020B0609020204030204" pitchFamily="49" charset="0"/>
              </a:rPr>
              <a:t>;</a:t>
            </a:r>
            <a:endParaRPr lang="en-US" dirty="0"/>
          </a:p>
        </p:txBody>
      </p:sp>
      <p:sp>
        <p:nvSpPr>
          <p:cNvPr id="9" name="TextBox 8">
            <a:extLst>
              <a:ext uri="{FF2B5EF4-FFF2-40B4-BE49-F238E27FC236}">
                <a16:creationId xmlns:a16="http://schemas.microsoft.com/office/drawing/2014/main" id="{08EC86F5-86ED-98DA-F85D-0681D1711336}"/>
              </a:ext>
            </a:extLst>
          </p:cNvPr>
          <p:cNvSpPr txBox="1"/>
          <p:nvPr/>
        </p:nvSpPr>
        <p:spPr>
          <a:xfrm>
            <a:off x="4953001" y="4219296"/>
            <a:ext cx="5373028" cy="2585323"/>
          </a:xfrm>
          <a:prstGeom prst="rect">
            <a:avLst/>
          </a:prstGeom>
          <a:noFill/>
        </p:spPr>
        <p:txBody>
          <a:bodyPr wrap="square">
            <a:spAutoFit/>
          </a:bodyPr>
          <a:lstStyle/>
          <a:p>
            <a:r>
              <a:rPr lang="en-US" sz="900" dirty="0">
                <a:solidFill>
                  <a:srgbClr val="008000"/>
                </a:solidFill>
                <a:latin typeface="Consolas" panose="020B0609020204030204" pitchFamily="49" charset="0"/>
              </a:rPr>
              <a:t>/* c) If you want to find only employees who have the highest salary in their departments, you just to use a subquery in the FROM clause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department_name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DENSE_RANK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PARTITION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department_name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salary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salary_rank</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employees e</a:t>
            </a: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departments d </a:t>
            </a: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t</a:t>
            </a: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salary_rank</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72648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404488-B053-7BA9-448B-C887DC0C376B}"/>
              </a:ext>
            </a:extLst>
          </p:cNvPr>
          <p:cNvSpPr txBox="1"/>
          <p:nvPr/>
        </p:nvSpPr>
        <p:spPr>
          <a:xfrm>
            <a:off x="1" y="58847"/>
            <a:ext cx="4953000" cy="6740307"/>
          </a:xfrm>
          <a:prstGeom prst="rect">
            <a:avLst/>
          </a:prstGeom>
          <a:noFill/>
        </p:spPr>
        <p:txBody>
          <a:bodyPr wrap="square">
            <a:spAutoFit/>
          </a:bodyPr>
          <a:lstStyle/>
          <a:p>
            <a:r>
              <a:rPr lang="en-US" sz="900" dirty="0">
                <a:solidFill>
                  <a:srgbClr val="008000"/>
                </a:solidFill>
                <a:latin typeface="Consolas" panose="020B0609020204030204" pitchFamily="49" charset="0"/>
              </a:rPr>
              <a:t>--FIRST_VALUE()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FIRST_VALUE() is a window function that returns the first value in an ordered set of values.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illustrates the syntax of the FIRST_VALUE()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FIRST_VALUE(expression) OVER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partition_clause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order_clause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frame_clause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expression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return value of the expression from the first row in a partition or result set.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OVER clause consists of three clauses: </a:t>
            </a:r>
            <a:r>
              <a:rPr lang="en-US" sz="900" dirty="0" err="1">
                <a:solidFill>
                  <a:srgbClr val="008000"/>
                </a:solidFill>
                <a:latin typeface="Consolas" panose="020B0609020204030204" pitchFamily="49" charset="0"/>
              </a:rPr>
              <a:t>partition_clause</a:t>
            </a:r>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order_clause</a:t>
            </a:r>
            <a:r>
              <a:rPr lang="en-US" sz="900" dirty="0">
                <a:solidFill>
                  <a:srgbClr val="008000"/>
                </a:solidFill>
                <a:latin typeface="Consolas" panose="020B0609020204030204" pitchFamily="49" charset="0"/>
              </a:rPr>
              <a:t>, and </a:t>
            </a:r>
            <a:r>
              <a:rPr lang="en-US" sz="900" dirty="0" err="1">
                <a:solidFill>
                  <a:srgbClr val="008000"/>
                </a:solidFill>
                <a:latin typeface="Consolas" panose="020B0609020204030204" pitchFamily="49" charset="0"/>
              </a:rPr>
              <a:t>frame_clause</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partition_clause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partition_clause</a:t>
            </a:r>
            <a:r>
              <a:rPr lang="en-US" sz="900" dirty="0">
                <a:solidFill>
                  <a:srgbClr val="008000"/>
                </a:solidFill>
                <a:latin typeface="Consolas" panose="020B0609020204030204" pitchFamily="49" charset="0"/>
              </a:rPr>
              <a:t> clause has the following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PARTITION BY expr1, expr2,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PARTITION BY clause divides the rows of the result sets into partitions to which the FIRST_VALUE() function applies. If you skip the PARTITION BY clause, the function treats the whole result set as a single partition.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order_clause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order_clause</a:t>
            </a:r>
            <a:r>
              <a:rPr lang="en-US" sz="900" dirty="0">
                <a:solidFill>
                  <a:srgbClr val="008000"/>
                </a:solidFill>
                <a:latin typeface="Consolas" panose="020B0609020204030204" pitchFamily="49" charset="0"/>
              </a:rPr>
              <a:t> clause sorts the rows in partitions to which the FIRST_VALUE() function applies. The ORDER BY clause has the following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 expr1 [ASC | DESC], expr2,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frame_clause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frame_clause</a:t>
            </a:r>
            <a:r>
              <a:rPr lang="en-US" sz="900" dirty="0">
                <a:solidFill>
                  <a:srgbClr val="008000"/>
                </a:solidFill>
                <a:latin typeface="Consolas" panose="020B0609020204030204" pitchFamily="49" charset="0"/>
              </a:rPr>
              <a:t> defines the subset (or frame) of the current partition. Check it out the window function tutorial for the detailed information of the frame clause.*/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finds the employee who has the lowest salary in the company: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the ORDER BY clause sorted the employees by salary and the FIRST_VALUE() selected the first name of the employee who has the lowest salary.*/</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F91D69F5-A36C-375F-E305-2BFC74AFCBAB}"/>
              </a:ext>
            </a:extLst>
          </p:cNvPr>
          <p:cNvSpPr txBox="1"/>
          <p:nvPr/>
        </p:nvSpPr>
        <p:spPr>
          <a:xfrm>
            <a:off x="4954860" y="58847"/>
            <a:ext cx="3029413" cy="1338828"/>
          </a:xfrm>
          <a:prstGeom prst="rect">
            <a:avLst/>
          </a:prstGeom>
          <a:noFill/>
        </p:spPr>
        <p:txBody>
          <a:bodyPr wrap="square">
            <a:spAutoFit/>
          </a:bodyPr>
          <a:lstStyle/>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FIRST_VALUE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salary</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lowest_salary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employees 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53B00F38-5F3B-6CF0-F877-DB2C9E2AC911}"/>
              </a:ext>
            </a:extLst>
          </p:cNvPr>
          <p:cNvSpPr txBox="1"/>
          <p:nvPr/>
        </p:nvSpPr>
        <p:spPr>
          <a:xfrm>
            <a:off x="4795025" y="1397675"/>
            <a:ext cx="4951140" cy="6186309"/>
          </a:xfrm>
          <a:prstGeom prst="rect">
            <a:avLst/>
          </a:prstGeom>
          <a:noFill/>
        </p:spPr>
        <p:txBody>
          <a:bodyPr wrap="square">
            <a:spAutoFit/>
          </a:bodyPr>
          <a:lstStyle/>
          <a:p>
            <a:r>
              <a:rPr lang="en-US" sz="900" dirty="0">
                <a:solidFill>
                  <a:srgbClr val="008000"/>
                </a:solidFill>
                <a:latin typeface="Consolas" panose="020B0609020204030204" pitchFamily="49" charset="0"/>
              </a:rPr>
              <a:t>----LAG()------</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LAG() is a window function that provides access to a row at a specified physical offset which comes before the current row.</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other words, by using the LAG() function, from the current row, you can access data of the previous row, or from the second row before the current row, or from the third row before current row, and so 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LAG() function can be very useful for calculating the difference between the current row and the previous row.</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illustrates the syntax of the LAG()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LAG(</a:t>
            </a:r>
            <a:r>
              <a:rPr lang="en-US" sz="900" dirty="0" err="1">
                <a:solidFill>
                  <a:srgbClr val="008000"/>
                </a:solidFill>
                <a:latin typeface="Consolas" panose="020B0609020204030204" pitchFamily="49" charset="0"/>
              </a:rPr>
              <a:t>return_value</a:t>
            </a:r>
            <a:r>
              <a:rPr lang="en-US" sz="900" dirty="0">
                <a:solidFill>
                  <a:srgbClr val="008000"/>
                </a:solidFill>
                <a:latin typeface="Consolas" panose="020B0609020204030204" pitchFamily="49" charset="0"/>
              </a:rPr>
              <a:t> [,offset[, </a:t>
            </a:r>
            <a:r>
              <a:rPr lang="en-US" sz="900" dirty="0" err="1">
                <a:solidFill>
                  <a:srgbClr val="008000"/>
                </a:solidFill>
                <a:latin typeface="Consolas" panose="020B0609020204030204" pitchFamily="49" charset="0"/>
              </a:rPr>
              <a:t>default_value</a:t>
            </a:r>
            <a:r>
              <a:rPr lang="en-US" sz="900" dirty="0">
                <a:solidFill>
                  <a:srgbClr val="008000"/>
                </a:solidFill>
                <a:latin typeface="Consolas" panose="020B0609020204030204" pitchFamily="49" charset="0"/>
              </a:rPr>
              <a:t> ]]) OVER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PARTITION BY expr1, expr2,...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 expr1 [ASC | DESC], expr2,...)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Let’s examine each element of the LAG() function in more detail.</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return_value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return value based on the specified offset. It can be a column of the row at a given offset from the current row.</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offset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number of rows back from the current row from which to access data. The offset must be a non-negative integer. It defaults to one if skipped.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default_value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the preceding row is not specified, </a:t>
            </a:r>
            <a:r>
              <a:rPr lang="en-US" sz="900" dirty="0" err="1">
                <a:solidFill>
                  <a:srgbClr val="008000"/>
                </a:solidFill>
                <a:latin typeface="Consolas" panose="020B0609020204030204" pitchFamily="49" charset="0"/>
              </a:rPr>
              <a:t>default_value</a:t>
            </a:r>
            <a:r>
              <a:rPr lang="en-US" sz="900" dirty="0">
                <a:solidFill>
                  <a:srgbClr val="008000"/>
                </a:solidFill>
                <a:latin typeface="Consolas" panose="020B0609020204030204" pitchFamily="49" charset="0"/>
              </a:rPr>
              <a:t> is returned. For example, when the offset is 2, the return value from the first row is </a:t>
            </a:r>
            <a:r>
              <a:rPr lang="en-US" sz="900" dirty="0" err="1">
                <a:solidFill>
                  <a:srgbClr val="008000"/>
                </a:solidFill>
                <a:latin typeface="Consolas" panose="020B0609020204030204" pitchFamily="49" charset="0"/>
              </a:rPr>
              <a:t>default_value</a:t>
            </a:r>
            <a:r>
              <a:rPr lang="en-US" sz="900" dirty="0">
                <a:solidFill>
                  <a:srgbClr val="008000"/>
                </a:solidFill>
                <a:latin typeface="Consolas" panose="020B0609020204030204" pitchFamily="49" charset="0"/>
              </a:rPr>
              <a:t>. If </a:t>
            </a:r>
            <a:r>
              <a:rPr lang="en-US" sz="900" dirty="0" err="1">
                <a:solidFill>
                  <a:srgbClr val="008000"/>
                </a:solidFill>
                <a:latin typeface="Consolas" panose="020B0609020204030204" pitchFamily="49" charset="0"/>
              </a:rPr>
              <a:t>default_value</a:t>
            </a:r>
            <a:r>
              <a:rPr lang="en-US" sz="900" dirty="0">
                <a:solidFill>
                  <a:srgbClr val="008000"/>
                </a:solidFill>
                <a:latin typeface="Consolas" panose="020B0609020204030204" pitchFamily="49" charset="0"/>
              </a:rPr>
              <a:t> is not given and no preceding row found, NULL is returned by default.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PARTITION BY 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PARTITION BY clause organizes rows into one or more partitions to which the LAG() function is applied. The whole result is treated as a single partition if you omit the PARTITION BY clause.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 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ORDER BY clause specifies the order of rows in each partition to which the LAG() function is applied.*/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LAG() function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We will create a new table named </a:t>
            </a:r>
            <a:r>
              <a:rPr lang="en-US" sz="900" dirty="0" err="1">
                <a:solidFill>
                  <a:srgbClr val="008000"/>
                </a:solidFill>
                <a:latin typeface="Consolas" panose="020B0609020204030204" pitchFamily="49" charset="0"/>
              </a:rPr>
              <a:t>basic_pays</a:t>
            </a:r>
            <a:r>
              <a:rPr lang="en-US" sz="900" dirty="0">
                <a:solidFill>
                  <a:srgbClr val="008000"/>
                </a:solidFill>
                <a:latin typeface="Consolas" panose="020B0609020204030204" pitchFamily="49" charset="0"/>
              </a:rPr>
              <a:t> that stores the salary history of employees:*/</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551614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64CC0DC-54BC-4C82-A8A7-D7635A1E1838}"/>
              </a:ext>
            </a:extLst>
          </p:cNvPr>
          <p:cNvSpPr txBox="1"/>
          <p:nvPr/>
        </p:nvSpPr>
        <p:spPr>
          <a:xfrm>
            <a:off x="89210" y="90321"/>
            <a:ext cx="4951140" cy="923330"/>
          </a:xfrm>
          <a:prstGeom prst="rect">
            <a:avLst/>
          </a:prstGeom>
          <a:noFill/>
        </p:spPr>
        <p:txBody>
          <a:bodyPr wrap="square">
            <a:spAutoFit/>
          </a:bodyPr>
          <a:lstStyle/>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employee_id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fiscal_year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salary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dirty="0"/>
          </a:p>
        </p:txBody>
      </p:sp>
      <p:sp>
        <p:nvSpPr>
          <p:cNvPr id="7" name="TextBox 6">
            <a:extLst>
              <a:ext uri="{FF2B5EF4-FFF2-40B4-BE49-F238E27FC236}">
                <a16:creationId xmlns:a16="http://schemas.microsoft.com/office/drawing/2014/main" id="{EEBEEA73-C4E9-7BFB-817B-F144B4D9F2FD}"/>
              </a:ext>
            </a:extLst>
          </p:cNvPr>
          <p:cNvSpPr txBox="1"/>
          <p:nvPr/>
        </p:nvSpPr>
        <p:spPr>
          <a:xfrm>
            <a:off x="2821258" y="170091"/>
            <a:ext cx="6300439" cy="7709803"/>
          </a:xfrm>
          <a:prstGeom prst="rect">
            <a:avLst/>
          </a:prstGeom>
          <a:noFill/>
        </p:spPr>
        <p:txBody>
          <a:bodyPr wrap="square">
            <a:spAutoFit/>
          </a:bodyPr>
          <a:lstStyle/>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24000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17000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17000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9000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4800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106</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4800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4200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12000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9000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8200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7700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7800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6900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3100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116</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2900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2800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2600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2500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121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8200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122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7900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123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6500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126</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2700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145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14000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146</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13500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176</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8600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177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8400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178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7000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179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6200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192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193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3900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4400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13000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6500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12000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206</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8300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25920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18190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18360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9720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6060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4992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106</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5040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4284</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12360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9540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8692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7931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8580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7107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11440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750804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105580-FA81-6C9F-83BB-6B495CE7DE91}"/>
              </a:ext>
            </a:extLst>
          </p:cNvPr>
          <p:cNvSpPr txBox="1"/>
          <p:nvPr/>
        </p:nvSpPr>
        <p:spPr>
          <a:xfrm>
            <a:off x="1860" y="0"/>
            <a:ext cx="4951140" cy="6878806"/>
          </a:xfrm>
          <a:prstGeom prst="rect">
            <a:avLst/>
          </a:prstGeom>
          <a:noFill/>
        </p:spPr>
        <p:txBody>
          <a:bodyPr wrap="square">
            <a:spAutoFit/>
          </a:bodyPr>
          <a:lstStyle/>
          <a:p>
            <a:r>
              <a:rPr lang="en-US" sz="900" dirty="0">
                <a:solidFill>
                  <a:srgbClr val="008000"/>
                </a:solidFill>
                <a:latin typeface="Consolas" panose="020B0609020204030204" pitchFamily="49" charset="0"/>
              </a:rPr>
              <a:t>--The following statement returns both the current and previous year’s salary of all employees: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fiscal_year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LAG</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PARTITION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employee_id</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fiscal_year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previous_salary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basic_pays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the PARTITION BY clause divided the result set into groups by employee ID.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 for each group, the ORDER BY clause sorted the rows by fiscal year in ascending order.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Third, LAG() function applied to the row of each group independently. The first row in each group was NULL because there was no previous year’s salary. The second and third row </a:t>
            </a:r>
            <a:r>
              <a:rPr lang="en-US" sz="900" dirty="0" err="1">
                <a:solidFill>
                  <a:srgbClr val="008000"/>
                </a:solidFill>
                <a:latin typeface="Consolas" panose="020B0609020204030204" pitchFamily="49" charset="0"/>
              </a:rPr>
              <a:t>gots</a:t>
            </a:r>
            <a:r>
              <a:rPr lang="en-US" sz="900" dirty="0">
                <a:solidFill>
                  <a:srgbClr val="008000"/>
                </a:solidFill>
                <a:latin typeface="Consolas" panose="020B0609020204030204" pitchFamily="49" charset="0"/>
              </a:rPr>
              <a:t> the salary from the first and second row and populated them into the </a:t>
            </a:r>
            <a:r>
              <a:rPr lang="en-US" sz="900" dirty="0" err="1">
                <a:solidFill>
                  <a:srgbClr val="008000"/>
                </a:solidFill>
                <a:latin typeface="Consolas" panose="020B0609020204030204" pitchFamily="49" charset="0"/>
              </a:rPr>
              <a:t>previous_salary</a:t>
            </a:r>
            <a:r>
              <a:rPr lang="en-US" sz="900" dirty="0">
                <a:solidFill>
                  <a:srgbClr val="008000"/>
                </a:solidFill>
                <a:latin typeface="Consolas" panose="020B0609020204030204" pitchFamily="49" charset="0"/>
              </a:rPr>
              <a:t> column.*/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LAST_VALUE() is a window function that returns the last value in an ordered set of values.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illustrates the syntax of the LAST_VALUE() function: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LAST_VALUE(expression) OVER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partition_clause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order_clause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frame_clause</a:t>
            </a:r>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expression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returned value of the function which can be a column or an expression that results in a single value.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OVER clause consists of three clauses: </a:t>
            </a:r>
            <a:r>
              <a:rPr lang="en-US" sz="900" dirty="0" err="1">
                <a:solidFill>
                  <a:srgbClr val="008000"/>
                </a:solidFill>
                <a:latin typeface="Consolas" panose="020B0609020204030204" pitchFamily="49" charset="0"/>
              </a:rPr>
              <a:t>partition_clause</a:t>
            </a:r>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order_clause</a:t>
            </a:r>
            <a:r>
              <a:rPr lang="en-US" sz="900" dirty="0">
                <a:solidFill>
                  <a:srgbClr val="008000"/>
                </a:solidFill>
                <a:latin typeface="Consolas" panose="020B0609020204030204" pitchFamily="49" charset="0"/>
              </a:rPr>
              <a:t>, and </a:t>
            </a:r>
            <a:r>
              <a:rPr lang="en-US" sz="900" dirty="0" err="1">
                <a:solidFill>
                  <a:srgbClr val="008000"/>
                </a:solidFill>
                <a:latin typeface="Consolas" panose="020B0609020204030204" pitchFamily="49" charset="0"/>
              </a:rPr>
              <a:t>frame_clause</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partition_clause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syntax of the </a:t>
            </a:r>
            <a:r>
              <a:rPr lang="en-US" sz="900" dirty="0" err="1">
                <a:solidFill>
                  <a:srgbClr val="008000"/>
                </a:solidFill>
                <a:latin typeface="Consolas" panose="020B0609020204030204" pitchFamily="49" charset="0"/>
              </a:rPr>
              <a:t>partition_clause</a:t>
            </a:r>
            <a:r>
              <a:rPr lang="en-US" sz="900" dirty="0">
                <a:solidFill>
                  <a:srgbClr val="008000"/>
                </a:solidFill>
                <a:latin typeface="Consolas" panose="020B0609020204030204" pitchFamily="49" charset="0"/>
              </a:rPr>
              <a:t> clause is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PARTITION BY expr1, expr2,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PARTITION BY clause divides the rows of the result sets into partitions to which the LAST_VALUE() function applies. Because the PARTITION BY clause is optional, if you omit it, the function treats the whole result set as a single partition.</a:t>
            </a:r>
            <a:endParaRPr lang="en-US" dirty="0"/>
          </a:p>
        </p:txBody>
      </p:sp>
      <p:sp>
        <p:nvSpPr>
          <p:cNvPr id="5" name="TextBox 4">
            <a:extLst>
              <a:ext uri="{FF2B5EF4-FFF2-40B4-BE49-F238E27FC236}">
                <a16:creationId xmlns:a16="http://schemas.microsoft.com/office/drawing/2014/main" id="{945E7EA6-9C79-224F-978B-A81EDAF3769E}"/>
              </a:ext>
            </a:extLst>
          </p:cNvPr>
          <p:cNvSpPr txBox="1"/>
          <p:nvPr/>
        </p:nvSpPr>
        <p:spPr>
          <a:xfrm>
            <a:off x="4953000" y="373324"/>
            <a:ext cx="4951140" cy="3970318"/>
          </a:xfrm>
          <a:prstGeom prst="rect">
            <a:avLst/>
          </a:prstGeom>
          <a:noFill/>
        </p:spPr>
        <p:txBody>
          <a:bodyPr wrap="square">
            <a:spAutoFit/>
          </a:bodyPr>
          <a:lstStyle/>
          <a:p>
            <a:r>
              <a:rPr lang="en-US" sz="900" dirty="0" err="1">
                <a:solidFill>
                  <a:srgbClr val="008000"/>
                </a:solidFill>
                <a:latin typeface="Consolas" panose="020B0609020204030204" pitchFamily="49" charset="0"/>
              </a:rPr>
              <a:t>order_clause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order_clause</a:t>
            </a:r>
            <a:r>
              <a:rPr lang="en-US" sz="900" dirty="0">
                <a:solidFill>
                  <a:srgbClr val="008000"/>
                </a:solidFill>
                <a:latin typeface="Consolas" panose="020B0609020204030204" pitchFamily="49" charset="0"/>
              </a:rPr>
              <a:t> clause specified the order of rows in partitions to which the LAST_VALUE() function applies. The syntax of the ORDER BY clause is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 expr1 [ASC | DESC], expr2,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frame_clause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frame_clause</a:t>
            </a:r>
            <a:r>
              <a:rPr lang="en-US" sz="900" dirty="0">
                <a:solidFill>
                  <a:srgbClr val="008000"/>
                </a:solidFill>
                <a:latin typeface="Consolas" panose="020B0609020204030204" pitchFamily="49" charset="0"/>
              </a:rPr>
              <a:t> defines the subset (or frame) of the partition being evaluated.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finds employees who have the highest salary in the company: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the ORDER BY clause sorted employees by salary and the LAST_VALUE() selected the first name of the employee who has the lowest salary.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LAST_VALUE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salary</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RANGE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BETWEEN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UNBOUNDED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PRECEDING</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UNBOUNDED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FOLLOWING</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highest_salary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employees</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413011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EB93D3-0158-90E9-9066-A9D2AA1D0F71}"/>
              </a:ext>
            </a:extLst>
          </p:cNvPr>
          <p:cNvSpPr txBox="1"/>
          <p:nvPr/>
        </p:nvSpPr>
        <p:spPr>
          <a:xfrm>
            <a:off x="1860" y="365737"/>
            <a:ext cx="4951140" cy="5078313"/>
          </a:xfrm>
          <a:prstGeom prst="rect">
            <a:avLst/>
          </a:prstGeom>
          <a:noFill/>
        </p:spPr>
        <p:txBody>
          <a:bodyPr wrap="square">
            <a:spAutoFit/>
          </a:bodyPr>
          <a:lstStyle/>
          <a:p>
            <a:r>
              <a:rPr lang="en-US" sz="900" dirty="0">
                <a:solidFill>
                  <a:srgbClr val="008000"/>
                </a:solidFill>
                <a:latin typeface="Consolas" panose="020B0609020204030204" pitchFamily="49" charset="0"/>
              </a:rPr>
              <a:t>-- LEAD()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LEAD() is a window function that provides access to a row at a specified physical offset which follows the current row.</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For example, by using the LEAD() function, from the current row, you can access data of the next row, or the second row that follows the current row, or the third row that follows the current row, and so 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LEAD() function can be very useful for calculating the difference between the value of the current row and the value of the following row.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syntax of the LEAD() function is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LEAD(</a:t>
            </a:r>
            <a:r>
              <a:rPr lang="en-US" sz="900" dirty="0" err="1">
                <a:solidFill>
                  <a:srgbClr val="008000"/>
                </a:solidFill>
                <a:latin typeface="Consolas" panose="020B0609020204030204" pitchFamily="49" charset="0"/>
              </a:rPr>
              <a:t>return_value</a:t>
            </a:r>
            <a:r>
              <a:rPr lang="en-US" sz="900" dirty="0">
                <a:solidFill>
                  <a:srgbClr val="008000"/>
                </a:solidFill>
                <a:latin typeface="Consolas" panose="020B0609020204030204" pitchFamily="49" charset="0"/>
              </a:rPr>
              <a:t> [,offset[, default ]]) OVER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PARTITION BY expr1, expr2,...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 expr1 [ASC | DESC], expr2,...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return_value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return value of the following row offsetting from the current row.</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offset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number of rows forwards from the current row from which to access data. The offset must be a non-negative integer. If you don’t specify offset, it defaults to 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default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function returns default if the offset goes beyond the scope of the partition. If you do not specify default, NULL is returned.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PARTITION BY 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PARTITION BY clause divides rows of the result set into partitions to which the LEAD() function applies. If you do not specify the PARTITION BY clause, the whole result set is treated as a single partition.</a:t>
            </a:r>
            <a:endParaRPr lang="en-US" dirty="0"/>
          </a:p>
        </p:txBody>
      </p:sp>
      <p:sp>
        <p:nvSpPr>
          <p:cNvPr id="5" name="TextBox 4">
            <a:extLst>
              <a:ext uri="{FF2B5EF4-FFF2-40B4-BE49-F238E27FC236}">
                <a16:creationId xmlns:a16="http://schemas.microsoft.com/office/drawing/2014/main" id="{CDF90C25-2339-C28B-DF01-9DD1E9BCF3C5}"/>
              </a:ext>
            </a:extLst>
          </p:cNvPr>
          <p:cNvSpPr txBox="1"/>
          <p:nvPr/>
        </p:nvSpPr>
        <p:spPr>
          <a:xfrm>
            <a:off x="4953000" y="1781842"/>
            <a:ext cx="4951140" cy="2446824"/>
          </a:xfrm>
          <a:prstGeom prst="rect">
            <a:avLst/>
          </a:prstGeom>
          <a:noFill/>
        </p:spPr>
        <p:txBody>
          <a:bodyPr wrap="square">
            <a:spAutoFit/>
          </a:bodyPr>
          <a:lstStyle/>
          <a:p>
            <a:r>
              <a:rPr lang="en-US" sz="900" dirty="0">
                <a:solidFill>
                  <a:srgbClr val="008000"/>
                </a:solidFill>
                <a:latin typeface="Consolas" panose="020B0609020204030204" pitchFamily="49" charset="0"/>
              </a:rPr>
              <a:t>ORDER BY clause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ORDER BY clause sorts the rows in each partition to which the LEAD() function applies.*/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we omitted the PARTITION BY clause, therefore, the whole result was treated as a single partition. The ORDER BY clause sorted employees by hire dates in ascending order. The LEAD() function applied to each row in the result set.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hire_date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LEAD</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hire_date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hire_date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next_hired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employees</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1523195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80A1ED-A6A6-34B7-5786-7AE7BE88D360}"/>
              </a:ext>
            </a:extLst>
          </p:cNvPr>
          <p:cNvSpPr txBox="1"/>
          <p:nvPr/>
        </p:nvSpPr>
        <p:spPr>
          <a:xfrm>
            <a:off x="1860" y="91640"/>
            <a:ext cx="4951140" cy="4801314"/>
          </a:xfrm>
          <a:prstGeom prst="rect">
            <a:avLst/>
          </a:prstGeom>
          <a:noFill/>
        </p:spPr>
        <p:txBody>
          <a:bodyPr wrap="square">
            <a:spAutoFit/>
          </a:bodyPr>
          <a:lstStyle/>
          <a:p>
            <a:r>
              <a:rPr lang="en-US" sz="900" dirty="0">
                <a:solidFill>
                  <a:srgbClr val="008000"/>
                </a:solidFill>
                <a:latin typeface="Consolas" panose="020B0609020204030204" pitchFamily="49" charset="0"/>
              </a:rPr>
              <a:t>---NTILE()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SQL NTILE() is a window function that allows you to break the result set into a specified number of approximately equal groups, or buckets. It assigns each group a bucket number starting from one. For each row in a group, the NTILE() function assigns a bucket number representing the group to which the row belongs.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syntax of the NTILE() function is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NTILE(buckets) OVER (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PARTITION BY expr1, expr2,...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 expr1 [ASC|DESC], expr2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Let’s examine the syntax in detail: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buckets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number of buckets, which is a literal positive integer number or an expression that evaluates to a positive integer number.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PARTITION BY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PARITITION BY clause divides the result set returned from the FROM clause into partitions to which the NTILE() function is applied.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ORDER BY clause specifies the order of rows in each partition to which the NTILE() is applied.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Notice that if the number of rows is not divisible by buckets, the NTILE() function results in groups of two sizes with the difference by one. The larger groups always come before the smaller group in the order specified by the ORDER BY clause.*/</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4D651124-06FC-C654-EDD7-EB825CECF869}"/>
              </a:ext>
            </a:extLst>
          </p:cNvPr>
          <p:cNvSpPr txBox="1"/>
          <p:nvPr/>
        </p:nvSpPr>
        <p:spPr>
          <a:xfrm>
            <a:off x="5140712" y="566460"/>
            <a:ext cx="4237462" cy="5078313"/>
          </a:xfrm>
          <a:prstGeom prst="rect">
            <a:avLst/>
          </a:prstGeom>
          <a:noFill/>
        </p:spPr>
        <p:txBody>
          <a:bodyPr wrap="square">
            <a:spAutoFit/>
          </a:bodyPr>
          <a:lstStyle/>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t1</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col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col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6</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col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t1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If you use the NTILE() function to divide ten rows into three groups, you will have the first group with four rows and other two groups with three rows.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col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NTILE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col</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buckets</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t1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uses the NTILE() function to divide the employees into five buckets based on their salaries: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NTILE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salary </a:t>
            </a:r>
            <a:r>
              <a:rPr lang="en-US" sz="900" dirty="0">
                <a:solidFill>
                  <a:srgbClr val="0000FF"/>
                </a:solidFill>
                <a:latin typeface="Consolas" panose="020B0609020204030204" pitchFamily="49" charset="0"/>
              </a:rPr>
              <a:t>DESC</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salary_group</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employees</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395858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4E377A0-3996-4429-15BF-A2082E468D9E}"/>
              </a:ext>
            </a:extLst>
          </p:cNvPr>
          <p:cNvSpPr txBox="1"/>
          <p:nvPr/>
        </p:nvSpPr>
        <p:spPr>
          <a:xfrm>
            <a:off x="1860" y="0"/>
            <a:ext cx="4951140" cy="4801314"/>
          </a:xfrm>
          <a:prstGeom prst="rect">
            <a:avLst/>
          </a:prstGeom>
          <a:noFill/>
        </p:spPr>
        <p:txBody>
          <a:bodyPr wrap="square">
            <a:spAutoFit/>
          </a:bodyPr>
          <a:lstStyle/>
          <a:p>
            <a:r>
              <a:rPr lang="en-US" sz="900" dirty="0">
                <a:solidFill>
                  <a:srgbClr val="008000"/>
                </a:solidFill>
                <a:latin typeface="Consolas" panose="020B0609020204030204" pitchFamily="49" charset="0"/>
              </a:rPr>
              <a:t>--PERCENT_RANK()--</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PERCENT_RANK() is a window function that calculates the percentile ranking of rows in a result set.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syntax of the PERCENT_RANK() function is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PERCENT_RANK()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OVER (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PARTITION BY expr1, expr2,...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ORDER BY expr1 [ASC|DESC], expr2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PERCENT_RANK() function returns a percentile ranking number which ranges from zero to one.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For a specific row, PERCENT_RANK() uses the following formula to calculate the percentile rank:</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(rank - 1) / (</a:t>
            </a:r>
            <a:r>
              <a:rPr lang="en-US" sz="900" dirty="0" err="1">
                <a:solidFill>
                  <a:srgbClr val="008000"/>
                </a:solidFill>
                <a:latin typeface="Consolas" panose="020B0609020204030204" pitchFamily="49" charset="0"/>
              </a:rPr>
              <a:t>total_rows</a:t>
            </a:r>
            <a:r>
              <a:rPr lang="en-US" sz="900" dirty="0">
                <a:solidFill>
                  <a:srgbClr val="008000"/>
                </a:solidFill>
                <a:latin typeface="Consolas" panose="020B0609020204030204" pitchFamily="49" charset="0"/>
              </a:rPr>
              <a:t> - 1)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formula, rank is the rank of the row. </a:t>
            </a:r>
            <a:r>
              <a:rPr lang="en-US" sz="900" dirty="0" err="1">
                <a:solidFill>
                  <a:srgbClr val="008000"/>
                </a:solidFill>
                <a:latin typeface="Consolas" panose="020B0609020204030204" pitchFamily="49" charset="0"/>
              </a:rPr>
              <a:t>total_rows</a:t>
            </a:r>
            <a:r>
              <a:rPr lang="en-US" sz="900" dirty="0">
                <a:solidFill>
                  <a:srgbClr val="008000"/>
                </a:solidFill>
                <a:latin typeface="Consolas" panose="020B0609020204030204" pitchFamily="49" charset="0"/>
              </a:rPr>
              <a:t> is the number of rows that are being evaluated.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Based on this formula, the PERCENT_RANK() function always returns zero for the first row the result set.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PARTITION BY clause divides the rows into partitions and the ORDER BY clause specifies the logical order of rows for each partition. The PERCENT_RANK() function is calculated for each ordered partition independently.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PARTITION BY clause is optional. If you omit the PARTITION BY clause, the function treats the whole result set as a single partition. */</a:t>
            </a:r>
            <a:endParaRPr lang="en-US" dirty="0"/>
          </a:p>
        </p:txBody>
      </p:sp>
      <p:sp>
        <p:nvSpPr>
          <p:cNvPr id="5" name="TextBox 4">
            <a:extLst>
              <a:ext uri="{FF2B5EF4-FFF2-40B4-BE49-F238E27FC236}">
                <a16:creationId xmlns:a16="http://schemas.microsoft.com/office/drawing/2014/main" id="{CA638506-00A4-40D5-64CD-BFDCFBF17346}"/>
              </a:ext>
            </a:extLst>
          </p:cNvPr>
          <p:cNvSpPr txBox="1"/>
          <p:nvPr/>
        </p:nvSpPr>
        <p:spPr>
          <a:xfrm>
            <a:off x="5765181" y="1447305"/>
            <a:ext cx="3423424" cy="2585323"/>
          </a:xfrm>
          <a:prstGeom prst="rect">
            <a:avLst/>
          </a:prstGeom>
          <a:noFill/>
        </p:spPr>
        <p:txBody>
          <a:bodyPr wrap="square">
            <a:spAutoFit/>
          </a:bodyPr>
          <a:lstStyle/>
          <a:p>
            <a:r>
              <a:rPr lang="en-US" sz="900" dirty="0">
                <a:solidFill>
                  <a:srgbClr val="008000"/>
                </a:solidFill>
                <a:latin typeface="Consolas" panose="020B0609020204030204" pitchFamily="49" charset="0"/>
              </a:rPr>
              <a:t>--The following query finds the percentile ranks of employees by their salaries: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we omitted the PARTITION BY clause so the function treated the whole employees in the result set as a single partition. Notice that we used the ROUND() function to round the percentile rankings to two decimal places.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ROUND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PERCENT_RANK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salary</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percentile_rank</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employees</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313393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7A1691-CDAF-9C23-93D5-DC6C2B931BAE}"/>
              </a:ext>
            </a:extLst>
          </p:cNvPr>
          <p:cNvSpPr txBox="1"/>
          <p:nvPr/>
        </p:nvSpPr>
        <p:spPr>
          <a:xfrm>
            <a:off x="189571" y="173262"/>
            <a:ext cx="4951140" cy="5909310"/>
          </a:xfrm>
          <a:prstGeom prst="rect">
            <a:avLst/>
          </a:prstGeom>
          <a:noFill/>
        </p:spPr>
        <p:txBody>
          <a:bodyPr wrap="square">
            <a:spAutoFit/>
          </a:bodyPr>
          <a:lstStyle/>
          <a:p>
            <a:r>
              <a:rPr lang="en-US" sz="900" dirty="0">
                <a:solidFill>
                  <a:srgbClr val="008000"/>
                </a:solidFill>
                <a:latin typeface="Consolas" panose="020B0609020204030204" pitchFamily="49" charset="0"/>
              </a:rPr>
              <a:t>----RANK()-----</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he RANK() function is a window function that assigns a rank to each row in the partition of a result set.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rank of a row is determined by one plus the number of ranks that come before it.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syntax of the RANK() function is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RANK() OVER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PARTITION BY &lt;expr1&gt;[{,&lt;expr2&gt;...}]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 &lt;expr1&gt; [ASC|DESC], [{,&lt;expr2&gt;...}]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Code language: SQL (Structured Query Language) (</a:t>
            </a:r>
            <a:r>
              <a:rPr lang="en-US" sz="900" dirty="0" err="1">
                <a:solidFill>
                  <a:srgbClr val="008000"/>
                </a:solidFill>
                <a:latin typeface="Consolas" panose="020B0609020204030204" pitchFamily="49" charset="0"/>
              </a:rPr>
              <a:t>sql</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the PARTITION BY clause distributes the rows in the result set into partitions by one or more criteria.</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 the ORDER BY clause sorts the rows in each a partition.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RANK() function is operated on the rows of each partition and re-initialized when crossing each partition boundary.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same column values receive the same ranks. When multiple rows share the same rank, the rank of the next row is not consecutive. This is similar to Olympic medaling in that if two athletes share the gold medal, there is no silver medal.</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c1</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col </a:t>
            </a:r>
            <a:r>
              <a:rPr lang="en-US" sz="900" dirty="0">
                <a:solidFill>
                  <a:srgbClr val="0000FF"/>
                </a:solidFill>
                <a:latin typeface="Consolas" panose="020B0609020204030204" pitchFamily="49" charset="0"/>
              </a:rPr>
              <a:t>CHAR</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col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'B'</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'B'</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'C'</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c1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CFAE33E6-BF2F-E8EF-00E5-FCD4EB7D8C8A}"/>
              </a:ext>
            </a:extLst>
          </p:cNvPr>
          <p:cNvSpPr txBox="1"/>
          <p:nvPr/>
        </p:nvSpPr>
        <p:spPr>
          <a:xfrm>
            <a:off x="5412059" y="1111086"/>
            <a:ext cx="4304370" cy="4801314"/>
          </a:xfrm>
          <a:prstGeom prst="rect">
            <a:avLst/>
          </a:prstGeom>
          <a:noFill/>
        </p:spPr>
        <p:txBody>
          <a:bodyPr wrap="square">
            <a:spAutoFit/>
          </a:bodyPr>
          <a:lstStyle/>
          <a:p>
            <a:r>
              <a:rPr lang="en-US" sz="900" dirty="0">
                <a:solidFill>
                  <a:srgbClr val="008000"/>
                </a:solidFill>
                <a:latin typeface="Consolas" panose="020B0609020204030204" pitchFamily="49" charset="0"/>
              </a:rPr>
              <a:t>--The following statement uses the RANK() function to assign ranks to the rows of the result set: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--As clearly shown in the output, the second and third rows share the same rank because they have the same value. The fourth row gets the rank 4 because the RANK() function skips the rank 3.</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--Note that if you want to have consecutive ranks, you can use the DENSE_RANK()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col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RANK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col</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myrank</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c1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ranks employees by their salaries: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we omitted the PARTITION BY clause so the whole result set was treated as a single partition.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ORDER BY clause sorted the rows in the result by salary. The RANK() function then is applied to each row in the result considering the order of employees by salary in descending order.*/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RANK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salary_rank</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employees</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848079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629D47-C382-47CD-3C41-75119F841C53}"/>
              </a:ext>
            </a:extLst>
          </p:cNvPr>
          <p:cNvSpPr txBox="1"/>
          <p:nvPr/>
        </p:nvSpPr>
        <p:spPr>
          <a:xfrm>
            <a:off x="133815" y="193783"/>
            <a:ext cx="4951140" cy="5355312"/>
          </a:xfrm>
          <a:prstGeom prst="rect">
            <a:avLst/>
          </a:prstGeom>
          <a:noFill/>
        </p:spPr>
        <p:txBody>
          <a:bodyPr wrap="square">
            <a:spAutoFit/>
          </a:bodyPr>
          <a:lstStyle/>
          <a:p>
            <a:r>
              <a:rPr lang="en-US" sz="900" dirty="0">
                <a:solidFill>
                  <a:srgbClr val="008000"/>
                </a:solidFill>
                <a:latin typeface="Consolas" panose="020B0609020204030204" pitchFamily="49" charset="0"/>
              </a:rPr>
              <a:t>-----ROW_NUMBER-----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/*he ROW_NUMBER() is a window function that assigns a sequential integer number to each row in the query’s result set.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illustrates the syntax of the ROW_NUMBER()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ROW_NUMBER() OVER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[PARTITION BY expr1, expr2,...]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ORDER BY expr1 [ASC | DESC], expr2,...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Code language: SQL (Structured Query Language) (</a:t>
            </a:r>
            <a:r>
              <a:rPr lang="en-US" sz="900" dirty="0" err="1">
                <a:solidFill>
                  <a:srgbClr val="008000"/>
                </a:solidFill>
                <a:latin typeface="Consolas" panose="020B0609020204030204" pitchFamily="49" charset="0"/>
              </a:rPr>
              <a:t>sql</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the PARTITION BY clause divides the result set returned from the FROM clause into partitions. The PARTITION BY clause is optional. If you omit it, the whole result set is treated as a single partition.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Then, the ORDER BY clause sorts the rows in each partition. Because the ROW_NUMBER() is an order sensitive function, the ORDER BY clause is required.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Finally, each row in each partition is assigned a sequential integer number called a row number. The row number is reset whenever the partition boundary is crossed.*/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 The following statement finds the first name, last name, and salary of all employees. In addition, it uses the ROW_NUMBER() function to add sequential integer number to each row.</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ROW_NUMBER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salary</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row_num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salary</a:t>
            </a: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employees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EE603C6D-B2BE-04E1-858F-D14495875CDE}"/>
              </a:ext>
            </a:extLst>
          </p:cNvPr>
          <p:cNvSpPr txBox="1"/>
          <p:nvPr/>
        </p:nvSpPr>
        <p:spPr>
          <a:xfrm>
            <a:off x="4953000" y="193783"/>
            <a:ext cx="4951140" cy="5632311"/>
          </a:xfrm>
          <a:prstGeom prst="rect">
            <a:avLst/>
          </a:prstGeom>
          <a:noFill/>
        </p:spPr>
        <p:txBody>
          <a:bodyPr wrap="square">
            <a:spAutoFit/>
          </a:bodyPr>
          <a:lstStyle/>
          <a:p>
            <a:r>
              <a:rPr lang="en-US" sz="900" dirty="0">
                <a:solidFill>
                  <a:srgbClr val="008000"/>
                </a:solidFill>
                <a:latin typeface="Consolas" panose="020B0609020204030204" pitchFamily="49" charset="0"/>
              </a:rPr>
              <a:t>--b) Using SQL ROW_NUMBER() for finding nth highest value per group</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shows you how to find the employees whose have the highest salary in their departments: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the subquery: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the PARTITION BY clause distributes the employees by departments.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 the ORDER BY clause sorts the employee in each department by salary in the descending order.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Third, the ROW_NUMBER() assigns each row a sequential integer number. It resets the number when the department changes.*/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the outer query, we selected only the employee rows which have the </a:t>
            </a:r>
            <a:r>
              <a:rPr lang="en-US" sz="900" dirty="0" err="1">
                <a:solidFill>
                  <a:srgbClr val="008000"/>
                </a:solidFill>
                <a:latin typeface="Consolas" panose="020B0609020204030204" pitchFamily="49" charset="0"/>
              </a:rPr>
              <a:t>row_num</a:t>
            </a:r>
            <a:r>
              <a:rPr lang="en-US" sz="900" dirty="0">
                <a:solidFill>
                  <a:srgbClr val="008000"/>
                </a:solidFill>
                <a:latin typeface="Consolas" panose="020B0609020204030204" pitchFamily="49" charset="0"/>
              </a:rPr>
              <a:t> with the value 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you change the predicate in the WHERE clause from 1 to 2, 3, and so on, you will get the employees who have the second highest salary, third highest salary, and so 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department_name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salary</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department_name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ROW_NUMBER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OVER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PARTITION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department_name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salary </a:t>
            </a:r>
            <a:r>
              <a:rPr lang="en-US" sz="900" dirty="0">
                <a:solidFill>
                  <a:srgbClr val="0000FF"/>
                </a:solidFill>
                <a:latin typeface="Consolas" panose="020B0609020204030204" pitchFamily="49" charset="0"/>
              </a:rPr>
              <a:t>DESC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row_num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salary</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employees e</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departments d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t</a:t>
            </a: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row_num</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366702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8BAED5-FC79-544F-8C3B-224459C64325}"/>
              </a:ext>
            </a:extLst>
          </p:cNvPr>
          <p:cNvSpPr txBox="1"/>
          <p:nvPr/>
        </p:nvSpPr>
        <p:spPr>
          <a:xfrm>
            <a:off x="252761" y="146936"/>
            <a:ext cx="9400478" cy="6740307"/>
          </a:xfrm>
          <a:prstGeom prst="rect">
            <a:avLst/>
          </a:prstGeom>
          <a:noFill/>
        </p:spPr>
        <p:txBody>
          <a:bodyPr wrap="square">
            <a:spAutoFit/>
          </a:bodyPr>
          <a:lstStyle/>
          <a:p>
            <a:r>
              <a:rPr lang="en-US" sz="900" dirty="0">
                <a:solidFill>
                  <a:srgbClr val="008000"/>
                </a:solidFill>
                <a:latin typeface="Consolas" panose="020B0609020204030204" pitchFamily="49" charset="0"/>
              </a:rPr>
              <a:t>----USER DEFINED FUNCTIONS-----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scalar function returns a single value each time it is invoked, and is generally valid wherever an SQL expression is valid. A table </a:t>
            </a:r>
            <a:r>
              <a:rPr lang="en-US" sz="900" dirty="0" err="1">
                <a:solidFill>
                  <a:srgbClr val="008000"/>
                </a:solidFill>
                <a:latin typeface="Consolas" panose="020B0609020204030204" pitchFamily="49" charset="0"/>
              </a:rPr>
              <a:t>functioncan</a:t>
            </a:r>
            <a:r>
              <a:rPr lang="en-US" sz="900" dirty="0">
                <a:solidFill>
                  <a:srgbClr val="008000"/>
                </a:solidFill>
                <a:latin typeface="Consolas" panose="020B0609020204030204" pitchFamily="49" charset="0"/>
              </a:rPr>
              <a:t> be used in a FROM clause and returns a table. A row function can be used as a transform function and returns a row.</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-----SCALAR VALUED FUNCTION-----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simple example, we will show you how to create the Sum Scalar functions without any parameters.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From the below aggregate query, you can observe that we are summing the Yearly Income of the </a:t>
            </a:r>
            <a:r>
              <a:rPr lang="en-US" sz="900" dirty="0" err="1">
                <a:solidFill>
                  <a:srgbClr val="008000"/>
                </a:solidFill>
                <a:latin typeface="Consolas" panose="020B0609020204030204" pitchFamily="49" charset="0"/>
              </a:rPr>
              <a:t>MyEmployee</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FUNCTION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NoParameters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RETURNS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RETURN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dbo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NoParameters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[Total Income]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a:t>
            </a: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we will show you, How to create a Scalar function with parameters. From the below query, you can observe that we are </a:t>
            </a:r>
            <a:r>
              <a:rPr lang="en-US" sz="900" dirty="0" err="1">
                <a:solidFill>
                  <a:srgbClr val="008000"/>
                </a:solidFill>
                <a:latin typeface="Consolas" panose="020B0609020204030204" pitchFamily="49" charset="0"/>
              </a:rPr>
              <a:t>concatinating</a:t>
            </a:r>
            <a:r>
              <a:rPr lang="en-US" sz="900" dirty="0">
                <a:solidFill>
                  <a:srgbClr val="008000"/>
                </a:solidFill>
                <a:latin typeface="Consolas" panose="020B0609020204030204" pitchFamily="49" charset="0"/>
              </a:rPr>
              <a:t> First name and Last Name.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NOTE: We are using the SPACE to provide the space between the First name and last name.*/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Scalar with parameters example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FUNCTION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fullName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@firstName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@lastName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RETURNS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RETURN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@firstName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SPACE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@lastName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Passing Parameters to </a:t>
            </a:r>
            <a:r>
              <a:rPr lang="en-US" sz="900" dirty="0" err="1">
                <a:solidFill>
                  <a:srgbClr val="008000"/>
                </a:solidFill>
                <a:latin typeface="Consolas" panose="020B0609020204030204" pitchFamily="49" charset="0"/>
              </a:rPr>
              <a:t>fullname</a:t>
            </a:r>
            <a:r>
              <a:rPr lang="en-US" sz="900" dirty="0">
                <a:solidFill>
                  <a:srgbClr val="008000"/>
                </a:solidFill>
                <a:latin typeface="Consolas" panose="020B0609020204030204" pitchFamily="49" charset="0"/>
              </a:rPr>
              <a:t> Function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dbo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fullname</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[Name]</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email</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phone_number</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hire_date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salary</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a:t>
            </a:r>
            <a:endParaRPr lang="en-US" dirty="0"/>
          </a:p>
        </p:txBody>
      </p:sp>
    </p:spTree>
    <p:extLst>
      <p:ext uri="{BB962C8B-B14F-4D97-AF65-F5344CB8AC3E}">
        <p14:creationId xmlns:p14="http://schemas.microsoft.com/office/powerpoint/2010/main" val="2440559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2F8605-481A-4C30-312B-87CC62EAC354}"/>
              </a:ext>
            </a:extLst>
          </p:cNvPr>
          <p:cNvSpPr txBox="1"/>
          <p:nvPr/>
        </p:nvSpPr>
        <p:spPr>
          <a:xfrm>
            <a:off x="1860" y="297048"/>
            <a:ext cx="4951140" cy="4524315"/>
          </a:xfrm>
          <a:prstGeom prst="rect">
            <a:avLst/>
          </a:prstGeom>
          <a:noFill/>
        </p:spPr>
        <p:txBody>
          <a:bodyPr wrap="square">
            <a:spAutoFit/>
          </a:bodyPr>
          <a:lstStyle/>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------TABLE VALUED FUNCTION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----INLINE TABLE VALUED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this simple example, we will show you, How to create a SQL Inline table valued function without any parameters.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--From the below query, you can observe that we are selecting the top 10 records from the </a:t>
            </a:r>
            <a:r>
              <a:rPr lang="en-US" sz="900" dirty="0" err="1">
                <a:solidFill>
                  <a:srgbClr val="008000"/>
                </a:solidFill>
                <a:latin typeface="Consolas" panose="020B0609020204030204" pitchFamily="49" charset="0"/>
              </a:rPr>
              <a:t>MyEmployee</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Inline without parameters example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FUNCTION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TopTenCustomers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RETURNS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RETURN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TOP</a:t>
            </a:r>
            <a:r>
              <a:rPr lang="en-US" sz="900" dirty="0">
                <a:solidFill>
                  <a:srgbClr val="000000"/>
                </a:solidFill>
                <a:latin typeface="Consolas" panose="020B0609020204030204" pitchFamily="49" charset="0"/>
              </a:rPr>
              <a:t> 10 </a:t>
            </a:r>
            <a:r>
              <a:rPr lang="en-US" sz="900" dirty="0" err="1">
                <a:solidFill>
                  <a:srgbClr val="000000"/>
                </a:solidFill>
                <a:latin typeface="Consolas" panose="020B0609020204030204" pitchFamily="49" charset="0"/>
              </a:rPr>
              <a:t>first_name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email</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phone_number</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hire_date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salary</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TopTenCustomers</a:t>
            </a:r>
            <a:r>
              <a:rPr lang="en-US" sz="900" dirty="0">
                <a:solidFill>
                  <a:srgbClr val="00000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7D2AE3A1-B91F-FA65-01F8-4ABB8C560163}"/>
              </a:ext>
            </a:extLst>
          </p:cNvPr>
          <p:cNvSpPr txBox="1"/>
          <p:nvPr/>
        </p:nvSpPr>
        <p:spPr>
          <a:xfrm>
            <a:off x="5051502" y="297048"/>
            <a:ext cx="4627755" cy="4662815"/>
          </a:xfrm>
          <a:prstGeom prst="rect">
            <a:avLst/>
          </a:prstGeom>
          <a:noFill/>
        </p:spPr>
        <p:txBody>
          <a:bodyPr wrap="square">
            <a:spAutoFit/>
          </a:bodyPr>
          <a:lstStyle/>
          <a:p>
            <a:r>
              <a:rPr lang="en-US" sz="900" dirty="0">
                <a:solidFill>
                  <a:srgbClr val="008000"/>
                </a:solidFill>
                <a:latin typeface="Consolas" panose="020B0609020204030204" pitchFamily="49" charset="0"/>
              </a:rPr>
              <a:t>--Inline Function with Parameters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shows how to create an Inline table valued functions with parameters.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--From the below query, you can see we are selecting the records from both the table using INNER JOIN, whose department is equal to a parameter that we pass.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departments</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FUNCTION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CustomerbyDepartment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@profession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RETURNS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RETURN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email</a:t>
            </a:r>
          </a:p>
          <a:p>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phone_number</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dept</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Department</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salary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Income</a:t>
            </a:r>
          </a:p>
          <a:p>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hire_date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e</a:t>
            </a: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departments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dept </a:t>
            </a:r>
            <a:r>
              <a:rPr lang="en-US" sz="900" dirty="0">
                <a:solidFill>
                  <a:srgbClr val="0000FF"/>
                </a:solidFill>
                <a:latin typeface="Consolas" panose="020B0609020204030204" pitchFamily="49" charset="0"/>
              </a:rPr>
              <a:t>ON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dept</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department_name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@profession</a:t>
            </a: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dbo</a:t>
            </a:r>
            <a:r>
              <a:rPr lang="en-US" sz="900" dirty="0">
                <a:solidFill>
                  <a:srgbClr val="00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CustomerbyDepartment</a:t>
            </a:r>
            <a:r>
              <a:rPr lang="en-US" sz="900" dirty="0">
                <a:solidFill>
                  <a:srgbClr val="00000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'IT'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dirty="0"/>
          </a:p>
        </p:txBody>
      </p:sp>
    </p:spTree>
    <p:extLst>
      <p:ext uri="{BB962C8B-B14F-4D97-AF65-F5344CB8AC3E}">
        <p14:creationId xmlns:p14="http://schemas.microsoft.com/office/powerpoint/2010/main" val="47014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96D26D-025B-6F08-371C-227C402D6C12}"/>
              </a:ext>
            </a:extLst>
          </p:cNvPr>
          <p:cNvSpPr txBox="1"/>
          <p:nvPr/>
        </p:nvSpPr>
        <p:spPr>
          <a:xfrm>
            <a:off x="780585" y="524107"/>
            <a:ext cx="3230884" cy="369332"/>
          </a:xfrm>
          <a:prstGeom prst="rect">
            <a:avLst/>
          </a:prstGeom>
          <a:noFill/>
        </p:spPr>
        <p:txBody>
          <a:bodyPr wrap="none" rtlCol="0">
            <a:spAutoFit/>
          </a:bodyPr>
          <a:lstStyle/>
          <a:p>
            <a:r>
              <a:rPr lang="en-US" dirty="0"/>
              <a:t>Optimization and performance</a:t>
            </a:r>
          </a:p>
        </p:txBody>
      </p:sp>
    </p:spTree>
    <p:extLst>
      <p:ext uri="{BB962C8B-B14F-4D97-AF65-F5344CB8AC3E}">
        <p14:creationId xmlns:p14="http://schemas.microsoft.com/office/powerpoint/2010/main" val="410366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00B74D6-CA6F-CBCE-BEF5-83653943E5B5}"/>
              </a:ext>
            </a:extLst>
          </p:cNvPr>
          <p:cNvSpPr txBox="1"/>
          <p:nvPr/>
        </p:nvSpPr>
        <p:spPr>
          <a:xfrm>
            <a:off x="1860" y="0"/>
            <a:ext cx="4951140" cy="4801314"/>
          </a:xfrm>
          <a:prstGeom prst="rect">
            <a:avLst/>
          </a:prstGeom>
          <a:noFill/>
        </p:spPr>
        <p:txBody>
          <a:bodyPr wrap="square">
            <a:spAutoFit/>
          </a:bodyPr>
          <a:lstStyle/>
          <a:p>
            <a:r>
              <a:rPr lang="en-US" sz="900" dirty="0">
                <a:solidFill>
                  <a:srgbClr val="008000"/>
                </a:solidFill>
                <a:latin typeface="Consolas" panose="020B0609020204030204" pitchFamily="49" charset="0"/>
              </a:rPr>
              <a:t>---------------------PIVOT------------------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PIVOT operator to convert rows to columns.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PIVOT operator rotates a table-valued expression. It turns the unique values in one column into multiple columns in the output and performs aggregations on any remaining column values.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--You need to follow these steps to make a query a pivot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select a base dataset for pivoting.</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 create a temporary result by using a derived table or common table expression (CTE)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--Third, apply the PIVOT operator.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DROP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Customers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--Create and insert below tables for Pivot examples.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Customers</a:t>
            </a: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ProductName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Amount </a:t>
            </a:r>
            <a:r>
              <a:rPr lang="en-US" sz="900" dirty="0">
                <a:solidFill>
                  <a:srgbClr val="0000FF"/>
                </a:solidFill>
                <a:latin typeface="Consolas" panose="020B0609020204030204" pitchFamily="49" charset="0"/>
              </a:rPr>
              <a:t>INT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'James'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'James'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'Desktop'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25000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'David'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25000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'Smith'</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'Desktop'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'Pam'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45000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'Pam'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'John'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'Desktop'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'John'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Customers</a:t>
            </a:r>
          </a:p>
          <a:p>
            <a:r>
              <a:rPr lang="en-US" sz="900" dirty="0">
                <a:solidFill>
                  <a:srgbClr val="0000FF"/>
                </a:solidFill>
                <a:latin typeface="Consolas" panose="020B0609020204030204" pitchFamily="49" charset="0"/>
              </a:rPr>
              <a:t>truncate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Customers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Customers</a:t>
            </a:r>
          </a:p>
        </p:txBody>
      </p:sp>
      <p:sp>
        <p:nvSpPr>
          <p:cNvPr id="5" name="TextBox 4">
            <a:extLst>
              <a:ext uri="{FF2B5EF4-FFF2-40B4-BE49-F238E27FC236}">
                <a16:creationId xmlns:a16="http://schemas.microsoft.com/office/drawing/2014/main" id="{CF49C0B6-B481-0C6C-A037-17D5F74205F3}"/>
              </a:ext>
            </a:extLst>
          </p:cNvPr>
          <p:cNvSpPr txBox="1"/>
          <p:nvPr/>
        </p:nvSpPr>
        <p:spPr>
          <a:xfrm>
            <a:off x="4954860" y="0"/>
            <a:ext cx="4951140" cy="6186309"/>
          </a:xfrm>
          <a:prstGeom prst="rect">
            <a:avLst/>
          </a:prstGeom>
          <a:noFill/>
        </p:spPr>
        <p:txBody>
          <a:bodyPr wrap="square">
            <a:spAutoFit/>
          </a:bodyPr>
          <a:lstStyle/>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Section1: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Section 1 contains a select statement and this select statement has the column name that we want to display. In the output, we want </a:t>
            </a:r>
            <a:r>
              <a:rPr lang="en-US" sz="900" dirty="0" err="1">
                <a:solidFill>
                  <a:srgbClr val="008000"/>
                </a:solidFill>
                <a:latin typeface="Consolas" panose="020B0609020204030204" pitchFamily="49" charset="0"/>
              </a:rPr>
              <a:t>CustomerName</a:t>
            </a:r>
            <a:r>
              <a:rPr lang="en-US" sz="900" dirty="0">
                <a:solidFill>
                  <a:srgbClr val="008000"/>
                </a:solidFill>
                <a:latin typeface="Consolas" panose="020B0609020204030204" pitchFamily="49" charset="0"/>
              </a:rPr>
              <a:t>, Laptop, and Desktop and hence the select statement contains these three columns. The first column (</a:t>
            </a:r>
            <a:r>
              <a:rPr lang="en-US" sz="900" dirty="0" err="1">
                <a:solidFill>
                  <a:srgbClr val="008000"/>
                </a:solidFill>
                <a:latin typeface="Consolas" panose="020B0609020204030204" pitchFamily="49" charset="0"/>
              </a:rPr>
              <a:t>Customername</a:t>
            </a:r>
            <a:r>
              <a:rPr lang="en-US" sz="900" dirty="0">
                <a:solidFill>
                  <a:srgbClr val="008000"/>
                </a:solidFill>
                <a:latin typeface="Consolas" panose="020B0609020204030204" pitchFamily="49" charset="0"/>
              </a:rPr>
              <a:t>) is the non-pivot column and the rest are pivot columns (Laptop and Desktop).</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Section2: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section actually gets the actual data that is needed for the pivot report. In our example, the actual data is nothing but the Customers table data. Hence, you can see, here we use a select statement to get the data from the Customers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Section3:</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is the section where your Pivot function lies. Within the function first, we need to use an aggregate method like SUM, Count, etc. Here, we are using the SUM aggregate method and to this method, we pass the Amount filed as we are performing sum on the Amount column. In the For clause, we need to pass the column name which contains values that are going to be column header. In our case, it is the ProductName column. In the IN clause, we need to specify the Pivoted column names. In our example, it is a Laptop and Desktop.</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Desktop</a:t>
            </a: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Section2: Get the Actual Data</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ProductName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Amount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Customers</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PivotData</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Section3: Pivot function</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PIVOT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Amount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a:t>
            </a:r>
            <a:r>
              <a:rPr lang="en-US" sz="900" dirty="0">
                <a:solidFill>
                  <a:srgbClr val="000000"/>
                </a:solidFill>
                <a:latin typeface="Consolas" panose="020B0609020204030204" pitchFamily="49" charset="0"/>
              </a:rPr>
              <a:t> ProductName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Desktop</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PivotTable</a:t>
            </a:r>
          </a:p>
        </p:txBody>
      </p:sp>
    </p:spTree>
    <p:extLst>
      <p:ext uri="{BB962C8B-B14F-4D97-AF65-F5344CB8AC3E}">
        <p14:creationId xmlns:p14="http://schemas.microsoft.com/office/powerpoint/2010/main" val="2393153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14E1E2-F483-37A5-2E9F-973D7E7B461A}"/>
              </a:ext>
            </a:extLst>
          </p:cNvPr>
          <p:cNvSpPr txBox="1"/>
          <p:nvPr/>
        </p:nvSpPr>
        <p:spPr>
          <a:xfrm>
            <a:off x="1860" y="0"/>
            <a:ext cx="4951140" cy="4662815"/>
          </a:xfrm>
          <a:prstGeom prst="rect">
            <a:avLst/>
          </a:prstGeom>
          <a:noFill/>
        </p:spPr>
        <p:txBody>
          <a:bodyPr wrap="square">
            <a:spAutoFit/>
          </a:bodyPr>
          <a:lstStyle/>
          <a:p>
            <a:r>
              <a:rPr lang="en-US" sz="900" dirty="0">
                <a:solidFill>
                  <a:srgbClr val="008000"/>
                </a:solidFill>
                <a:latin typeface="Consolas" panose="020B0609020204030204" pitchFamily="49" charset="0"/>
              </a:rPr>
              <a:t>---------------------UNPIVOT------------------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UNPIVOT operator performs exactly the opposite operation to PIVOT. That is, the UNPIVOT operator turns COLUMNS into ROWS. Let us understand this with an example. We are going to use the following </a:t>
            </a:r>
            <a:r>
              <a:rPr lang="en-US" sz="900" dirty="0" err="1">
                <a:solidFill>
                  <a:srgbClr val="008000"/>
                </a:solidFill>
                <a:latin typeface="Consolas" panose="020B0609020204030204" pitchFamily="49" charset="0"/>
              </a:rPr>
              <a:t>ProductSales</a:t>
            </a:r>
            <a:r>
              <a:rPr lang="en-US" sz="900" dirty="0">
                <a:solidFill>
                  <a:srgbClr val="008000"/>
                </a:solidFill>
                <a:latin typeface="Consolas" panose="020B0609020204030204" pitchFamily="49" charset="0"/>
              </a:rPr>
              <a:t> table to understand this concept.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--Create and insert below tables for </a:t>
            </a:r>
            <a:r>
              <a:rPr lang="en-US" sz="900" dirty="0" err="1">
                <a:solidFill>
                  <a:srgbClr val="008000"/>
                </a:solidFill>
                <a:latin typeface="Consolas" panose="020B0609020204030204" pitchFamily="49" charset="0"/>
              </a:rPr>
              <a:t>UnPivot</a:t>
            </a:r>
            <a:r>
              <a:rPr lang="en-US" sz="900" dirty="0">
                <a:solidFill>
                  <a:srgbClr val="008000"/>
                </a:solidFill>
                <a:latin typeface="Consolas" panose="020B0609020204030204" pitchFamily="49" charset="0"/>
              </a:rPr>
              <a:t> examples.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ProductSales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AgentName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India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US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UK </a:t>
            </a:r>
            <a:r>
              <a:rPr lang="en-US" sz="900" dirty="0">
                <a:solidFill>
                  <a:srgbClr val="0000FF"/>
                </a:solidFill>
                <a:latin typeface="Consolas" panose="020B0609020204030204" pitchFamily="49" charset="0"/>
              </a:rPr>
              <a:t>int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ProductSales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'Smith'</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9160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5220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3360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ProductSales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'David'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9770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5440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8800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ProductSales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'James'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9870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5480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8900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ProductSales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TRUNCATE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ProductSales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'James'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'James'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'Desktop'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25000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'David'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25000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'Smith'</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'Desktop'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'Pam'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45000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'Pam'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'John'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'Desktop'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Customers </a:t>
            </a:r>
            <a:r>
              <a:rPr lang="en-US" sz="900" dirty="0">
                <a:solidFill>
                  <a:srgbClr val="0000FF"/>
                </a:solidFill>
                <a:latin typeface="Consolas" panose="020B0609020204030204" pitchFamily="49" charset="0"/>
              </a:rPr>
              <a:t>VALUES</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'John'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'Laptop'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30000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0DA04F5A-71C5-6DF5-E7B2-DDAAB7958A40}"/>
              </a:ext>
            </a:extLst>
          </p:cNvPr>
          <p:cNvSpPr txBox="1"/>
          <p:nvPr/>
        </p:nvSpPr>
        <p:spPr>
          <a:xfrm>
            <a:off x="4716966" y="1305341"/>
            <a:ext cx="4951140" cy="4247317"/>
          </a:xfrm>
          <a:prstGeom prst="rect">
            <a:avLst/>
          </a:prstGeom>
          <a:noFill/>
        </p:spPr>
        <p:txBody>
          <a:bodyPr wrap="square">
            <a:spAutoFit/>
          </a:bodyPr>
          <a:lstStyle/>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USE</a:t>
            </a:r>
            <a:r>
              <a:rPr lang="en-US" sz="900" dirty="0">
                <a:solidFill>
                  <a:srgbClr val="000000"/>
                </a:solidFill>
                <a:latin typeface="Consolas" panose="020B0609020204030204" pitchFamily="49" charset="0"/>
              </a:rPr>
              <a:t> SQLTRAINING</a:t>
            </a: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oi</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src</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PIVOT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pivoted_data</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job_title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 e</a:t>
            </a: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job_titles</a:t>
            </a:r>
            <a:r>
              <a:rPr lang="en-US" sz="900" dirty="0">
                <a:solidFill>
                  <a:srgbClr val="000000"/>
                </a:solidFill>
                <a:latin typeface="Consolas" panose="020B0609020204030204" pitchFamily="49" charset="0"/>
              </a:rPr>
              <a:t> j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job_title_id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job_title_id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job_title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src</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PIVOT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job_title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'Manager'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'Developer'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'Analyst'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PIVOT(</a:t>
            </a:r>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COUNT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FOR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job_title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[Manager]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[Sales Rep]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[HR]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[IT Specialist]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pvt</a:t>
            </a:r>
            <a:endParaRPr lang="en-US" dirty="0"/>
          </a:p>
        </p:txBody>
      </p:sp>
    </p:spTree>
    <p:extLst>
      <p:ext uri="{BB962C8B-B14F-4D97-AF65-F5344CB8AC3E}">
        <p14:creationId xmlns:p14="http://schemas.microsoft.com/office/powerpoint/2010/main" val="207968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35654B-E694-CDD8-69B6-3C18E6E39ADC}"/>
              </a:ext>
            </a:extLst>
          </p:cNvPr>
          <p:cNvSpPr txBox="1"/>
          <p:nvPr/>
        </p:nvSpPr>
        <p:spPr>
          <a:xfrm>
            <a:off x="100362" y="26268"/>
            <a:ext cx="4951140" cy="4801314"/>
          </a:xfrm>
          <a:prstGeom prst="rect">
            <a:avLst/>
          </a:prstGeom>
          <a:noFill/>
        </p:spPr>
        <p:txBody>
          <a:bodyPr wrap="square">
            <a:spAutoFit/>
          </a:bodyPr>
          <a:lstStyle/>
          <a:p>
            <a:r>
              <a:rPr lang="en-US" sz="900" dirty="0">
                <a:solidFill>
                  <a:srgbClr val="008000"/>
                </a:solidFill>
                <a:latin typeface="Consolas" panose="020B0609020204030204" pitchFamily="49" charset="0"/>
              </a:rPr>
              <a:t>--Section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/*Let us visualize the above Product Sales data from a different perspective. For example, we want to tell the sales amount, per count, per agent as shown below. Here, actually, we have to change the perspective of column-wise data into row-wise.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Here, we need to convert the column-wise data into row-wise. Now, the question is how we can do this in SQL Server? The SQL Server provides another built-in function called UNPIVOT which we can use to change the column-wise data into row-wise.*/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AgentName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India</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UK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ProductSales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AgentName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Country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SalesAmount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--Section2</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AgentName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India</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UK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ProductSales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ActualData</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--Section 3</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UNPIVOT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SalesAmount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a:t>
            </a:r>
            <a:r>
              <a:rPr lang="en-US" sz="900" dirty="0">
                <a:solidFill>
                  <a:srgbClr val="000000"/>
                </a:solidFill>
                <a:latin typeface="Consolas" panose="020B0609020204030204" pitchFamily="49" charset="0"/>
              </a:rPr>
              <a:t> Country </a:t>
            </a:r>
            <a:r>
              <a:rPr lang="en-US" sz="900" dirty="0">
                <a:solidFill>
                  <a:srgbClr val="808080"/>
                </a:solidFill>
                <a:latin typeface="Consolas" panose="020B0609020204030204" pitchFamily="49" charset="0"/>
              </a:rPr>
              <a:t>IN</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India</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UK</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UnpivotData</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83F2F73B-3D20-DE1D-617C-1CB195B93378}"/>
              </a:ext>
            </a:extLst>
          </p:cNvPr>
          <p:cNvSpPr txBox="1"/>
          <p:nvPr/>
        </p:nvSpPr>
        <p:spPr>
          <a:xfrm>
            <a:off x="4838700" y="0"/>
            <a:ext cx="5373958" cy="4801314"/>
          </a:xfrm>
          <a:prstGeom prst="rect">
            <a:avLst/>
          </a:prstGeom>
          <a:noFill/>
        </p:spPr>
        <p:txBody>
          <a:bodyPr wrap="square">
            <a:spAutoFit/>
          </a:bodyPr>
          <a:lstStyle/>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--Section 1</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phone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email</a:t>
            </a: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--Section2</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phone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email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ActualData</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--Section 3</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UNPIVOT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contact_value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FOR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contact_type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[phone]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[email]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UnpivotData</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--Transform minimum and maximum salary columns into rows from the jobs table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job_title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salary_type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salary_amount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job_id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job_title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min_salary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max_salary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jobs</a:t>
            </a: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JobData</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UNPIVOT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salary_amount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salary_type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min_salary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max_salary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UnpivotData</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job_title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salary_type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3880FE1D-9321-5B32-4C80-F819C7DB5AFC}"/>
              </a:ext>
            </a:extLst>
          </p:cNvPr>
          <p:cNvSpPr txBox="1"/>
          <p:nvPr/>
        </p:nvSpPr>
        <p:spPr>
          <a:xfrm>
            <a:off x="0" y="4672999"/>
            <a:ext cx="9677400" cy="244682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Section1:</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Section 1 contains a select statement and this select statement has the column name that we want to display in the pivot report. In the output, we want </a:t>
            </a:r>
            <a:r>
              <a:rPr kumimoji="0" lang="en-US" sz="9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AgentName</a:t>
            </a: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Country, and </a:t>
            </a:r>
            <a:r>
              <a:rPr kumimoji="0" lang="en-US" sz="9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SalesAmount</a:t>
            </a: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and hence the select statement contains these three columns. The first column (</a:t>
            </a:r>
            <a:r>
              <a:rPr kumimoji="0" lang="en-US" sz="9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AgentName</a:t>
            </a: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is the normal column and the rest are unpivot columns (Country and </a:t>
            </a:r>
            <a:r>
              <a:rPr kumimoji="0" lang="en-US" sz="9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SalesAmount</a:t>
            </a: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Section2:</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This section gets the actual data from the actual table which is needed for the unpivot report. In our example, the actual data is nothing but the </a:t>
            </a:r>
            <a:r>
              <a:rPr kumimoji="0" lang="en-US" sz="9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ProductSales</a:t>
            </a: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table data. Hence, you can see, here we use a select statement to get the data from the </a:t>
            </a:r>
            <a:r>
              <a:rPr kumimoji="0" lang="en-US" sz="9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ProductSales</a:t>
            </a: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table.</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Section3:</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This is the section where our UNPIVOT function works. As we want sales amount by country, so we use </a:t>
            </a:r>
            <a:r>
              <a:rPr kumimoji="0" lang="en-US" sz="9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SalesAmount</a:t>
            </a: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For Country option here. As we want the column values India, US, UK as the column header, so here we pass these column values to the IN clause.</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29193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AD0870-A552-E04F-9FB7-8F6037593CB9}"/>
              </a:ext>
            </a:extLst>
          </p:cNvPr>
          <p:cNvSpPr txBox="1"/>
          <p:nvPr/>
        </p:nvSpPr>
        <p:spPr>
          <a:xfrm>
            <a:off x="1860" y="0"/>
            <a:ext cx="4951140" cy="4939814"/>
          </a:xfrm>
          <a:prstGeom prst="rect">
            <a:avLst/>
          </a:prstGeom>
          <a:noFill/>
        </p:spPr>
        <p:txBody>
          <a:bodyPr wrap="square">
            <a:spAutoFit/>
          </a:bodyPr>
          <a:lstStyle/>
          <a:p>
            <a:r>
              <a:rPr lang="en-US" sz="900" dirty="0">
                <a:solidFill>
                  <a:srgbClr val="008000"/>
                </a:solidFill>
                <a:latin typeface="Consolas" panose="020B0609020204030204" pitchFamily="49" charset="0"/>
              </a:rPr>
              <a:t>---------------------STUFF--------------------</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STUFF() function deletes a part of a string and then inserts a substring into the string, beginning at a specified position.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shows the syntax of the STUFF()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STUFF ( </a:t>
            </a:r>
            <a:r>
              <a:rPr lang="en-US" sz="900" dirty="0" err="1">
                <a:solidFill>
                  <a:srgbClr val="008000"/>
                </a:solidFill>
                <a:latin typeface="Consolas" panose="020B0609020204030204" pitchFamily="49" charset="0"/>
              </a:rPr>
              <a:t>input_string</a:t>
            </a:r>
            <a:r>
              <a:rPr lang="en-US" sz="900" dirty="0">
                <a:solidFill>
                  <a:srgbClr val="008000"/>
                </a:solidFill>
                <a:latin typeface="Consolas" panose="020B0609020204030204" pitchFamily="49" charset="0"/>
              </a:rPr>
              <a:t> , </a:t>
            </a:r>
            <a:r>
              <a:rPr lang="en-US" sz="900" dirty="0" err="1">
                <a:solidFill>
                  <a:srgbClr val="008000"/>
                </a:solidFill>
                <a:latin typeface="Consolas" panose="020B0609020204030204" pitchFamily="49" charset="0"/>
              </a:rPr>
              <a:t>start_position</a:t>
            </a:r>
            <a:r>
              <a:rPr lang="en-US" sz="900" dirty="0">
                <a:solidFill>
                  <a:srgbClr val="008000"/>
                </a:solidFill>
                <a:latin typeface="Consolas" panose="020B0609020204030204" pitchFamily="49" charset="0"/>
              </a:rPr>
              <a:t> , length , </a:t>
            </a:r>
            <a:r>
              <a:rPr lang="en-US" sz="900" dirty="0" err="1">
                <a:solidFill>
                  <a:srgbClr val="008000"/>
                </a:solidFill>
                <a:latin typeface="Consolas" panose="020B0609020204030204" pitchFamily="49" charset="0"/>
              </a:rPr>
              <a:t>replace_with_substring</a:t>
            </a:r>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Code language: SQL (Structured Query Language) (</a:t>
            </a:r>
            <a:r>
              <a:rPr lang="en-US" sz="900" dirty="0" err="1">
                <a:solidFill>
                  <a:srgbClr val="008000"/>
                </a:solidFill>
                <a:latin typeface="Consolas" panose="020B0609020204030204" pitchFamily="49" charset="0"/>
              </a:rPr>
              <a:t>sql</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STUFF() function accepts four arguments: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input_string</a:t>
            </a:r>
            <a:r>
              <a:rPr lang="en-US" sz="900" dirty="0">
                <a:solidFill>
                  <a:srgbClr val="008000"/>
                </a:solidFill>
                <a:latin typeface="Consolas" panose="020B0609020204030204" pitchFamily="49" charset="0"/>
              </a:rPr>
              <a:t> is the character string to be processed.</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start_position</a:t>
            </a:r>
            <a:r>
              <a:rPr lang="en-US" sz="900" dirty="0">
                <a:solidFill>
                  <a:srgbClr val="008000"/>
                </a:solidFill>
                <a:latin typeface="Consolas" panose="020B0609020204030204" pitchFamily="49" charset="0"/>
              </a:rPr>
              <a:t> is an integer that identifies the position to start deletion and insertion. If </a:t>
            </a:r>
            <a:r>
              <a:rPr lang="en-US" sz="900" dirty="0" err="1">
                <a:solidFill>
                  <a:srgbClr val="008000"/>
                </a:solidFill>
                <a:latin typeface="Consolas" panose="020B0609020204030204" pitchFamily="49" charset="0"/>
              </a:rPr>
              <a:t>start_position</a:t>
            </a:r>
            <a:r>
              <a:rPr lang="en-US" sz="900" dirty="0">
                <a:solidFill>
                  <a:srgbClr val="008000"/>
                </a:solidFill>
                <a:latin typeface="Consolas" panose="020B0609020204030204" pitchFamily="49" charset="0"/>
              </a:rPr>
              <a:t> is negative, zero, or longer than the length of the string, the function will return NULL.</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length specifies the number of characters to delete. If the length is negative, the function returns NULL. If  length is longer than the length of the </a:t>
            </a:r>
            <a:r>
              <a:rPr lang="en-US" sz="900" dirty="0" err="1">
                <a:solidFill>
                  <a:srgbClr val="008000"/>
                </a:solidFill>
                <a:latin typeface="Consolas" panose="020B0609020204030204" pitchFamily="49" charset="0"/>
              </a:rPr>
              <a:t>input_string</a:t>
            </a:r>
            <a:r>
              <a:rPr lang="en-US" sz="900" dirty="0">
                <a:solidFill>
                  <a:srgbClr val="008000"/>
                </a:solidFill>
                <a:latin typeface="Consolas" panose="020B0609020204030204" pitchFamily="49" charset="0"/>
              </a:rPr>
              <a:t>, the function will delete the whole string. In case length is zero, the function will insert the </a:t>
            </a:r>
            <a:r>
              <a:rPr lang="en-US" sz="900" dirty="0" err="1">
                <a:solidFill>
                  <a:srgbClr val="008000"/>
                </a:solidFill>
                <a:latin typeface="Consolas" panose="020B0609020204030204" pitchFamily="49" charset="0"/>
              </a:rPr>
              <a:t>replace_with_substring</a:t>
            </a:r>
            <a:r>
              <a:rPr lang="en-US" sz="900" dirty="0">
                <a:solidFill>
                  <a:srgbClr val="008000"/>
                </a:solidFill>
                <a:latin typeface="Consolas" panose="020B0609020204030204" pitchFamily="49" charset="0"/>
              </a:rPr>
              <a:t> at the beginning of the </a:t>
            </a:r>
            <a:r>
              <a:rPr lang="en-US" sz="900" dirty="0" err="1">
                <a:solidFill>
                  <a:srgbClr val="008000"/>
                </a:solidFill>
                <a:latin typeface="Consolas" panose="020B0609020204030204" pitchFamily="49" charset="0"/>
              </a:rPr>
              <a:t>input_string</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8000"/>
                </a:solidFill>
                <a:latin typeface="Consolas" panose="020B0609020204030204" pitchFamily="49" charset="0"/>
              </a:rPr>
              <a:t>replace_with_substring</a:t>
            </a:r>
            <a:r>
              <a:rPr lang="en-US" sz="900" dirty="0">
                <a:solidFill>
                  <a:srgbClr val="008000"/>
                </a:solidFill>
                <a:latin typeface="Consolas" panose="020B0609020204030204" pitchFamily="49" charset="0"/>
              </a:rPr>
              <a:t> is a substring that replaces length characters of the </a:t>
            </a:r>
            <a:r>
              <a:rPr lang="en-US" sz="900" dirty="0" err="1">
                <a:solidFill>
                  <a:srgbClr val="008000"/>
                </a:solidFill>
                <a:latin typeface="Consolas" panose="020B0609020204030204" pitchFamily="49" charset="0"/>
              </a:rPr>
              <a:t>input_string</a:t>
            </a:r>
            <a:r>
              <a:rPr lang="en-US" sz="900" dirty="0">
                <a:solidFill>
                  <a:srgbClr val="008000"/>
                </a:solidFill>
                <a:latin typeface="Consolas" panose="020B0609020204030204" pitchFamily="49" charset="0"/>
              </a:rPr>
              <a:t> beginning at </a:t>
            </a:r>
            <a:r>
              <a:rPr lang="en-US" sz="900" dirty="0" err="1">
                <a:solidFill>
                  <a:srgbClr val="008000"/>
                </a:solidFill>
                <a:latin typeface="Consolas" panose="020B0609020204030204" pitchFamily="49" charset="0"/>
              </a:rPr>
              <a:t>start_position</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--1)Below example uses the STUFF() function to delete the first three characters of the string 'SQL Tutorial' and then insert the string 'SQL Server' at the beginning of the string:</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it-IT" sz="900" dirty="0">
                <a:solidFill>
                  <a:srgbClr val="000000"/>
                </a:solidFill>
                <a:latin typeface="Consolas" panose="020B0609020204030204" pitchFamily="49" charset="0"/>
              </a:rPr>
              <a:t>    </a:t>
            </a:r>
            <a:r>
              <a:rPr lang="it-IT" sz="900" dirty="0">
                <a:solidFill>
                  <a:srgbClr val="FF00FF"/>
                </a:solidFill>
                <a:latin typeface="Consolas" panose="020B0609020204030204" pitchFamily="49" charset="0"/>
              </a:rPr>
              <a:t>STUFF</a:t>
            </a:r>
            <a:r>
              <a:rPr lang="it-IT" sz="900" dirty="0">
                <a:solidFill>
                  <a:srgbClr val="808080"/>
                </a:solidFill>
                <a:latin typeface="Consolas" panose="020B0609020204030204" pitchFamily="49" charset="0"/>
              </a:rPr>
              <a:t>(</a:t>
            </a:r>
            <a:r>
              <a:rPr lang="it-IT" sz="900" dirty="0">
                <a:solidFill>
                  <a:srgbClr val="FF0000"/>
                </a:solidFill>
                <a:latin typeface="Consolas" panose="020B0609020204030204" pitchFamily="49" charset="0"/>
              </a:rPr>
              <a:t>'SQL Tutorial'</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1 </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3</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a:t>
            </a:r>
            <a:r>
              <a:rPr lang="it-IT" sz="900" dirty="0">
                <a:solidFill>
                  <a:srgbClr val="FF0000"/>
                </a:solidFill>
                <a:latin typeface="Consolas" panose="020B0609020204030204" pitchFamily="49" charset="0"/>
              </a:rPr>
              <a:t>'SQL Server'</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result</a:t>
            </a:r>
            <a:r>
              <a:rPr lang="it-IT" sz="900" dirty="0">
                <a:solidFill>
                  <a:srgbClr val="808080"/>
                </a:solidFill>
                <a:latin typeface="Consolas" panose="020B0609020204030204" pitchFamily="49" charset="0"/>
              </a:rPr>
              <a:t>;</a:t>
            </a:r>
            <a:endParaRPr lang="it-IT"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--2)The below example uses the STUFF() function to insert the colon (:) at the middle of the time in the format HHMM and returns the new time value in the format HH:MM:</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STUFF</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'1230'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formatted_time</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8848AD0D-9F2E-6A9D-EF85-05CD8C84A1BB}"/>
              </a:ext>
            </a:extLst>
          </p:cNvPr>
          <p:cNvSpPr txBox="1"/>
          <p:nvPr/>
        </p:nvSpPr>
        <p:spPr>
          <a:xfrm>
            <a:off x="4953000" y="267157"/>
            <a:ext cx="4951140" cy="5632311"/>
          </a:xfrm>
          <a:prstGeom prst="rect">
            <a:avLst/>
          </a:prstGeom>
          <a:noFill/>
        </p:spPr>
        <p:txBody>
          <a:bodyPr wrap="square">
            <a:spAutoFit/>
          </a:bodyPr>
          <a:lstStyle/>
          <a:p>
            <a:r>
              <a:rPr lang="en-US" sz="900" dirty="0">
                <a:solidFill>
                  <a:srgbClr val="008000"/>
                </a:solidFill>
                <a:latin typeface="Consolas" panose="020B0609020204030204" pitchFamily="49" charset="0"/>
              </a:rPr>
              <a:t>--3)The below example calls the STUFF() function twice to format a date from MMDDYYY to MM/DD/YYY: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STUFF</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STUFF</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'03102019'</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6</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formatted_date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--4) </a:t>
            </a:r>
            <a:r>
              <a:rPr lang="en-US" sz="900" dirty="0" err="1">
                <a:solidFill>
                  <a:srgbClr val="008000"/>
                </a:solidFill>
                <a:latin typeface="Consolas" panose="020B0609020204030204" pitchFamily="49" charset="0"/>
              </a:rPr>
              <a:t>Usecase</a:t>
            </a:r>
            <a:r>
              <a:rPr lang="en-US" sz="900" dirty="0">
                <a:solidFill>
                  <a:srgbClr val="008000"/>
                </a:solidFill>
                <a:latin typeface="Consolas" panose="020B0609020204030204" pitchFamily="49" charset="0"/>
              </a:rPr>
              <a:t>:-This below  uses the STUFF() function to mask a credit card number. It reveals only the last four characters of the credit card no: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@ccn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'4882584254460197'</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it-IT" sz="900" dirty="0">
                <a:solidFill>
                  <a:srgbClr val="000000"/>
                </a:solidFill>
                <a:latin typeface="Consolas" panose="020B0609020204030204" pitchFamily="49" charset="0"/>
              </a:rPr>
              <a:t>    </a:t>
            </a:r>
            <a:r>
              <a:rPr lang="it-IT" sz="900" dirty="0">
                <a:solidFill>
                  <a:srgbClr val="FF00FF"/>
                </a:solidFill>
                <a:latin typeface="Consolas" panose="020B0609020204030204" pitchFamily="49" charset="0"/>
              </a:rPr>
              <a:t>STUFF</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@ccn</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1</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a:t>
            </a:r>
            <a:r>
              <a:rPr lang="it-IT" sz="900" dirty="0">
                <a:solidFill>
                  <a:srgbClr val="FF00FF"/>
                </a:solidFill>
                <a:latin typeface="Consolas" panose="020B0609020204030204" pitchFamily="49" charset="0"/>
              </a:rPr>
              <a:t>LEN</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@ccn</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4</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a:t>
            </a:r>
            <a:r>
              <a:rPr lang="it-IT" sz="900" dirty="0">
                <a:solidFill>
                  <a:srgbClr val="FF00FF"/>
                </a:solidFill>
                <a:latin typeface="Consolas" panose="020B0609020204030204" pitchFamily="49" charset="0"/>
              </a:rPr>
              <a:t>REPLICATE</a:t>
            </a:r>
            <a:r>
              <a:rPr lang="it-IT" sz="900" dirty="0">
                <a:solidFill>
                  <a:srgbClr val="808080"/>
                </a:solidFill>
                <a:latin typeface="Consolas" panose="020B0609020204030204" pitchFamily="49" charset="0"/>
              </a:rPr>
              <a:t>(</a:t>
            </a:r>
            <a:r>
              <a:rPr lang="it-IT" sz="900" dirty="0">
                <a:solidFill>
                  <a:srgbClr val="FF0000"/>
                </a:solidFill>
                <a:latin typeface="Consolas" panose="020B0609020204030204" pitchFamily="49" charset="0"/>
              </a:rPr>
              <a:t>'X'</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a:t>
            </a:r>
            <a:r>
              <a:rPr lang="it-IT" sz="900" dirty="0">
                <a:solidFill>
                  <a:srgbClr val="FF00FF"/>
                </a:solidFill>
                <a:latin typeface="Consolas" panose="020B0609020204030204" pitchFamily="49" charset="0"/>
              </a:rPr>
              <a:t>LEN</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@ccn</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a:t>
            </a:r>
            <a:r>
              <a:rPr lang="it-IT" sz="900" dirty="0">
                <a:solidFill>
                  <a:srgbClr val="808080"/>
                </a:solidFill>
                <a:latin typeface="Consolas" panose="020B0609020204030204" pitchFamily="49" charset="0"/>
              </a:rPr>
              <a:t>-</a:t>
            </a:r>
            <a:r>
              <a:rPr lang="it-IT" sz="900" dirty="0">
                <a:solidFill>
                  <a:srgbClr val="000000"/>
                </a:solidFill>
                <a:latin typeface="Consolas" panose="020B0609020204030204" pitchFamily="49" charset="0"/>
              </a:rPr>
              <a:t> 4</a:t>
            </a:r>
            <a:r>
              <a:rPr lang="it-IT" sz="900" dirty="0">
                <a:solidFill>
                  <a:srgbClr val="808080"/>
                </a:solidFill>
                <a:latin typeface="Consolas" panose="020B0609020204030204" pitchFamily="49" charset="0"/>
              </a:rPr>
              <a:t>))</a:t>
            </a:r>
            <a:endParaRPr lang="it-IT"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credit_card_no</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--Exercises on STUFF</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--Format employee names as 'LastName, FirstName' using stuff function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STUFF</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LEN</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FullName</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 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--Concatenate all category names into a single comma-separated string. </a:t>
            </a:r>
            <a:r>
              <a:rPr lang="en-US" sz="900" dirty="0" err="1">
                <a:solidFill>
                  <a:srgbClr val="008000"/>
                </a:solidFill>
                <a:latin typeface="Consolas" panose="020B0609020204030204" pitchFamily="49" charset="0"/>
              </a:rPr>
              <a:t>production.categories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STUFF</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DISTINCT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all_categories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STUFF</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FOR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XML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PATH</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TYPE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value</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'NVARCHAR(MAX)'</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category_list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STUFF</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value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all_categories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870780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5EC6D6-7D3C-51D0-F59A-1D7C46143357}"/>
              </a:ext>
            </a:extLst>
          </p:cNvPr>
          <p:cNvSpPr txBox="1"/>
          <p:nvPr/>
        </p:nvSpPr>
        <p:spPr>
          <a:xfrm>
            <a:off x="0" y="0"/>
            <a:ext cx="4951140" cy="7571303"/>
          </a:xfrm>
          <a:prstGeom prst="rect">
            <a:avLst/>
          </a:prstGeom>
          <a:noFill/>
        </p:spPr>
        <p:txBody>
          <a:bodyPr wrap="square">
            <a:spAutoFit/>
          </a:bodyPr>
          <a:lstStyle/>
          <a:p>
            <a:r>
              <a:rPr lang="en-US" sz="900" dirty="0">
                <a:solidFill>
                  <a:srgbClr val="008000"/>
                </a:solidFill>
                <a:latin typeface="Consolas" panose="020B0609020204030204" pitchFamily="49" charset="0"/>
              </a:rPr>
              <a:t>---------------------INDEXES--------------------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creates a new table named </a:t>
            </a:r>
            <a:r>
              <a:rPr lang="en-US" sz="900" dirty="0" err="1">
                <a:solidFill>
                  <a:srgbClr val="008000"/>
                </a:solidFill>
                <a:latin typeface="Consolas" panose="020B0609020204030204" pitchFamily="49" charset="0"/>
              </a:rPr>
              <a:t>production.parts</a:t>
            </a:r>
            <a:r>
              <a:rPr lang="en-US" sz="900" dirty="0">
                <a:solidFill>
                  <a:srgbClr val="008000"/>
                </a:solidFill>
                <a:latin typeface="Consolas" panose="020B0609020204030204" pitchFamily="49" charset="0"/>
              </a:rPr>
              <a:t> that consists of two columns </a:t>
            </a:r>
            <a:r>
              <a:rPr lang="en-US" sz="900" dirty="0" err="1">
                <a:solidFill>
                  <a:srgbClr val="008000"/>
                </a:solidFill>
                <a:latin typeface="Consolas" panose="020B0609020204030204" pitchFamily="49" charset="0"/>
              </a:rPr>
              <a:t>part_id</a:t>
            </a:r>
            <a:r>
              <a:rPr lang="en-US" sz="900" dirty="0">
                <a:solidFill>
                  <a:srgbClr val="008000"/>
                </a:solidFill>
                <a:latin typeface="Consolas" panose="020B0609020204030204" pitchFamily="49" charset="0"/>
              </a:rPr>
              <a:t> and </a:t>
            </a:r>
            <a:r>
              <a:rPr lang="en-US" sz="900" dirty="0" err="1">
                <a:solidFill>
                  <a:srgbClr val="008000"/>
                </a:solidFill>
                <a:latin typeface="Consolas" panose="020B0609020204030204" pitchFamily="49" charset="0"/>
              </a:rPr>
              <a:t>part_name</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parts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part_id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part_name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--And this statement inserts some rows into the </a:t>
            </a:r>
            <a:r>
              <a:rPr lang="en-US" sz="900" dirty="0" err="1">
                <a:solidFill>
                  <a:srgbClr val="008000"/>
                </a:solidFill>
                <a:latin typeface="Consolas" panose="020B0609020204030204" pitchFamily="49" charset="0"/>
              </a:rPr>
              <a:t>production.parts</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parts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part_id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part_name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'Frame'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'Head Tube'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'Handlebar Grip'</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'Shock Absorber'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'Fork'</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production.parts</a:t>
            </a:r>
            <a:r>
              <a:rPr lang="en-US" sz="900" dirty="0">
                <a:solidFill>
                  <a:srgbClr val="008000"/>
                </a:solidFill>
                <a:latin typeface="Consolas" panose="020B0609020204030204" pitchFamily="49" charset="0"/>
              </a:rPr>
              <a:t> table does not have a primary key. Therefore SQL Server stores its rows in an unordered structure called a heap.</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--When you query data from the </a:t>
            </a:r>
            <a:r>
              <a:rPr lang="en-US" sz="900" dirty="0" err="1">
                <a:solidFill>
                  <a:srgbClr val="008000"/>
                </a:solidFill>
                <a:latin typeface="Consolas" panose="020B0609020204030204" pitchFamily="49" charset="0"/>
              </a:rPr>
              <a:t>production.parts</a:t>
            </a:r>
            <a:r>
              <a:rPr lang="en-US" sz="900" dirty="0">
                <a:solidFill>
                  <a:srgbClr val="008000"/>
                </a:solidFill>
                <a:latin typeface="Consolas" panose="020B0609020204030204" pitchFamily="49" charset="0"/>
              </a:rPr>
              <a:t> table, the query optimizer needs to scan the whole table to search.</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--For example, the following SELECT statement finds the part with id 5:</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part_id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part_name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parts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part_id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you display the estimated execution plan in SQL Server Management Studio, you’ll see how SQL Server come up with the following query plan: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--Because the </a:t>
            </a:r>
            <a:r>
              <a:rPr lang="en-US" sz="900" dirty="0" err="1">
                <a:solidFill>
                  <a:srgbClr val="008000"/>
                </a:solidFill>
                <a:latin typeface="Consolas" panose="020B0609020204030204" pitchFamily="49" charset="0"/>
              </a:rPr>
              <a:t>production.parts</a:t>
            </a:r>
            <a:r>
              <a:rPr lang="en-US" sz="900" dirty="0">
                <a:solidFill>
                  <a:srgbClr val="008000"/>
                </a:solidFill>
                <a:latin typeface="Consolas" panose="020B0609020204030204" pitchFamily="49" charset="0"/>
              </a:rPr>
              <a:t> table has only five rows, the query executes very fast. However, if the table contains a large number of rows, it’ll take a lot of time and resources to search for data.</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resolve this issue, SQL Server provides a dedicated structure to speed up the retrieval of rows from a table called index.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has two types of indexes: clustered index and non-clustered index. We will focus on the clustered index in this tutorial.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clustered index stores data rows in a sorted structure based on its key values. Each table has only one clustered index because data rows can be only sorted in one order. A table that has a clustered index is called a clustered table.</a:t>
            </a:r>
            <a:endParaRPr lang="en-US" dirty="0"/>
          </a:p>
        </p:txBody>
      </p:sp>
      <p:sp>
        <p:nvSpPr>
          <p:cNvPr id="5" name="TextBox 4">
            <a:extLst>
              <a:ext uri="{FF2B5EF4-FFF2-40B4-BE49-F238E27FC236}">
                <a16:creationId xmlns:a16="http://schemas.microsoft.com/office/drawing/2014/main" id="{C05AB309-1439-E993-2701-74B7016E5E4E}"/>
              </a:ext>
            </a:extLst>
          </p:cNvPr>
          <p:cNvSpPr txBox="1"/>
          <p:nvPr/>
        </p:nvSpPr>
        <p:spPr>
          <a:xfrm>
            <a:off x="4861932" y="486058"/>
            <a:ext cx="4951140" cy="5216813"/>
          </a:xfrm>
          <a:prstGeom prst="rect">
            <a:avLst/>
          </a:prstGeom>
          <a:noFill/>
        </p:spPr>
        <p:txBody>
          <a:bodyPr wrap="square">
            <a:spAutoFit/>
          </a:bodyPr>
          <a:lstStyle/>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clustered index stores data rows in a sorted structure based on its key values. Each table has only one clustered index because data rows can be only sorted in one order. A table that has a clustered index is called a clustered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--When you create a table with a primary key, SQL Server automatically creates a corresponding clustered index that includes primary key columns.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statement creates a new table named </a:t>
            </a:r>
            <a:r>
              <a:rPr lang="en-US" sz="900" dirty="0" err="1">
                <a:solidFill>
                  <a:srgbClr val="008000"/>
                </a:solidFill>
                <a:latin typeface="Consolas" panose="020B0609020204030204" pitchFamily="49" charset="0"/>
              </a:rPr>
              <a:t>production.part_prices</a:t>
            </a:r>
            <a:r>
              <a:rPr lang="en-US" sz="900" dirty="0">
                <a:solidFill>
                  <a:srgbClr val="008000"/>
                </a:solidFill>
                <a:latin typeface="Consolas" panose="020B0609020204030204" pitchFamily="49" charset="0"/>
              </a:rPr>
              <a:t> with a primary key that includes two columns: </a:t>
            </a:r>
            <a:r>
              <a:rPr lang="en-US" sz="900" dirty="0" err="1">
                <a:solidFill>
                  <a:srgbClr val="008000"/>
                </a:solidFill>
                <a:latin typeface="Consolas" panose="020B0609020204030204" pitchFamily="49" charset="0"/>
              </a:rPr>
              <a:t>part_id</a:t>
            </a:r>
            <a:r>
              <a:rPr lang="en-US" sz="900" dirty="0">
                <a:solidFill>
                  <a:srgbClr val="008000"/>
                </a:solidFill>
                <a:latin typeface="Consolas" panose="020B0609020204030204" pitchFamily="49" charset="0"/>
              </a:rPr>
              <a:t> and </a:t>
            </a:r>
            <a:r>
              <a:rPr lang="en-US" sz="900" dirty="0" err="1">
                <a:solidFill>
                  <a:srgbClr val="008000"/>
                </a:solidFill>
                <a:latin typeface="Consolas" panose="020B0609020204030204" pitchFamily="49" charset="0"/>
              </a:rPr>
              <a:t>valid_from</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part_prices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part_id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valid_from</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price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18</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part_id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valid_from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you add a primary key constraint to an existing table that already has a clustered index, SQL Server will enforce the primary key using a non-clustered index: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ALTER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parts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ADD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part_id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--When a table does not have a primary key, which is very rare, you can use the CREATE CLUSTERED INDEX statement to add a clustered index to it.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creates a clustered index for the </a:t>
            </a:r>
            <a:r>
              <a:rPr lang="en-US" sz="900" dirty="0" err="1">
                <a:solidFill>
                  <a:srgbClr val="008000"/>
                </a:solidFill>
                <a:latin typeface="Consolas" panose="020B0609020204030204" pitchFamily="49" charset="0"/>
              </a:rPr>
              <a:t>production.parts</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CLUSTERED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INDEX</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ix_parts_id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parts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part_id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endParaRPr lang="en-US" dirty="0"/>
          </a:p>
        </p:txBody>
      </p:sp>
    </p:spTree>
    <p:extLst>
      <p:ext uri="{BB962C8B-B14F-4D97-AF65-F5344CB8AC3E}">
        <p14:creationId xmlns:p14="http://schemas.microsoft.com/office/powerpoint/2010/main" val="3954880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54545A-98A4-2490-3DE3-E26EEBB594FF}"/>
              </a:ext>
            </a:extLst>
          </p:cNvPr>
          <p:cNvSpPr txBox="1"/>
          <p:nvPr/>
        </p:nvSpPr>
        <p:spPr>
          <a:xfrm>
            <a:off x="0" y="113382"/>
            <a:ext cx="4951140" cy="5493812"/>
          </a:xfrm>
          <a:prstGeom prst="rect">
            <a:avLst/>
          </a:prstGeom>
          <a:noFill/>
        </p:spPr>
        <p:txBody>
          <a:bodyPr wrap="square">
            <a:spAutoFit/>
          </a:bodyPr>
          <a:lstStyle/>
          <a:p>
            <a:r>
              <a:rPr lang="en-US" sz="900" dirty="0">
                <a:solidFill>
                  <a:srgbClr val="008000"/>
                </a:solidFill>
                <a:latin typeface="Consolas" panose="020B0609020204030204" pitchFamily="49" charset="0"/>
              </a:rPr>
              <a:t>-------------------------------NON CLUSTERED INDEXES-------------------------------------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a:t>
            </a:r>
            <a:r>
              <a:rPr lang="en-US" sz="900" dirty="0" err="1">
                <a:solidFill>
                  <a:srgbClr val="008000"/>
                </a:solidFill>
                <a:latin typeface="Consolas" panose="020B0609020204030204" pitchFamily="49" charset="0"/>
              </a:rPr>
              <a:t>nonclustered</a:t>
            </a:r>
            <a:r>
              <a:rPr lang="en-US" sz="900" dirty="0">
                <a:solidFill>
                  <a:srgbClr val="008000"/>
                </a:solidFill>
                <a:latin typeface="Consolas" panose="020B0609020204030204" pitchFamily="49" charset="0"/>
              </a:rPr>
              <a:t> index is a data structure that improves the speed of data retrieval from tables. Unlike a clustered index, a </a:t>
            </a:r>
            <a:r>
              <a:rPr lang="en-US" sz="900" dirty="0" err="1">
                <a:solidFill>
                  <a:srgbClr val="008000"/>
                </a:solidFill>
                <a:latin typeface="Consolas" panose="020B0609020204030204" pitchFamily="49" charset="0"/>
              </a:rPr>
              <a:t>nonclustered</a:t>
            </a:r>
            <a:r>
              <a:rPr lang="en-US" sz="900" dirty="0">
                <a:solidFill>
                  <a:srgbClr val="008000"/>
                </a:solidFill>
                <a:latin typeface="Consolas" panose="020B0609020204030204" pitchFamily="49" charset="0"/>
              </a:rPr>
              <a:t> index sorts and stores data separately from the data rows in the table. It is a copy of selected columns of data from a table with the links to the associated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--Similar to a clustered index, a </a:t>
            </a:r>
            <a:r>
              <a:rPr lang="en-US" sz="900" dirty="0" err="1">
                <a:solidFill>
                  <a:srgbClr val="008000"/>
                </a:solidFill>
                <a:latin typeface="Consolas" panose="020B0609020204030204" pitchFamily="49" charset="0"/>
              </a:rPr>
              <a:t>nonclustered</a:t>
            </a:r>
            <a:r>
              <a:rPr lang="en-US" sz="900" dirty="0">
                <a:solidFill>
                  <a:srgbClr val="008000"/>
                </a:solidFill>
                <a:latin typeface="Consolas" panose="020B0609020204030204" pitchFamily="49" charset="0"/>
              </a:rPr>
              <a:t> index uses the B-tree structure to organize its data.</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table may have one or more </a:t>
            </a:r>
            <a:r>
              <a:rPr lang="en-US" sz="900" dirty="0" err="1">
                <a:solidFill>
                  <a:srgbClr val="008000"/>
                </a:solidFill>
                <a:latin typeface="Consolas" panose="020B0609020204030204" pitchFamily="49" charset="0"/>
              </a:rPr>
              <a:t>nonclustered</a:t>
            </a:r>
            <a:r>
              <a:rPr lang="en-US" sz="900" dirty="0">
                <a:solidFill>
                  <a:srgbClr val="008000"/>
                </a:solidFill>
                <a:latin typeface="Consolas" panose="020B0609020204030204" pitchFamily="49" charset="0"/>
              </a:rPr>
              <a:t> indexes and each non-clustered index may include one or more columns of the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---Below is a query without indexes--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you display the estimated execution plan, you will see that the query optimizer scans the clustered index to find the row. This is because the </a:t>
            </a:r>
            <a:r>
              <a:rPr lang="en-US" sz="900" dirty="0" err="1">
                <a:solidFill>
                  <a:srgbClr val="008000"/>
                </a:solidFill>
                <a:latin typeface="Consolas" panose="020B0609020204030204" pitchFamily="49" charset="0"/>
              </a:rPr>
              <a:t>sales.customers</a:t>
            </a:r>
            <a:r>
              <a:rPr lang="en-US" sz="900" dirty="0">
                <a:solidFill>
                  <a:srgbClr val="008000"/>
                </a:solidFill>
                <a:latin typeface="Consolas" panose="020B0609020204030204" pitchFamily="49" charset="0"/>
              </a:rPr>
              <a:t> table does not have an index for the city column.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city</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city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'Atwater'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improve the speed of this query, you can create a new index named </a:t>
            </a:r>
            <a:r>
              <a:rPr lang="en-US" sz="900" dirty="0" err="1">
                <a:solidFill>
                  <a:srgbClr val="008000"/>
                </a:solidFill>
                <a:latin typeface="Consolas" panose="020B0609020204030204" pitchFamily="49" charset="0"/>
              </a:rPr>
              <a:t>ix_customers_city</a:t>
            </a:r>
            <a:r>
              <a:rPr lang="en-US" sz="900" dirty="0">
                <a:solidFill>
                  <a:srgbClr val="008000"/>
                </a:solidFill>
                <a:latin typeface="Consolas" panose="020B0609020204030204" pitchFamily="49" charset="0"/>
              </a:rPr>
              <a:t> for the city column: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INDEX</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ix_customers_city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city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NONCLUSTERED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INDEX</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idx_orders_customer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FF11789B-F6D2-A2CC-62E0-207731B72767}"/>
              </a:ext>
            </a:extLst>
          </p:cNvPr>
          <p:cNvSpPr txBox="1"/>
          <p:nvPr/>
        </p:nvSpPr>
        <p:spPr>
          <a:xfrm>
            <a:off x="4954860" y="1073509"/>
            <a:ext cx="4951140" cy="4108817"/>
          </a:xfrm>
          <a:prstGeom prst="rect">
            <a:avLst/>
          </a:prstGeom>
          <a:noFill/>
        </p:spPr>
        <p:txBody>
          <a:bodyPr wrap="square">
            <a:spAutoFit/>
          </a:bodyPr>
          <a:lstStyle/>
          <a:p>
            <a:r>
              <a:rPr lang="en-US" sz="900" dirty="0">
                <a:solidFill>
                  <a:srgbClr val="008000"/>
                </a:solidFill>
                <a:latin typeface="Consolas" panose="020B0609020204030204" pitchFamily="49" charset="0"/>
              </a:rPr>
              <a:t>------------COMPOSITE INDEX---------------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--Using SQL Server CREATE INDEX statement to create a </a:t>
            </a:r>
            <a:r>
              <a:rPr lang="en-US" sz="900" dirty="0" err="1">
                <a:solidFill>
                  <a:srgbClr val="008000"/>
                </a:solidFill>
                <a:latin typeface="Consolas" panose="020B0609020204030204" pitchFamily="49" charset="0"/>
              </a:rPr>
              <a:t>nonclustered</a:t>
            </a:r>
            <a:r>
              <a:rPr lang="en-US" sz="900" dirty="0">
                <a:solidFill>
                  <a:srgbClr val="008000"/>
                </a:solidFill>
                <a:latin typeface="Consolas" panose="020B0609020204030204" pitchFamily="49" charset="0"/>
              </a:rPr>
              <a:t> index for multiple columns example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The below query finds the customer whose last name is Berg and first name is Monika:</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'Berg'</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'Monika'</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query optimizer scans the clustered index to locate the customer.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speed up the retrieval of data, you can create a </a:t>
            </a:r>
            <a:r>
              <a:rPr lang="en-US" sz="900" dirty="0" err="1">
                <a:solidFill>
                  <a:srgbClr val="008000"/>
                </a:solidFill>
                <a:latin typeface="Consolas" panose="020B0609020204030204" pitchFamily="49" charset="0"/>
              </a:rPr>
              <a:t>nonclustered</a:t>
            </a:r>
            <a:r>
              <a:rPr lang="en-US" sz="900" dirty="0">
                <a:solidFill>
                  <a:srgbClr val="008000"/>
                </a:solidFill>
                <a:latin typeface="Consolas" panose="020B0609020204030204" pitchFamily="49" charset="0"/>
              </a:rPr>
              <a:t> index that includes both </a:t>
            </a:r>
            <a:r>
              <a:rPr lang="en-US" sz="900" dirty="0" err="1">
                <a:solidFill>
                  <a:srgbClr val="008000"/>
                </a:solidFill>
                <a:latin typeface="Consolas" panose="020B0609020204030204" pitchFamily="49" charset="0"/>
              </a:rPr>
              <a:t>last_name</a:t>
            </a:r>
            <a:r>
              <a:rPr lang="en-US" sz="900" dirty="0">
                <a:solidFill>
                  <a:srgbClr val="008000"/>
                </a:solidFill>
                <a:latin typeface="Consolas" panose="020B0609020204030204" pitchFamily="49" charset="0"/>
              </a:rPr>
              <a:t> and </a:t>
            </a:r>
            <a:r>
              <a:rPr lang="en-US" sz="900" dirty="0" err="1">
                <a:solidFill>
                  <a:srgbClr val="008000"/>
                </a:solidFill>
                <a:latin typeface="Consolas" panose="020B0609020204030204" pitchFamily="49" charset="0"/>
              </a:rPr>
              <a:t>first_name</a:t>
            </a:r>
            <a:r>
              <a:rPr lang="en-US" sz="900" dirty="0">
                <a:solidFill>
                  <a:srgbClr val="008000"/>
                </a:solidFill>
                <a:latin typeface="Consolas" panose="020B0609020204030204" pitchFamily="49" charset="0"/>
              </a:rPr>
              <a:t> columns: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INDEX</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ix_customers_name</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INDEX</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ix_composite_index</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43523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729CA0-2F67-3FB7-9E50-860FCD049017}"/>
              </a:ext>
            </a:extLst>
          </p:cNvPr>
          <p:cNvSpPr txBox="1"/>
          <p:nvPr/>
        </p:nvSpPr>
        <p:spPr>
          <a:xfrm>
            <a:off x="89210" y="0"/>
            <a:ext cx="4951140" cy="4524315"/>
          </a:xfrm>
          <a:prstGeom prst="rect">
            <a:avLst/>
          </a:prstGeom>
          <a:noFill/>
        </p:spPr>
        <p:txBody>
          <a:bodyPr wrap="square">
            <a:spAutoFit/>
          </a:bodyPr>
          <a:lstStyle/>
          <a:p>
            <a:r>
              <a:rPr lang="en-US" sz="900" dirty="0">
                <a:solidFill>
                  <a:srgbClr val="008000"/>
                </a:solidFill>
                <a:latin typeface="Consolas" panose="020B0609020204030204" pitchFamily="49" charset="0"/>
              </a:rPr>
              <a:t>---------------------IIF CONDITION--------------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IIF() function accepts three arguments. It evaluates the first argument and returns the second argument if the first argument is true; otherwise, it returns the third argument.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shows the syntax of the IIF()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--IIF(</a:t>
            </a:r>
            <a:r>
              <a:rPr lang="en-US" sz="900" dirty="0" err="1">
                <a:solidFill>
                  <a:srgbClr val="008000"/>
                </a:solidFill>
                <a:latin typeface="Consolas" panose="020B0609020204030204" pitchFamily="49" charset="0"/>
              </a:rPr>
              <a:t>boolean_expression</a:t>
            </a:r>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true_value</a:t>
            </a:r>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false_value</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--Below  example uses the IIF() function to check if 10 &lt; 20 and returns the True string:</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'True'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'False'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Result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below  example nests IIF()function inside IIF() functions and returns the corresponding order status based on the status number: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'Pending'</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'Processing'</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'Rejected'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'Completed'</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'N/A'</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780CAC9D-6786-036B-90FE-13A82E39475C}"/>
              </a:ext>
            </a:extLst>
          </p:cNvPr>
          <p:cNvSpPr txBox="1"/>
          <p:nvPr/>
        </p:nvSpPr>
        <p:spPr>
          <a:xfrm>
            <a:off x="1860" y="4717517"/>
            <a:ext cx="4951140" cy="1615827"/>
          </a:xfrm>
          <a:prstGeom prst="rect">
            <a:avLst/>
          </a:prstGeom>
          <a:noFill/>
        </p:spPr>
        <p:txBody>
          <a:bodyPr wrap="square">
            <a:spAutoFit/>
          </a:bodyPr>
          <a:lstStyle/>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salary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10000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'Low'</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'High'</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Salary_Class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shipped_date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IIF</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shipped_date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'2019-01-01'</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'ON TIME'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'DELAYED'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Delivery_Status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dirty="0"/>
          </a:p>
        </p:txBody>
      </p:sp>
      <p:sp>
        <p:nvSpPr>
          <p:cNvPr id="7" name="TextBox 6">
            <a:extLst>
              <a:ext uri="{FF2B5EF4-FFF2-40B4-BE49-F238E27FC236}">
                <a16:creationId xmlns:a16="http://schemas.microsoft.com/office/drawing/2014/main" id="{106F8846-9475-FB69-15A6-03BF321CB872}"/>
              </a:ext>
            </a:extLst>
          </p:cNvPr>
          <p:cNvSpPr txBox="1"/>
          <p:nvPr/>
        </p:nvSpPr>
        <p:spPr>
          <a:xfrm>
            <a:off x="4954860" y="128096"/>
            <a:ext cx="4951140" cy="6601807"/>
          </a:xfrm>
          <a:prstGeom prst="rect">
            <a:avLst/>
          </a:prstGeom>
          <a:noFill/>
        </p:spPr>
        <p:txBody>
          <a:bodyPr wrap="square">
            <a:spAutoFit/>
          </a:bodyPr>
          <a:lstStyle/>
          <a:p>
            <a:r>
              <a:rPr lang="en-US" sz="900" dirty="0">
                <a:solidFill>
                  <a:srgbClr val="008000"/>
                </a:solidFill>
                <a:latin typeface="Consolas" panose="020B0609020204030204" pitchFamily="49" charset="0"/>
              </a:rPr>
              <a:t>-------------CORELATED SUBQUERY------------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correlated subquery is a subquery that uses the values of the outer query. In other words, the correlated subquery depends on the outer query for its values.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--Because of this dependency, a correlated subquery cannot be executed independently as a simple subquery.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--Moreover, a correlated subquery is executed repeatedly, once for each row evaluated by the outer query. The correlated subquery is also known as a repeating subquery.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finds the products whose list price is equal to the highest list price of the products within the same category: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p1</a:t>
            </a: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MAX</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p2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p2</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p2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category_id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p1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category_id</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p2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category_id</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for each product evaluated by the outer query, the subquery finds the highest price of all products in its category.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the price of the current product is equal to the highest price of all products in its category, the product is included in the result set. This process continues for the next product and so 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--As you can see, the correlated subquery is executed once for each product evaluated by the outer query.</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435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3B21CA-A239-4E82-F757-0FFB63FC5689}"/>
              </a:ext>
            </a:extLst>
          </p:cNvPr>
          <p:cNvSpPr txBox="1"/>
          <p:nvPr/>
        </p:nvSpPr>
        <p:spPr>
          <a:xfrm>
            <a:off x="1860" y="-287402"/>
            <a:ext cx="4951140" cy="7432804"/>
          </a:xfrm>
          <a:prstGeom prst="rect">
            <a:avLst/>
          </a:prstGeom>
          <a:noFill/>
        </p:spPr>
        <p:txBody>
          <a:bodyPr wrap="square">
            <a:spAutoFit/>
          </a:bodyPr>
          <a:lstStyle/>
          <a:p>
            <a:r>
              <a:rPr lang="en-US" sz="900" dirty="0">
                <a:solidFill>
                  <a:srgbClr val="008000"/>
                </a:solidFill>
                <a:latin typeface="Consolas" panose="020B0609020204030204" pitchFamily="49" charset="0"/>
              </a:rPr>
              <a:t>------------EXISTS WITH CORRELATED SUBQUERY--------------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r>
              <a:rPr lang="en-US" sz="900" dirty="0">
                <a:solidFill>
                  <a:srgbClr val="000000"/>
                </a:solidFill>
                <a:latin typeface="Consolas" panose="020B0609020204030204" pitchFamily="49" charset="0"/>
              </a:rPr>
              <a:t> c</a:t>
            </a: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EXISTS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HAVING</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2</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we had a correlated subquery that returns customers who place more than two orders.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the number of orders placed by the customer is less than or equal to two, the subquery returns an empty result set that causes the EXISTS operator to evaluate to FALSE.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--Based on the result of the EXISTS operator, the customer will be included in the result set.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--Find employees earning more than their department’s average salary.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 e</a:t>
            </a: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 d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department_id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 e</a:t>
            </a: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departments d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salary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salary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department_id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70E049CE-8AF5-1443-3AFE-3FE57B3B4307}"/>
              </a:ext>
            </a:extLst>
          </p:cNvPr>
          <p:cNvSpPr txBox="1"/>
          <p:nvPr/>
        </p:nvSpPr>
        <p:spPr>
          <a:xfrm>
            <a:off x="4954860" y="610404"/>
            <a:ext cx="4951140" cy="3139321"/>
          </a:xfrm>
          <a:prstGeom prst="rect">
            <a:avLst/>
          </a:prstGeom>
          <a:noFill/>
        </p:spPr>
        <p:txBody>
          <a:bodyPr wrap="square">
            <a:spAutoFit/>
          </a:bodyPr>
          <a:lstStyle/>
          <a:p>
            <a:r>
              <a:rPr lang="en-US" sz="900" dirty="0">
                <a:solidFill>
                  <a:srgbClr val="008000"/>
                </a:solidFill>
                <a:latin typeface="Consolas" panose="020B0609020204030204" pitchFamily="49" charset="0"/>
              </a:rPr>
              <a:t>--Write a SQL query using the EXISTS clause to display only those departments that have at least one employee assigned to them.</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departments d</a:t>
            </a: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EXISTS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1</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 e</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department_id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--Write a SQL query using the EXISTS clause to display only those customers who have placed at least one order.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r>
              <a:rPr lang="en-US" sz="900" dirty="0">
                <a:solidFill>
                  <a:srgbClr val="000000"/>
                </a:solidFill>
                <a:latin typeface="Consolas" panose="020B0609020204030204" pitchFamily="49" charset="0"/>
              </a:rPr>
              <a:t> c</a:t>
            </a: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EXISTS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1</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623084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8653FF6-67C4-5CFD-7B7F-9047E63BD165}"/>
              </a:ext>
            </a:extLst>
          </p:cNvPr>
          <p:cNvSpPr txBox="1"/>
          <p:nvPr/>
        </p:nvSpPr>
        <p:spPr>
          <a:xfrm>
            <a:off x="1860" y="81051"/>
            <a:ext cx="4951140" cy="4108817"/>
          </a:xfrm>
          <a:prstGeom prst="rect">
            <a:avLst/>
          </a:prstGeom>
          <a:noFill/>
        </p:spPr>
        <p:txBody>
          <a:bodyPr wrap="square">
            <a:spAutoFit/>
          </a:bodyPr>
          <a:lstStyle/>
          <a:p>
            <a:r>
              <a:rPr lang="en-US" sz="900" dirty="0">
                <a:solidFill>
                  <a:srgbClr val="008000"/>
                </a:solidFill>
                <a:latin typeface="Consolas" panose="020B0609020204030204" pitchFamily="49" charset="0"/>
              </a:rPr>
              <a:t>---------------------VIEW-------------------------------</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creates a view named </a:t>
            </a:r>
            <a:r>
              <a:rPr lang="en-US" sz="900" dirty="0" err="1">
                <a:solidFill>
                  <a:srgbClr val="008000"/>
                </a:solidFill>
                <a:latin typeface="Consolas" panose="020B0609020204030204" pitchFamily="49" charset="0"/>
              </a:rPr>
              <a:t>daily_sales</a:t>
            </a:r>
            <a:r>
              <a:rPr lang="en-US" sz="900" dirty="0">
                <a:solidFill>
                  <a:srgbClr val="008000"/>
                </a:solidFill>
                <a:latin typeface="Consolas" panose="020B0609020204030204" pitchFamily="49" charset="0"/>
              </a:rPr>
              <a:t> based on the orders, </a:t>
            </a:r>
            <a:r>
              <a:rPr lang="en-US" sz="900" dirty="0" err="1">
                <a:solidFill>
                  <a:srgbClr val="008000"/>
                </a:solidFill>
                <a:latin typeface="Consolas" panose="020B0609020204030204" pitchFamily="49" charset="0"/>
              </a:rPr>
              <a:t>order_items</a:t>
            </a:r>
            <a:r>
              <a:rPr lang="en-US" sz="900" dirty="0">
                <a:solidFill>
                  <a:srgbClr val="008000"/>
                </a:solidFill>
                <a:latin typeface="Consolas" panose="020B0609020204030204" pitchFamily="49" charset="0"/>
              </a:rPr>
              <a:t>, and products tables: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VIEW</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daily_sales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month</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m</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day</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sales</a:t>
            </a: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o</a:t>
            </a: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p</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DROP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VIEW</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daily_sales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--Once the </a:t>
            </a:r>
            <a:r>
              <a:rPr lang="en-US" sz="900" dirty="0" err="1">
                <a:solidFill>
                  <a:srgbClr val="008000"/>
                </a:solidFill>
                <a:latin typeface="Consolas" panose="020B0609020204030204" pitchFamily="49" charset="0"/>
              </a:rPr>
              <a:t>daily_sales</a:t>
            </a:r>
            <a:r>
              <a:rPr lang="en-US" sz="900" dirty="0">
                <a:solidFill>
                  <a:srgbClr val="008000"/>
                </a:solidFill>
                <a:latin typeface="Consolas" panose="020B0609020204030204" pitchFamily="49" charset="0"/>
              </a:rPr>
              <a:t> view is created, you can query data against the underlying tables using a simple SELECT statement: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daily_sales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8A4E2421-2C22-CF74-783F-BBBA62852758}"/>
              </a:ext>
            </a:extLst>
          </p:cNvPr>
          <p:cNvSpPr txBox="1"/>
          <p:nvPr/>
        </p:nvSpPr>
        <p:spPr>
          <a:xfrm>
            <a:off x="4954860" y="677971"/>
            <a:ext cx="4951140" cy="5078313"/>
          </a:xfrm>
          <a:prstGeom prst="rect">
            <a:avLst/>
          </a:prstGeom>
          <a:noFill/>
        </p:spPr>
        <p:txBody>
          <a:bodyPr wrap="square">
            <a:spAutoFit/>
          </a:bodyPr>
          <a:lstStyle/>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Create a view that displays all completed orders along with:</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ID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Customer full name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Product name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Quantity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Total price of each item</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Only include orders where the order status is 4 (Completed).*/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VIEW</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completed_orders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Full_Name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product_quantity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c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Having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Customer </a:t>
            </a:r>
            <a:r>
              <a:rPr lang="en-US" sz="900" dirty="0">
                <a:solidFill>
                  <a:srgbClr val="0000FF"/>
                </a:solidFill>
                <a:latin typeface="Consolas" panose="020B0609020204030204" pitchFamily="49" charset="0"/>
              </a:rPr>
              <a:t>full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name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Product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name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Quantity</a:t>
            </a:r>
            <a:endParaRPr lang="en-US" dirty="0"/>
          </a:p>
        </p:txBody>
      </p:sp>
    </p:spTree>
    <p:extLst>
      <p:ext uri="{BB962C8B-B14F-4D97-AF65-F5344CB8AC3E}">
        <p14:creationId xmlns:p14="http://schemas.microsoft.com/office/powerpoint/2010/main" val="28136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2F33A5-703B-081E-0993-85D91A5E1924}"/>
              </a:ext>
            </a:extLst>
          </p:cNvPr>
          <p:cNvSpPr txBox="1"/>
          <p:nvPr/>
        </p:nvSpPr>
        <p:spPr>
          <a:xfrm>
            <a:off x="200722" y="162672"/>
            <a:ext cx="4951140" cy="5216813"/>
          </a:xfrm>
          <a:prstGeom prst="rect">
            <a:avLst/>
          </a:prstGeom>
          <a:noFill/>
        </p:spPr>
        <p:txBody>
          <a:bodyPr wrap="square">
            <a:spAutoFit/>
          </a:bodyPr>
          <a:lstStyle/>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VIEW</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v_completed_orders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discount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total_price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r>
              <a:rPr lang="en-US" sz="900" dirty="0">
                <a:solidFill>
                  <a:srgbClr val="000000"/>
                </a:solidFill>
                <a:latin typeface="Consolas" panose="020B0609020204030204" pitchFamily="49" charset="0"/>
              </a:rPr>
              <a:t> c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oi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-----Another question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Create a view to display: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Employee ID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Employee full name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Manager full name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Use a SELF JOIN on the employees table.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VIEW</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employee_manager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m</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manager_name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 e</a:t>
            </a:r>
          </a:p>
          <a:p>
            <a:r>
              <a:rPr lang="en-US" sz="900" dirty="0">
                <a:solidFill>
                  <a:srgbClr val="808080"/>
                </a:solidFill>
                <a:latin typeface="Consolas" panose="020B0609020204030204" pitchFamily="49" charset="0"/>
              </a:rPr>
              <a:t>LEFT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employees m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employee_id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employee_manager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add the customer name column to the </a:t>
            </a:r>
            <a:r>
              <a:rPr lang="en-US" sz="900" dirty="0" err="1">
                <a:solidFill>
                  <a:srgbClr val="008000"/>
                </a:solidFill>
                <a:latin typeface="Consolas" panose="020B0609020204030204" pitchFamily="49" charset="0"/>
              </a:rPr>
              <a:t>sales.daily_sales</a:t>
            </a:r>
            <a:r>
              <a:rPr lang="en-US" sz="900" dirty="0">
                <a:solidFill>
                  <a:srgbClr val="008000"/>
                </a:solidFill>
                <a:latin typeface="Consolas" panose="020B0609020204030204" pitchFamily="49" charset="0"/>
              </a:rPr>
              <a:t> view, you use the CREATE VIEW OR ALTER as follows:</a:t>
            </a:r>
            <a:endParaRPr lang="en-US" dirty="0"/>
          </a:p>
        </p:txBody>
      </p:sp>
    </p:spTree>
    <p:extLst>
      <p:ext uri="{BB962C8B-B14F-4D97-AF65-F5344CB8AC3E}">
        <p14:creationId xmlns:p14="http://schemas.microsoft.com/office/powerpoint/2010/main" val="325485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D764A4-DF36-3D66-8C24-AAD4548E654D}"/>
              </a:ext>
            </a:extLst>
          </p:cNvPr>
          <p:cNvSpPr txBox="1"/>
          <p:nvPr/>
        </p:nvSpPr>
        <p:spPr>
          <a:xfrm>
            <a:off x="0" y="92861"/>
            <a:ext cx="4951140" cy="6047809"/>
          </a:xfrm>
          <a:prstGeom prst="rect">
            <a:avLst/>
          </a:prstGeom>
          <a:noFill/>
        </p:spPr>
        <p:txBody>
          <a:bodyPr wrap="square">
            <a:spAutoFit/>
          </a:bodyPr>
          <a:lstStyle/>
          <a:p>
            <a:r>
              <a:rPr lang="en-US" sz="900" dirty="0">
                <a:solidFill>
                  <a:srgbClr val="008000"/>
                </a:solidFill>
                <a:latin typeface="Consolas" panose="020B0609020204030204" pitchFamily="49" charset="0"/>
              </a:rPr>
              <a:t>---------------------STORED PROCEDURE---------------------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--SELECT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product_name</a:t>
            </a:r>
            <a:r>
              <a:rPr lang="en-US" sz="900" dirty="0">
                <a:solidFill>
                  <a:srgbClr val="008000"/>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--FROM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production.products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product_name</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uspProductList</a:t>
            </a:r>
            <a:r>
              <a:rPr lang="en-US" sz="900" dirty="0">
                <a:solidFill>
                  <a:srgbClr val="008000"/>
                </a:solidFill>
                <a:latin typeface="Consolas" panose="020B0609020204030204" pitchFamily="49" charset="0"/>
              </a:rPr>
              <a:t> is the name of the stored procedure.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AS keyword separates the heading and the body of the stored procedure.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the stored procedure has one statement, the BEGIN and END keywords surrounding the statement are optional. However, it is a good practice to include them to make the code clear.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--Note that in addition to the CREATE PROCEDURE keywords, you can use the CREATE PROC keywords to make the statement shorter.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everything is correct, then you will see the following message: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--Commands completed successfully.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--It means that the stored procedure has been successfully compiled and saved into the database catalog.</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PROCEDURE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uspProductList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uspProductList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--DROP PROCEDURE </a:t>
            </a:r>
            <a:r>
              <a:rPr lang="en-US" sz="900" dirty="0" err="1">
                <a:solidFill>
                  <a:srgbClr val="008000"/>
                </a:solidFill>
                <a:latin typeface="Consolas" panose="020B0609020204030204" pitchFamily="49" charset="0"/>
              </a:rPr>
              <a:t>uspProductList</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9A678626-81A3-CC5A-5443-798BBE6FCE4E}"/>
              </a:ext>
            </a:extLst>
          </p:cNvPr>
          <p:cNvSpPr txBox="1"/>
          <p:nvPr/>
        </p:nvSpPr>
        <p:spPr>
          <a:xfrm>
            <a:off x="4951140" y="717330"/>
            <a:ext cx="4951140" cy="5078313"/>
          </a:xfrm>
          <a:prstGeom prst="rect">
            <a:avLst/>
          </a:prstGeom>
          <a:noFill/>
        </p:spPr>
        <p:txBody>
          <a:bodyPr wrap="square">
            <a:spAutoFit/>
          </a:bodyPr>
          <a:lstStyle/>
          <a:p>
            <a:r>
              <a:rPr lang="en-US" sz="900" dirty="0">
                <a:solidFill>
                  <a:srgbClr val="008000"/>
                </a:solidFill>
                <a:latin typeface="Consolas" panose="020B0609020204030204" pitchFamily="49" charset="0"/>
              </a:rPr>
              <a:t>--Creating a stored procedure with one parameter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product_name</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FROM </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production.products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ORDER BY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list_price</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--We can create a stored procedure that wraps this query using the CREATE PROCEDURE statement: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PROCEDURE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uspFindProducts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--However, this time we can add a parameter to the stored procedure to find the products whose list prices are greater than an input price: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we added a parameter named @min_list_price to the </a:t>
            </a:r>
            <a:r>
              <a:rPr lang="en-US" sz="900" dirty="0" err="1">
                <a:solidFill>
                  <a:srgbClr val="008000"/>
                </a:solidFill>
                <a:latin typeface="Consolas" panose="020B0609020204030204" pitchFamily="49" charset="0"/>
              </a:rPr>
              <a:t>uspFindProducts</a:t>
            </a:r>
            <a:r>
              <a:rPr lang="en-US" sz="900" dirty="0">
                <a:solidFill>
                  <a:srgbClr val="008000"/>
                </a:solidFill>
                <a:latin typeface="Consolas" panose="020B0609020204030204" pitchFamily="49" charset="0"/>
              </a:rPr>
              <a:t> stored procedure. Every parameter must start with the @ sign. The AS DECIMAL keywords specify the data type of the @min_list_price parameter. The parameter must be surrounded by the opening and closing brackets.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 we used @min_list_price parameter in the WHERE clause of the SELECT statement to filter only the products whose list prices are greater than or equal to the @min_list_price.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741512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3E2CA2-52CE-0CDE-85CA-28F6F4309BB7}"/>
              </a:ext>
            </a:extLst>
          </p:cNvPr>
          <p:cNvSpPr txBox="1"/>
          <p:nvPr/>
        </p:nvSpPr>
        <p:spPr>
          <a:xfrm>
            <a:off x="100361" y="256006"/>
            <a:ext cx="4951140" cy="5632311"/>
          </a:xfrm>
          <a:prstGeom prst="rect">
            <a:avLst/>
          </a:prstGeom>
          <a:noFill/>
        </p:spPr>
        <p:txBody>
          <a:bodyPr wrap="square">
            <a:spAutoFit/>
          </a:bodyPr>
          <a:lstStyle/>
          <a:p>
            <a:r>
              <a:rPr lang="pt-BR" sz="900" dirty="0">
                <a:solidFill>
                  <a:srgbClr val="0000FF"/>
                </a:solidFill>
                <a:latin typeface="Consolas" panose="020B0609020204030204" pitchFamily="49" charset="0"/>
              </a:rPr>
              <a:t>ALTER</a:t>
            </a:r>
            <a:r>
              <a:rPr lang="pt-BR" sz="900" dirty="0">
                <a:solidFill>
                  <a:srgbClr val="000000"/>
                </a:solidFill>
                <a:latin typeface="Consolas" panose="020B0609020204030204" pitchFamily="49" charset="0"/>
              </a:rPr>
              <a:t> </a:t>
            </a:r>
            <a:r>
              <a:rPr lang="pt-BR" sz="900" dirty="0">
                <a:solidFill>
                  <a:srgbClr val="0000FF"/>
                </a:solidFill>
                <a:latin typeface="Consolas" panose="020B0609020204030204" pitchFamily="49" charset="0"/>
              </a:rPr>
              <a:t>PROCEDURE</a:t>
            </a:r>
            <a:r>
              <a:rPr lang="pt-BR" sz="900" dirty="0">
                <a:solidFill>
                  <a:srgbClr val="000000"/>
                </a:solidFill>
                <a:latin typeface="Consolas" panose="020B0609020204030204" pitchFamily="49" charset="0"/>
              </a:rPr>
              <a:t> uspFindProducts</a:t>
            </a:r>
            <a:r>
              <a:rPr lang="pt-BR" sz="900" dirty="0">
                <a:solidFill>
                  <a:srgbClr val="808080"/>
                </a:solidFill>
                <a:latin typeface="Consolas" panose="020B0609020204030204" pitchFamily="49" charset="0"/>
              </a:rPr>
              <a:t>(</a:t>
            </a:r>
            <a:r>
              <a:rPr lang="pt-BR" sz="900" dirty="0">
                <a:solidFill>
                  <a:srgbClr val="000000"/>
                </a:solidFill>
                <a:latin typeface="Consolas" panose="020B0609020204030204" pitchFamily="49" charset="0"/>
              </a:rPr>
              <a:t>@min_list_price </a:t>
            </a:r>
            <a:r>
              <a:rPr lang="pt-BR" sz="900" dirty="0">
                <a:solidFill>
                  <a:srgbClr val="0000FF"/>
                </a:solidFill>
                <a:latin typeface="Consolas" panose="020B0609020204030204" pitchFamily="49" charset="0"/>
              </a:rPr>
              <a:t>AS</a:t>
            </a:r>
            <a:r>
              <a:rPr lang="pt-BR" sz="900" dirty="0">
                <a:solidFill>
                  <a:srgbClr val="000000"/>
                </a:solidFill>
                <a:latin typeface="Consolas" panose="020B0609020204030204" pitchFamily="49" charset="0"/>
              </a:rPr>
              <a:t> </a:t>
            </a:r>
            <a:r>
              <a:rPr lang="pt-BR" sz="900" dirty="0">
                <a:solidFill>
                  <a:srgbClr val="0000FF"/>
                </a:solidFill>
                <a:latin typeface="Consolas" panose="020B0609020204030204" pitchFamily="49" charset="0"/>
              </a:rPr>
              <a:t>DECIMAL</a:t>
            </a:r>
            <a:r>
              <a:rPr lang="pt-BR" sz="900" dirty="0">
                <a:solidFill>
                  <a:srgbClr val="808080"/>
                </a:solidFill>
                <a:latin typeface="Consolas" panose="020B0609020204030204" pitchFamily="49" charset="0"/>
              </a:rPr>
              <a:t>)</a:t>
            </a:r>
            <a:endParaRPr lang="pt-BR"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@min_list_price</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uspFindProducts</a:t>
            </a:r>
            <a:r>
              <a:rPr lang="en-US" sz="900" dirty="0">
                <a:solidFill>
                  <a:srgbClr val="0000FF"/>
                </a:solidFill>
                <a:latin typeface="Consolas" panose="020B0609020204030204" pitchFamily="49" charset="0"/>
              </a:rPr>
              <a:t> </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--Creating a stored procedure with multiple parameters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--Stored procedures can take one or more parameters. The parameters are separated by commas.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modifies the </a:t>
            </a:r>
            <a:r>
              <a:rPr lang="en-US" sz="900" dirty="0" err="1">
                <a:solidFill>
                  <a:srgbClr val="008000"/>
                </a:solidFill>
                <a:latin typeface="Consolas" panose="020B0609020204030204" pitchFamily="49" charset="0"/>
              </a:rPr>
              <a:t>uspFindProducts</a:t>
            </a:r>
            <a:r>
              <a:rPr lang="en-US" sz="900" dirty="0">
                <a:solidFill>
                  <a:srgbClr val="008000"/>
                </a:solidFill>
                <a:latin typeface="Consolas" panose="020B0609020204030204" pitchFamily="49" charset="0"/>
              </a:rPr>
              <a:t> stored procedure by adding one more parameter named @max_list_price to it: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ALTER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PROCEDURE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uspFindProducts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pt-BR" sz="900" dirty="0">
                <a:solidFill>
                  <a:srgbClr val="000000"/>
                </a:solidFill>
                <a:latin typeface="Consolas" panose="020B0609020204030204" pitchFamily="49" charset="0"/>
              </a:rPr>
              <a:t>    @min_list_price </a:t>
            </a:r>
            <a:r>
              <a:rPr lang="pt-BR" sz="900" dirty="0">
                <a:solidFill>
                  <a:srgbClr val="0000FF"/>
                </a:solidFill>
                <a:latin typeface="Consolas" panose="020B0609020204030204" pitchFamily="49" charset="0"/>
              </a:rPr>
              <a:t>AS</a:t>
            </a:r>
            <a:r>
              <a:rPr lang="pt-BR" sz="900" dirty="0">
                <a:solidFill>
                  <a:srgbClr val="000000"/>
                </a:solidFill>
                <a:latin typeface="Consolas" panose="020B0609020204030204" pitchFamily="49" charset="0"/>
              </a:rPr>
              <a:t> </a:t>
            </a:r>
            <a:r>
              <a:rPr lang="pt-BR" sz="900" dirty="0">
                <a:solidFill>
                  <a:srgbClr val="0000FF"/>
                </a:solidFill>
                <a:latin typeface="Consolas" panose="020B0609020204030204" pitchFamily="49" charset="0"/>
              </a:rPr>
              <a:t>DECIMAL</a:t>
            </a:r>
            <a:endParaRPr lang="pt-BR" sz="900" dirty="0">
              <a:solidFill>
                <a:srgbClr val="000000"/>
              </a:solidFill>
              <a:latin typeface="Consolas" panose="020B0609020204030204" pitchFamily="49" charset="0"/>
            </a:endParaRPr>
          </a:p>
          <a:p>
            <a:r>
              <a:rPr lang="pt-BR" sz="900" dirty="0">
                <a:solidFill>
                  <a:srgbClr val="000000"/>
                </a:solidFill>
                <a:latin typeface="Consolas" panose="020B0609020204030204" pitchFamily="49" charset="0"/>
              </a:rPr>
              <a:t>    </a:t>
            </a:r>
            <a:r>
              <a:rPr lang="pt-BR" sz="900" dirty="0">
                <a:solidFill>
                  <a:srgbClr val="808080"/>
                </a:solidFill>
                <a:latin typeface="Consolas" panose="020B0609020204030204" pitchFamily="49" charset="0"/>
              </a:rPr>
              <a:t>,</a:t>
            </a:r>
            <a:r>
              <a:rPr lang="pt-BR" sz="900" dirty="0">
                <a:solidFill>
                  <a:srgbClr val="000000"/>
                </a:solidFill>
                <a:latin typeface="Consolas" panose="020B0609020204030204" pitchFamily="49" charset="0"/>
              </a:rPr>
              <a:t>@max_list_price </a:t>
            </a:r>
            <a:r>
              <a:rPr lang="pt-BR" sz="900" dirty="0">
                <a:solidFill>
                  <a:srgbClr val="0000FF"/>
                </a:solidFill>
                <a:latin typeface="Consolas" panose="020B0609020204030204" pitchFamily="49" charset="0"/>
              </a:rPr>
              <a:t>AS</a:t>
            </a:r>
            <a:r>
              <a:rPr lang="pt-BR" sz="900" dirty="0">
                <a:solidFill>
                  <a:srgbClr val="000000"/>
                </a:solidFill>
                <a:latin typeface="Consolas" panose="020B0609020204030204" pitchFamily="49" charset="0"/>
              </a:rPr>
              <a:t> </a:t>
            </a:r>
            <a:r>
              <a:rPr lang="pt-BR" sz="900" dirty="0">
                <a:solidFill>
                  <a:srgbClr val="0000FF"/>
                </a:solidFill>
                <a:latin typeface="Consolas" panose="020B0609020204030204" pitchFamily="49" charset="0"/>
              </a:rPr>
              <a:t>DECIMAL</a:t>
            </a:r>
            <a:endParaRPr lang="pt-BR"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@min_list_price </a:t>
            </a:r>
            <a:r>
              <a:rPr lang="en-US" sz="900" dirty="0">
                <a:solidFill>
                  <a:srgbClr val="808080"/>
                </a:solidFill>
                <a:latin typeface="Consolas" panose="020B0609020204030204" pitchFamily="49" charset="0"/>
              </a:rPr>
              <a:t>AND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@max_list_price</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5F8E5D5E-25DF-6EFC-ADE3-475E780CCAAD}"/>
              </a:ext>
            </a:extLst>
          </p:cNvPr>
          <p:cNvSpPr txBox="1"/>
          <p:nvPr/>
        </p:nvSpPr>
        <p:spPr>
          <a:xfrm>
            <a:off x="4953000" y="0"/>
            <a:ext cx="4951140" cy="6878806"/>
          </a:xfrm>
          <a:prstGeom prst="rect">
            <a:avLst/>
          </a:prstGeom>
          <a:noFill/>
        </p:spPr>
        <p:txBody>
          <a:bodyPr wrap="square">
            <a:spAutoFit/>
          </a:bodyPr>
          <a:lstStyle/>
          <a:p>
            <a:r>
              <a:rPr lang="en-US" sz="900" dirty="0">
                <a:solidFill>
                  <a:srgbClr val="008000"/>
                </a:solidFill>
                <a:latin typeface="Consolas" panose="020B0609020204030204" pitchFamily="49" charset="0"/>
              </a:rPr>
              <a:t>--Once the stored procedure is modified successfully, you can execute it by passing two arguments, one for @min_list_price and the other for @max_list_price: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EXECUTE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uspFindProducts</a:t>
            </a:r>
            <a:r>
              <a:rPr lang="en-US" sz="900" dirty="0">
                <a:solidFill>
                  <a:srgbClr val="0000FF"/>
                </a:solidFill>
                <a:latin typeface="Consolas" panose="020B0609020204030204" pitchFamily="49" charset="0"/>
              </a:rPr>
              <a:t> </a:t>
            </a:r>
            <a:r>
              <a:rPr lang="en-US" sz="900" dirty="0">
                <a:solidFill>
                  <a:srgbClr val="000000"/>
                </a:solidFill>
                <a:latin typeface="Consolas" panose="020B0609020204030204" pitchFamily="49" charset="0"/>
              </a:rPr>
              <a:t>900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--Using named parameters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case stored procedures have multiple parameters, it is better and more clear to execute the stored procedures using named parameters.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--For example, the following statement executes the </a:t>
            </a:r>
            <a:r>
              <a:rPr lang="en-US" sz="900" dirty="0" err="1">
                <a:solidFill>
                  <a:srgbClr val="008000"/>
                </a:solidFill>
                <a:latin typeface="Consolas" panose="020B0609020204030204" pitchFamily="49" charset="0"/>
              </a:rPr>
              <a:t>uspFindProducts</a:t>
            </a:r>
            <a:r>
              <a:rPr lang="en-US" sz="900" dirty="0">
                <a:solidFill>
                  <a:srgbClr val="008000"/>
                </a:solidFill>
                <a:latin typeface="Consolas" panose="020B0609020204030204" pitchFamily="49" charset="0"/>
              </a:rPr>
              <a:t> stored procedure using the named parameters @min_list_priceand @max_list_price: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EXECUTE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uspFindProducts</a:t>
            </a:r>
            <a:r>
              <a:rPr lang="en-US" sz="900" dirty="0">
                <a:solidFill>
                  <a:srgbClr val="0000FF"/>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000000"/>
                </a:solidFill>
                <a:latin typeface="Consolas" panose="020B0609020204030204" pitchFamily="49" charset="0"/>
              </a:rPr>
              <a:t>@min_list_price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@max_list_price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--Creating text parameters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adds the @name parameter as a character string parameter to the stored procedure.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ALTER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PROCEDURE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uspFindProducts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pt-BR" sz="900" dirty="0">
                <a:solidFill>
                  <a:srgbClr val="000000"/>
                </a:solidFill>
                <a:latin typeface="Consolas" panose="020B0609020204030204" pitchFamily="49" charset="0"/>
              </a:rPr>
              <a:t>    @min_list_price </a:t>
            </a:r>
            <a:r>
              <a:rPr lang="pt-BR" sz="900" dirty="0">
                <a:solidFill>
                  <a:srgbClr val="0000FF"/>
                </a:solidFill>
                <a:latin typeface="Consolas" panose="020B0609020204030204" pitchFamily="49" charset="0"/>
              </a:rPr>
              <a:t>AS</a:t>
            </a:r>
            <a:r>
              <a:rPr lang="pt-BR" sz="900" dirty="0">
                <a:solidFill>
                  <a:srgbClr val="000000"/>
                </a:solidFill>
                <a:latin typeface="Consolas" panose="020B0609020204030204" pitchFamily="49" charset="0"/>
              </a:rPr>
              <a:t> </a:t>
            </a:r>
            <a:r>
              <a:rPr lang="pt-BR" sz="900" dirty="0">
                <a:solidFill>
                  <a:srgbClr val="0000FF"/>
                </a:solidFill>
                <a:latin typeface="Consolas" panose="020B0609020204030204" pitchFamily="49" charset="0"/>
              </a:rPr>
              <a:t>DECIMAL</a:t>
            </a:r>
            <a:endParaRPr lang="pt-BR" sz="900" dirty="0">
              <a:solidFill>
                <a:srgbClr val="000000"/>
              </a:solidFill>
              <a:latin typeface="Consolas" panose="020B0609020204030204" pitchFamily="49" charset="0"/>
            </a:endParaRPr>
          </a:p>
          <a:p>
            <a:r>
              <a:rPr lang="pt-BR" sz="900" dirty="0">
                <a:solidFill>
                  <a:srgbClr val="000000"/>
                </a:solidFill>
                <a:latin typeface="Consolas" panose="020B0609020204030204" pitchFamily="49" charset="0"/>
              </a:rPr>
              <a:t>    </a:t>
            </a:r>
            <a:r>
              <a:rPr lang="pt-BR" sz="900" dirty="0">
                <a:solidFill>
                  <a:srgbClr val="808080"/>
                </a:solidFill>
                <a:latin typeface="Consolas" panose="020B0609020204030204" pitchFamily="49" charset="0"/>
              </a:rPr>
              <a:t>,</a:t>
            </a:r>
            <a:r>
              <a:rPr lang="pt-BR" sz="900" dirty="0">
                <a:solidFill>
                  <a:srgbClr val="000000"/>
                </a:solidFill>
                <a:latin typeface="Consolas" panose="020B0609020204030204" pitchFamily="49" charset="0"/>
              </a:rPr>
              <a:t>@max_list_price </a:t>
            </a:r>
            <a:r>
              <a:rPr lang="pt-BR" sz="900" dirty="0">
                <a:solidFill>
                  <a:srgbClr val="0000FF"/>
                </a:solidFill>
                <a:latin typeface="Consolas" panose="020B0609020204030204" pitchFamily="49" charset="0"/>
              </a:rPr>
              <a:t>AS</a:t>
            </a:r>
            <a:r>
              <a:rPr lang="pt-BR" sz="900" dirty="0">
                <a:solidFill>
                  <a:srgbClr val="000000"/>
                </a:solidFill>
                <a:latin typeface="Consolas" panose="020B0609020204030204" pitchFamily="49" charset="0"/>
              </a:rPr>
              <a:t> </a:t>
            </a:r>
            <a:r>
              <a:rPr lang="pt-BR" sz="900" dirty="0">
                <a:solidFill>
                  <a:srgbClr val="0000FF"/>
                </a:solidFill>
                <a:latin typeface="Consolas" panose="020B0609020204030204" pitchFamily="49" charset="0"/>
              </a:rPr>
              <a:t>DECIMAL</a:t>
            </a:r>
            <a:endParaRPr lang="pt-BR"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@name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max</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@min_list_price </a:t>
            </a:r>
            <a:r>
              <a:rPr lang="en-US" sz="900" dirty="0">
                <a:solidFill>
                  <a:srgbClr val="808080"/>
                </a:solidFill>
                <a:latin typeface="Consolas" panose="020B0609020204030204" pitchFamily="49" charset="0"/>
              </a:rPr>
              <a:t>AND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@max_list_price </a:t>
            </a:r>
            <a:r>
              <a:rPr lang="en-US" sz="900" dirty="0">
                <a:solidFill>
                  <a:srgbClr val="808080"/>
                </a:solidFill>
                <a:latin typeface="Consolas" panose="020B0609020204030204" pitchFamily="49" charset="0"/>
              </a:rPr>
              <a:t>AND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LIKE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@name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the WHERE clause of the SELECT statement, we added the following condition: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product_name</a:t>
            </a:r>
            <a:r>
              <a:rPr lang="en-US" sz="900" dirty="0">
                <a:solidFill>
                  <a:srgbClr val="008000"/>
                </a:solidFill>
                <a:latin typeface="Consolas" panose="020B0609020204030204" pitchFamily="49" charset="0"/>
              </a:rPr>
              <a:t> LIKE '%' + @name +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--By doing this, the stored procedure returns the products whose list prices are in the range of min and max list prices and the product names also contain a piece of text that you pass in.</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619061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8E370F-FEE0-AED8-5094-DA63327EAEF1}"/>
              </a:ext>
            </a:extLst>
          </p:cNvPr>
          <p:cNvSpPr txBox="1"/>
          <p:nvPr/>
        </p:nvSpPr>
        <p:spPr>
          <a:xfrm>
            <a:off x="1860" y="58846"/>
            <a:ext cx="4951140" cy="4385816"/>
          </a:xfrm>
          <a:prstGeom prst="rect">
            <a:avLst/>
          </a:prstGeom>
          <a:noFill/>
        </p:spPr>
        <p:txBody>
          <a:bodyPr wrap="square">
            <a:spAutoFit/>
          </a:bodyPr>
          <a:lstStyle/>
          <a:p>
            <a:r>
              <a:rPr lang="en-US" sz="900" dirty="0">
                <a:solidFill>
                  <a:srgbClr val="008000"/>
                </a:solidFill>
                <a:latin typeface="Consolas" panose="020B0609020204030204" pitchFamily="49" charset="0"/>
              </a:rPr>
              <a:t>--Once the stored procedure is altered successfully, you can execute it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EXECUTE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uspFindProducts</a:t>
            </a:r>
            <a:r>
              <a:rPr lang="en-US" sz="900" dirty="0">
                <a:solidFill>
                  <a:srgbClr val="0000FF"/>
                </a:solidFill>
                <a:latin typeface="Consolas" panose="020B0609020204030204" pitchFamily="49" charset="0"/>
              </a:rPr>
              <a:t> </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000000"/>
                </a:solidFill>
                <a:latin typeface="Consolas" panose="020B0609020204030204" pitchFamily="49" charset="0"/>
              </a:rPr>
              <a:t>@min_list_price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900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@max_list_price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1000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@name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'Trek'</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statement, we used the </a:t>
            </a:r>
            <a:r>
              <a:rPr lang="en-US" sz="900" dirty="0" err="1">
                <a:solidFill>
                  <a:srgbClr val="008000"/>
                </a:solidFill>
                <a:latin typeface="Consolas" panose="020B0609020204030204" pitchFamily="49" charset="0"/>
              </a:rPr>
              <a:t>uspFindProducts</a:t>
            </a:r>
            <a:r>
              <a:rPr lang="en-US" sz="900" dirty="0">
                <a:solidFill>
                  <a:srgbClr val="008000"/>
                </a:solidFill>
                <a:latin typeface="Consolas" panose="020B0609020204030204" pitchFamily="49" charset="0"/>
              </a:rPr>
              <a:t> stored procedure to find the product whose list prices are in the range of 900 and 1,000 and their names contain the word Trek.</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--------------------Exercise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--Create a stored procedure that accepts a Store ID as input and returns the total sales amount for that store.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---------------Answer------------------------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PROCEDURE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usp_store_sales</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@StoreID </a:t>
            </a:r>
            <a:r>
              <a:rPr lang="en-US" sz="900" dirty="0">
                <a:solidFill>
                  <a:srgbClr val="0000FF"/>
                </a:solidFill>
                <a:latin typeface="Consolas" panose="020B0609020204030204" pitchFamily="49" charset="0"/>
              </a:rPr>
              <a:t>INT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discount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total_sales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oi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stores</a:t>
            </a:r>
            <a:r>
              <a:rPr lang="en-US" sz="900" dirty="0">
                <a:solidFill>
                  <a:srgbClr val="000000"/>
                </a:solidFill>
                <a:latin typeface="Consolas" panose="020B0609020204030204" pitchFamily="49" charset="0"/>
              </a:rPr>
              <a:t> s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@StoreID</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FE843E4B-AC1B-1A9D-450A-D77B8867BC59}"/>
              </a:ext>
            </a:extLst>
          </p:cNvPr>
          <p:cNvSpPr txBox="1"/>
          <p:nvPr/>
        </p:nvSpPr>
        <p:spPr>
          <a:xfrm>
            <a:off x="4954860" y="58846"/>
            <a:ext cx="4951140" cy="3831818"/>
          </a:xfrm>
          <a:prstGeom prst="rect">
            <a:avLst/>
          </a:prstGeom>
          <a:noFill/>
        </p:spPr>
        <p:txBody>
          <a:bodyPr wrap="square">
            <a:spAutoFit/>
          </a:bodyPr>
          <a:lstStyle/>
          <a:p>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ANother</a:t>
            </a:r>
            <a:r>
              <a:rPr lang="en-US" sz="900" dirty="0">
                <a:solidFill>
                  <a:srgbClr val="008000"/>
                </a:solidFill>
                <a:latin typeface="Consolas" panose="020B0609020204030204" pitchFamily="49" charset="0"/>
              </a:rPr>
              <a:t> Question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Create a stored procedure that accepts: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Store ID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Start Date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End Date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And returns the total sales for that store within the given date range.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-----------------ANSWER------------------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PROCEDURE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usp_store_sales_range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@StoreID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@StartDate </a:t>
            </a:r>
            <a:r>
              <a:rPr lang="en-US" sz="900" dirty="0">
                <a:solidFill>
                  <a:srgbClr val="0000FF"/>
                </a:solidFill>
                <a:latin typeface="Consolas" panose="020B0609020204030204" pitchFamily="49" charset="0"/>
              </a:rPr>
              <a: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@EndDate </a:t>
            </a:r>
            <a:r>
              <a:rPr lang="en-US" sz="900" dirty="0">
                <a:solidFill>
                  <a:srgbClr val="0000FF"/>
                </a:solidFill>
                <a:latin typeface="Consolas" panose="020B0609020204030204" pitchFamily="49" charset="0"/>
              </a:rPr>
              <a:t>DATE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discount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total_sales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oi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stores</a:t>
            </a:r>
            <a:r>
              <a:rPr lang="en-US" sz="900" dirty="0">
                <a:solidFill>
                  <a:srgbClr val="000000"/>
                </a:solidFill>
                <a:latin typeface="Consolas" panose="020B0609020204030204" pitchFamily="49" charset="0"/>
              </a:rPr>
              <a:t> s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@StoreID</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BETWEEN</a:t>
            </a:r>
            <a:r>
              <a:rPr lang="en-US" sz="900" dirty="0">
                <a:solidFill>
                  <a:srgbClr val="000000"/>
                </a:solidFill>
                <a:latin typeface="Consolas" panose="020B0609020204030204" pitchFamily="49" charset="0"/>
              </a:rPr>
              <a:t> @StartDate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@EndDate</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25785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6358BC-32A9-AAAA-3EFB-98DD6E1DCE5A}"/>
              </a:ext>
            </a:extLst>
          </p:cNvPr>
          <p:cNvSpPr txBox="1"/>
          <p:nvPr/>
        </p:nvSpPr>
        <p:spPr>
          <a:xfrm>
            <a:off x="1860" y="0"/>
            <a:ext cx="4951140" cy="7017306"/>
          </a:xfrm>
          <a:prstGeom prst="rect">
            <a:avLst/>
          </a:prstGeom>
          <a:noFill/>
        </p:spPr>
        <p:txBody>
          <a:bodyPr wrap="square">
            <a:spAutoFit/>
          </a:bodyPr>
          <a:lstStyle/>
          <a:p>
            <a:r>
              <a:rPr lang="en-US" sz="900" dirty="0">
                <a:solidFill>
                  <a:srgbClr val="008000"/>
                </a:solidFill>
                <a:latin typeface="Consolas" panose="020B0609020204030204" pitchFamily="49" charset="0"/>
              </a:rPr>
              <a:t>--------------TRANSACTION-----------------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transaction is a single unit of work that typically contains multiple T-SQL statements.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a transaction is successful, the changes are committed to the database. However, if a transaction has an error, the changes have to be rolled back.</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--When executing a single statement such as INSERT, UPDATE, and DELETE, SQL Server uses the </a:t>
            </a:r>
            <a:r>
              <a:rPr lang="en-US" sz="900" dirty="0" err="1">
                <a:solidFill>
                  <a:srgbClr val="008000"/>
                </a:solidFill>
                <a:latin typeface="Consolas" panose="020B0609020204030204" pitchFamily="49" charset="0"/>
              </a:rPr>
              <a:t>autocommit</a:t>
            </a:r>
            <a:r>
              <a:rPr lang="en-US" sz="900" dirty="0">
                <a:solidFill>
                  <a:srgbClr val="008000"/>
                </a:solidFill>
                <a:latin typeface="Consolas" panose="020B0609020204030204" pitchFamily="49" charset="0"/>
              </a:rPr>
              <a:t> transaction. In this case, each statement is a transaction.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start a transaction explicitly, you use the BEGIN TRANSACTION or BEGIN TRAN statement first: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--Then, execute one or more statements including INSERT, UPDATE, and DELETE.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--Finally, commit the transaction using the COMMIT statement: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COMMIT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--Or roll back the transaction using the ROLLBACK statement: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ROLLBACK</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--Here’s the sequence of statements for starting a transaction explicitly and committing it: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start a transaction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other statements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commit the transaction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COMMIT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We’ll create two tables: invoices and </a:t>
            </a:r>
            <a:r>
              <a:rPr lang="en-US" sz="900" dirty="0" err="1">
                <a:solidFill>
                  <a:srgbClr val="008000"/>
                </a:solidFill>
                <a:latin typeface="Consolas" panose="020B0609020204030204" pitchFamily="49" charset="0"/>
              </a:rPr>
              <a:t>invoice_items</a:t>
            </a:r>
            <a:r>
              <a:rPr lang="en-US" sz="900" dirty="0">
                <a:solidFill>
                  <a:srgbClr val="008000"/>
                </a:solidFill>
                <a:latin typeface="Consolas" panose="020B0609020204030204" pitchFamily="49" charset="0"/>
              </a:rPr>
              <a:t> for the demonstration: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invoices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id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IDENTITY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customer_id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total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DEFAULT</a:t>
            </a:r>
            <a:r>
              <a:rPr lang="en-US" sz="900" dirty="0">
                <a:solidFill>
                  <a:srgbClr val="000000"/>
                </a:solidFill>
                <a:latin typeface="Consolas" panose="020B0609020204030204" pitchFamily="49" charset="0"/>
              </a:rPr>
              <a:t> 0 </a:t>
            </a:r>
            <a:r>
              <a:rPr lang="en-US" sz="900" dirty="0">
                <a:solidFill>
                  <a:srgbClr val="0000FF"/>
                </a:solidFill>
                <a:latin typeface="Consolas" panose="020B0609020204030204" pitchFamily="49" charset="0"/>
              </a:rPr>
              <a:t>CHECK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total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invoice_items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id </a:t>
            </a:r>
            <a:r>
              <a:rPr lang="en-US" sz="900" dirty="0">
                <a:solidFill>
                  <a:srgbClr val="0000FF"/>
                </a:solidFill>
                <a:latin typeface="Consolas" panose="020B0609020204030204" pitchFamily="49" charset="0"/>
              </a:rPr>
              <a:t>int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invoice_id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item_name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amount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CHECK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amount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tax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CHECK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tax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invoice_id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FOREIGN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invoice_id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REFERENCES</a:t>
            </a:r>
            <a:r>
              <a:rPr lang="en-US" sz="900" dirty="0">
                <a:solidFill>
                  <a:srgbClr val="000000"/>
                </a:solidFill>
                <a:latin typeface="Consolas" panose="020B0609020204030204" pitchFamily="49" charset="0"/>
              </a:rPr>
              <a:t> invoices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UPDATE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CASCADE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DELETE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CASCADE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3120B0C2-0F49-7121-6369-52DE35C0A68D}"/>
              </a:ext>
            </a:extLst>
          </p:cNvPr>
          <p:cNvSpPr txBox="1"/>
          <p:nvPr/>
        </p:nvSpPr>
        <p:spPr>
          <a:xfrm>
            <a:off x="4953000" y="1702661"/>
            <a:ext cx="4951140" cy="3831818"/>
          </a:xfrm>
          <a:prstGeom prst="rect">
            <a:avLst/>
          </a:prstGeom>
          <a:noFill/>
        </p:spPr>
        <p:txBody>
          <a:bodyPr wrap="square">
            <a:spAutoFit/>
          </a:bodyPr>
          <a:lstStyle/>
          <a:p>
            <a:r>
              <a:rPr lang="en-US" sz="900" dirty="0">
                <a:solidFill>
                  <a:srgbClr val="008000"/>
                </a:solidFill>
                <a:latin typeface="Consolas" panose="020B0609020204030204" pitchFamily="49" charset="0"/>
              </a:rPr>
              <a:t>--The invoices table stores the header of the invoice while the </a:t>
            </a:r>
            <a:r>
              <a:rPr lang="en-US" sz="900" dirty="0" err="1">
                <a:solidFill>
                  <a:srgbClr val="008000"/>
                </a:solidFill>
                <a:latin typeface="Consolas" panose="020B0609020204030204" pitchFamily="49" charset="0"/>
              </a:rPr>
              <a:t>invoice_items</a:t>
            </a:r>
            <a:r>
              <a:rPr lang="en-US" sz="900" dirty="0">
                <a:solidFill>
                  <a:srgbClr val="008000"/>
                </a:solidFill>
                <a:latin typeface="Consolas" panose="020B0609020204030204" pitchFamily="49" charset="0"/>
              </a:rPr>
              <a:t> table stores the line items. The total field in the invoices table is calculated from the line items.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uses the BEGIN TRANSACTION and COMMIT statements to create a transaction: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invoices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total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invoice_items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invoice_id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item_name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amount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tax</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'Keyboard'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70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0.08</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'Mouse'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0.08</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UPDATE</a:t>
            </a:r>
            <a:r>
              <a:rPr lang="en-US" sz="900" dirty="0">
                <a:solidFill>
                  <a:srgbClr val="000000"/>
                </a:solidFill>
                <a:latin typeface="Consolas" panose="020B0609020204030204" pitchFamily="49" charset="0"/>
              </a:rPr>
              <a:t> invoices</a:t>
            </a:r>
          </a:p>
          <a:p>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total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amount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tax</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invoice_items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invoice_id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COMMIT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invoices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invoice_items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1551049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02AE6D-D9E0-CD09-0F1C-682D9D8CF20E}"/>
              </a:ext>
            </a:extLst>
          </p:cNvPr>
          <p:cNvSpPr txBox="1"/>
          <p:nvPr/>
        </p:nvSpPr>
        <p:spPr>
          <a:xfrm>
            <a:off x="89210" y="88738"/>
            <a:ext cx="4951140" cy="5632311"/>
          </a:xfrm>
          <a:prstGeom prst="rect">
            <a:avLst/>
          </a:prstGeom>
          <a:noFill/>
        </p:spPr>
        <p:txBody>
          <a:bodyPr wrap="square">
            <a:spAutoFit/>
          </a:bodyPr>
          <a:lstStyle/>
          <a:p>
            <a:r>
              <a:rPr lang="en-US" sz="900" dirty="0">
                <a:solidFill>
                  <a:srgbClr val="008000"/>
                </a:solidFill>
                <a:latin typeface="Consolas" panose="020B0609020204030204" pitchFamily="49" charset="0"/>
              </a:rPr>
              <a:t>---------------------SAVEPOINT------------------------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Savepoint is like a marker. It saves a particular portion of a transaction without rolling the entire transaction.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invoices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total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SAVE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a:t>
            </a:r>
            <a:r>
              <a:rPr lang="en-US" sz="900" dirty="0">
                <a:solidFill>
                  <a:srgbClr val="000000"/>
                </a:solidFill>
                <a:latin typeface="Consolas" panose="020B0609020204030204" pitchFamily="49" charset="0"/>
              </a:rPr>
              <a:t> ST1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invoices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total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400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500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ROLLBACK</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a:t>
            </a:r>
            <a:r>
              <a:rPr lang="en-US" sz="900" dirty="0">
                <a:solidFill>
                  <a:srgbClr val="000000"/>
                </a:solidFill>
                <a:latin typeface="Consolas" panose="020B0609020204030204" pitchFamily="49" charset="0"/>
              </a:rPr>
              <a:t> ST1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invoices</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To see the details of </a:t>
            </a:r>
            <a:endParaRPr lang="en-US" sz="900" dirty="0">
              <a:solidFill>
                <a:srgbClr val="000000"/>
              </a:solidFill>
              <a:latin typeface="Consolas" panose="020B0609020204030204" pitchFamily="49" charset="0"/>
            </a:endParaRPr>
          </a:p>
          <a:p>
            <a:r>
              <a:rPr lang="en-US" sz="900" dirty="0" err="1">
                <a:solidFill>
                  <a:srgbClr val="0000FF"/>
                </a:solidFill>
                <a:latin typeface="Consolas" panose="020B0609020204030204" pitchFamily="49" charset="0"/>
              </a:rPr>
              <a:t>dbcc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opentran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Exerceise</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Demonstrate how to: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Insert a new order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Capture the generated Order ID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Insert order items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Create a SAVEPOINT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Roll back only the item section if needed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All inside a transaction using TRY-CATCH.</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use </a:t>
            </a:r>
            <a:r>
              <a:rPr lang="en-US" sz="900" dirty="0" err="1">
                <a:solidFill>
                  <a:srgbClr val="008000"/>
                </a:solidFill>
                <a:latin typeface="Consolas" panose="020B0609020204030204" pitchFamily="49" charset="0"/>
              </a:rPr>
              <a:t>sales.order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dirty="0"/>
          </a:p>
        </p:txBody>
      </p:sp>
      <p:sp>
        <p:nvSpPr>
          <p:cNvPr id="7" name="TextBox 6">
            <a:extLst>
              <a:ext uri="{FF2B5EF4-FFF2-40B4-BE49-F238E27FC236}">
                <a16:creationId xmlns:a16="http://schemas.microsoft.com/office/drawing/2014/main" id="{0776C9CD-5E7F-E5C7-DA3C-4BE14C0EE4AC}"/>
              </a:ext>
            </a:extLst>
          </p:cNvPr>
          <p:cNvSpPr txBox="1"/>
          <p:nvPr/>
        </p:nvSpPr>
        <p:spPr>
          <a:xfrm>
            <a:off x="4694663" y="1493693"/>
            <a:ext cx="4951140" cy="3000821"/>
          </a:xfrm>
          <a:prstGeom prst="rect">
            <a:avLst/>
          </a:prstGeom>
          <a:noFill/>
        </p:spPr>
        <p:txBody>
          <a:bodyPr wrap="square">
            <a:spAutoFit/>
          </a:bodyPr>
          <a:lstStyle/>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required_date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staff_id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DATEADD</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DAY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7</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@OrderID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SCOPE_IDENTITY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SAVE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ItemInsert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item_id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quantity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discount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@OrderID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COMMIT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ROLLBACK</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071327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7187A26-EEC7-66CE-B5AB-6B5EB50E051C}"/>
              </a:ext>
            </a:extLst>
          </p:cNvPr>
          <p:cNvSpPr txBox="1"/>
          <p:nvPr/>
        </p:nvSpPr>
        <p:spPr>
          <a:xfrm>
            <a:off x="1860" y="-66907"/>
            <a:ext cx="4951140" cy="6601807"/>
          </a:xfrm>
          <a:prstGeom prst="rect">
            <a:avLst/>
          </a:prstGeom>
          <a:noFill/>
        </p:spPr>
        <p:txBody>
          <a:bodyPr wrap="square">
            <a:spAutoFit/>
          </a:bodyPr>
          <a:lstStyle/>
          <a:p>
            <a:r>
              <a:rPr lang="en-US" sz="900" dirty="0">
                <a:solidFill>
                  <a:srgbClr val="008000"/>
                </a:solidFill>
                <a:latin typeface="Consolas" panose="020B0609020204030204" pitchFamily="49" charset="0"/>
              </a:rPr>
              <a:t>---------------------EXCEPTION HANDLING------------------</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--An error condition during a program </a:t>
            </a:r>
            <a:r>
              <a:rPr lang="en-US" sz="900" dirty="0" err="1">
                <a:solidFill>
                  <a:srgbClr val="008000"/>
                </a:solidFill>
                <a:latin typeface="Consolas" panose="020B0609020204030204" pitchFamily="49" charset="0"/>
              </a:rPr>
              <a:t>executionis</a:t>
            </a:r>
            <a:r>
              <a:rPr lang="en-US" sz="900" dirty="0">
                <a:solidFill>
                  <a:srgbClr val="008000"/>
                </a:solidFill>
                <a:latin typeface="Consolas" panose="020B0609020204030204" pitchFamily="49" charset="0"/>
              </a:rPr>
              <a:t> called an exception.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mechanism for resolving such an exception is exception </a:t>
            </a:r>
            <a:r>
              <a:rPr lang="en-US" sz="900" dirty="0" err="1">
                <a:solidFill>
                  <a:srgbClr val="008000"/>
                </a:solidFill>
                <a:latin typeface="Consolas" panose="020B0609020204030204" pitchFamily="49" charset="0"/>
              </a:rPr>
              <a:t>handlin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---------------------TRY/CATCH------------------------------</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TRY CATCH construct allows you to gracefully handle exceptions in SQL Server. To use the TRY CATCH construct, you first place a group of Transact-SQL statements that could cause an exception in a BEGIN TRY...END TRY block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r>
              <a:rPr lang="en-US" sz="900" dirty="0">
                <a:solidFill>
                  <a:srgbClr val="000000"/>
                </a:solidFill>
                <a:latin typeface="Consolas" panose="020B0609020204030204" pitchFamily="49" charset="0"/>
              </a:rPr>
              <a:t>  </a:t>
            </a:r>
          </a:p>
          <a:p>
            <a:r>
              <a:rPr lang="en-US" sz="900" dirty="0">
                <a:solidFill>
                  <a:srgbClr val="008000"/>
                </a:solidFill>
                <a:latin typeface="Consolas" panose="020B0609020204030204" pitchFamily="49" charset="0"/>
              </a:rPr>
              <a:t>--   -- statements that may cause exceptions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r>
              <a:rPr lang="en-US" sz="900" dirty="0">
                <a:solidFill>
                  <a:srgbClr val="000000"/>
                </a:solidFill>
                <a:latin typeface="Consolas" panose="020B0609020204030204" pitchFamily="49" charset="0"/>
              </a:rPr>
              <a:t>  </a:t>
            </a: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--Then you use a BEGIN CATCH...END CATCH block immediately after the TRY block:</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r>
              <a:rPr lang="en-US" sz="900" dirty="0">
                <a:solidFill>
                  <a:srgbClr val="000000"/>
                </a:solidFill>
                <a:latin typeface="Consolas" panose="020B0609020204030204" pitchFamily="49" charset="0"/>
              </a:rPr>
              <a:t>  </a:t>
            </a:r>
          </a:p>
          <a:p>
            <a:r>
              <a:rPr lang="en-US" sz="900" dirty="0">
                <a:solidFill>
                  <a:srgbClr val="008000"/>
                </a:solidFill>
                <a:latin typeface="Consolas" panose="020B0609020204030204" pitchFamily="49" charset="0"/>
              </a:rPr>
              <a:t>--   -- statements that handle exception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illustrates a complete TRY CATCH construct: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the statements between the TRY block complete without an error, the statements between the CATCH block will not execute. However, if any statement inside the TRY block causes an exception, the control transfers to the statements in the CATCH block.</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statements that may cause exceptions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statements that handle exception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CATCH block functions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--Inside the CATCH block, you can use the following functions to get the detailed information on the error that occurred: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--ERROR_LINE() returns the line number on which the exception occurred.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--ERROR_MESSAGE() returns the complete text of the generated error message.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--ERROR_PROCEDURE() returns the name of the stored procedure or trigger where the error occurred.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--ERROR_NUMBER() returns the number of the error that occurred.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--ERROR_SEVERITY() returns the severity level of the error that occurred.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--ERROR_STATE() returns the state number of the error that occurred.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--Note that you only use these functions in the CATCH block. If you use them outside of the CATCH block, all of these functions will return NULL.</a:t>
            </a:r>
            <a:endParaRPr lang="en-US" dirty="0"/>
          </a:p>
        </p:txBody>
      </p:sp>
      <p:sp>
        <p:nvSpPr>
          <p:cNvPr id="5" name="TextBox 4">
            <a:extLst>
              <a:ext uri="{FF2B5EF4-FFF2-40B4-BE49-F238E27FC236}">
                <a16:creationId xmlns:a16="http://schemas.microsoft.com/office/drawing/2014/main" id="{FC3F5545-F86D-424C-F8E5-C1C3F9378FC2}"/>
              </a:ext>
            </a:extLst>
          </p:cNvPr>
          <p:cNvSpPr txBox="1"/>
          <p:nvPr/>
        </p:nvSpPr>
        <p:spPr>
          <a:xfrm>
            <a:off x="4953000" y="0"/>
            <a:ext cx="4951140" cy="6601807"/>
          </a:xfrm>
          <a:prstGeom prst="rect">
            <a:avLst/>
          </a:prstGeom>
          <a:noFill/>
        </p:spPr>
        <p:txBody>
          <a:bodyPr wrap="square">
            <a:spAutoFit/>
          </a:bodyPr>
          <a:lstStyle/>
          <a:p>
            <a:r>
              <a:rPr lang="en-US" sz="900" dirty="0">
                <a:solidFill>
                  <a:srgbClr val="008000"/>
                </a:solidFill>
                <a:latin typeface="Consolas" panose="020B0609020204030204" pitchFamily="49" charset="0"/>
              </a:rPr>
              <a:t>--Nested TRY CATCH constructs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--You can nest TRY CATCH construct inside another TRY CATCH construct. However, either a TRY block or a CATCH block can contain a nested TRY CATCH, for example: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statements that may cause exceptions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statements to handle exception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nested TRY block</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nested CATCH block</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TRY CATCH examples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create a stored procedure named </a:t>
            </a:r>
            <a:r>
              <a:rPr lang="en-US" sz="900" dirty="0" err="1">
                <a:solidFill>
                  <a:srgbClr val="008000"/>
                </a:solidFill>
                <a:latin typeface="Consolas" panose="020B0609020204030204" pitchFamily="49" charset="0"/>
              </a:rPr>
              <a:t>usp_divide</a:t>
            </a:r>
            <a:r>
              <a:rPr lang="en-US" sz="900" dirty="0">
                <a:solidFill>
                  <a:srgbClr val="008000"/>
                </a:solidFill>
                <a:latin typeface="Consolas" panose="020B0609020204030204" pitchFamily="49" charset="0"/>
              </a:rPr>
              <a:t> that divides two numbers: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stored procedure, we placed the formula inside the TRY block and called the CATCH block functions ERROR_* inside the CATCH block.</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PROC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usp_divide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@b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@c </a:t>
            </a:r>
            <a:r>
              <a:rPr lang="en-US" sz="900" dirty="0">
                <a:solidFill>
                  <a:srgbClr val="0000FF"/>
                </a:solidFill>
                <a:latin typeface="Consolas" panose="020B0609020204030204" pitchFamily="49" charset="0"/>
              </a:rPr>
              <a:t>decimal</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output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@c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@b</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ERROR_NUMBER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ErrorNumber</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ERROR_SEVERITY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ErrorSeverity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ERROR_STATE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ErrorState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ERROR_PROCEDURE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ErrorProcedure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ERROR_LINE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ErrorLine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ERROR_MESSAGE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ErrorMessage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dirty="0"/>
          </a:p>
        </p:txBody>
      </p:sp>
    </p:spTree>
    <p:extLst>
      <p:ext uri="{BB962C8B-B14F-4D97-AF65-F5344CB8AC3E}">
        <p14:creationId xmlns:p14="http://schemas.microsoft.com/office/powerpoint/2010/main" val="157045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C9F817-87B0-5719-9731-1789996B5BEC}"/>
              </a:ext>
            </a:extLst>
          </p:cNvPr>
          <p:cNvSpPr txBox="1"/>
          <p:nvPr/>
        </p:nvSpPr>
        <p:spPr>
          <a:xfrm>
            <a:off x="0" y="143933"/>
            <a:ext cx="4951140" cy="6324808"/>
          </a:xfrm>
          <a:prstGeom prst="rect">
            <a:avLst/>
          </a:prstGeom>
          <a:noFill/>
        </p:spPr>
        <p:txBody>
          <a:bodyPr wrap="square">
            <a:spAutoFit/>
          </a:bodyPr>
          <a:lstStyle/>
          <a:p>
            <a:r>
              <a:rPr lang="en-US" sz="900" dirty="0">
                <a:solidFill>
                  <a:srgbClr val="008000"/>
                </a:solidFill>
                <a:latin typeface="Consolas" panose="020B0609020204030204" pitchFamily="49" charset="0"/>
              </a:rPr>
              <a:t>--Now, call the </a:t>
            </a:r>
            <a:r>
              <a:rPr lang="en-US" sz="900" dirty="0" err="1">
                <a:solidFill>
                  <a:srgbClr val="008000"/>
                </a:solidFill>
                <a:latin typeface="Consolas" panose="020B0609020204030204" pitchFamily="49" charset="0"/>
              </a:rPr>
              <a:t>usp_divide</a:t>
            </a:r>
            <a:r>
              <a:rPr lang="en-US" sz="900" dirty="0">
                <a:solidFill>
                  <a:srgbClr val="008000"/>
                </a:solidFill>
                <a:latin typeface="Consolas" panose="020B0609020204030204" pitchFamily="49" charset="0"/>
              </a:rPr>
              <a:t> stored procedure to divide 10 by 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--Because no exception occurred in the TRY block, the stored procedure completed at the TRY block.</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@r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usp_divide</a:t>
            </a:r>
            <a:r>
              <a:rPr lang="en-US" sz="900" dirty="0">
                <a:solidFill>
                  <a:srgbClr val="0000FF"/>
                </a:solidFill>
                <a:latin typeface="Consolas" panose="020B0609020204030204" pitchFamily="49" charset="0"/>
              </a:rPr>
              <a:t> </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 </a:t>
            </a:r>
            <a:r>
              <a:rPr lang="en-US" sz="900" dirty="0">
                <a:solidFill>
                  <a:srgbClr val="0000FF"/>
                </a:solidFill>
                <a:latin typeface="Consolas" panose="020B0609020204030204" pitchFamily="49" charset="0"/>
              </a:rPr>
              <a:t>output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PRINT</a:t>
            </a:r>
            <a:r>
              <a:rPr lang="en-US" sz="900" dirty="0">
                <a:solidFill>
                  <a:srgbClr val="000000"/>
                </a:solidFill>
                <a:latin typeface="Consolas" panose="020B0609020204030204" pitchFamily="49" charset="0"/>
              </a:rPr>
              <a:t> @r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--Now lets attempt to divide 20 by zero by calling the </a:t>
            </a:r>
            <a:r>
              <a:rPr lang="en-US" sz="900" dirty="0" err="1">
                <a:solidFill>
                  <a:srgbClr val="008000"/>
                </a:solidFill>
                <a:latin typeface="Consolas" panose="020B0609020204030204" pitchFamily="49" charset="0"/>
              </a:rPr>
              <a:t>usp_divide</a:t>
            </a:r>
            <a:r>
              <a:rPr lang="en-US" sz="900" dirty="0">
                <a:solidFill>
                  <a:srgbClr val="008000"/>
                </a:solidFill>
                <a:latin typeface="Consolas" panose="020B0609020204030204" pitchFamily="49" charset="0"/>
              </a:rPr>
              <a:t> stored procedure: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Because of division by zero error which was caused by the formula, the control was passed to the statement inside the CATCH block which returned the error’s detailed information.</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@r2 </a:t>
            </a:r>
            <a:r>
              <a:rPr lang="en-US" sz="900" dirty="0">
                <a:solidFill>
                  <a:srgbClr val="0000FF"/>
                </a:solidFill>
                <a:latin typeface="Consolas" panose="020B0609020204030204" pitchFamily="49" charset="0"/>
              </a:rPr>
              <a:t>decimal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usp_divide</a:t>
            </a:r>
            <a:r>
              <a:rPr lang="en-US" sz="900" dirty="0">
                <a:solidFill>
                  <a:srgbClr val="0000FF"/>
                </a:solidFill>
                <a:latin typeface="Consolas" panose="020B0609020204030204" pitchFamily="49" charset="0"/>
              </a:rPr>
              <a:t> </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@r2 </a:t>
            </a:r>
            <a:r>
              <a:rPr lang="en-US" sz="900" dirty="0">
                <a:solidFill>
                  <a:srgbClr val="0000FF"/>
                </a:solidFill>
                <a:latin typeface="Consolas" panose="020B0609020204030204" pitchFamily="49" charset="0"/>
              </a:rPr>
              <a:t>output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PRINT</a:t>
            </a:r>
            <a:r>
              <a:rPr lang="en-US" sz="900" dirty="0">
                <a:solidFill>
                  <a:srgbClr val="000000"/>
                </a:solidFill>
                <a:latin typeface="Consolas" panose="020B0609020204030204" pitchFamily="49" charset="0"/>
              </a:rPr>
              <a:t> @r2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Serer TRY CATCH with transactions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--Inside a CATCH block, you can test the state of transactions by using the XACT_STATE()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the XACT_STATE() function returns -1, it means that an uncommittable transaction is pending, you should issue a ROLLBACK TRANSACTION statement.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case the XACT_STATE() function returns 1, it means that a committable transaction is pending. You can issue a COMMIT TRANSACTION statement in this case.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--If the XACT_STATE() function return 0, it means no transaction is pending, therefore, you don’t need to take any action.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--It is a good practice to test your transaction state before issuing a COMMIT TRANSACTION or ROLLBACK TRANSACTION statement in a CATCH block to ensure consistency.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--Using TRY CATCH with transactions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set up two new tables </a:t>
            </a:r>
            <a:r>
              <a:rPr lang="en-US" sz="900" dirty="0" err="1">
                <a:solidFill>
                  <a:srgbClr val="008000"/>
                </a:solidFill>
                <a:latin typeface="Consolas" panose="020B0609020204030204" pitchFamily="49" charset="0"/>
              </a:rPr>
              <a:t>sales.persons</a:t>
            </a:r>
            <a:r>
              <a:rPr lang="en-US" sz="900" dirty="0">
                <a:solidFill>
                  <a:srgbClr val="008000"/>
                </a:solidFill>
                <a:latin typeface="Consolas" panose="020B0609020204030204" pitchFamily="49" charset="0"/>
              </a:rPr>
              <a:t> and </a:t>
            </a:r>
            <a:r>
              <a:rPr lang="en-US" sz="900" dirty="0" err="1">
                <a:solidFill>
                  <a:srgbClr val="008000"/>
                </a:solidFill>
                <a:latin typeface="Consolas" panose="020B0609020204030204" pitchFamily="49" charset="0"/>
              </a:rPr>
              <a:t>sales.deals</a:t>
            </a:r>
            <a:r>
              <a:rPr lang="en-US" sz="900" dirty="0">
                <a:solidFill>
                  <a:srgbClr val="008000"/>
                </a:solidFill>
                <a:latin typeface="Consolas" panose="020B0609020204030204" pitchFamily="49" charset="0"/>
              </a:rPr>
              <a:t> for demonstration: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persons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person_id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IDENTITY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8FD28345-9276-07E4-29CF-AC740D218D2F}"/>
              </a:ext>
            </a:extLst>
          </p:cNvPr>
          <p:cNvSpPr txBox="1"/>
          <p:nvPr/>
        </p:nvSpPr>
        <p:spPr>
          <a:xfrm>
            <a:off x="4954860" y="543594"/>
            <a:ext cx="4951140" cy="5770811"/>
          </a:xfrm>
          <a:prstGeom prst="rect">
            <a:avLst/>
          </a:prstGeom>
          <a:noFill/>
        </p:spPr>
        <p:txBody>
          <a:bodyPr wrap="square">
            <a:spAutoFit/>
          </a:bodyPr>
          <a:lstStyle/>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deals</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deal_id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IDENTITY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person_id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deal_note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FOREIGN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person_id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REFERENCES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persons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person_id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persons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John'</a:t>
            </a:r>
            <a:r>
              <a:rPr lang="en-US" sz="900" dirty="0" err="1">
                <a:solidFill>
                  <a:srgbClr val="808080"/>
                </a:solidFill>
                <a:latin typeface="Consolas" panose="020B0609020204030204" pitchFamily="49" charset="0"/>
              </a:rPr>
              <a:t>,</a:t>
            </a:r>
            <a:r>
              <a:rPr lang="en-US" sz="900" dirty="0" err="1">
                <a:solidFill>
                  <a:srgbClr val="FF0000"/>
                </a:solidFill>
                <a:latin typeface="Consolas" panose="020B0609020204030204" pitchFamily="49" charset="0"/>
              </a:rPr>
              <a:t>'Doe</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a:t>
            </a:r>
            <a:r>
              <a:rPr lang="en-US" sz="900" dirty="0" err="1">
                <a:solidFill>
                  <a:srgbClr val="FF0000"/>
                </a:solidFill>
                <a:latin typeface="Consolas" panose="020B0609020204030204" pitchFamily="49" charset="0"/>
              </a:rPr>
              <a:t>Jane'</a:t>
            </a:r>
            <a:r>
              <a:rPr lang="en-US" sz="900" dirty="0" err="1">
                <a:solidFill>
                  <a:srgbClr val="808080"/>
                </a:solidFill>
                <a:latin typeface="Consolas" panose="020B0609020204030204" pitchFamily="49" charset="0"/>
              </a:rPr>
              <a:t>,</a:t>
            </a:r>
            <a:r>
              <a:rPr lang="en-US" sz="900" dirty="0" err="1">
                <a:solidFill>
                  <a:srgbClr val="FF0000"/>
                </a:solidFill>
                <a:latin typeface="Consolas" panose="020B0609020204030204" pitchFamily="49" charset="0"/>
              </a:rPr>
              <a:t>'Doe</a:t>
            </a:r>
            <a:r>
              <a:rPr lang="en-US" sz="900" dirty="0">
                <a:solidFill>
                  <a:srgbClr val="FF0000"/>
                </a:solidFill>
                <a:latin typeface="Consolas" panose="020B0609020204030204" pitchFamily="49" charset="0"/>
              </a:rPr>
              <a: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deals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person_id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deal_note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'Deal for John Doe'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--Next, create a new stored procedure named </a:t>
            </a:r>
            <a:r>
              <a:rPr lang="en-US" sz="900" dirty="0" err="1">
                <a:solidFill>
                  <a:srgbClr val="008000"/>
                </a:solidFill>
                <a:latin typeface="Consolas" panose="020B0609020204030204" pitchFamily="49" charset="0"/>
              </a:rPr>
              <a:t>usp_report_error</a:t>
            </a:r>
            <a:r>
              <a:rPr lang="en-US" sz="900" dirty="0">
                <a:solidFill>
                  <a:srgbClr val="008000"/>
                </a:solidFill>
                <a:latin typeface="Consolas" panose="020B0609020204030204" pitchFamily="49" charset="0"/>
              </a:rPr>
              <a:t> that will be used in a CATCH block to report the detailed information of an error: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PROC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usp_report_error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ERROR_NUMBER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ErrorNumber</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ERROR_SEVERITY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ErrorSeverity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ERROR_STATE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ErrorState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ERROR_LINE</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ErrorLine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ERROR_PROCEDURE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ErrorProcedure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ERROR_MESSAGE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ErrorMessage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--Then, lets develop a new stored procedure that deletes a row from the </a:t>
            </a:r>
            <a:r>
              <a:rPr lang="en-US" sz="900" dirty="0" err="1">
                <a:solidFill>
                  <a:srgbClr val="008000"/>
                </a:solidFill>
                <a:latin typeface="Consolas" panose="020B0609020204030204" pitchFamily="49" charset="0"/>
              </a:rPr>
              <a:t>sales.persons</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stored procedure, we used the XACT_STATE() function to check the state of the transaction before performing COMMIT TRANSACTION or ROLLBACK TRANSACTION inside the CATCH block.</a:t>
            </a:r>
            <a:endParaRPr lang="en-US" sz="9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088424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B37087-470F-F26E-1439-5FD07611E42E}"/>
              </a:ext>
            </a:extLst>
          </p:cNvPr>
          <p:cNvSpPr txBox="1"/>
          <p:nvPr/>
        </p:nvSpPr>
        <p:spPr>
          <a:xfrm>
            <a:off x="156117" y="113943"/>
            <a:ext cx="4951140" cy="4801314"/>
          </a:xfrm>
          <a:prstGeom prst="rect">
            <a:avLst/>
          </a:prstGeom>
          <a:noFill/>
        </p:spPr>
        <p:txBody>
          <a:bodyPr wrap="square">
            <a:spAutoFit/>
          </a:bodyPr>
          <a:lstStyle/>
          <a:p>
            <a:r>
              <a:rPr lang="it-IT" sz="900" dirty="0">
                <a:solidFill>
                  <a:srgbClr val="0000FF"/>
                </a:solidFill>
                <a:latin typeface="Consolas" panose="020B0609020204030204" pitchFamily="49" charset="0"/>
              </a:rPr>
              <a:t>CREATE</a:t>
            </a:r>
            <a:r>
              <a:rPr lang="it-IT" sz="900" dirty="0">
                <a:solidFill>
                  <a:srgbClr val="000000"/>
                </a:solidFill>
                <a:latin typeface="Consolas" panose="020B0609020204030204" pitchFamily="49" charset="0"/>
              </a:rPr>
              <a:t> </a:t>
            </a:r>
            <a:r>
              <a:rPr lang="it-IT" sz="900" dirty="0">
                <a:solidFill>
                  <a:srgbClr val="0000FF"/>
                </a:solidFill>
                <a:latin typeface="Consolas" panose="020B0609020204030204" pitchFamily="49" charset="0"/>
              </a:rPr>
              <a:t>PROC</a:t>
            </a:r>
            <a:r>
              <a:rPr lang="it-IT" sz="900" dirty="0">
                <a:solidFill>
                  <a:srgbClr val="000000"/>
                </a:solidFill>
                <a:latin typeface="Consolas" panose="020B0609020204030204" pitchFamily="49" charset="0"/>
              </a:rPr>
              <a:t> usp_delete_person</a:t>
            </a:r>
            <a:r>
              <a:rPr lang="it-IT" sz="900" dirty="0">
                <a:solidFill>
                  <a:srgbClr val="808080"/>
                </a:solidFill>
                <a:latin typeface="Consolas" panose="020B0609020204030204" pitchFamily="49" charset="0"/>
              </a:rPr>
              <a:t>(</a:t>
            </a:r>
            <a:endParaRPr lang="it-IT"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@person_id </a:t>
            </a:r>
            <a:r>
              <a:rPr lang="en-US" sz="900" dirty="0">
                <a:solidFill>
                  <a:srgbClr val="0000FF"/>
                </a:solidFill>
                <a:latin typeface="Consolas" panose="020B0609020204030204" pitchFamily="49" charset="0"/>
              </a:rPr>
              <a:t>INT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delete the person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DELETE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persons</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person_id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@person_id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if DELETE succeeds, commit the transaction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COMMIT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report exception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EXEC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usp_report_error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Test if the transaction is uncommittable.  </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IF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XACT_STATE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PRINT</a:t>
            </a:r>
            <a:r>
              <a:rPr lang="en-US" sz="900" dirty="0">
                <a:solidFill>
                  <a:srgbClr val="000000"/>
                </a:solidFill>
                <a:latin typeface="Consolas" panose="020B0609020204030204" pitchFamily="49" charset="0"/>
              </a:rPr>
              <a:t>  </a:t>
            </a:r>
            <a:r>
              <a:rPr lang="en-US" sz="900" dirty="0" err="1">
                <a:solidFill>
                  <a:srgbClr val="FF0000"/>
                </a:solidFill>
                <a:latin typeface="Consolas" panose="020B0609020204030204" pitchFamily="49" charset="0"/>
              </a:rPr>
              <a:t>N'The</a:t>
            </a:r>
            <a:r>
              <a:rPr lang="en-US" sz="900" dirty="0">
                <a:solidFill>
                  <a:srgbClr val="FF0000"/>
                </a:solidFill>
                <a:latin typeface="Consolas" panose="020B0609020204030204" pitchFamily="49" charset="0"/>
              </a:rPr>
              <a:t> transaction is in an uncommittable state.'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'Rolling back transaction.'</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ROLLBACK</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 Test if the transaction is committable.  </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IF </a:t>
            </a:r>
            <a:r>
              <a:rPr lang="en-US" sz="900" dirty="0">
                <a:solidFill>
                  <a:srgbClr val="808080"/>
                </a:solidFill>
                <a:latin typeface="Consolas" panose="020B0609020204030204" pitchFamily="49" charset="0"/>
              </a:rPr>
              <a:t>(</a:t>
            </a:r>
            <a:r>
              <a:rPr lang="en-US" sz="900" dirty="0">
                <a:solidFill>
                  <a:srgbClr val="FF00FF"/>
                </a:solidFill>
                <a:latin typeface="Consolas" panose="020B0609020204030204" pitchFamily="49" charset="0"/>
              </a:rPr>
              <a:t>XACT_STATE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PRINT</a:t>
            </a:r>
            <a:r>
              <a:rPr lang="en-US" sz="900" dirty="0">
                <a:solidFill>
                  <a:srgbClr val="000000"/>
                </a:solidFill>
                <a:latin typeface="Consolas" panose="020B0609020204030204" pitchFamily="49" charset="0"/>
              </a:rPr>
              <a:t> </a:t>
            </a:r>
            <a:r>
              <a:rPr lang="en-US" sz="900" dirty="0" err="1">
                <a:solidFill>
                  <a:srgbClr val="FF0000"/>
                </a:solidFill>
                <a:latin typeface="Consolas" panose="020B0609020204030204" pitchFamily="49" charset="0"/>
              </a:rPr>
              <a:t>N'The</a:t>
            </a:r>
            <a:r>
              <a:rPr lang="en-US" sz="900" dirty="0">
                <a:solidFill>
                  <a:srgbClr val="FF0000"/>
                </a:solidFill>
                <a:latin typeface="Consolas" panose="020B0609020204030204" pitchFamily="49" charset="0"/>
              </a:rPr>
              <a:t> transaction is committable.'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'Committing transaction.'</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COMMIT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GO</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7029B234-D4E2-F91F-E736-D8C30BD9D2FC}"/>
              </a:ext>
            </a:extLst>
          </p:cNvPr>
          <p:cNvSpPr txBox="1"/>
          <p:nvPr/>
        </p:nvSpPr>
        <p:spPr>
          <a:xfrm>
            <a:off x="4798743" y="523635"/>
            <a:ext cx="4951140" cy="5632311"/>
          </a:xfrm>
          <a:prstGeom prst="rect">
            <a:avLst/>
          </a:prstGeom>
          <a:noFill/>
        </p:spPr>
        <p:txBody>
          <a:bodyPr wrap="square">
            <a:spAutoFit/>
          </a:bodyPr>
          <a:lstStyle/>
          <a:p>
            <a:r>
              <a:rPr lang="en-US" sz="900" dirty="0">
                <a:solidFill>
                  <a:srgbClr val="008000"/>
                </a:solidFill>
                <a:latin typeface="Consolas" panose="020B0609020204030204" pitchFamily="49" charset="0"/>
              </a:rPr>
              <a:t>--After that, call the </a:t>
            </a:r>
            <a:r>
              <a:rPr lang="en-US" sz="900" dirty="0" err="1">
                <a:solidFill>
                  <a:srgbClr val="008000"/>
                </a:solidFill>
                <a:latin typeface="Consolas" panose="020B0609020204030204" pitchFamily="49" charset="0"/>
              </a:rPr>
              <a:t>usp_delete_person</a:t>
            </a:r>
            <a:r>
              <a:rPr lang="en-US" sz="900" dirty="0">
                <a:solidFill>
                  <a:srgbClr val="008000"/>
                </a:solidFill>
                <a:latin typeface="Consolas" panose="020B0609020204030204" pitchFamily="49" charset="0"/>
              </a:rPr>
              <a:t> stored procedure to delete the person id 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usp_delete_person</a:t>
            </a:r>
            <a:r>
              <a:rPr lang="en-US" sz="900" dirty="0">
                <a:solidFill>
                  <a:srgbClr val="0000FF"/>
                </a:solidFill>
                <a:latin typeface="Consolas" panose="020B0609020204030204" pitchFamily="49" charset="0"/>
              </a:rPr>
              <a:t> </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--There was no exception occurred.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--Finally, lets call the stored procedure </a:t>
            </a:r>
            <a:r>
              <a:rPr lang="en-US" sz="900" dirty="0" err="1">
                <a:solidFill>
                  <a:srgbClr val="008000"/>
                </a:solidFill>
                <a:latin typeface="Consolas" panose="020B0609020204030204" pitchFamily="49" charset="0"/>
              </a:rPr>
              <a:t>usp_delete_person</a:t>
            </a:r>
            <a:r>
              <a:rPr lang="en-US" sz="900" dirty="0">
                <a:solidFill>
                  <a:srgbClr val="008000"/>
                </a:solidFill>
                <a:latin typeface="Consolas" panose="020B0609020204030204" pitchFamily="49" charset="0"/>
              </a:rPr>
              <a:t> to delete person id 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EXEC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usp_delete_person</a:t>
            </a:r>
            <a:r>
              <a:rPr lang="en-US" sz="900" dirty="0">
                <a:solidFill>
                  <a:srgbClr val="0000FF"/>
                </a:solidFill>
                <a:latin typeface="Consolas" panose="020B0609020204030204" pitchFamily="49" charset="0"/>
              </a:rPr>
              <a:t> </a:t>
            </a:r>
            <a:r>
              <a:rPr lang="en-US" sz="900" dirty="0">
                <a:solidFill>
                  <a:srgbClr val="000000"/>
                </a:solidFill>
                <a:latin typeface="Consolas" panose="020B0609020204030204" pitchFamily="49" charset="0"/>
              </a:rPr>
              <a:t>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Q2: Salary transfer between employees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Detailed Question: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Write a SQL transaction to:</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Deduct 1000 from Employee 1</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Add 1000 to Employee 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Ensure both updates succeed together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UPDATE</a:t>
            </a:r>
            <a:r>
              <a:rPr lang="en-US" sz="900" dirty="0">
                <a:solidFill>
                  <a:srgbClr val="000000"/>
                </a:solidFill>
                <a:latin typeface="Consolas" panose="020B0609020204030204" pitchFamily="49" charset="0"/>
              </a:rPr>
              <a:t> employees </a:t>
            </a:r>
          </a:p>
          <a:p>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salary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salary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1000 </a:t>
            </a: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FF00FF"/>
                </a:solidFill>
                <a:latin typeface="Consolas" panose="020B0609020204030204" pitchFamily="49" charset="0"/>
              </a:rPr>
              <a:t>UPDATE</a:t>
            </a:r>
            <a:r>
              <a:rPr lang="en-US" sz="900" dirty="0">
                <a:solidFill>
                  <a:srgbClr val="000000"/>
                </a:solidFill>
                <a:latin typeface="Consolas" panose="020B0609020204030204" pitchFamily="49" charset="0"/>
              </a:rPr>
              <a:t> employees </a:t>
            </a:r>
          </a:p>
          <a:p>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salary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salary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1000 </a:t>
            </a: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COMMIT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TRANSACTION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endParaRPr lang="en-US" dirty="0"/>
          </a:p>
        </p:txBody>
      </p:sp>
    </p:spTree>
    <p:extLst>
      <p:ext uri="{BB962C8B-B14F-4D97-AF65-F5344CB8AC3E}">
        <p14:creationId xmlns:p14="http://schemas.microsoft.com/office/powerpoint/2010/main" val="3977575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D0A40C-69D5-47CA-C4E1-154FC9907C89}"/>
              </a:ext>
            </a:extLst>
          </p:cNvPr>
          <p:cNvSpPr txBox="1"/>
          <p:nvPr/>
        </p:nvSpPr>
        <p:spPr>
          <a:xfrm>
            <a:off x="156118" y="0"/>
            <a:ext cx="3389970" cy="3277820"/>
          </a:xfrm>
          <a:prstGeom prst="rect">
            <a:avLst/>
          </a:prstGeom>
          <a:noFill/>
        </p:spPr>
        <p:txBody>
          <a:bodyPr wrap="square">
            <a:spAutoFit/>
          </a:bodyPr>
          <a:lstStyle/>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Q2: Divide by zero handling</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Detailed Question: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Write a SQL script using TRY…CATCH to safely handle a divide-by-zero error.*/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salary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0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division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PRINT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'error --&gt; division by zero is undefined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FF00"/>
                </a:solidFill>
                <a:latin typeface="Consolas" panose="020B0609020204030204" pitchFamily="49" charset="0"/>
              </a:rPr>
              <a:t>sys</a:t>
            </a:r>
            <a:r>
              <a:rPr lang="en-US" sz="900" dirty="0" err="1">
                <a:solidFill>
                  <a:srgbClr val="808080"/>
                </a:solidFill>
                <a:latin typeface="Consolas" panose="020B0609020204030204" pitchFamily="49" charset="0"/>
              </a:rPr>
              <a:t>.</a:t>
            </a:r>
            <a:r>
              <a:rPr lang="en-US" sz="900" dirty="0" err="1">
                <a:solidFill>
                  <a:srgbClr val="00FF00"/>
                </a:solidFill>
                <a:latin typeface="Consolas" panose="020B0609020204030204" pitchFamily="49" charset="0"/>
              </a:rPr>
              <a:t>tables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Answer: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salary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0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employees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PRINT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'Error: Divide by Zero'</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CATCH</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C9A9D304-4A27-8053-43EB-C7717AAA13B6}"/>
              </a:ext>
            </a:extLst>
          </p:cNvPr>
          <p:cNvSpPr txBox="1"/>
          <p:nvPr/>
        </p:nvSpPr>
        <p:spPr>
          <a:xfrm>
            <a:off x="3691053" y="-20806"/>
            <a:ext cx="6411951" cy="6878806"/>
          </a:xfrm>
          <a:prstGeom prst="rect">
            <a:avLst/>
          </a:prstGeom>
          <a:noFill/>
        </p:spPr>
        <p:txBody>
          <a:bodyPr wrap="square">
            <a:spAutoFit/>
          </a:bodyPr>
          <a:lstStyle/>
          <a:p>
            <a:r>
              <a:rPr lang="en-US" sz="900" dirty="0">
                <a:solidFill>
                  <a:srgbClr val="008000"/>
                </a:solidFill>
                <a:latin typeface="Consolas" panose="020B0609020204030204" pitchFamily="49" charset="0"/>
              </a:rPr>
              <a:t>---------------------ROLLUP-----------------------------</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SQL Server ROLLUP is a subclause of the GROUP BY clause which provides a shorthand for defining multiple grouping sets. Unlike the CUBE subclause, ROLLUP does not create all possible grouping sets based on the dimension columns; the CUBE makes a subset of those.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--When generating the grouping sets, ROLLUP assumes a hierarchy among the dimension columns and only generates grouping sets based on this hierarchy.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ROLLUP is often used to generate subtotals and totals for reporting purposes.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--Let’s consider an example. The following CUBE (d1,d2,d3) defines eight possible grouping sets: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d3</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d3</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d3</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d3</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--And the ROLLUP(d1,d2,d3) creates only four grouping sets, assuming the hierarchy d1 &gt; d2 &gt; d3,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d3</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d1</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ROLLUP is commonly used to calculate the aggregates of hierarchical data such as sales by year &gt; quarter &gt; month.</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ROLLUP syntax</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general syntax of the SQL Server ROLLUP is as follows: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d1,</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d2,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d3,</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aggregate_function</a:t>
            </a:r>
            <a:r>
              <a:rPr lang="en-US" sz="900" dirty="0">
                <a:solidFill>
                  <a:srgbClr val="008000"/>
                </a:solidFill>
                <a:latin typeface="Consolas" panose="020B0609020204030204" pitchFamily="49" charset="0"/>
              </a:rPr>
              <a:t>(c4)</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a:t>
            </a:r>
            <a:r>
              <a:rPr lang="en-US" sz="900" dirty="0" err="1">
                <a:solidFill>
                  <a:srgbClr val="008000"/>
                </a:solidFill>
                <a:latin typeface="Consolas" panose="020B0609020204030204" pitchFamily="49" charset="0"/>
              </a:rPr>
              <a:t>table_name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GROUP BY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ROLLUP (d1, d2, d3);*/</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 d1, d2, and d3 are the dimension columns. The statement will calculate the aggregation of values in the column c4 based on the hierarchy d1 &gt; d2 &gt; d3.</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---Example</a:t>
            </a:r>
            <a:endParaRPr lang="en-US" dirty="0"/>
          </a:p>
        </p:txBody>
      </p:sp>
    </p:spTree>
    <p:extLst>
      <p:ext uri="{BB962C8B-B14F-4D97-AF65-F5344CB8AC3E}">
        <p14:creationId xmlns:p14="http://schemas.microsoft.com/office/powerpoint/2010/main" val="1862517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84B385-1968-4335-1864-628FD010F81A}"/>
              </a:ext>
            </a:extLst>
          </p:cNvPr>
          <p:cNvSpPr txBox="1"/>
          <p:nvPr/>
        </p:nvSpPr>
        <p:spPr>
          <a:xfrm>
            <a:off x="100361" y="0"/>
            <a:ext cx="4951140" cy="6047809"/>
          </a:xfrm>
          <a:prstGeom prst="rect">
            <a:avLst/>
          </a:prstGeom>
          <a:noFill/>
        </p:spPr>
        <p:txBody>
          <a:bodyPr wrap="square">
            <a:spAutoFit/>
          </a:bodyPr>
          <a:lstStyle/>
          <a:p>
            <a:r>
              <a:rPr lang="en-US" sz="900" dirty="0">
                <a:solidFill>
                  <a:srgbClr val="008000"/>
                </a:solidFill>
                <a:latin typeface="Consolas" panose="020B0609020204030204" pitchFamily="49" charset="0"/>
              </a:rPr>
              <a:t>--We will reuse the </a:t>
            </a:r>
            <a:r>
              <a:rPr lang="en-US" sz="900" dirty="0" err="1">
                <a:solidFill>
                  <a:srgbClr val="008000"/>
                </a:solidFill>
                <a:latin typeface="Consolas" panose="020B0609020204030204" pitchFamily="49" charset="0"/>
              </a:rPr>
              <a:t>sales.sales_summary</a:t>
            </a:r>
            <a:r>
              <a:rPr lang="en-US" sz="900" dirty="0">
                <a:solidFill>
                  <a:srgbClr val="008000"/>
                </a:solidFill>
                <a:latin typeface="Consolas" panose="020B0609020204030204" pitchFamily="49" charset="0"/>
              </a:rPr>
              <a:t> table created in the GROUPING SETS </a:t>
            </a:r>
            <a:r>
              <a:rPr lang="en-US" sz="900" dirty="0" err="1">
                <a:solidFill>
                  <a:srgbClr val="008000"/>
                </a:solidFill>
                <a:latin typeface="Consolas" panose="020B0609020204030204" pitchFamily="49" charset="0"/>
              </a:rPr>
              <a:t>exmaple</a:t>
            </a:r>
            <a:r>
              <a:rPr lang="en-US" sz="900" dirty="0">
                <a:solidFill>
                  <a:srgbClr val="008000"/>
                </a:solidFill>
                <a:latin typeface="Consolas" panose="020B0609020204030204" pitchFamily="49" charset="0"/>
              </a:rPr>
              <a:t> . If you have not created the </a:t>
            </a:r>
            <a:r>
              <a:rPr lang="en-US" sz="900" dirty="0" err="1">
                <a:solidFill>
                  <a:srgbClr val="008000"/>
                </a:solidFill>
                <a:latin typeface="Consolas" panose="020B0609020204030204" pitchFamily="49" charset="0"/>
              </a:rPr>
              <a:t>sales.sales_summary</a:t>
            </a:r>
            <a:r>
              <a:rPr lang="en-US" sz="900" dirty="0">
                <a:solidFill>
                  <a:srgbClr val="008000"/>
                </a:solidFill>
                <a:latin typeface="Consolas" panose="020B0609020204030204" pitchFamily="49" charset="0"/>
              </a:rPr>
              <a:t> table, you can use the following statement to create it.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brand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category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model_year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round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discount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0</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sales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sales_summary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brands</a:t>
            </a:r>
            <a:r>
              <a:rPr lang="en-US" sz="900" dirty="0">
                <a:solidFill>
                  <a:srgbClr val="000000"/>
                </a:solidFill>
                <a:latin typeface="Consolas" panose="020B0609020204030204" pitchFamily="49" charset="0"/>
              </a:rPr>
              <a:t> b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r>
              <a:rPr lang="en-US" sz="900" dirty="0">
                <a:solidFill>
                  <a:srgbClr val="000000"/>
                </a:solidFill>
                <a:latin typeface="Consolas" panose="020B0609020204030204" pitchFamily="49" charset="0"/>
              </a:rPr>
              <a:t> c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model_year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brand_name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model_year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query uses the ROLLUP to calculate the sales amount by brand (subtotal) and both brand and category (total).</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brand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category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sales</a:t>
            </a: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sales_summary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ROLLUP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brand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category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--In this example, the query assumes that there is a hierarchy between brand and category, which is the brand &gt; category.</a:t>
            </a:r>
            <a:endParaRPr lang="en-US" dirty="0"/>
          </a:p>
        </p:txBody>
      </p:sp>
      <p:sp>
        <p:nvSpPr>
          <p:cNvPr id="5" name="TextBox 4">
            <a:extLst>
              <a:ext uri="{FF2B5EF4-FFF2-40B4-BE49-F238E27FC236}">
                <a16:creationId xmlns:a16="http://schemas.microsoft.com/office/drawing/2014/main" id="{4C63145F-4E8D-AE5C-AFD1-52265419C56C}"/>
              </a:ext>
            </a:extLst>
          </p:cNvPr>
          <p:cNvSpPr txBox="1"/>
          <p:nvPr/>
        </p:nvSpPr>
        <p:spPr>
          <a:xfrm>
            <a:off x="5051501" y="1462021"/>
            <a:ext cx="4650060" cy="3554819"/>
          </a:xfrm>
          <a:prstGeom prst="rect">
            <a:avLst/>
          </a:prstGeom>
          <a:noFill/>
        </p:spPr>
        <p:txBody>
          <a:bodyPr wrap="square">
            <a:spAutoFit/>
          </a:bodyPr>
          <a:lstStyle/>
          <a:p>
            <a:r>
              <a:rPr lang="en-US" sz="900" dirty="0">
                <a:solidFill>
                  <a:srgbClr val="008000"/>
                </a:solidFill>
                <a:latin typeface="Consolas" panose="020B0609020204030204" pitchFamily="49" charset="0"/>
              </a:rPr>
              <a:t>--Note that if you change the order of brand and category, the result will be different as shown in the following query: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category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brand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sales</a:t>
            </a: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sales_summary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ROLLUP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category</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brand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 the hierarchy is the brand &gt; segment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shows how to perform a partial roll-up:</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brand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category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sales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sales</a:t>
            </a: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sales_summary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brand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ROLLUP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category</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019912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1F9DC7-227F-6113-4A3B-D06AE1D17D63}"/>
              </a:ext>
            </a:extLst>
          </p:cNvPr>
          <p:cNvSpPr txBox="1"/>
          <p:nvPr/>
        </p:nvSpPr>
        <p:spPr>
          <a:xfrm>
            <a:off x="1860" y="78247"/>
            <a:ext cx="4951140" cy="6878806"/>
          </a:xfrm>
          <a:prstGeom prst="rect">
            <a:avLst/>
          </a:prstGeom>
          <a:noFill/>
        </p:spPr>
        <p:txBody>
          <a:bodyPr wrap="square">
            <a:spAutoFit/>
          </a:bodyPr>
          <a:lstStyle/>
          <a:p>
            <a:r>
              <a:rPr lang="en-US" sz="900" dirty="0">
                <a:solidFill>
                  <a:srgbClr val="008000"/>
                </a:solidFill>
                <a:latin typeface="Consolas" panose="020B0609020204030204" pitchFamily="49" charset="0"/>
              </a:rPr>
              <a:t>--------------------TRIGGERS------------------------------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triggers are special stored procedures that are executed automatically in response to the database object, database, and server events. SQL Server provides three type of triggers: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--Data manipulation language (DML) triggers which are invoked automatically in response to INSERT, UPDATE, and DELETE events against tables.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--Data definition language (DDL) triggers which fire in response to CREATE, ALTER, and DROP statements. DDL triggers also fire in response to some system stored procedures that perform DDL-like operations.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CREATE TRIGGER statement allows you to create a new trigger that is fired automatically whenever an event such as INSERT, DELETE, or UPDATE occurs against a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--Virtual tables for triggers: INSERTED and DELETED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provides two virtual tables that are available specifically for triggers called INSERTED and DELETED tables. SQL Server uses these tables to capture the data of the modified row before and after the event occurs.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table shows the content of the INSERTED and DELETED tables before and after each event: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DML event -      INSERTED table holds            -   DELETED table holds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INSERT  -       rows to be inserted          -   empty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UPDATE  -       new rows modified by the update -  existing rows modified by the update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DELETE  -       empty                          -   rows to be deleted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illustrates the syntax of the CREATE TRIGGER statement: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TRIGGER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schema_name</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trigger_name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table_name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AFTER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[INSERT]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[UPDATE]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[DELETE]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[NOT FOR REPLICATION]</a:t>
            </a:r>
          </a:p>
          <a:p>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sql_statements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schema_name</a:t>
            </a:r>
            <a:r>
              <a:rPr lang="en-US" sz="900" dirty="0">
                <a:solidFill>
                  <a:srgbClr val="008000"/>
                </a:solidFill>
                <a:latin typeface="Consolas" panose="020B0609020204030204" pitchFamily="49" charset="0"/>
              </a:rPr>
              <a:t> is the name of the schema to which the new trigger belongs. The schema name is optional.</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trigger_name</a:t>
            </a:r>
            <a:r>
              <a:rPr lang="en-US" sz="900" dirty="0">
                <a:solidFill>
                  <a:srgbClr val="008000"/>
                </a:solidFill>
                <a:latin typeface="Consolas" panose="020B0609020204030204" pitchFamily="49" charset="0"/>
              </a:rPr>
              <a:t> is the user-defined name for the new trigger.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table_name</a:t>
            </a:r>
            <a:r>
              <a:rPr lang="en-US" sz="900" dirty="0">
                <a:solidFill>
                  <a:srgbClr val="008000"/>
                </a:solidFill>
                <a:latin typeface="Consolas" panose="020B0609020204030204" pitchFamily="49" charset="0"/>
              </a:rPr>
              <a:t> is the table to which the trigger applies.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event is listed in the AFTER clause. The event could be INSERT, UPDATE, or DELETE. A single trigger can fire in response to one or more actions against the table.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NOT FOR REPLICATION option instructs SQL Server not to fire the trigger when data modification is made as part of a replication process.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sql_statements</a:t>
            </a:r>
            <a:r>
              <a:rPr lang="en-US" sz="900" dirty="0">
                <a:solidFill>
                  <a:srgbClr val="008000"/>
                </a:solidFill>
                <a:latin typeface="Consolas" panose="020B0609020204030204" pitchFamily="49" charset="0"/>
              </a:rPr>
              <a:t> is one or more Transact-SQL used to carry out actions once an event occurs.</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762D6B54-96BE-7A53-3046-D424821BBF50}"/>
              </a:ext>
            </a:extLst>
          </p:cNvPr>
          <p:cNvSpPr txBox="1"/>
          <p:nvPr/>
        </p:nvSpPr>
        <p:spPr>
          <a:xfrm>
            <a:off x="5229923" y="266167"/>
            <a:ext cx="4226312" cy="2862322"/>
          </a:xfrm>
          <a:prstGeom prst="rect">
            <a:avLst/>
          </a:prstGeom>
          <a:noFill/>
        </p:spPr>
        <p:txBody>
          <a:bodyPr wrap="square">
            <a:spAutoFit/>
          </a:bodyPr>
          <a:lstStyle/>
          <a:p>
            <a:r>
              <a:rPr lang="en-US" sz="900" dirty="0">
                <a:solidFill>
                  <a:srgbClr val="008000"/>
                </a:solidFill>
                <a:latin typeface="Consolas" panose="020B0609020204030204" pitchFamily="49" charset="0"/>
              </a:rPr>
              <a:t>--1)The following statement creates a table named </a:t>
            </a:r>
            <a:r>
              <a:rPr lang="en-US" sz="900" dirty="0" err="1">
                <a:solidFill>
                  <a:srgbClr val="008000"/>
                </a:solidFill>
                <a:latin typeface="Consolas" panose="020B0609020204030204" pitchFamily="49" charset="0"/>
              </a:rPr>
              <a:t>production.product_audits</a:t>
            </a:r>
            <a:r>
              <a:rPr lang="en-US" sz="900" dirty="0">
                <a:solidFill>
                  <a:srgbClr val="008000"/>
                </a:solidFill>
                <a:latin typeface="Consolas" panose="020B0609020204030204" pitchFamily="49" charset="0"/>
              </a:rPr>
              <a:t> to record information when an INSERT or DELETE event occurs against the </a:t>
            </a:r>
            <a:r>
              <a:rPr lang="en-US" sz="900" dirty="0" err="1">
                <a:solidFill>
                  <a:srgbClr val="008000"/>
                </a:solidFill>
                <a:latin typeface="Consolas" panose="020B0609020204030204" pitchFamily="49" charset="0"/>
              </a:rPr>
              <a:t>production.products</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a:t>
            </a:r>
            <a:r>
              <a:rPr lang="en-US" sz="900" dirty="0" err="1">
                <a:solidFill>
                  <a:srgbClr val="008000"/>
                </a:solidFill>
                <a:latin typeface="Consolas" panose="020B0609020204030204" pitchFamily="49" charset="0"/>
              </a:rPr>
              <a:t>production.product_audits</a:t>
            </a:r>
            <a:r>
              <a:rPr lang="en-US" sz="900" dirty="0">
                <a:solidFill>
                  <a:srgbClr val="008000"/>
                </a:solidFill>
                <a:latin typeface="Consolas" panose="020B0609020204030204" pitchFamily="49" charset="0"/>
              </a:rPr>
              <a:t> table has all the columns from the </a:t>
            </a:r>
            <a:r>
              <a:rPr lang="en-US" sz="900" dirty="0" err="1">
                <a:solidFill>
                  <a:srgbClr val="008000"/>
                </a:solidFill>
                <a:latin typeface="Consolas" panose="020B0609020204030204" pitchFamily="49" charset="0"/>
              </a:rPr>
              <a:t>production.products</a:t>
            </a:r>
            <a:r>
              <a:rPr lang="en-US" sz="900" dirty="0">
                <a:solidFill>
                  <a:srgbClr val="008000"/>
                </a:solidFill>
                <a:latin typeface="Consolas" panose="020B0609020204030204" pitchFamily="49" charset="0"/>
              </a:rPr>
              <a:t> table. In addition, it has a few more columns to record the changes e.g., </a:t>
            </a:r>
            <a:r>
              <a:rPr lang="en-US" sz="900" dirty="0" err="1">
                <a:solidFill>
                  <a:srgbClr val="008000"/>
                </a:solidFill>
                <a:latin typeface="Consolas" panose="020B0609020204030204" pitchFamily="49" charset="0"/>
              </a:rPr>
              <a:t>updated_at</a:t>
            </a:r>
            <a:r>
              <a:rPr lang="en-US" sz="900" dirty="0">
                <a:solidFill>
                  <a:srgbClr val="008000"/>
                </a:solidFill>
                <a:latin typeface="Consolas" panose="020B0609020204030204" pitchFamily="49" charset="0"/>
              </a:rPr>
              <a:t>, operation, and the </a:t>
            </a:r>
            <a:r>
              <a:rPr lang="en-US" sz="900" dirty="0" err="1">
                <a:solidFill>
                  <a:srgbClr val="008000"/>
                </a:solidFill>
                <a:latin typeface="Consolas" panose="020B0609020204030204" pitchFamily="49" charset="0"/>
              </a:rPr>
              <a:t>change_id</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TABLE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product_audits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change_id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IDENTITY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PRIMARY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KEY</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VARCHAR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255</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SMALLINT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DEC</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10</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2</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updated_at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DATETIME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operation </a:t>
            </a:r>
            <a:r>
              <a:rPr lang="en-US" sz="900" dirty="0">
                <a:solidFill>
                  <a:srgbClr val="0000FF"/>
                </a:solidFill>
                <a:latin typeface="Consolas" panose="020B0609020204030204" pitchFamily="49" charset="0"/>
              </a:rPr>
              <a:t>CHAR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3</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NOT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CHECK</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operation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'INS'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or</a:t>
            </a:r>
            <a:r>
              <a:rPr lang="en-US" sz="900" dirty="0">
                <a:solidFill>
                  <a:srgbClr val="000000"/>
                </a:solidFill>
                <a:latin typeface="Consolas" panose="020B0609020204030204" pitchFamily="49" charset="0"/>
              </a:rPr>
              <a:t> operation</a:t>
            </a:r>
            <a:r>
              <a:rPr lang="en-US" sz="900" dirty="0">
                <a:solidFill>
                  <a:srgbClr val="808080"/>
                </a:solidFill>
                <a:latin typeface="Consolas" panose="020B0609020204030204" pitchFamily="49" charset="0"/>
              </a:rPr>
              <a:t>=</a:t>
            </a:r>
            <a:r>
              <a:rPr lang="en-US" sz="900" dirty="0">
                <a:solidFill>
                  <a:srgbClr val="FF0000"/>
                </a:solidFill>
                <a:latin typeface="Consolas" panose="020B0609020204030204" pitchFamily="49" charset="0"/>
              </a:rPr>
              <a:t>'DEL'</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167762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2F366F-EB34-8EC4-36D6-2A9874D9729D}"/>
              </a:ext>
            </a:extLst>
          </p:cNvPr>
          <p:cNvSpPr txBox="1"/>
          <p:nvPr/>
        </p:nvSpPr>
        <p:spPr>
          <a:xfrm>
            <a:off x="234176" y="474345"/>
            <a:ext cx="4951140" cy="5909310"/>
          </a:xfrm>
          <a:prstGeom prst="rect">
            <a:avLst/>
          </a:prstGeom>
          <a:noFill/>
        </p:spPr>
        <p:txBody>
          <a:bodyPr wrap="square">
            <a:spAutoFit/>
          </a:bodyPr>
          <a:lstStyle/>
          <a:p>
            <a:r>
              <a:rPr lang="en-US" sz="900" dirty="0">
                <a:solidFill>
                  <a:srgbClr val="008000"/>
                </a:solidFill>
                <a:latin typeface="Consolas" panose="020B0609020204030204" pitchFamily="49" charset="0"/>
              </a:rPr>
              <a:t>--2)Now we will create the after trigger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CREATE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TRIGGER</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trg_product_audit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AFTER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INSERT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DELETE</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NOCOUNT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product_audits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updated_at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operation</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'INS'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inserted </a:t>
            </a:r>
            <a:r>
              <a:rPr lang="en-US" sz="900" dirty="0" err="1">
                <a:solidFill>
                  <a:srgbClr val="000000"/>
                </a:solidFill>
                <a:latin typeface="Consolas" panose="020B0609020204030204" pitchFamily="49" charset="0"/>
              </a:rPr>
              <a:t>i</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UNION</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ALL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GETDATE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'DEL'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deleted 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endParaRPr lang="en-US" dirty="0"/>
          </a:p>
        </p:txBody>
      </p:sp>
      <p:sp>
        <p:nvSpPr>
          <p:cNvPr id="5" name="TextBox 4">
            <a:extLst>
              <a:ext uri="{FF2B5EF4-FFF2-40B4-BE49-F238E27FC236}">
                <a16:creationId xmlns:a16="http://schemas.microsoft.com/office/drawing/2014/main" id="{D62E6B19-C456-19B0-66FD-CDE901EFAA12}"/>
              </a:ext>
            </a:extLst>
          </p:cNvPr>
          <p:cNvSpPr txBox="1"/>
          <p:nvPr/>
        </p:nvSpPr>
        <p:spPr>
          <a:xfrm>
            <a:off x="4493942" y="474345"/>
            <a:ext cx="4951140" cy="2585323"/>
          </a:xfrm>
          <a:prstGeom prst="rect">
            <a:avLst/>
          </a:prstGeom>
          <a:noFill/>
        </p:spPr>
        <p:txBody>
          <a:bodyPr wrap="square">
            <a:spAutoFit/>
          </a:bodyPr>
          <a:lstStyle/>
          <a:p>
            <a:r>
              <a:rPr lang="en-US" sz="900" dirty="0">
                <a:solidFill>
                  <a:srgbClr val="008000"/>
                </a:solidFill>
                <a:latin typeface="Consolas" panose="020B0609020204030204" pitchFamily="49" charset="0"/>
              </a:rPr>
              <a:t>--3) Testing the trigger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inserts a new row into the </a:t>
            </a:r>
            <a:r>
              <a:rPr lang="en-US" sz="900" dirty="0" err="1">
                <a:solidFill>
                  <a:srgbClr val="008000"/>
                </a:solidFill>
                <a:latin typeface="Consolas" panose="020B0609020204030204" pitchFamily="49" charset="0"/>
              </a:rPr>
              <a:t>production.products</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INSERT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INTO</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brand_id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model_year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VALUES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'Test product'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2018</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599</a:t>
            </a:r>
          </a:p>
          <a:p>
            <a:r>
              <a:rPr lang="en-US" sz="900" dirty="0">
                <a:solidFill>
                  <a:srgbClr val="808080"/>
                </a:solidFill>
                <a:latin typeface="Consolas" panose="020B0609020204030204" pitchFamily="49" charset="0"/>
              </a:rPr>
              <a:t>);</a:t>
            </a:r>
            <a:endParaRPr lang="en-US" dirty="0"/>
          </a:p>
        </p:txBody>
      </p:sp>
      <p:sp>
        <p:nvSpPr>
          <p:cNvPr id="7" name="TextBox 6">
            <a:extLst>
              <a:ext uri="{FF2B5EF4-FFF2-40B4-BE49-F238E27FC236}">
                <a16:creationId xmlns:a16="http://schemas.microsoft.com/office/drawing/2014/main" id="{7B339B41-F858-2402-08D6-036433FC328D}"/>
              </a:ext>
            </a:extLst>
          </p:cNvPr>
          <p:cNvSpPr txBox="1"/>
          <p:nvPr/>
        </p:nvSpPr>
        <p:spPr>
          <a:xfrm>
            <a:off x="3813717" y="3239749"/>
            <a:ext cx="4951140" cy="3277820"/>
          </a:xfrm>
          <a:prstGeom prst="rect">
            <a:avLst/>
          </a:prstGeom>
          <a:noFill/>
        </p:spPr>
        <p:txBody>
          <a:bodyPr wrap="square">
            <a:spAutoFit/>
          </a:bodyPr>
          <a:lstStyle/>
          <a:p>
            <a:r>
              <a:rPr lang="en-US" sz="900" dirty="0">
                <a:solidFill>
                  <a:srgbClr val="008000"/>
                </a:solidFill>
                <a:latin typeface="Consolas" panose="020B0609020204030204" pitchFamily="49" charset="0"/>
              </a:rPr>
              <a:t>---Because of the INSERT event, the </a:t>
            </a:r>
            <a:r>
              <a:rPr lang="en-US" sz="900" dirty="0" err="1">
                <a:solidFill>
                  <a:srgbClr val="008000"/>
                </a:solidFill>
                <a:latin typeface="Consolas" panose="020B0609020204030204" pitchFamily="49" charset="0"/>
              </a:rPr>
              <a:t>production.trg_product_audit</a:t>
            </a:r>
            <a:r>
              <a:rPr lang="en-US" sz="900" dirty="0">
                <a:solidFill>
                  <a:srgbClr val="008000"/>
                </a:solidFill>
                <a:latin typeface="Consolas" panose="020B0609020204030204" pitchFamily="49" charset="0"/>
              </a:rPr>
              <a:t> trigger of </a:t>
            </a:r>
            <a:r>
              <a:rPr lang="en-US" sz="900" dirty="0" err="1">
                <a:solidFill>
                  <a:srgbClr val="008000"/>
                </a:solidFill>
                <a:latin typeface="Consolas" panose="020B0609020204030204" pitchFamily="49" charset="0"/>
              </a:rPr>
              <a:t>production.products</a:t>
            </a:r>
            <a:r>
              <a:rPr lang="en-US" sz="900" dirty="0">
                <a:solidFill>
                  <a:srgbClr val="008000"/>
                </a:solidFill>
                <a:latin typeface="Consolas" panose="020B0609020204030204" pitchFamily="49" charset="0"/>
              </a:rPr>
              <a:t> table was fired.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--Let’s examine the contents of the </a:t>
            </a:r>
            <a:r>
              <a:rPr lang="en-US" sz="900" dirty="0" err="1">
                <a:solidFill>
                  <a:srgbClr val="008000"/>
                </a:solidFill>
                <a:latin typeface="Consolas" panose="020B0609020204030204" pitchFamily="49" charset="0"/>
              </a:rPr>
              <a:t>production.product_audits</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product_audits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statement deletes a row from the </a:t>
            </a:r>
            <a:r>
              <a:rPr lang="en-US" sz="900" dirty="0" err="1">
                <a:solidFill>
                  <a:srgbClr val="008000"/>
                </a:solidFill>
                <a:latin typeface="Consolas" panose="020B0609020204030204" pitchFamily="49" charset="0"/>
              </a:rPr>
              <a:t>production.products</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DELETE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322</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--As expected, the trigger was fired and inserted the deleted row into the </a:t>
            </a:r>
            <a:r>
              <a:rPr lang="en-US" sz="900" dirty="0" err="1">
                <a:solidFill>
                  <a:srgbClr val="008000"/>
                </a:solidFill>
                <a:latin typeface="Consolas" panose="020B0609020204030204" pitchFamily="49" charset="0"/>
              </a:rPr>
              <a:t>production.product_audits</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product_audits</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996681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558AC3-3466-4481-0EF7-3B2E603C3DB4}"/>
              </a:ext>
            </a:extLst>
          </p:cNvPr>
          <p:cNvSpPr txBox="1"/>
          <p:nvPr/>
        </p:nvSpPr>
        <p:spPr>
          <a:xfrm>
            <a:off x="624468" y="405096"/>
            <a:ext cx="8876371" cy="5355312"/>
          </a:xfrm>
          <a:prstGeom prst="rect">
            <a:avLst/>
          </a:prstGeom>
          <a:noFill/>
        </p:spPr>
        <p:txBody>
          <a:bodyPr wrap="square">
            <a:spAutoFit/>
          </a:bodyPr>
          <a:lstStyle/>
          <a:p>
            <a:r>
              <a:rPr lang="en-US" sz="900" dirty="0">
                <a:solidFill>
                  <a:srgbClr val="008000"/>
                </a:solidFill>
                <a:latin typeface="Consolas" panose="020B0609020204030204" pitchFamily="49" charset="0"/>
              </a:rPr>
              <a:t>---------------------COALESCE () Function-------------------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SQL Server COALESCE expression accepts a number of arguments, evaluates them in sequence, and returns the first non-null argument.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uses the COALESCE expression to return the string 'Hi' because it is the first non-null argument: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COALESCE</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'Hi'</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'Hello'</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NULL)</a:t>
            </a:r>
            <a:r>
              <a:rPr lang="en-US" sz="900" dirty="0">
                <a:solidFill>
                  <a:srgbClr val="000000"/>
                </a:solidFill>
                <a:latin typeface="Consolas" panose="020B0609020204030204" pitchFamily="49" charset="0"/>
              </a:rPr>
              <a:t> result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query returns first name, last name, phone, and email of all customers: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phone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email</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--Here is the partial output: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COALESCE expression sample result set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phone column will have NULL if the customer does not have the phone number recorded in the </a:t>
            </a:r>
            <a:r>
              <a:rPr lang="en-US" sz="900" dirty="0" err="1">
                <a:solidFill>
                  <a:srgbClr val="008000"/>
                </a:solidFill>
                <a:latin typeface="Consolas" panose="020B0609020204030204" pitchFamily="49" charset="0"/>
              </a:rPr>
              <a:t>sales.customers</a:t>
            </a:r>
            <a:r>
              <a:rPr lang="en-US" sz="900" dirty="0">
                <a:solidFill>
                  <a:srgbClr val="008000"/>
                </a:solidFill>
                <a:latin typeface="Consolas" panose="020B0609020204030204" pitchFamily="49" charset="0"/>
              </a:rPr>
              <a:t> table.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 make the output more business friendly, you can use the COALESCE expression to substitute NULL by the string N/A (not available) as shown in the following query: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fr-FR" sz="900" dirty="0">
                <a:solidFill>
                  <a:srgbClr val="000000"/>
                </a:solidFill>
                <a:latin typeface="Consolas" panose="020B0609020204030204" pitchFamily="49" charset="0"/>
              </a:rPr>
              <a:t>    </a:t>
            </a:r>
            <a:r>
              <a:rPr lang="fr-FR" sz="900" dirty="0">
                <a:solidFill>
                  <a:srgbClr val="FF00FF"/>
                </a:solidFill>
                <a:latin typeface="Consolas" panose="020B0609020204030204" pitchFamily="49" charset="0"/>
              </a:rPr>
              <a:t>COALESCE</a:t>
            </a:r>
            <a:r>
              <a:rPr lang="fr-FR" sz="900" dirty="0">
                <a:solidFill>
                  <a:srgbClr val="808080"/>
                </a:solidFill>
                <a:latin typeface="Consolas" panose="020B0609020204030204" pitchFamily="49" charset="0"/>
              </a:rPr>
              <a:t>(</a:t>
            </a:r>
            <a:r>
              <a:rPr lang="fr-FR" sz="900" dirty="0" err="1">
                <a:solidFill>
                  <a:srgbClr val="000000"/>
                </a:solidFill>
                <a:latin typeface="Consolas" panose="020B0609020204030204" pitchFamily="49" charset="0"/>
              </a:rPr>
              <a:t>phone</a:t>
            </a:r>
            <a:r>
              <a:rPr lang="fr-FR" sz="900" dirty="0" err="1">
                <a:solidFill>
                  <a:srgbClr val="808080"/>
                </a:solidFill>
                <a:latin typeface="Consolas" panose="020B0609020204030204" pitchFamily="49" charset="0"/>
              </a:rPr>
              <a:t>,</a:t>
            </a:r>
            <a:r>
              <a:rPr lang="fr-FR" sz="900" dirty="0" err="1">
                <a:solidFill>
                  <a:srgbClr val="FF0000"/>
                </a:solidFill>
                <a:latin typeface="Consolas" panose="020B0609020204030204" pitchFamily="49" charset="0"/>
              </a:rPr>
              <a:t>'N</a:t>
            </a:r>
            <a:r>
              <a:rPr lang="fr-FR" sz="900" dirty="0">
                <a:solidFill>
                  <a:srgbClr val="FF0000"/>
                </a:solidFill>
                <a:latin typeface="Consolas" panose="020B0609020204030204" pitchFamily="49" charset="0"/>
              </a:rPr>
              <a:t>/A'</a:t>
            </a:r>
            <a:r>
              <a:rPr lang="fr-FR" sz="900" dirty="0">
                <a:solidFill>
                  <a:srgbClr val="808080"/>
                </a:solidFill>
                <a:latin typeface="Consolas" panose="020B0609020204030204" pitchFamily="49" charset="0"/>
              </a:rPr>
              <a:t>)</a:t>
            </a:r>
            <a:r>
              <a:rPr lang="fr-FR" sz="900" dirty="0">
                <a:solidFill>
                  <a:srgbClr val="000000"/>
                </a:solidFill>
                <a:latin typeface="Consolas" panose="020B0609020204030204" pitchFamily="49" charset="0"/>
              </a:rPr>
              <a:t> phone</a:t>
            </a:r>
            <a:r>
              <a:rPr lang="fr-FR" sz="900" dirty="0">
                <a:solidFill>
                  <a:srgbClr val="808080"/>
                </a:solidFill>
                <a:latin typeface="Consolas" panose="020B0609020204030204" pitchFamily="49" charset="0"/>
              </a:rPr>
              <a:t>,</a:t>
            </a:r>
            <a:r>
              <a:rPr lang="fr-FR"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email</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customers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906076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DD45E7-5702-72A8-310E-07435422A7BD}"/>
              </a:ext>
            </a:extLst>
          </p:cNvPr>
          <p:cNvSpPr txBox="1"/>
          <p:nvPr/>
        </p:nvSpPr>
        <p:spPr>
          <a:xfrm>
            <a:off x="55755" y="11151"/>
            <a:ext cx="5084956" cy="7709803"/>
          </a:xfrm>
          <a:prstGeom prst="rect">
            <a:avLst/>
          </a:prstGeom>
          <a:noFill/>
        </p:spPr>
        <p:txBody>
          <a:bodyPr wrap="square">
            <a:spAutoFit/>
          </a:bodyPr>
          <a:lstStyle/>
          <a:p>
            <a:r>
              <a:rPr lang="en-US" sz="900" dirty="0">
                <a:solidFill>
                  <a:srgbClr val="008000"/>
                </a:solidFill>
                <a:latin typeface="Consolas" panose="020B0609020204030204" pitchFamily="49" charset="0"/>
              </a:rPr>
              <a:t>---------------------CTE------------------------------------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--Introduction to CTE in SQL Server</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--CTE stands for common table expression. A CTE allows you to define a temporary named result set that available temporarily in the execution scope of a statement such as SELECT, INSERT, UPDATE, DELETE, or MERGE.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syntax:</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specify the expression name (</a:t>
            </a:r>
            <a:r>
              <a:rPr lang="en-US" sz="900" dirty="0" err="1">
                <a:solidFill>
                  <a:srgbClr val="008000"/>
                </a:solidFill>
                <a:latin typeface="Consolas" panose="020B0609020204030204" pitchFamily="49" charset="0"/>
              </a:rPr>
              <a:t>expression_name</a:t>
            </a:r>
            <a:r>
              <a:rPr lang="en-US" sz="900" dirty="0">
                <a:solidFill>
                  <a:srgbClr val="008000"/>
                </a:solidFill>
                <a:latin typeface="Consolas" panose="020B0609020204030204" pitchFamily="49" charset="0"/>
              </a:rPr>
              <a:t>) to which you can refer later in a query.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--Next, specify a list of comma-separated columns after the </a:t>
            </a:r>
            <a:r>
              <a:rPr lang="en-US" sz="900" dirty="0" err="1">
                <a:solidFill>
                  <a:srgbClr val="008000"/>
                </a:solidFill>
                <a:latin typeface="Consolas" panose="020B0609020204030204" pitchFamily="49" charset="0"/>
              </a:rPr>
              <a:t>expression_name</a:t>
            </a:r>
            <a:r>
              <a:rPr lang="en-US" sz="900" dirty="0">
                <a:solidFill>
                  <a:srgbClr val="008000"/>
                </a:solidFill>
                <a:latin typeface="Consolas" panose="020B0609020204030204" pitchFamily="49" charset="0"/>
              </a:rPr>
              <a:t>. The number of columns must be the same as the number of columns defined in the </a:t>
            </a:r>
            <a:r>
              <a:rPr lang="en-US" sz="900" dirty="0" err="1">
                <a:solidFill>
                  <a:srgbClr val="008000"/>
                </a:solidFill>
                <a:latin typeface="Consolas" panose="020B0609020204030204" pitchFamily="49" charset="0"/>
              </a:rPr>
              <a:t>CTE_definition</a:t>
            </a:r>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--Then, use the AS keyword after the expression name or column list if the column list is specified.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--After, define a SELECT statement whose result set populates the common table expression.</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--Finally, refer to the common table expression in a query (</a:t>
            </a:r>
            <a:r>
              <a:rPr lang="en-US" sz="900" dirty="0" err="1">
                <a:solidFill>
                  <a:srgbClr val="008000"/>
                </a:solidFill>
                <a:latin typeface="Consolas" panose="020B0609020204030204" pitchFamily="49" charset="0"/>
              </a:rPr>
              <a:t>SQL_statement</a:t>
            </a:r>
            <a:r>
              <a:rPr lang="en-US" sz="900" dirty="0">
                <a:solidFill>
                  <a:srgbClr val="008000"/>
                </a:solidFill>
                <a:latin typeface="Consolas" panose="020B0609020204030204" pitchFamily="49" charset="0"/>
              </a:rPr>
              <a:t>) such as SELECT, INSERT, UPDATE, DELETE, or MERGE.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--We prefer to use common table expressions rather than to use subqueries because common table expressions are more readable. We also use CTE in the queries that contain analytic functions (or window functions)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--Here are  some examples of using common table expressions.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Simple SQL Server CTE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query uses a CTE to return the sales amounts by sales staffs in 2018:</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we defined </a:t>
            </a:r>
            <a:r>
              <a:rPr lang="en-US" sz="900" dirty="0" err="1">
                <a:solidFill>
                  <a:srgbClr val="008000"/>
                </a:solidFill>
                <a:latin typeface="Consolas" panose="020B0609020204030204" pitchFamily="49" charset="0"/>
              </a:rPr>
              <a:t>cte_sales_amounts</a:t>
            </a:r>
            <a:r>
              <a:rPr lang="en-US" sz="900" dirty="0">
                <a:solidFill>
                  <a:srgbClr val="008000"/>
                </a:solidFill>
                <a:latin typeface="Consolas" panose="020B0609020204030204" pitchFamily="49" charset="0"/>
              </a:rPr>
              <a:t> as the name of the common table expression. the CTE returns a result that that consists of three columns staff, year, and sales derived from the definition query.</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 we constructed a query that returns the total sales amount by sales staff and year by querying data from the orders, </a:t>
            </a:r>
            <a:r>
              <a:rPr lang="en-US" sz="900" dirty="0" err="1">
                <a:solidFill>
                  <a:srgbClr val="008000"/>
                </a:solidFill>
                <a:latin typeface="Consolas" panose="020B0609020204030204" pitchFamily="49" charset="0"/>
              </a:rPr>
              <a:t>order_items</a:t>
            </a:r>
            <a:r>
              <a:rPr lang="en-US" sz="900" dirty="0">
                <a:solidFill>
                  <a:srgbClr val="008000"/>
                </a:solidFill>
                <a:latin typeface="Consolas" panose="020B0609020204030204" pitchFamily="49" charset="0"/>
              </a:rPr>
              <a:t> and staffs tables.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--Third, we referred to the CTE in the outer query and select only the rows whose year are 2018.</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WITH</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cte_sales_amounts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staff</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discount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staffs</a:t>
            </a:r>
            <a:r>
              <a:rPr lang="en-US" sz="900" dirty="0">
                <a:solidFill>
                  <a:srgbClr val="000000"/>
                </a:solidFill>
                <a:latin typeface="Consolas" panose="020B0609020204030204" pitchFamily="49" charset="0"/>
              </a:rPr>
              <a:t> s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last_name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staff</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sales</a:t>
            </a: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cte_sales_amounts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r>
              <a:rPr lang="en-US" sz="900" dirty="0">
                <a:solidFill>
                  <a:srgbClr val="808080"/>
                </a:solidFill>
                <a:latin typeface="Consolas" panose="020B0609020204030204" pitchFamily="49" charset="0"/>
              </a:rPr>
              <a:t>;</a:t>
            </a:r>
            <a:endParaRPr lang="en-US" dirty="0"/>
          </a:p>
        </p:txBody>
      </p:sp>
      <p:sp>
        <p:nvSpPr>
          <p:cNvPr id="5" name="TextBox 4">
            <a:extLst>
              <a:ext uri="{FF2B5EF4-FFF2-40B4-BE49-F238E27FC236}">
                <a16:creationId xmlns:a16="http://schemas.microsoft.com/office/drawing/2014/main" id="{0925FF35-8CD9-94ED-3418-FF2A3A237229}"/>
              </a:ext>
            </a:extLst>
          </p:cNvPr>
          <p:cNvSpPr txBox="1"/>
          <p:nvPr/>
        </p:nvSpPr>
        <p:spPr>
          <a:xfrm>
            <a:off x="5140711" y="128096"/>
            <a:ext cx="4471640" cy="6740307"/>
          </a:xfrm>
          <a:prstGeom prst="rect">
            <a:avLst/>
          </a:prstGeom>
          <a:noFill/>
        </p:spPr>
        <p:txBody>
          <a:bodyPr wrap="square">
            <a:spAutoFit/>
          </a:bodyPr>
          <a:lstStyle/>
          <a:p>
            <a:r>
              <a:rPr lang="en-US" sz="900" dirty="0">
                <a:solidFill>
                  <a:srgbClr val="008000"/>
                </a:solidFill>
                <a:latin typeface="Consolas" panose="020B0609020204030204" pitchFamily="49" charset="0"/>
              </a:rPr>
              <a:t>--B) Using a common table expression to make report averages based on counts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CTE to return the average number of sales orders in 2018 for all sales staffs.</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we used </a:t>
            </a:r>
            <a:r>
              <a:rPr lang="en-US" sz="900" dirty="0" err="1">
                <a:solidFill>
                  <a:srgbClr val="008000"/>
                </a:solidFill>
                <a:latin typeface="Consolas" panose="020B0609020204030204" pitchFamily="49" charset="0"/>
              </a:rPr>
              <a:t>cte_sales</a:t>
            </a:r>
            <a:r>
              <a:rPr lang="en-US" sz="900" dirty="0">
                <a:solidFill>
                  <a:srgbClr val="008000"/>
                </a:solidFill>
                <a:latin typeface="Consolas" panose="020B0609020204030204" pitchFamily="49" charset="0"/>
              </a:rPr>
              <a:t> as the name of the common table expression. We skipped the column list of the CTE so it is derived from the CTE definition statement. In this example, it includes </a:t>
            </a:r>
            <a:r>
              <a:rPr lang="en-US" sz="900" dirty="0" err="1">
                <a:solidFill>
                  <a:srgbClr val="008000"/>
                </a:solidFill>
                <a:latin typeface="Consolas" panose="020B0609020204030204" pitchFamily="49" charset="0"/>
              </a:rPr>
              <a:t>staff_id</a:t>
            </a:r>
            <a:r>
              <a:rPr lang="en-US" sz="900" dirty="0">
                <a:solidFill>
                  <a:srgbClr val="008000"/>
                </a:solidFill>
                <a:latin typeface="Consolas" panose="020B0609020204030204" pitchFamily="49" charset="0"/>
              </a:rPr>
              <a:t> and </a:t>
            </a:r>
            <a:r>
              <a:rPr lang="en-US" sz="900" dirty="0" err="1">
                <a:solidFill>
                  <a:srgbClr val="008000"/>
                </a:solidFill>
                <a:latin typeface="Consolas" panose="020B0609020204030204" pitchFamily="49" charset="0"/>
              </a:rPr>
              <a:t>order_count</a:t>
            </a:r>
            <a:r>
              <a:rPr lang="en-US" sz="900" dirty="0">
                <a:solidFill>
                  <a:srgbClr val="008000"/>
                </a:solidFill>
                <a:latin typeface="Consolas" panose="020B0609020204030204" pitchFamily="49" charset="0"/>
              </a:rPr>
              <a:t> columns.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WITH</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cte_sales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staff_id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order_count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staff_id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average_orders_by_staff</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cte_sales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--Second, we use the following query to define the result set that populates the common table expression </a:t>
            </a:r>
            <a:r>
              <a:rPr lang="en-US" sz="900" dirty="0" err="1">
                <a:solidFill>
                  <a:srgbClr val="008000"/>
                </a:solidFill>
                <a:latin typeface="Consolas" panose="020B0609020204030204" pitchFamily="49" charset="0"/>
              </a:rPr>
              <a:t>cte_sales</a:t>
            </a:r>
            <a:r>
              <a:rPr lang="en-US" sz="900" dirty="0">
                <a:solidFill>
                  <a:srgbClr val="008000"/>
                </a:solidFill>
                <a:latin typeface="Consolas" panose="020B0609020204030204" pitchFamily="49" charset="0"/>
              </a:rPr>
              <a:t>. The query returns the number of orders in 2018 by sales staff.</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staff_id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staff_id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--Third, we refer to the </a:t>
            </a:r>
            <a:r>
              <a:rPr lang="en-US" sz="900" dirty="0" err="1">
                <a:solidFill>
                  <a:srgbClr val="008000"/>
                </a:solidFill>
                <a:latin typeface="Consolas" panose="020B0609020204030204" pitchFamily="49" charset="0"/>
              </a:rPr>
              <a:t>cte_sales</a:t>
            </a:r>
            <a:r>
              <a:rPr lang="en-US" sz="900" dirty="0">
                <a:solidFill>
                  <a:srgbClr val="008000"/>
                </a:solidFill>
                <a:latin typeface="Consolas" panose="020B0609020204030204" pitchFamily="49" charset="0"/>
              </a:rPr>
              <a:t> in the outer statement and use the AVG() function to get the average sales order by all staffs.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AVG</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average_orders_by_staff</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cte_sales</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402645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6CEBA4-1ADD-0D71-8BB3-BD6917662F94}"/>
              </a:ext>
            </a:extLst>
          </p:cNvPr>
          <p:cNvSpPr txBox="1"/>
          <p:nvPr/>
        </p:nvSpPr>
        <p:spPr>
          <a:xfrm>
            <a:off x="111513" y="0"/>
            <a:ext cx="9612350" cy="6878806"/>
          </a:xfrm>
          <a:prstGeom prst="rect">
            <a:avLst/>
          </a:prstGeom>
          <a:noFill/>
        </p:spPr>
        <p:txBody>
          <a:bodyPr wrap="square">
            <a:spAutoFit/>
          </a:bodyPr>
          <a:lstStyle/>
          <a:p>
            <a:r>
              <a:rPr lang="en-US" sz="900" dirty="0">
                <a:solidFill>
                  <a:srgbClr val="008000"/>
                </a:solidFill>
                <a:latin typeface="Consolas" panose="020B0609020204030204" pitchFamily="49" charset="0"/>
              </a:rPr>
              <a:t>--C) Using multiple SQL Server CTE in a single query example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uses two CTE </a:t>
            </a:r>
            <a:r>
              <a:rPr lang="en-US" sz="900" dirty="0" err="1">
                <a:solidFill>
                  <a:srgbClr val="008000"/>
                </a:solidFill>
                <a:latin typeface="Consolas" panose="020B0609020204030204" pitchFamily="49" charset="0"/>
              </a:rPr>
              <a:t>cte_category_counts</a:t>
            </a:r>
            <a:r>
              <a:rPr lang="en-US" sz="900" dirty="0">
                <a:solidFill>
                  <a:srgbClr val="008000"/>
                </a:solidFill>
                <a:latin typeface="Consolas" panose="020B0609020204030204" pitchFamily="49" charset="0"/>
              </a:rPr>
              <a:t> and </a:t>
            </a:r>
            <a:r>
              <a:rPr lang="en-US" sz="900" dirty="0" err="1">
                <a:solidFill>
                  <a:srgbClr val="008000"/>
                </a:solidFill>
                <a:latin typeface="Consolas" panose="020B0609020204030204" pitchFamily="49" charset="0"/>
              </a:rPr>
              <a:t>cte_category_sales</a:t>
            </a:r>
            <a:r>
              <a:rPr lang="en-US" sz="900" dirty="0">
                <a:solidFill>
                  <a:srgbClr val="008000"/>
                </a:solidFill>
                <a:latin typeface="Consolas" panose="020B0609020204030204" pitchFamily="49" charset="0"/>
              </a:rPr>
              <a:t> to return the number of the products and sales for each product category. The outer query joins two CTEs using the </a:t>
            </a:r>
            <a:r>
              <a:rPr lang="en-US" sz="900" dirty="0" err="1">
                <a:solidFill>
                  <a:srgbClr val="008000"/>
                </a:solidFill>
                <a:latin typeface="Consolas" panose="020B0609020204030204" pitchFamily="49" charset="0"/>
              </a:rPr>
              <a:t>category_id</a:t>
            </a:r>
            <a:r>
              <a:rPr lang="en-US" sz="900" dirty="0">
                <a:solidFill>
                  <a:srgbClr val="008000"/>
                </a:solidFill>
                <a:latin typeface="Consolas" panose="020B0609020204030204" pitchFamily="49" charset="0"/>
              </a:rPr>
              <a:t> column.</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WITH</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cte_category_counts</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product_count</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AS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categories</a:t>
            </a:r>
            <a:r>
              <a:rPr lang="en-US" sz="900" dirty="0">
                <a:solidFill>
                  <a:srgbClr val="000000"/>
                </a:solidFill>
                <a:latin typeface="Consolas" panose="020B0609020204030204" pitchFamily="49" charset="0"/>
              </a:rPr>
              <a:t> c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err="1">
                <a:solidFill>
                  <a:srgbClr val="000000"/>
                </a:solidFill>
                <a:latin typeface="Consolas" panose="020B0609020204030204" pitchFamily="49" charset="0"/>
              </a:rPr>
              <a:t>cte_category_sales</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sales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discount</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4 </a:t>
            </a:r>
            <a:r>
              <a:rPr lang="en-US" sz="900" dirty="0">
                <a:solidFill>
                  <a:srgbClr val="008000"/>
                </a:solidFill>
                <a:latin typeface="Consolas" panose="020B0609020204030204" pitchFamily="49" charset="0"/>
              </a:rPr>
              <a:t>-- completed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sales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cte_category_counts</a:t>
            </a:r>
            <a:r>
              <a:rPr lang="en-US" sz="900" dirty="0">
                <a:solidFill>
                  <a:srgbClr val="000000"/>
                </a:solidFill>
                <a:latin typeface="Consolas" panose="020B0609020204030204" pitchFamily="49" charset="0"/>
              </a:rPr>
              <a:t> c</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cte_category_sales</a:t>
            </a:r>
            <a:r>
              <a:rPr lang="en-US" sz="900" dirty="0">
                <a:solidFill>
                  <a:srgbClr val="000000"/>
                </a:solidFill>
                <a:latin typeface="Consolas" panose="020B0609020204030204" pitchFamily="49" charset="0"/>
              </a:rPr>
              <a:t> s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category_name</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317473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19AF30-A858-60D9-4941-8014EC7161A8}"/>
              </a:ext>
            </a:extLst>
          </p:cNvPr>
          <p:cNvSpPr txBox="1"/>
          <p:nvPr/>
        </p:nvSpPr>
        <p:spPr>
          <a:xfrm>
            <a:off x="1860" y="0"/>
            <a:ext cx="4951140" cy="4247317"/>
          </a:xfrm>
          <a:prstGeom prst="rect">
            <a:avLst/>
          </a:prstGeom>
          <a:noFill/>
        </p:spPr>
        <p:txBody>
          <a:bodyPr wrap="square">
            <a:spAutoFit/>
          </a:bodyPr>
          <a:lstStyle/>
          <a:p>
            <a:r>
              <a:rPr lang="en-US" sz="900" dirty="0">
                <a:solidFill>
                  <a:srgbClr val="008000"/>
                </a:solidFill>
                <a:latin typeface="Consolas" panose="020B0609020204030204" pitchFamily="49" charset="0"/>
              </a:rPr>
              <a:t>-------while loop-----------</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WHILE statement is a control-flow statement that allows you to execute a statement block repeatedly as long as a specified condition is TRUE.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following example illustrates how to use the WHILE statement to print out numbers from 1 to 5:</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DECLARE</a:t>
            </a:r>
            <a:r>
              <a:rPr lang="en-US" sz="900" dirty="0">
                <a:solidFill>
                  <a:srgbClr val="000000"/>
                </a:solidFill>
                <a:latin typeface="Consolas" panose="020B0609020204030204" pitchFamily="49" charset="0"/>
              </a:rPr>
              <a:t> @counter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WHILE</a:t>
            </a:r>
            <a:r>
              <a:rPr lang="en-US" sz="900" dirty="0">
                <a:solidFill>
                  <a:srgbClr val="000000"/>
                </a:solidFill>
                <a:latin typeface="Consolas" panose="020B0609020204030204" pitchFamily="49" charset="0"/>
              </a:rPr>
              <a:t> @counter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5</a:t>
            </a:r>
          </a:p>
          <a:p>
            <a:r>
              <a:rPr lang="en-US" sz="900" dirty="0">
                <a:solidFill>
                  <a:srgbClr val="0000FF"/>
                </a:solidFill>
                <a:latin typeface="Consolas" panose="020B0609020204030204" pitchFamily="49" charset="0"/>
              </a:rPr>
              <a:t>BEGIN</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PRINT</a:t>
            </a:r>
            <a:r>
              <a:rPr lang="en-US" sz="900" dirty="0">
                <a:solidFill>
                  <a:srgbClr val="000000"/>
                </a:solidFill>
                <a:latin typeface="Consolas" panose="020B0609020204030204" pitchFamily="49" charset="0"/>
              </a:rPr>
              <a:t> @counter</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@counter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@counter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1</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END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--In this example: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--First, we declared the @counter variable and set its value to one.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--Then, in the condition of the WHILE statement, we checked if the @counteris less than or equal to five. If it was not, we printed out the @counter and increased its value by one. After five iterations, the @counter is 6 which caused the condition of the WHILE clause evaluates to FALSE, the loop stopped.</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Here , we have learned how to use the SQL Server WHILE statement to repeat the execution of a statement block based on a specified condition.</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A8FA5870-392C-4EC1-5CA8-31AD513C4D5E}"/>
              </a:ext>
            </a:extLst>
          </p:cNvPr>
          <p:cNvSpPr txBox="1"/>
          <p:nvPr/>
        </p:nvSpPr>
        <p:spPr>
          <a:xfrm>
            <a:off x="4953000" y="173263"/>
            <a:ext cx="4951140" cy="5909310"/>
          </a:xfrm>
          <a:prstGeom prst="rect">
            <a:avLst/>
          </a:prstGeom>
          <a:noFill/>
        </p:spPr>
        <p:txBody>
          <a:bodyPr wrap="square">
            <a:spAutoFit/>
          </a:bodyPr>
          <a:lstStyle/>
          <a:p>
            <a:r>
              <a:rPr lang="en-US" sz="900" dirty="0">
                <a:solidFill>
                  <a:srgbClr val="008000"/>
                </a:solidFill>
                <a:latin typeface="Consolas" panose="020B0609020204030204" pitchFamily="49" charset="0"/>
              </a:rPr>
              <a:t>---------CASE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--SQL Server CASE expression evaluates a list of conditions and returns one of the multiple specified results. The CASE expression has two formats: simple CASE expression and searched CASE expression. Both of CASE expression formats support an optional ELSE statement.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--Because CASE is an expression, you can use it in any clause that accepts an expression such as SELECT, WHERE, GROUP BY, and HAVING.</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--This example uses the COUNT() function with the GROUP BY clause to return the number orders for each order’s status:</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--The values in the </a:t>
            </a:r>
            <a:r>
              <a:rPr lang="en-US" sz="900" dirty="0" err="1">
                <a:solidFill>
                  <a:srgbClr val="008000"/>
                </a:solidFill>
                <a:latin typeface="Consolas" panose="020B0609020204030204" pitchFamily="49" charset="0"/>
              </a:rPr>
              <a:t>order_status</a:t>
            </a:r>
            <a:r>
              <a:rPr lang="en-US" sz="900" dirty="0">
                <a:solidFill>
                  <a:srgbClr val="008000"/>
                </a:solidFill>
                <a:latin typeface="Consolas" panose="020B0609020204030204" pitchFamily="49" charset="0"/>
              </a:rPr>
              <a:t> column are numbers, which is not meaningful in this case. To make the output more understandable, you can use the simple CASE expression as shown in the following query: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CASE</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1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'Pending'</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2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'Processing'</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3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'Rejected'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4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'Completed'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order_count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order_status</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5201467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E1879E-9A06-862B-29B1-C7DECD091F6D}"/>
              </a:ext>
            </a:extLst>
          </p:cNvPr>
          <p:cNvSpPr txBox="1"/>
          <p:nvPr/>
        </p:nvSpPr>
        <p:spPr>
          <a:xfrm>
            <a:off x="211873" y="85735"/>
            <a:ext cx="4951140" cy="3831818"/>
          </a:xfrm>
          <a:prstGeom prst="rect">
            <a:avLst/>
          </a:prstGeom>
          <a:noFill/>
        </p:spPr>
        <p:txBody>
          <a:bodyPr wrap="square">
            <a:spAutoFit/>
          </a:bodyPr>
          <a:lstStyle/>
          <a:p>
            <a:r>
              <a:rPr lang="en-US" sz="900" dirty="0">
                <a:solidFill>
                  <a:srgbClr val="008000"/>
                </a:solidFill>
                <a:latin typeface="Consolas" panose="020B0609020204030204" pitchFamily="49" charset="0"/>
              </a:rPr>
              <a:t>-----Example 2------</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order_value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CASE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500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'Very Low'</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500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1000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'Low'</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1000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5000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'Medium'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5000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10000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'High'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10000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'Very High'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order_priority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DB8173D6-8484-D435-0112-F43C5B0CED70}"/>
              </a:ext>
            </a:extLst>
          </p:cNvPr>
          <p:cNvSpPr txBox="1"/>
          <p:nvPr/>
        </p:nvSpPr>
        <p:spPr>
          <a:xfrm>
            <a:off x="4493942" y="347557"/>
            <a:ext cx="4951140" cy="5493812"/>
          </a:xfrm>
          <a:prstGeom prst="rect">
            <a:avLst/>
          </a:prstGeom>
          <a:noFill/>
        </p:spPr>
        <p:txBody>
          <a:bodyPr wrap="square">
            <a:spAutoFit/>
          </a:bodyPr>
          <a:lstStyle/>
          <a:p>
            <a:r>
              <a:rPr lang="en-US" sz="900" dirty="0">
                <a:solidFill>
                  <a:srgbClr val="008000"/>
                </a:solidFill>
                <a:latin typeface="Consolas" panose="020B0609020204030204" pitchFamily="49" charset="0"/>
              </a:rPr>
              <a:t>------- Exercises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Write a SQL query using ROLLUP to display:</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Total sales by store and product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Subtotals for each store</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 grand total at the end</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My Answer -------------</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p</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COUNT</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total_sales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oi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stores</a:t>
            </a:r>
            <a:r>
              <a:rPr lang="en-US" sz="900" dirty="0">
                <a:solidFill>
                  <a:srgbClr val="000000"/>
                </a:solidFill>
                <a:latin typeface="Consolas" panose="020B0609020204030204" pitchFamily="49" charset="0"/>
              </a:rPr>
              <a:t> s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ROLLUP</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ORDER</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Sir's Answer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discount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total_sales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oi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stores</a:t>
            </a:r>
            <a:r>
              <a:rPr lang="en-US" sz="900" dirty="0">
                <a:solidFill>
                  <a:srgbClr val="000000"/>
                </a:solidFill>
                <a:latin typeface="Consolas" panose="020B0609020204030204" pitchFamily="49" charset="0"/>
              </a:rPr>
              <a:t> s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store_id</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production</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products</a:t>
            </a:r>
            <a:r>
              <a:rPr lang="en-US" sz="900" dirty="0">
                <a:solidFill>
                  <a:srgbClr val="000000"/>
                </a:solidFill>
                <a:latin typeface="Consolas" panose="020B0609020204030204" pitchFamily="49" charset="0"/>
              </a:rPr>
              <a:t> p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ROLLUP </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store_name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product_name</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753765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0588CD-DF4E-53EC-24EF-FFBA08F8D8E1}"/>
              </a:ext>
            </a:extLst>
          </p:cNvPr>
          <p:cNvSpPr txBox="1"/>
          <p:nvPr/>
        </p:nvSpPr>
        <p:spPr>
          <a:xfrm>
            <a:off x="334537" y="155084"/>
            <a:ext cx="4951140" cy="6324808"/>
          </a:xfrm>
          <a:prstGeom prst="rect">
            <a:avLst/>
          </a:prstGeom>
          <a:noFill/>
        </p:spPr>
        <p:txBody>
          <a:bodyPr wrap="square">
            <a:spAutoFit/>
          </a:bodyPr>
          <a:lstStyle/>
          <a:p>
            <a:r>
              <a:rPr lang="en-US" sz="900" dirty="0">
                <a:solidFill>
                  <a:srgbClr val="008000"/>
                </a:solidFill>
                <a:latin typeface="Consolas" panose="020B0609020204030204" pitchFamily="49" charset="0"/>
              </a:rPr>
              <a:t>---- Exercise on CTE ----------</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staff_name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discount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total_sales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oi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staffs</a:t>
            </a:r>
            <a:r>
              <a:rPr lang="en-US" sz="900" dirty="0">
                <a:solidFill>
                  <a:srgbClr val="000000"/>
                </a:solidFill>
                <a:latin typeface="Consolas" panose="020B0609020204030204" pitchFamily="49" charset="0"/>
              </a:rPr>
              <a:t> s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Using a CTE, </a:t>
            </a:r>
            <a:r>
              <a:rPr lang="en-US" sz="900" dirty="0" err="1">
                <a:solidFill>
                  <a:srgbClr val="008000"/>
                </a:solidFill>
                <a:latin typeface="Consolas" panose="020B0609020204030204" pitchFamily="49" charset="0"/>
              </a:rPr>
              <a:t>CAlculate</a:t>
            </a:r>
            <a:r>
              <a:rPr lang="en-US" sz="900" dirty="0">
                <a:solidFill>
                  <a:srgbClr val="008000"/>
                </a:solidFill>
                <a:latin typeface="Consolas" panose="020B0609020204030204" pitchFamily="49" charset="0"/>
              </a:rPr>
              <a:t> the total sales generated by each staff member in the year 2</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WITH</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cte_total_sales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staff_name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discount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total_sales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oi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staffs</a:t>
            </a:r>
            <a:r>
              <a:rPr lang="en-US" sz="900" dirty="0">
                <a:solidFill>
                  <a:srgbClr val="000000"/>
                </a:solidFill>
                <a:latin typeface="Consolas" panose="020B0609020204030204" pitchFamily="49" charset="0"/>
              </a:rPr>
              <a:t> s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staff_name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total_sales</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cte_total_sales</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 Sir's Answer</a:t>
            </a:r>
            <a:endParaRPr lang="en-US" sz="900" dirty="0">
              <a:solidFill>
                <a:srgbClr val="000000"/>
              </a:solidFill>
              <a:latin typeface="Consolas" panose="020B0609020204030204" pitchFamily="49" charset="0"/>
            </a:endParaRPr>
          </a:p>
          <a:p>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WITH</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cte_sales</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 </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staff_name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FF"/>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1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discount</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total_sales</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oi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staffs</a:t>
            </a:r>
            <a:r>
              <a:rPr lang="en-US" sz="900" dirty="0">
                <a:solidFill>
                  <a:srgbClr val="000000"/>
                </a:solidFill>
                <a:latin typeface="Consolas" panose="020B0609020204030204" pitchFamily="49" charset="0"/>
              </a:rPr>
              <a:t> s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staff_id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first_name</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 '</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last_name</a:t>
            </a:r>
            <a:endParaRPr lang="en-US" sz="900" dirty="0">
              <a:solidFill>
                <a:srgbClr val="000000"/>
              </a:solidFill>
              <a:latin typeface="Consolas" panose="020B0609020204030204" pitchFamily="49" charset="0"/>
            </a:endParaRPr>
          </a:p>
          <a:p>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cte_sales</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4FFE932F-3FB6-4D0C-C03D-796DAD10CFB0}"/>
              </a:ext>
            </a:extLst>
          </p:cNvPr>
          <p:cNvSpPr txBox="1"/>
          <p:nvPr/>
        </p:nvSpPr>
        <p:spPr>
          <a:xfrm>
            <a:off x="5285677" y="0"/>
            <a:ext cx="4951140" cy="7294305"/>
          </a:xfrm>
          <a:prstGeom prst="rect">
            <a:avLst/>
          </a:prstGeom>
          <a:noFill/>
        </p:spPr>
        <p:txBody>
          <a:bodyPr wrap="square">
            <a:spAutoFit/>
          </a:bodyPr>
          <a:lstStyle/>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Write a SQL query to calculate the total value of each order and categorize it into:</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Very Low</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Low</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Medium</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High</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Very High</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Using a CASE statement.</a:t>
            </a:r>
            <a:endParaRPr lang="en-US" sz="900" dirty="0">
              <a:solidFill>
                <a:srgbClr val="000000"/>
              </a:solidFill>
              <a:latin typeface="Consolas" panose="020B0609020204030204" pitchFamily="49" charset="0"/>
            </a:endParaRPr>
          </a:p>
          <a:p>
            <a:r>
              <a:rPr lang="en-US" sz="900" dirty="0">
                <a:solidFill>
                  <a:srgbClr val="00800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order_value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CASE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500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'Very Low'</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500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1000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'Low'</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1000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5000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'Medium'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5000 </a:t>
            </a:r>
            <a:r>
              <a:rPr lang="en-US" sz="900" dirty="0">
                <a:solidFill>
                  <a:srgbClr val="808080"/>
                </a:solidFill>
                <a:latin typeface="Consolas" panose="020B0609020204030204" pitchFamily="49" charset="0"/>
              </a:rPr>
              <a:t>AND</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10000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'High'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quantity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&gt;</a:t>
            </a:r>
            <a:r>
              <a:rPr lang="en-US" sz="900" dirty="0">
                <a:solidFill>
                  <a:srgbClr val="000000"/>
                </a:solidFill>
                <a:latin typeface="Consolas" panose="020B0609020204030204" pitchFamily="49" charset="0"/>
              </a:rPr>
              <a:t> 10000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'Very High'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order_priority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808080"/>
                </a:solidFill>
                <a:latin typeface="Consolas" panose="020B0609020204030204" pitchFamily="49" charset="0"/>
              </a:rPr>
              <a:t>INNER</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FF000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Answer:</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SELECT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order_value</a:t>
            </a:r>
            <a:r>
              <a:rPr lang="en-US" sz="900" dirty="0">
                <a:solidFill>
                  <a:srgbClr val="808080"/>
                </a:solidFill>
                <a:latin typeface="Consolas" panose="020B0609020204030204" pitchFamily="49" charset="0"/>
              </a:rPr>
              <a:t>,</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CASE</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500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'Very Low'</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1000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'Low'</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5000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'Medium'</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WHEN</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SUM</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quantity</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list_price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&lt;=</a:t>
            </a:r>
            <a:r>
              <a:rPr lang="en-US" sz="900" dirty="0">
                <a:solidFill>
                  <a:srgbClr val="000000"/>
                </a:solidFill>
                <a:latin typeface="Consolas" panose="020B0609020204030204" pitchFamily="49" charset="0"/>
              </a:rPr>
              <a:t> 10000 </a:t>
            </a:r>
            <a:r>
              <a:rPr lang="en-US" sz="900" dirty="0">
                <a:solidFill>
                  <a:srgbClr val="0000FF"/>
                </a:solidFill>
                <a:latin typeface="Consolas" panose="020B0609020204030204" pitchFamily="49" charset="0"/>
              </a:rPr>
              <a:t>THEN</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'High'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ELSE</a:t>
            </a:r>
            <a:r>
              <a:rPr lang="en-US" sz="900" dirty="0">
                <a:solidFill>
                  <a:srgbClr val="000000"/>
                </a:solidFill>
                <a:latin typeface="Consolas" panose="020B0609020204030204" pitchFamily="49" charset="0"/>
              </a:rPr>
              <a:t> </a:t>
            </a:r>
            <a:r>
              <a:rPr lang="en-US" sz="900" dirty="0">
                <a:solidFill>
                  <a:srgbClr val="FF0000"/>
                </a:solidFill>
                <a:latin typeface="Consolas" panose="020B0609020204030204" pitchFamily="49" charset="0"/>
              </a:rPr>
              <a:t>'Very High'</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END</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AS</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order_priority</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FROM</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orders</a:t>
            </a:r>
            <a:r>
              <a:rPr lang="en-US" sz="900" dirty="0">
                <a:solidFill>
                  <a:srgbClr val="000000"/>
                </a:solidFill>
                <a:latin typeface="Consolas" panose="020B0609020204030204" pitchFamily="49" charset="0"/>
              </a:rPr>
              <a:t> o</a:t>
            </a:r>
          </a:p>
          <a:p>
            <a:r>
              <a:rPr lang="en-US" sz="900" dirty="0">
                <a:solidFill>
                  <a:srgbClr val="808080"/>
                </a:solidFill>
                <a:latin typeface="Consolas" panose="020B0609020204030204" pitchFamily="49" charset="0"/>
              </a:rPr>
              <a:t>JOIN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sales</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order_items</a:t>
            </a:r>
            <a:r>
              <a:rPr lang="en-US" sz="900" dirty="0">
                <a:solidFill>
                  <a:srgbClr val="000000"/>
                </a:solidFill>
                <a:latin typeface="Consolas" panose="020B0609020204030204" pitchFamily="49" charset="0"/>
              </a:rPr>
              <a:t> oi </a:t>
            </a:r>
          </a:p>
          <a:p>
            <a:r>
              <a:rPr lang="en-US" sz="900" dirty="0">
                <a:solidFill>
                  <a:srgbClr val="0000FF"/>
                </a:solidFill>
                <a:latin typeface="Consolas" panose="020B0609020204030204" pitchFamily="49" charset="0"/>
              </a:rPr>
              <a:t>ON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oi</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endParaRPr lang="en-US" sz="900" dirty="0">
              <a:solidFill>
                <a:srgbClr val="000000"/>
              </a:solidFill>
              <a:latin typeface="Consolas" panose="020B0609020204030204" pitchFamily="49" charset="0"/>
            </a:endParaRPr>
          </a:p>
          <a:p>
            <a:r>
              <a:rPr lang="en-US" sz="900" dirty="0">
                <a:solidFill>
                  <a:srgbClr val="0000FF"/>
                </a:solidFill>
                <a:latin typeface="Consolas" panose="020B0609020204030204" pitchFamily="49" charset="0"/>
              </a:rPr>
              <a:t>WHERE</a:t>
            </a:r>
            <a:r>
              <a:rPr lang="en-US" sz="900" dirty="0">
                <a:solidFill>
                  <a:srgbClr val="000000"/>
                </a:solidFill>
                <a:latin typeface="Consolas" panose="020B0609020204030204" pitchFamily="49" charset="0"/>
              </a:rPr>
              <a:t> </a:t>
            </a:r>
            <a:r>
              <a:rPr lang="en-US" sz="900" dirty="0">
                <a:solidFill>
                  <a:srgbClr val="FF00FF"/>
                </a:solidFill>
                <a:latin typeface="Consolas" panose="020B0609020204030204" pitchFamily="49" charset="0"/>
              </a:rPr>
              <a:t>YEAR</a:t>
            </a:r>
            <a:r>
              <a:rPr lang="en-US" sz="900" dirty="0">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order_date</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a:t>
            </a:r>
            <a:r>
              <a:rPr lang="en-US" sz="900" dirty="0">
                <a:solidFill>
                  <a:srgbClr val="808080"/>
                </a:solidFill>
                <a:latin typeface="Consolas" panose="020B0609020204030204" pitchFamily="49" charset="0"/>
              </a:rPr>
              <a:t>=</a:t>
            </a:r>
            <a:r>
              <a:rPr lang="en-US" sz="900" dirty="0">
                <a:solidFill>
                  <a:srgbClr val="000000"/>
                </a:solidFill>
                <a:latin typeface="Consolas" panose="020B0609020204030204" pitchFamily="49" charset="0"/>
              </a:rPr>
              <a:t> 2018</a:t>
            </a:r>
          </a:p>
          <a:p>
            <a:r>
              <a:rPr lang="en-US" sz="900" dirty="0">
                <a:solidFill>
                  <a:srgbClr val="0000FF"/>
                </a:solidFill>
                <a:latin typeface="Consolas" panose="020B0609020204030204" pitchFamily="49" charset="0"/>
              </a:rPr>
              <a:t>GROUP</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BY</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o</a:t>
            </a:r>
            <a:r>
              <a:rPr lang="en-US" sz="900" dirty="0" err="1">
                <a:solidFill>
                  <a:srgbClr val="808080"/>
                </a:solidFill>
                <a:latin typeface="Consolas" panose="020B0609020204030204" pitchFamily="49" charset="0"/>
              </a:rPr>
              <a:t>.</a:t>
            </a:r>
            <a:r>
              <a:rPr lang="en-US" sz="900" dirty="0" err="1">
                <a:solidFill>
                  <a:srgbClr val="000000"/>
                </a:solidFill>
                <a:latin typeface="Consolas" panose="020B0609020204030204" pitchFamily="49" charset="0"/>
              </a:rPr>
              <a:t>order_id</a:t>
            </a:r>
            <a:r>
              <a:rPr lang="en-US" sz="9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4082034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Tree>
    <p:extLst>
      <p:ext uri="{BB962C8B-B14F-4D97-AF65-F5344CB8AC3E}">
        <p14:creationId xmlns:p14="http://schemas.microsoft.com/office/powerpoint/2010/main" val="1589381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Tree>
    <p:extLst>
      <p:ext uri="{BB962C8B-B14F-4D97-AF65-F5344CB8AC3E}">
        <p14:creationId xmlns:p14="http://schemas.microsoft.com/office/powerpoint/2010/main" val="2030845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Tree>
    <p:extLst>
      <p:ext uri="{BB962C8B-B14F-4D97-AF65-F5344CB8AC3E}">
        <p14:creationId xmlns:p14="http://schemas.microsoft.com/office/powerpoint/2010/main" val="93941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Tree>
    <p:extLst>
      <p:ext uri="{BB962C8B-B14F-4D97-AF65-F5344CB8AC3E}">
        <p14:creationId xmlns:p14="http://schemas.microsoft.com/office/powerpoint/2010/main" val="519649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Tree>
    <p:extLst>
      <p:ext uri="{BB962C8B-B14F-4D97-AF65-F5344CB8AC3E}">
        <p14:creationId xmlns:p14="http://schemas.microsoft.com/office/powerpoint/2010/main" val="18976342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Tree>
    <p:extLst>
      <p:ext uri="{BB962C8B-B14F-4D97-AF65-F5344CB8AC3E}">
        <p14:creationId xmlns:p14="http://schemas.microsoft.com/office/powerpoint/2010/main" val="16542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785</TotalTime>
  <Words>32749</Words>
  <Application>Microsoft Office PowerPoint</Application>
  <PresentationFormat>A4 Paper (210x297 mm)</PresentationFormat>
  <Paragraphs>4362</Paragraphs>
  <Slides>104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104</vt:i4>
      </vt:variant>
    </vt:vector>
  </HeadingPairs>
  <TitlesOfParts>
    <vt:vector size="109"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61</cp:revision>
  <dcterms:created xsi:type="dcterms:W3CDTF">2026-02-06T21:19:28Z</dcterms:created>
  <dcterms:modified xsi:type="dcterms:W3CDTF">2026-06-17T17:40:49Z</dcterms:modified>
</cp:coreProperties>
</file>