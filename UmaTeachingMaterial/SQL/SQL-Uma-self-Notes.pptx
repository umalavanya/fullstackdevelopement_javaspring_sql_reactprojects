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notesMasterIdLst>
    <p:notesMasterId r:id="rId10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0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72A15-332B-45AC-8EC3-DCD2ABA450B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F2C71-D3FE-4561-A107-5C7F5F779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01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F2C71-D3FE-4561-A107-5C7F5F7793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5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4DC211-78D5-91FE-AE44-AE5B712B6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293764"/>
            <a:ext cx="5130420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MSSQL (Microsoft SQL Server)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a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Common Table Expression (CTE)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is a temporary result set that you can reference within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SELECT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INSERT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UPDATE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or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DELETE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statement.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Think of it as a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temporary view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that exists only for the duration of a single query. It makes complex queries much easier to read and maintain compared to nested subqueries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6320A3-6ED9-214D-CFD4-DABA15301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2332"/>
            <a:ext cx="3234519" cy="507831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Basic Syntax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 CTE always begins with the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WITH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keyword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98721-1D54-9D53-A46C-1C6A01524D67}"/>
              </a:ext>
            </a:extLst>
          </p:cNvPr>
          <p:cNvSpPr txBox="1"/>
          <p:nvPr/>
        </p:nvSpPr>
        <p:spPr>
          <a:xfrm>
            <a:off x="162636" y="2138402"/>
            <a:ext cx="49677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CTE_Name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OptionalColumnAlias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This is the "Define" part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Column1, Column2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YourTable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Condition =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This is the "Execute" part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CTE_Name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AEEAEC-8EFA-062D-EB1A-3304E38DF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708062"/>
            <a:ext cx="4476465" cy="6924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Practical Example: Improving Readability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Imagine you want to find all employees who earn more than the average salary. Using a subquery can get messy; a CTE keeps it clean.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AD0D1-2963-EA8C-6CE4-11BA34C3B16B}"/>
              </a:ext>
            </a:extLst>
          </p:cNvPr>
          <p:cNvSpPr txBox="1"/>
          <p:nvPr/>
        </p:nvSpPr>
        <p:spPr>
          <a:xfrm>
            <a:off x="-14784" y="4352371"/>
            <a:ext cx="49677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AverageSalaryCTE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AVG(Salary)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AvgSalary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E.EmployeeName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E.Salary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 E,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AverageSalaryCTE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A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E.Salary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&gt;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A.AvgSalary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2D8F1398-0472-4BF8-602A-5D7E07F2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638" y="0"/>
            <a:ext cx="4351361" cy="1708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3. Recursive CTEs (The Power Feature)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One of the biggest reasons to use CTEs in SSMS is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recursion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 This is used to query hierarchical data, like an organizational chart (Manager </a:t>
            </a:r>
            <a:endParaRPr kumimoji="0" lang="en-US" altLang="en-US" sz="10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Employee) or a folder structure.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 recursive CTE has two parts joined by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UNION ALL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Anchor Member: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starting point (e.g., the CEO).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Recursive Member: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part that references the CTE itself to find the next level.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Example: Getting an Org Chart Level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E6E0434D-8DE7-90DF-99D5-C8CE1F7A2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81" y="-1012825"/>
            <a:ext cx="45719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CB000A-A1BE-90D0-F60F-A311D4795A25}"/>
              </a:ext>
            </a:extLst>
          </p:cNvPr>
          <p:cNvSpPr txBox="1"/>
          <p:nvPr/>
        </p:nvSpPr>
        <p:spPr>
          <a:xfrm>
            <a:off x="4931391" y="1816247"/>
            <a:ext cx="49746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OrgChart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Anchor: Start with the top manager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EmployeeID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Name,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ManagerID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Level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ManagerID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NULL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UNION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ALL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Recursive: Join the table back to the CTE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E.EmployeeID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E.ManagerID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OC.Level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 E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INNER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OrgChart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OC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E.ManagerID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OC.EmployeeID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OrgChart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ORDER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BY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Level;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998880-909B-8060-C322-0332E8305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29" y="0"/>
            <a:ext cx="5677392" cy="279678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125D379-AADF-824C-5C27-C59C08B10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466" y="2920916"/>
            <a:ext cx="4952999" cy="198515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Pro-Tips for SSMS Users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Semicolon Rule: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If the statement before your CTE doesn't end with a semicolon, the CTE might throw an error. Many developers start their CTEs with one just in case: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;WITH MyCTE AS (...)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Debugging: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can't run a CTE by itself. To debug in SSMS, you must highlight both the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WITH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block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and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final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SELECT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statement before hitting Execute (F5).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Multiple CTEs: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can define multiple CTEs in one go by separating them with a comma: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WITH CTE1 AS (...), CTE2 AS (...) SELECT...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F85643-890C-B967-E386-92E3278773D7}"/>
              </a:ext>
            </a:extLst>
          </p:cNvPr>
          <p:cNvSpPr txBox="1"/>
          <p:nvPr/>
        </p:nvSpPr>
        <p:spPr>
          <a:xfrm>
            <a:off x="0" y="307412"/>
            <a:ext cx="49541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MSSQL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, a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Stored Procedure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is </a:t>
            </a:r>
            <a:r>
              <a:rPr lang="en-US" dirty="0"/>
              <a:t>a prepared piece of SQL code that you save in your database so the code can be reused over and over again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 Think of it as a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function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for your database. 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4DB7B5-4FF1-C06C-7EF8-BF06F5888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497295"/>
            <a:ext cx="4953000" cy="692497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Basic Syntax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You define them using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CREATE PROCEDURE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(or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PROC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and execute them with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EXEC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E0381E-6394-CAB1-3C31-1E3059BA1BC3}"/>
              </a:ext>
            </a:extLst>
          </p:cNvPr>
          <p:cNvSpPr txBox="1"/>
          <p:nvPr/>
        </p:nvSpPr>
        <p:spPr>
          <a:xfrm>
            <a:off x="-28432" y="2261235"/>
            <a:ext cx="417735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Create the procedure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PROCEDURE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GetEmployeeSales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@EmployeeID INT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This is a parameter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*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Sales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SellerID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@EmployeeID;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Run it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EXEC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GetEmployeeSales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@EmployeeID =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FFD936B-0B85-3E57-EB2D-C3EEC109B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44539"/>
            <a:ext cx="4528782" cy="2169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Key Advantages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Performance: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SQL Server compiles the plan once and reuses it, which is faster than sending raw text queries repeatedly.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Security: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can give a user permission to execute a procedure without giving them access to the underlying tables (this prevents direct data tampering).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Reduced Traffic: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Instead of sending a 500-line query over the network, you just send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EXEC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MyProc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Maintenance: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If logic changes, you update the procedure in one place instead of updating every application that calls it.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1D969F-AABF-AF6E-55D5-24111CE16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048" y="95979"/>
            <a:ext cx="4333884" cy="2277322"/>
          </a:xfrm>
          <a:prstGeom prst="rect">
            <a:avLst/>
          </a:prstGeom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BC284D42-30B4-AB90-38DC-72FFD5023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932" y="2697624"/>
            <a:ext cx="4953000" cy="27699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4. Advanced Features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Output Parameters: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Use the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OUTPUT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keyword to pass a value back to the caller without a result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Error Handling: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Use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BEGIN TRY...END TRY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BEGIN CATCH...END CATCH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blocks to handle exceptions gracefully inside the DB.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Default Values: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can set @Param INT = 0 to make a parameter optional.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Resources for Mastering Procedures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Official Docs: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 Microsoft SQL Server Procedure Guide covers everything from creation to encryption.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Tutorials: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SQLServerTutorial.net offers a great step-by-step breakdown for beginners.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Practice: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Try the LeetCode "Rank Scores" problem and attempt to wrap your logic in a procedure in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SSMS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B43A0C-E723-8BBD-16B2-E69253C12B97}"/>
              </a:ext>
            </a:extLst>
          </p:cNvPr>
          <p:cNvSpPr txBox="1"/>
          <p:nvPr/>
        </p:nvSpPr>
        <p:spPr>
          <a:xfrm>
            <a:off x="-1136" y="0"/>
            <a:ext cx="49541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PROCEDURE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dbo.usp_UpdateEmployeeSalary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@EmployeeID INT,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@NewSalary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DECIMAL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18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),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@UpdatedBy VARCHAR(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-- 1. Prevents extra result sets from interfering with SELECT statements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NOCOUNT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TRY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-- 2. Start the transaction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TRANSACTION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-- 3. Perform the Data Manipulation (DML)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UPDATE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Salary = @NewSalary,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LastModifiedBy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@UpdatedBy,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LastModifiedDate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GETDATE()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EmployeeID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@EmployeeID;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AAD2B1-FB8C-0D9F-63D1-F526AA432ACF}"/>
              </a:ext>
            </a:extLst>
          </p:cNvPr>
          <p:cNvSpPr txBox="1"/>
          <p:nvPr/>
        </p:nvSpPr>
        <p:spPr>
          <a:xfrm>
            <a:off x="4951864" y="0"/>
            <a:ext cx="4954136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-- 4. Log the change to an audit table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INSERT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SalaryAudit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EmployeeID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ChangedBy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ChangeDate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VALUES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(@EmployeeID, @UpdatedBy, GETDATE());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-- 5. If everything is fine, save changes permanently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COMMIT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TRANSACTION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PRINT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'Transaction Committed Successfully'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TRY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CATCH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-- 6. If an error occurs, undo all changes since BEGIN TRANSACTION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@@TRANCOUNT &gt;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ROLLBACK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TRANSACTION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-- 7. Raise the error details for the application to see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DECLARE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@ErrorMessage NVARCHAR(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4000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= ERROR_MESSAGE();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DECLARE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@ErrorSeverity INT = ERROR_SEVERITY();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DECLARE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@ErrorState INT = ERROR_STATE();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RAISERROR (@ErrorMessage, @ErrorSeverity, @ErrorState);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CATCH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GO</a:t>
            </a:r>
            <a:endParaRPr lang="en-US" sz="12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57E2294-438E-AAB4-04A6-2F33D6B81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60" y="3970318"/>
            <a:ext cx="4365009" cy="2539157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Why this structure is "Production Grade":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SET NOCOUNT ON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Improves performance by stopping SQL Server from sending "done-in-proc" messages (e.g., 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"1 row affected"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to the client after every statement.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BEGIN TRANSACTION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Ensures that if the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UPDATE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works but the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INSERT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into the audit table fails, the salary change is rolled back. Your data stays consistent.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@@TRANCOUNT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A system function that checks if an active transaction exists before attempting a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ROLLBACK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preventing secondary errors.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RAISERROR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 Passes the internal SQL error back to your application (C#, Python, etc.) so your frontend knows exactly what went wrong.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C099AC6-FFD5-68DC-6F2C-8934BDD73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134" y="5570756"/>
            <a:ext cx="4073288" cy="9387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How to test it in SSMS: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1" u="none" strike="noStrike" cap="none" normalizeH="0" baseline="0" dirty="0">
                <a:ln>
                  <a:noFill/>
                </a:ln>
                <a:solidFill>
                  <a:srgbClr val="80868B"/>
                </a:solidFill>
                <a:effectLst/>
                <a:latin typeface="Arial Unicode MS"/>
              </a:rPr>
              <a:t>-- Execution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EXEC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dbo.usp_UpdateEmployeeSalary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	@EmployeeID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101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,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	@NewSalary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B45908"/>
                </a:solidFill>
                <a:effectLst/>
                <a:latin typeface="Arial Unicode MS"/>
              </a:rPr>
              <a:t>75000.00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,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	@UpdatedBy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'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AdminUser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188038"/>
                </a:solidFill>
                <a:effectLst/>
                <a:latin typeface="Arial Unicode MS"/>
              </a:rPr>
              <a:t>'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055C7D-CD0B-F34C-EB3D-7F4DFA9E83F4}"/>
              </a:ext>
            </a:extLst>
          </p:cNvPr>
          <p:cNvSpPr txBox="1"/>
          <p:nvPr/>
        </p:nvSpPr>
        <p:spPr>
          <a:xfrm>
            <a:off x="0" y="0"/>
            <a:ext cx="49541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In </a:t>
            </a:r>
            <a:r>
              <a:rPr lang="en-US" sz="1200" b="1" i="0" dirty="0">
                <a:solidFill>
                  <a:srgbClr val="0A0A0A"/>
                </a:solidFill>
                <a:effectLst/>
                <a:latin typeface="Google Sans"/>
              </a:rPr>
              <a:t>MSSQL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Google Sans"/>
              </a:rPr>
              <a:t>, a </a:t>
            </a:r>
            <a:r>
              <a:rPr lang="en-US" sz="1200" b="1" i="0" dirty="0">
                <a:solidFill>
                  <a:srgbClr val="0A0A0A"/>
                </a:solidFill>
                <a:effectLst/>
                <a:latin typeface="Google Sans"/>
              </a:rPr>
              <a:t>View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Google Sans"/>
              </a:rPr>
              <a:t> is </a:t>
            </a:r>
            <a:r>
              <a:rPr lang="en-US" sz="1200" dirty="0"/>
              <a:t>essentially a </a:t>
            </a:r>
            <a:r>
              <a:rPr lang="en-US" sz="1200" b="1" dirty="0">
                <a:effectLst/>
              </a:rPr>
              <a:t>virtual table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Google Sans"/>
              </a:rPr>
              <a:t>. It doesn't store data itself; instead, it stores a 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Google Sans"/>
              </a:rPr>
              <a:t> query. When you query the view, SQL Server runs the underlying query and shows you the results as if they were coming from a real table.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1B22B8-CBFC-904E-3303-1E265AC03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0997"/>
            <a:ext cx="4776716" cy="692497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Basic Syntax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Creating a view is straightforward. You wrap your query in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CREATE VIEW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statement.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149BD3-3F3B-6069-5D4A-4A236E6703EF}"/>
              </a:ext>
            </a:extLst>
          </p:cNvPr>
          <p:cNvSpPr txBox="1"/>
          <p:nvPr/>
        </p:nvSpPr>
        <p:spPr>
          <a:xfrm>
            <a:off x="-47721" y="1523494"/>
            <a:ext cx="498143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VIEW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v_ActiveEmployeeProjectDetails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E.EmployeeName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P.ProjectName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D.DepartmentName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 E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Projects P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E.ProjectID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P.ProjectID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Departments D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E.DeptID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D.DeptID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E.IsActive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To use it: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v_ActiveEmployeeProjectDetails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DepartmentName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'Engineering'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0B2702A-4CB1-2B4E-AD5C-FC500083C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286" y="87388"/>
            <a:ext cx="2279177" cy="35548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Why use Views?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Security (Data Masking):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can give a user access to a view that excludes sensitive columns (like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SocialSecurityNumber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Salary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 instead of giving them access to the base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Simplicity: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If you have a query with 5 joins that you run every day, you can save it as a view and just run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SELECT * FROM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MyView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Consistency: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It ensures everyone is using the same logic (e.g., the same definition of an "Active Customer").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Renaming Columns: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can use a view to give cryptic table columns more user-friendly names without changing the actual database schema.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FD5F46-CBDA-EE1A-D188-391C10865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16484"/>
            <a:ext cx="4552744" cy="2097535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877EE528-FC13-10CB-9DD6-5A8733E4C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317" y="0"/>
            <a:ext cx="2349683" cy="31393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4. Advanced: Indexed Views (Materialized Views)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While standard views don't store data, MSSQL allows you to create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Indexed Views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When you create a "Unique Clustered Index" on a view, the result set is actually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persisted to disk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Benefit: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Huge performance boost for massive aggregations (e.g., summing millions of rows).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Trade-off: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It slows down updates/inserts to the base tables because the index must be updated too.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28ACEAA8-6FE7-CD5E-CBB8-39B815CD5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524" y="3718680"/>
            <a:ext cx="2904699" cy="1708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5. Limitations to Remember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No Parameters: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cannot pass a variable into a view (use a Table-Valued Function for that).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Ordering: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generally cannot use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ORDER BY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inside a view unless you also use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TOP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Performance: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view is only as fast as the query inside it. If the query is slow, the view will be slow.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DC2C17-19DE-E4A3-1F8F-7609993D1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8499"/>
            <a:ext cx="4460543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 SQL Server, when you wish a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View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could take a parameter (like a specific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DepartmentID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), you use an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Inline Table-Valued Function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iTVF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 looks like a function, but it acts like a view that you can "plug" values into.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3F1235-EA1D-FBD4-63DE-998BE875CD0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87606" y="1329326"/>
            <a:ext cx="446054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988F88-E0F2-8E2F-FFB4-3710A6990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54162"/>
            <a:ext cx="4460543" cy="692497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Basic Syntax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Unlike a Stored Procedure, an Inline TVF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must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return a table and consists of a single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SELECT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statement.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0AE98-0FC1-7615-4104-A7B8DF0E69D8}"/>
              </a:ext>
            </a:extLst>
          </p:cNvPr>
          <p:cNvSpPr txBox="1"/>
          <p:nvPr/>
        </p:nvSpPr>
        <p:spPr>
          <a:xfrm>
            <a:off x="-1" y="1800833"/>
            <a:ext cx="446054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FUNCTION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dbo.ufn_GetEmployeesByDept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@DeptName NVARCHAR(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50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The parameter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RETURNS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TABLE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RETURN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EmployeeID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EmployeeName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JobTitle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 E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Departments D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E.DeptID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D.DeptID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D.DepartmentName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@DeptName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GO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A72E370-A262-9082-8794-FBE4EFCAE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541" y="0"/>
            <a:ext cx="4624316" cy="877163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How to Use It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beauty of a TVF is that you can use it in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FROM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clause and even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JOIN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it to other tables, which you cannot do with a Stored Procedure.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C1A95-5D77-FEA5-4F29-E42CEBA82EB2}"/>
              </a:ext>
            </a:extLst>
          </p:cNvPr>
          <p:cNvSpPr txBox="1"/>
          <p:nvPr/>
        </p:nvSpPr>
        <p:spPr>
          <a:xfrm>
            <a:off x="4460542" y="809511"/>
            <a:ext cx="496778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Use it like a table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dbo.ufn_GetEmployeesByDept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'Engineering'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Join it to another table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Proj.ProjectName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DeptStaff.*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Projects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Proj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CROSS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APPLY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dbo.ufn_GetEmployeesByDept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'Engineering'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DeptStaff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Proj.ProjectStatus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'Active'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D9B882DF-CE54-D523-012E-48FE332F8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04" y="5032487"/>
            <a:ext cx="4228531" cy="1708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3. Why use an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iTVF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instead of a View or Proc?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Over a View: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Views are static. If you want to filter a View, you have to filter the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entire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result set. 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iTVF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allows the database to optimize the query using your parameter from the very start.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Over a Stored Procedure: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can't use a Stored Procedure inside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JOIN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WHERE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clause. You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with an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iTVF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Performance: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TVFs are highly efficient because SQL Server treats them like a macro—it expands the code into the main query, allowing the optimizer to create a single, efficient execution plan.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4DACB57-A120-BDB5-B042-19B88A0CC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541" y="2900690"/>
            <a:ext cx="4228531" cy="2048284"/>
          </a:xfrm>
          <a:prstGeom prst="rect">
            <a:avLst/>
          </a:prstGeom>
        </p:spPr>
      </p:pic>
      <p:sp>
        <p:nvSpPr>
          <p:cNvPr id="14" name="Rectangle 7">
            <a:extLst>
              <a:ext uri="{FF2B5EF4-FFF2-40B4-BE49-F238E27FC236}">
                <a16:creationId xmlns:a16="http://schemas.microsoft.com/office/drawing/2014/main" id="{00E5FF57-3CF2-33CB-B150-5420FFB2F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546" y="5296925"/>
            <a:ext cx="4967783" cy="11541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Summary of "The Big Four"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To keep your SSMS tools straight: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View: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saved, static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CTE: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temporary, "one-time-use" view inside a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Stored Procedure: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script for "actions" (logic, updates, security).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Table-Valued Function: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"view with parameters" that returns data.</a:t>
            </a:r>
          </a:p>
        </p:txBody>
      </p:sp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439019-1A7D-DE2A-1DA6-2708E9668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35" y="16301"/>
            <a:ext cx="4283122" cy="2908489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SSMS Architect Challenge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Scenario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You are managing a database for a global retail chain. You need to handle three specific tasks: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A: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need to generate a monthly report that shows every transaction, but you must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hide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customer’s credit card numbers and home addresses for privacy reasons.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B: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need a way for the mobile app to pass a specific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StoreID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StartDate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to the database and get back a list of sales for just that store and timeframe. You want to be able to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JOIN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this result with a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Product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table later.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C: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Every night at midnight, you need to run a script that calculates daily totals, inserts them into a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Summary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table, and then sends an email notification if any totals are suspiciously 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29366D-4C59-BC9B-64A5-28C385C86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35" y="2924790"/>
            <a:ext cx="4080680" cy="27238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Scenario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You are managing a database for a global retail chain. You need to handle three specific tasks: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A: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need to generate a monthly report that shows every transaction, but you must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hide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customer’s credit card numbers and home addresses for privacy reasons.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B: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You need a way for the mobile app to pass a specific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StoreID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StartDate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to the database and get back a list of sales for just that store and timeframe. You want to be able to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JOIN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this result with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Product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table later.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C: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Every night at midnight, you need to run a script that calculates daily totals, inserts them into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Summary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table, and then sends an email notification if any totals are suspiciously 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9F545-E1C6-C1A0-1E19-1868FA8C3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137" y="4773298"/>
            <a:ext cx="29592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2A5BB8-3574-9D20-CE60-C767AD90A0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35" y="5502871"/>
            <a:ext cx="2372436" cy="1338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Question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Which tool is the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best fit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for each task?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View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CTE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Stored Procedure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Table-Valued Function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iTVF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135282-48D2-555A-9ACB-1A71903ECD4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78657" y="0"/>
            <a:ext cx="3866866" cy="27699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A (View):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Perfect. Views are the industry standard for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security masking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 By pointing the report to a View instead of the base table, you ensure users never even see the sensitive columns.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B (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iTVF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Exactly. Because you mentioned the need to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JOIN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result to another table, a Stored Procedure would have been a headache. The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iTVF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 makes the logic "composable."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C (Stored Procedure):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Correct. Since this involves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logic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(calculating),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DML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(inserting into a summary table), and an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(sending an email), a Stored Procedure is the only tool for the job.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E42010-A4B3-EA7A-4A76-4DB685077A6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20973" y="1820157"/>
            <a:ext cx="86640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7D2D56-6903-0D81-970E-ED8B911E3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206" y="2898084"/>
            <a:ext cx="3355075" cy="10618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One Final "Boss Level" Detail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Task 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since it runs at midnight, you would typically use the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SQL Server Agent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 SSMS to schedule that Stored Procedure to run automatically.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C9BA08-A0E6-C60C-C390-81244F0232C8}"/>
              </a:ext>
            </a:extLst>
          </p:cNvPr>
          <p:cNvSpPr txBox="1"/>
          <p:nvPr/>
        </p:nvSpPr>
        <p:spPr>
          <a:xfrm>
            <a:off x="-1136" y="0"/>
            <a:ext cx="49541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Trigger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is a special type of stored procedure that "fires" (executes automatically) when a specific event occurs in the database. Think of it as a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security guard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or an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automated auditor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watching your tables 24/7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C48556-37B1-C115-918D-FA9381CD9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77" y="1477328"/>
            <a:ext cx="3805451" cy="11541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The Three Main Events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Triggers usually react to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DML (Data Manipulation Language)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actions: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INSERT: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When new rows are added.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UPDATE: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When existing rows are changed.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DELETE: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When rows are removed.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3155C90-36F9-75DA-5AC4-6388D563F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77" y="2795350"/>
            <a:ext cx="4681183" cy="1338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The "Magic" Tables: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inserted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deleted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This is the most important concept in MSSQL triggers. When a trigger fires, SQL Server creates two temporary, memory-resident tables: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inserted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Table: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Holds the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new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versions of the rows (exists for INSERT and UPDATE).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deleted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Table: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Holds the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old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versions of the rows (exists for DELETE and UPDATE).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ADD0A9F-7FC5-06A5-9DD7-50E9E4245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34178"/>
            <a:ext cx="4681183" cy="5078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3. Basic Syntax Example (Audit Log)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Imagine you want to track whenever someone changes a product price.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4F0F46-6E31-E31B-16C6-DCD82CFE2EB4}"/>
              </a:ext>
            </a:extLst>
          </p:cNvPr>
          <p:cNvSpPr txBox="1"/>
          <p:nvPr/>
        </p:nvSpPr>
        <p:spPr>
          <a:xfrm>
            <a:off x="4924568" y="48443"/>
            <a:ext cx="498143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TRIGGER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trg_ProductPriceAudit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Products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AFTER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UPDATE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NOCOUNT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Check if the Price column was actually changed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UPDATE(Price)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INSERT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PriceHistory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ProductID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OldPrice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NewPrice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ChangeDate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d.ProductID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d.Price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Value from 'deleted' (old)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i.Price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Value from 'inserted' (new)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GETDATE()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deleted d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inserted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d.ProductID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i.ProductID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2AF7381-4CD0-F124-54C3-3AF77BE44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77" y="4711259"/>
            <a:ext cx="4378657" cy="15234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4. "AFTER" vs. "INSTEAD OF" Triggers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AFTER Trigger (Most Common):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Fires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after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SQL Server completes the action (the data is already changed). Great for logging and synchronization.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INSTEAD OF Trigger: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Fires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instead 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action. If you try to delete a row, the trigger runs and the delete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doesn't happen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unless you manually code it inside the trigger. Great for complex views or enforcing strict business rules. 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726F9DD1-732B-C786-D5F6-90D7B3788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5134" y="4388093"/>
            <a:ext cx="5254389" cy="2308324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5. The Dark Side (Warnings)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Triggers are powerful but can be dangerous if overused: 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Hidden Logic: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Developers often forget triggers exist because they happen "behind the scenes." This makes debugging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Performance: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Triggers run as part of the same transaction. If your trigger is slow, the user's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UPDATE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statement will also be slow.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Complexity: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 trigger on Table A might update Table B, which has its own trigger to update Table C. This is called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Nested Triggers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and can lead to infinite loops.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Best Practice Tools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Documentation: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Check the Microsoft Trigger Guide for strict syntax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Management: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SSMS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you can find triggers for a specific table under: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Databases -&gt; 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YourDB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] -&gt; Tables -&gt; [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YourTable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] -&gt; Triggers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E4093A-F2EF-534F-3AF2-FD1B81B50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789227" cy="10618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Implementing a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"No-Delete Fridays"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rule is the perfect use case for an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INSTEAD 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trigger. Since this trigger runs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before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actual deletion happens, we can intercept the attempt and cancel it with a friendly (or stern) warning.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"No-Delete Fridays" Trigger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61767-1339-9370-7FC7-27CC519AB529}"/>
              </a:ext>
            </a:extLst>
          </p:cNvPr>
          <p:cNvSpPr txBox="1"/>
          <p:nvPr/>
        </p:nvSpPr>
        <p:spPr>
          <a:xfrm>
            <a:off x="0" y="979941"/>
            <a:ext cx="495413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TRIGGER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trg_PreventDeleteFriday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INSTEAD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OF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DELETE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NOCOUNT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Check if today is Friday (Friday is typically 6 in SQL Server, depending on DATEFIRST)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Using DATEPART and weekday name for clarity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DATENAME(weekday, GETDATE()) =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'Friday'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RAISERROR (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'Deletion is prohibited on Fridays to prevent weekend deployment disasters.'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Note: We do NOT perform a DELETE here, so the rows stay safe.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ELSE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If it's not Friday, we must manually perform the delete 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because this trigger REPLACED the original delete action.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DELETE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EmployeeID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EmployeeID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deleted);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PRINT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'Deletion successful.'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GO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E90890-EA0E-8A5D-33EB-FFFE73ACD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227" y="0"/>
            <a:ext cx="4954135" cy="18004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Why this is different from an 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AFTER</a:t>
            </a: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trigger: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Interception: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 an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AFTER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trigger, the row is already gone by the time the code runs; you would have to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ROLLBACK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to get it back. In an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INSTEAD OF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trigger, the row hasn't been touched yet.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Manual Action: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If the condition (it's not Friday) is met,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you are responsible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for executing the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DELETE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statement inside the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ELSE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block. If you forget that line, the table will 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never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allow deletes, even on Mondays! Learn more about INSTEAD OF logic on Microsoft Learn.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1201FD9-53DD-36F9-250B-73BCF2060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226" y="1695521"/>
            <a:ext cx="4954136" cy="6924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Pro-Tip: Disabling Triggers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If you have an emergency and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must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delete something on a Friday, you don't have to delete the trigger. You can temporarily disable it in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SSMS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: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ACE40-421A-E355-4FB0-D46A2D981A40}"/>
              </a:ext>
            </a:extLst>
          </p:cNvPr>
          <p:cNvSpPr txBox="1"/>
          <p:nvPr/>
        </p:nvSpPr>
        <p:spPr>
          <a:xfrm>
            <a:off x="4864857" y="2446823"/>
            <a:ext cx="45248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DISABLE TRIGGER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trg_PreventDeleteFriday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Perform your emergency delete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DELETE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EmployeeID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999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ENABLE TRIGGER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trg_PreventDeleteFriday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Employees;</a:t>
            </a:r>
          </a:p>
        </p:txBody>
      </p:sp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93F324-C0F4-B43F-4526-7918FFAA9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01" y="0"/>
            <a:ext cx="4733499" cy="4108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MSSQL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triggers are classified into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three main categories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based on the type of event that fires them. 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1. DML Triggers (Data Manipulation Language) 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These are the most common and fire when data inside a table or view is modified. 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Events: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INSERT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UPDATE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or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DELETE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Sub-Types: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AFTER Triggers: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Execute 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after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data modification is completed.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INSTEAD OF Triggers: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Execute </a:t>
            </a:r>
            <a:r>
              <a:rPr kumimoji="0" lang="en-US" altLang="en-US" sz="1200" b="0" i="1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in place of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 standard action, allowing you to bypass or redirect the modification.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2. DDL Triggers (Data Definition Language)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These fire in response to changes in the database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structure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rather than the data itself. 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Events: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CREATE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ALTER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or 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DROP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statements (e.g., dropping a table or altering a procedure).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Scope: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Can be scoped to the entire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Server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 just a specific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Database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3. Logon Triggers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These are specialized triggers that fire when a user's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session is established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 </a:t>
            </a:r>
            <a:endParaRPr kumimoji="0" lang="en-US" altLang="en-US" sz="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Purpose: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Used for security, auditing connections, or restricting access based on the number of concurrent users or time of day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0EBC65-9E53-4FBC-833E-9145165CE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0" y="3865719"/>
            <a:ext cx="4946582" cy="13204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F4BD92-41E9-CC89-97A4-6B3B06FB3869}"/>
              </a:ext>
            </a:extLst>
          </p:cNvPr>
          <p:cNvSpPr txBox="1"/>
          <p:nvPr/>
        </p:nvSpPr>
        <p:spPr>
          <a:xfrm>
            <a:off x="5069412" y="1419367"/>
            <a:ext cx="495413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TRIGGER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dbo.trg_AuditEmployeeSalary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dbo.Employees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AFTER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UPDATE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NOCOUNT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0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Only log if the Salary column was actually updated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UPDATE(Salary)</a:t>
            </a: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INSERT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INTO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SalaryAudit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EmployeeID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OldSalary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NewSalary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ChangedBy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ChangeDate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d.EmployeeID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d.Salary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0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Old value from deleted table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i.Salary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0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New value from inserted table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SUSER_SNAME(), </a:t>
            </a: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   GETDATE()</a:t>
            </a: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deleted d</a:t>
            </a: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INNER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JOIN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inserted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d.EmployeeID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0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i.EmployeeID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endParaRPr lang="en-US" sz="10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US" sz="10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D49EA-F721-6486-43EC-05C9CDF1EDAB}"/>
              </a:ext>
            </a:extLst>
          </p:cNvPr>
          <p:cNvSpPr txBox="1"/>
          <p:nvPr/>
        </p:nvSpPr>
        <p:spPr>
          <a:xfrm>
            <a:off x="4953000" y="397292"/>
            <a:ext cx="5008728" cy="1022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1. DML Trigger (Data Manipulation)</a:t>
            </a:r>
          </a:p>
          <a:p>
            <a:pPr algn="l">
              <a:lnSpc>
                <a:spcPts val="1650"/>
              </a:lnSpc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This template tracks changes to a specific table. It uses the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inserted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and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deleted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tables to log who changed what.</a:t>
            </a:r>
          </a:p>
        </p:txBody>
      </p:sp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1A7E10-AB01-0628-B721-4F71FDBC5C5C}"/>
              </a:ext>
            </a:extLst>
          </p:cNvPr>
          <p:cNvSpPr txBox="1"/>
          <p:nvPr/>
        </p:nvSpPr>
        <p:spPr>
          <a:xfrm>
            <a:off x="0" y="0"/>
            <a:ext cx="4954136" cy="1240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2. DDL Trigger (Data Definition)</a:t>
            </a:r>
          </a:p>
          <a:p>
            <a:pPr algn="l">
              <a:lnSpc>
                <a:spcPts val="1650"/>
              </a:lnSpc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This template prevents users from dropping tables in your database. DDL triggers use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EVENTDATA()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to capture details about the structural change.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153B2-9217-B99E-358C-CBA0F3B67483}"/>
              </a:ext>
            </a:extLst>
          </p:cNvPr>
          <p:cNvSpPr txBox="1"/>
          <p:nvPr/>
        </p:nvSpPr>
        <p:spPr>
          <a:xfrm>
            <a:off x="0" y="1240083"/>
            <a:ext cx="49814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TRIGGER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trg_PreventTableDrop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DATABASE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DROP_TABLE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NOCOUNT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DECLARE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@EventData XML = EVENTDATA();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DECLARE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@ObjectName NVARCHAR(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255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= @EventData.value(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'(/EVENT_INSTANCE/ObjectName)[1]'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'NVARCHAR(255)'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PRINT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'Attempt to drop table 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+ @ObjectName +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 was blocked for security reasons.'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Rollback cancels the DROP command entirely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ROLLBACK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000D3-C229-5A0A-82C6-2E34D1595FD4}"/>
              </a:ext>
            </a:extLst>
          </p:cNvPr>
          <p:cNvSpPr txBox="1"/>
          <p:nvPr/>
        </p:nvSpPr>
        <p:spPr>
          <a:xfrm>
            <a:off x="4981432" y="0"/>
            <a:ext cx="4981432" cy="1057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3. Logon Trigger</a:t>
            </a:r>
          </a:p>
          <a:p>
            <a:pPr algn="l">
              <a:lnSpc>
                <a:spcPts val="1800"/>
              </a:lnSpc>
              <a:buNone/>
            </a:pP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Logon triggers are created at the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Server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level (not the database level). This template limits a specific login to only one active session at a time.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8F764E-1268-DA01-2D69-F4292FDE3C81}"/>
              </a:ext>
            </a:extLst>
          </p:cNvPr>
          <p:cNvSpPr txBox="1"/>
          <p:nvPr/>
        </p:nvSpPr>
        <p:spPr>
          <a:xfrm>
            <a:off x="4924569" y="1026984"/>
            <a:ext cx="506559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TRIGGER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trg_LimitUserSessions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ALL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SERVER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LOGON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AS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Check if the current login is the one we want to restrict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ORIGINAL_LOGIN() =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200" b="0" i="0" dirty="0" err="1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TestAccount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SELECT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COUNT(*)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sys.dm_exec_sessions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WHERE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is_user_process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AND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original_login_name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200" b="0" i="0" dirty="0" err="1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TestAccount</a:t>
            </a:r>
            <a:r>
              <a:rPr lang="en-US" sz="1200" b="0" i="0" dirty="0">
                <a:solidFill>
                  <a:srgbClr val="18803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&gt; </a:t>
            </a:r>
            <a:r>
              <a:rPr lang="en-US" sz="1200" b="0" i="0" dirty="0">
                <a:solidFill>
                  <a:srgbClr val="B45908"/>
                </a:solidFill>
                <a:effectLst/>
                <a:latin typeface="Courier New" panose="02070309020205020404" pitchFamily="49" charset="0"/>
              </a:rPr>
              <a:t>1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BEGIN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Rollback prevents the session from being established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ROLLBACK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END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E3CF7-FC1F-7021-5B49-336C37C44CC5}"/>
              </a:ext>
            </a:extLst>
          </p:cNvPr>
          <p:cNvSpPr txBox="1"/>
          <p:nvPr/>
        </p:nvSpPr>
        <p:spPr>
          <a:xfrm>
            <a:off x="573206" y="5013805"/>
            <a:ext cx="9103057" cy="1634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Crucial Tips for SSMS</a:t>
            </a: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Location: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DML triggers are found under the specific table in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Object Explorer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 DDL triggers are under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Programmability -&gt; Database Triggers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 Logon triggers are under </a:t>
            </a:r>
            <a:r>
              <a:rPr lang="en-US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Server Objects -&gt; Triggers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algn="l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Testing: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Always test your triggers on a development database first. A buggy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Logon Trigger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can accidentally lock everyone (including the admin) out of the entire server.</a:t>
            </a:r>
          </a:p>
        </p:txBody>
      </p:sp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8A94F7-5A3F-4637-BED7-0BA32384995B}"/>
              </a:ext>
            </a:extLst>
          </p:cNvPr>
          <p:cNvSpPr txBox="1"/>
          <p:nvPr/>
        </p:nvSpPr>
        <p:spPr>
          <a:xfrm>
            <a:off x="-1136" y="0"/>
            <a:ext cx="49541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Index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 is a physical structure in SQL Server that speeds up data retrieval. Think of it exactly like the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index at the back of a textbook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: instead of scanning every single page (a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Table Scan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) to find a topic, you look up the keyword in the index and jump straight to the correct page number (an </a:t>
            </a:r>
            <a:r>
              <a:rPr lang="en-US" b="1" i="0" dirty="0">
                <a:solidFill>
                  <a:srgbClr val="0A0A0A"/>
                </a:solidFill>
                <a:effectLst/>
                <a:latin typeface="Google Sans"/>
              </a:rPr>
              <a:t>Index Seek</a:t>
            </a:r>
            <a:r>
              <a:rPr lang="en-US" b="0" i="0" dirty="0">
                <a:solidFill>
                  <a:srgbClr val="0A0A0A"/>
                </a:solidFill>
                <a:effectLst/>
                <a:latin typeface="Google Sans"/>
              </a:rPr>
              <a:t>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91EB4-42ED-2564-8675-EC8C7298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1325"/>
            <a:ext cx="5662151" cy="28958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E80945-F82D-7337-162B-A4A6A13094A7}"/>
              </a:ext>
            </a:extLst>
          </p:cNvPr>
          <p:cNvSpPr txBox="1"/>
          <p:nvPr/>
        </p:nvSpPr>
        <p:spPr>
          <a:xfrm>
            <a:off x="4924568" y="0"/>
            <a:ext cx="49814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-- 1. Create a standard Non-Clustered Index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INDEX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IX_Employees_LastName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 (LastName);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-- 2. Create a Unique Index (prevents duplicate values)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UNIQUE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INDEX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UIX_Employees_Email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Employees (Email);</a:t>
            </a:r>
          </a:p>
          <a:p>
            <a:pPr algn="l">
              <a:buNone/>
            </a:pP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1" dirty="0">
                <a:solidFill>
                  <a:srgbClr val="80868B"/>
                </a:solidFill>
                <a:effectLst/>
                <a:latin typeface="Courier New" panose="02070309020205020404" pitchFamily="49" charset="0"/>
              </a:rPr>
              <a:t>-- 3. Create a Covering Index (Includes extra columns so SQL doesn't have to go back to the table)</a:t>
            </a:r>
            <a:endParaRPr lang="en-US" sz="1200" b="0" i="0" dirty="0">
              <a:solidFill>
                <a:srgbClr val="0A0A0A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CREATE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INDEX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IX_Orders_Date_Included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ON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Orders (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OrderDate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 </a:t>
            </a:r>
          </a:p>
          <a:p>
            <a:pPr algn="l">
              <a:buNone/>
            </a:pPr>
            <a:r>
              <a:rPr lang="en-US" sz="1200" b="0" i="0" dirty="0">
                <a:solidFill>
                  <a:srgbClr val="9334E6"/>
                </a:solidFill>
                <a:effectLst/>
                <a:latin typeface="Courier New" panose="02070309020205020404" pitchFamily="49" charset="0"/>
              </a:rPr>
              <a:t>INCLUDE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 (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TotalAmount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200" b="0" i="0" dirty="0" err="1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CustomerID</a:t>
            </a:r>
            <a:r>
              <a:rPr lang="en-US" sz="1200" b="0" i="0" dirty="0">
                <a:solidFill>
                  <a:srgbClr val="0A0A0A"/>
                </a:solidFill>
                <a:effectLst/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AB8930C-E586-E8F5-4FF5-D2EB18212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65675"/>
            <a:ext cx="5977719" cy="1892826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3. When to Use (and When to Avoid)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✅ Use them 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Columns used frequently in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JOIN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statements (Foreign Keys).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Columns used in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WHERE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filters (e.g.,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Status = 'Active'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Columns used in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ORDER BY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GROUP BY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❌ Avoid them on: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Google San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Small tables (scanning the whole thing is faster than reading an index).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Columns with "Low Cardinality" (e.g., a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Gender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column with only 2 values).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Tables with massive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INSERT/UPDATE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volume (every index makes writes slower because the index must be updated too).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64E4676-0EA2-5D2A-D0A5-DBF2E50FA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2151" y="2677656"/>
            <a:ext cx="4027759" cy="20774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4. Pro-Tips for SSMS Users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The Execution Plan: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Press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Ctrl + 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in SSMS before running a query. If you see a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Table Scan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or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Clustered Index Scan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on a large table, you likely need a better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Missing Index Suggestions: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SQL Server is helpful! If you look at the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Execution Plan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, it will often show green text at the top saying 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"Missing Index (Impact 85%)"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. You can right-click that text to generate the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Arial Unicode MS"/>
              </a:rPr>
              <a:t>CREATE INDEX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script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Fragmentation: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Over time, as data is deleted and moved, indexes become "fragmented" (messy). Use the ALTER INDEX REBUILD command to clean them up and restore performance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A6EE798-F8A4-A490-D884-BA99799CC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839" y="5065675"/>
            <a:ext cx="2809164" cy="13388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Resources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Deep Dive: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The Microsoft Index Design Guide is the "bible" for understanding B-Trees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Visual Learning: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</a:rPr>
              <a:t> Use Brent Ozar's SQL Server training to understand how to pick the right columns for your index.</a:t>
            </a:r>
          </a:p>
        </p:txBody>
      </p:sp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699</TotalTime>
  <Words>4428</Words>
  <Application>Microsoft Office PowerPoint</Application>
  <PresentationFormat>A4 Paper (210x297 mm)</PresentationFormat>
  <Paragraphs>404</Paragraphs>
  <Slides>104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Aptos</vt:lpstr>
      <vt:lpstr>Aptos Display</vt:lpstr>
      <vt:lpstr>Arial</vt:lpstr>
      <vt:lpstr>Arial Unicode MS</vt:lpstr>
      <vt:lpstr>Courier New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59</cp:revision>
  <dcterms:created xsi:type="dcterms:W3CDTF">2026-02-06T21:19:28Z</dcterms:created>
  <dcterms:modified xsi:type="dcterms:W3CDTF">2026-02-27T02:27:02Z</dcterms:modified>
</cp:coreProperties>
</file>