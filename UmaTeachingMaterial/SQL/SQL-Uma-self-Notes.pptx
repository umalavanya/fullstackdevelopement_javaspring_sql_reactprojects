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 varScale="1">
        <p:scale>
          <a:sx n="56" d="100"/>
          <a:sy n="56" d="100"/>
        </p:scale>
        <p:origin x="58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4DC211-78D5-91FE-AE44-AE5B712B6B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293764"/>
            <a:ext cx="5130420" cy="12003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MSSQL (Microsoft SQL Server)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a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Common Table Expression (CTE)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 a temporary result set that you can reference within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SELECT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INSERT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UPDATE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or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DELETE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statement. 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Think of it as a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temporary view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that exists only for the duration of a single query. It makes complex queries much easier to read and maintain compared to nested subqueries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6320A3-6ED9-214D-CFD4-DABA15301B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62332"/>
            <a:ext cx="3234519" cy="507831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1. Basic Syntax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 CTE always begins with the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WITH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keyword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698721-1D54-9D53-A46C-1C6A01524D67}"/>
              </a:ext>
            </a:extLst>
          </p:cNvPr>
          <p:cNvSpPr txBox="1"/>
          <p:nvPr/>
        </p:nvSpPr>
        <p:spPr>
          <a:xfrm>
            <a:off x="162636" y="2138402"/>
            <a:ext cx="496778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WITH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CTE_Name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OptionalColumnAlias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This is the "Define" part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Column1, Column2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YourTable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Condition =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This is the "Execute" part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CTE_Name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 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5AEEAEC-8EFA-062D-EB1A-3304E38DFB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3708062"/>
            <a:ext cx="4476465" cy="6924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2. Practical Example: Improving Readability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Imagine you want to find all employees who earn more than the average salary. Using a subquery can get messy; a CTE keeps it clean.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AAD0D1-2963-EA8C-6CE4-11BA34C3B16B}"/>
              </a:ext>
            </a:extLst>
          </p:cNvPr>
          <p:cNvSpPr txBox="1"/>
          <p:nvPr/>
        </p:nvSpPr>
        <p:spPr>
          <a:xfrm>
            <a:off x="-14784" y="4352371"/>
            <a:ext cx="496778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WITH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AverageSalaryCTE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AVG(Salary)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AvgSalary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E.EmployeeName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E.Salary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 E,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AverageSalaryCTE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A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E.Salary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&gt;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A.AvgSalary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2D8F1398-0472-4BF8-602A-5D7E07F2A3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4638" y="0"/>
            <a:ext cx="4351361" cy="1708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3. Recursive CTEs (The Power Feature)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One of the biggest reasons to use CTEs in SSMS is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recursion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 This is used to query hierarchical data, like an organizational chart (Manager </a:t>
            </a:r>
            <a:endParaRPr kumimoji="0" lang="en-US" altLang="en-US" sz="10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Employee) or a folder structure. 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 recursive CTE has two parts joined by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UNION ALL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 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Anchor Member: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starting point (e.g., the CEO).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Recursive Member: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part that references the CTE itself to find the next level.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Example: Getting an Org Chart Level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E6E0434D-8DE7-90DF-99D5-C8CE1F7A25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481" y="-1012825"/>
            <a:ext cx="45719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ECB000A-A1BE-90D0-F60F-A311D4795A25}"/>
              </a:ext>
            </a:extLst>
          </p:cNvPr>
          <p:cNvSpPr txBox="1"/>
          <p:nvPr/>
        </p:nvSpPr>
        <p:spPr>
          <a:xfrm>
            <a:off x="4931391" y="1816247"/>
            <a:ext cx="497460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WITH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OrgChart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Anchor: Start with the top manager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EmployeeID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Name,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ManagerID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Level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ManagerID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NULL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UNION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ALL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Recursive: Join the table back to the CTE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E.EmployeeID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E.ManagerID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OC.Level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 E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INNER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JOIN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OrgChart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OC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E.ManagerID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OC.EmployeeID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OrgChart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ORDER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Level;</a:t>
            </a: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5998880-909B-8060-C322-0332E8305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9" y="0"/>
            <a:ext cx="5677392" cy="2796782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2125D379-AADF-824C-5C27-C59C08B10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466" y="2920916"/>
            <a:ext cx="4952999" cy="1985159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Pro-Tips for SSMS Users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 Semicolon Rule: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If the statement before your CTE doesn't end with a semicolon, the CTE might throw an error. Many developers start their CTEs with one just in case: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;WITH MyCTE AS (...)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Debugging: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can't run a CTE by itself. To debug in SSMS, you must highlight both the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WITH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block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and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final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SELECT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statement before hitting Execute (F5).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Multiple CTEs: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can define multiple CTEs in one go by separating them with a comma: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WITH CTE1 AS (...), CTE2 AS (...) SELECT...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F85643-890C-B967-E386-92E3278773D7}"/>
              </a:ext>
            </a:extLst>
          </p:cNvPr>
          <p:cNvSpPr txBox="1"/>
          <p:nvPr/>
        </p:nvSpPr>
        <p:spPr>
          <a:xfrm>
            <a:off x="0" y="307412"/>
            <a:ext cx="49541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MSSQL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, a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Stored Procedure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is </a:t>
            </a:r>
            <a:r>
              <a:rPr lang="en-US" dirty="0"/>
              <a:t>a prepared piece of SQL code that you save in your database so the code can be reused over and over again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. Think of it as a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function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for your database. </a:t>
            </a:r>
            <a:endParaRPr 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54DB7B5-4FF1-C06C-7EF8-BF06F58880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1497295"/>
            <a:ext cx="4953000" cy="692497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1. Basic Syntax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You define them using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CREATE PROCEDURE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(or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PROC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) and execute them with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EXEC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E0381E-6394-CAB1-3C31-1E3059BA1BC3}"/>
              </a:ext>
            </a:extLst>
          </p:cNvPr>
          <p:cNvSpPr txBox="1"/>
          <p:nvPr/>
        </p:nvSpPr>
        <p:spPr>
          <a:xfrm>
            <a:off x="-28432" y="2261235"/>
            <a:ext cx="417735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Create the procedure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PROCEDURE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GetEmployeeSales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@EmployeeID INT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This is a parameter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*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Sales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SellerID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@EmployeeID;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Run it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EXEC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GetEmployeeSales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@EmployeeID =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5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6FFD936B-0B85-3E57-EB2D-C3EEC109B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44539"/>
            <a:ext cx="4528782" cy="21698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2. Key Advantages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Performance: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SQL Server compiles the plan once and reuses it, which is faster than sending raw text queries repeatedly.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Security: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can give a user permission to execute a procedure without giving them access to the underlying tables (this prevents direct data tampering).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Reduced Traffic: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Instead of sending a 500-line query over the network, you just send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EXEC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MyProc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Maintenance: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If logic changes, you update the procedure in one place instead of updating every application that calls it.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1D969F-AABF-AF6E-55D5-24111CE16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048" y="95979"/>
            <a:ext cx="4333884" cy="2277322"/>
          </a:xfrm>
          <a:prstGeom prst="rect">
            <a:avLst/>
          </a:prstGeom>
        </p:spPr>
      </p:pic>
      <p:sp>
        <p:nvSpPr>
          <p:cNvPr id="11" name="Rectangle 4">
            <a:extLst>
              <a:ext uri="{FF2B5EF4-FFF2-40B4-BE49-F238E27FC236}">
                <a16:creationId xmlns:a16="http://schemas.microsoft.com/office/drawing/2014/main" id="{BC284D42-30B4-AB90-38DC-72FFD50236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932" y="2697624"/>
            <a:ext cx="4953000" cy="27699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4. Advanced Features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Output Parameters: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Use the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OUTPUT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keyword to pass a value back to the caller without a result set.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Error Handling: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Use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BEGIN TRY...END TRY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and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BEGIN CATCH...END CATCH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blocks to handle exceptions gracefully inside the DB.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Default Values: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can set @Param INT = 0 to make a parameter optional.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Resources for Mastering Procedures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Official Docs: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 Microsoft SQL Server Procedure Guide covers everything from creation to encryption.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Tutorials: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SQLServerTutorial.net offers a great step-by-step breakdown for beginners.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Practice: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Try the LeetCode "Rank Scores" problem and attempt to wrap your logic in a procedure in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SSMS</a:t>
            </a: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B43A0C-E723-8BBD-16B2-E69253C12B97}"/>
              </a:ext>
            </a:extLst>
          </p:cNvPr>
          <p:cNvSpPr txBox="1"/>
          <p:nvPr/>
        </p:nvSpPr>
        <p:spPr>
          <a:xfrm>
            <a:off x="-1136" y="0"/>
            <a:ext cx="495413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PROCEDURE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dbo.usp_UpdateEmployeeSalary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@EmployeeID INT,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@NewSalary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DECIMAL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18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),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@UpdatedBy VARCHAR(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50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-- 1. Prevents extra result sets from interfering with SELECT statements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NOCOUNT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TRY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-- 2. Start the transaction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TRANSACTION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-- 3. Perform the Data Manipulation (DML)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UPDATE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Salary = @NewSalary,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LastModifiedBy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@UpdatedBy,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LastModifiedDate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GETDATE()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EmployeeID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@EmployeeID;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AAD2B1-FB8C-0D9F-63D1-F526AA432ACF}"/>
              </a:ext>
            </a:extLst>
          </p:cNvPr>
          <p:cNvSpPr txBox="1"/>
          <p:nvPr/>
        </p:nvSpPr>
        <p:spPr>
          <a:xfrm>
            <a:off x="4951864" y="0"/>
            <a:ext cx="4954136" cy="581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-- 4. Log the change to an audit table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INSERT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INTO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SalaryAudit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EmployeeID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ChangedBy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ChangeDate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VALUES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(@EmployeeID, @UpdatedBy, GETDATE());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-- 5. If everything is fine, save changes permanently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COMMIT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TRANSACTION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PRINT 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'Transaction Committed Successfully'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TRY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CATCH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-- 6. If an error occurs, undo all changes since BEGIN TRANSACTION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@@TRANCOUNT &gt;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0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ROLLBACK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TRANSACTION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-- 7. Raise the error details for the application to see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DECLARE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@ErrorMessage NVARCHAR(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4000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 = ERROR_MESSAGE();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DECLARE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@ErrorSeverity INT = ERROR_SEVERITY();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DECLARE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@ErrorState INT = ERROR_STATE();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RAISERROR (@ErrorMessage, @ErrorSeverity, @ErrorState);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CATCH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GO</a:t>
            </a:r>
            <a:endParaRPr lang="en-US" sz="1200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57E2294-438E-AAB4-04A6-2F33D6B81D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860" y="3970318"/>
            <a:ext cx="4365009" cy="2539157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Why this structure is "Production Grade":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SET NOCOUNT ON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 Improves performance by stopping SQL Server from sending "done-in-proc" messages (e.g., </a:t>
            </a:r>
            <a:r>
              <a:rPr kumimoji="0" lang="en-US" altLang="en-US" sz="1200" b="0" i="1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"1 row affected"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) to the client after every statement.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BEGIN TRANSACTION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 Ensures that if the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UPDATE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works but the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INSERT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into the audit table fails, the salary change is rolled back. Your data stays consistent.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@@TRANCOUNT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 A system function that checks if an active transaction exists before attempting a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ROLLBACK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preventing secondary errors.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RAISERROR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 Passes the internal SQL error back to your application (C#, Python, etc.) so your frontend knows exactly what went wrong.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C099AC6-FFD5-68DC-6F2C-8934BDD73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8134" y="5570756"/>
            <a:ext cx="4073288" cy="9387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How to test it in SSMS: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1" u="none" strike="noStrike" cap="none" normalizeH="0" baseline="0" dirty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-- Execution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EXEC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dbo.usp_UpdateEmployeeSalary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b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</a:b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	@EmployeeID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101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, </a:t>
            </a:r>
            <a:b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</a:b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	@NewSalary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75000.00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, </a:t>
            </a:r>
            <a:b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</a:b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	@UpdatedBy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'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AdminUser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'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554</TotalTime>
  <Words>1209</Words>
  <Application>Microsoft Office PowerPoint</Application>
  <PresentationFormat>A4 Paper (210x297 mm)</PresentationFormat>
  <Paragraphs>123</Paragraphs>
  <Slides>104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1" baseType="lpstr">
      <vt:lpstr>Aptos</vt:lpstr>
      <vt:lpstr>Aptos Display</vt:lpstr>
      <vt:lpstr>Arial</vt:lpstr>
      <vt:lpstr>Arial Unicode MS</vt:lpstr>
      <vt:lpstr>Courier New</vt:lpstr>
      <vt:lpstr>Google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50</cp:revision>
  <dcterms:created xsi:type="dcterms:W3CDTF">2026-02-06T21:19:28Z</dcterms:created>
  <dcterms:modified xsi:type="dcterms:W3CDTF">2026-02-26T14:52:08Z</dcterms:modified>
</cp:coreProperties>
</file>