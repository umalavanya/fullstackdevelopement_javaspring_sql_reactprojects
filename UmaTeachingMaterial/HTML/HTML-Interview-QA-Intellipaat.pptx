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bookmarkIdSeed="3">
  <p:sldMasterIdLst>
    <p:sldMasterId id="2147483660"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 id="340" r:id="rId86"/>
    <p:sldId id="341" r:id="rId87"/>
    <p:sldId id="342" r:id="rId88"/>
    <p:sldId id="343" r:id="rId89"/>
    <p:sldId id="344" r:id="rId90"/>
    <p:sldId id="345" r:id="rId91"/>
    <p:sldId id="346" r:id="rId92"/>
    <p:sldId id="347" r:id="rId93"/>
    <p:sldId id="348" r:id="rId94"/>
    <p:sldId id="349" r:id="rId95"/>
    <p:sldId id="350" r:id="rId96"/>
    <p:sldId id="351" r:id="rId97"/>
    <p:sldId id="352" r:id="rId98"/>
    <p:sldId id="353" r:id="rId99"/>
    <p:sldId id="354" r:id="rId100"/>
    <p:sldId id="355" r:id="rId101"/>
    <p:sldId id="356" r:id="rId102"/>
    <p:sldId id="357" r:id="rId103"/>
    <p:sldId id="358" r:id="rId104"/>
    <p:sldId id="359" r:id="rId105"/>
  </p:sldIdLst>
  <p:sldSz cx="9906000" cy="6858000" type="A4"/>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9285" autoAdjust="0"/>
    <p:restoredTop sz="94660"/>
  </p:normalViewPr>
  <p:slideViewPr>
    <p:cSldViewPr snapToGrid="0">
      <p:cViewPr varScale="1">
        <p:scale>
          <a:sx n="56" d="100"/>
          <a:sy n="56" d="100"/>
        </p:scale>
        <p:origin x="58" y="1291"/>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07" Type="http://schemas.openxmlformats.org/officeDocument/2006/relationships/viewProps" Target="viewProps.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theme" Target="theme/theme1.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presProps" Target="pres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tableStyles" Target="tableStyles.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42950" y="1122363"/>
            <a:ext cx="84201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238250" y="3602038"/>
            <a:ext cx="74295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2D1FB5FC-1629-4A0D-9573-785FAC7ED015}" type="datetimeFigureOut">
              <a:rPr lang="en-US" smtClean="0"/>
              <a:t>2/22/2026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483C504-7F0E-4585-832D-B71C6D96FE19}" type="slidenum">
              <a:rPr lang="en-US" smtClean="0"/>
              <a:t>‹#›</a:t>
            </a:fld>
            <a:endParaRPr lang="en-US"/>
          </a:p>
        </p:txBody>
      </p:sp>
    </p:spTree>
    <p:extLst>
      <p:ext uri="{BB962C8B-B14F-4D97-AF65-F5344CB8AC3E}">
        <p14:creationId xmlns:p14="http://schemas.microsoft.com/office/powerpoint/2010/main" val="4910579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D1FB5FC-1629-4A0D-9573-785FAC7ED015}" type="datetimeFigureOut">
              <a:rPr lang="en-US" smtClean="0"/>
              <a:t>2/22/2026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483C504-7F0E-4585-832D-B71C6D96FE19}" type="slidenum">
              <a:rPr lang="en-US" smtClean="0"/>
              <a:t>‹#›</a:t>
            </a:fld>
            <a:endParaRPr lang="en-US"/>
          </a:p>
        </p:txBody>
      </p:sp>
    </p:spTree>
    <p:extLst>
      <p:ext uri="{BB962C8B-B14F-4D97-AF65-F5344CB8AC3E}">
        <p14:creationId xmlns:p14="http://schemas.microsoft.com/office/powerpoint/2010/main" val="75744792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5879" y="1709740"/>
            <a:ext cx="8543925"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675879" y="4589465"/>
            <a:ext cx="8543925"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D1FB5FC-1629-4A0D-9573-785FAC7ED015}" type="datetimeFigureOut">
              <a:rPr lang="en-US" smtClean="0"/>
              <a:t>2/22/2026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483C504-7F0E-4585-832D-B71C6D96FE19}" type="slidenum">
              <a:rPr lang="en-US" smtClean="0"/>
              <a:t>‹#›</a:t>
            </a:fld>
            <a:endParaRPr lang="en-US"/>
          </a:p>
        </p:txBody>
      </p:sp>
    </p:spTree>
    <p:extLst>
      <p:ext uri="{BB962C8B-B14F-4D97-AF65-F5344CB8AC3E}">
        <p14:creationId xmlns:p14="http://schemas.microsoft.com/office/powerpoint/2010/main" val="428083321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81038" y="1825625"/>
            <a:ext cx="421005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14913" y="1825625"/>
            <a:ext cx="421005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2D1FB5FC-1629-4A0D-9573-785FAC7ED015}" type="datetimeFigureOut">
              <a:rPr lang="en-US" smtClean="0"/>
              <a:t>2/22/2026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483C504-7F0E-4585-832D-B71C6D96FE19}" type="slidenum">
              <a:rPr lang="en-US" smtClean="0"/>
              <a:t>‹#›</a:t>
            </a:fld>
            <a:endParaRPr lang="en-US"/>
          </a:p>
        </p:txBody>
      </p:sp>
    </p:spTree>
    <p:extLst>
      <p:ext uri="{BB962C8B-B14F-4D97-AF65-F5344CB8AC3E}">
        <p14:creationId xmlns:p14="http://schemas.microsoft.com/office/powerpoint/2010/main" val="228660089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82328" y="365127"/>
            <a:ext cx="8543925"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682329" y="1681163"/>
            <a:ext cx="4190702"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82329" y="2505075"/>
            <a:ext cx="4190702"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14913" y="1681163"/>
            <a:ext cx="4211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14913" y="2505075"/>
            <a:ext cx="4211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2D1FB5FC-1629-4A0D-9573-785FAC7ED015}" type="datetimeFigureOut">
              <a:rPr lang="en-US" smtClean="0"/>
              <a:t>2/22/2026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E483C504-7F0E-4585-832D-B71C6D96FE19}" type="slidenum">
              <a:rPr lang="en-US" smtClean="0"/>
              <a:t>‹#›</a:t>
            </a:fld>
            <a:endParaRPr lang="en-US"/>
          </a:p>
        </p:txBody>
      </p:sp>
    </p:spTree>
    <p:extLst>
      <p:ext uri="{BB962C8B-B14F-4D97-AF65-F5344CB8AC3E}">
        <p14:creationId xmlns:p14="http://schemas.microsoft.com/office/powerpoint/2010/main" val="110738116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2D1FB5FC-1629-4A0D-9573-785FAC7ED015}" type="datetimeFigureOut">
              <a:rPr lang="en-US" smtClean="0"/>
              <a:t>2/22/2026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E483C504-7F0E-4585-832D-B71C6D96FE19}" type="slidenum">
              <a:rPr lang="en-US" smtClean="0"/>
              <a:t>‹#›</a:t>
            </a:fld>
            <a:endParaRPr lang="en-US"/>
          </a:p>
        </p:txBody>
      </p:sp>
    </p:spTree>
    <p:extLst>
      <p:ext uri="{BB962C8B-B14F-4D97-AF65-F5344CB8AC3E}">
        <p14:creationId xmlns:p14="http://schemas.microsoft.com/office/powerpoint/2010/main" val="5120241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D1FB5FC-1629-4A0D-9573-785FAC7ED015}" type="datetimeFigureOut">
              <a:rPr lang="en-US" smtClean="0"/>
              <a:t>2/22/2026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E483C504-7F0E-4585-832D-B71C6D96FE19}" type="slidenum">
              <a:rPr lang="en-US" smtClean="0"/>
              <a:t>‹#›</a:t>
            </a:fld>
            <a:endParaRPr lang="en-US"/>
          </a:p>
        </p:txBody>
      </p:sp>
    </p:spTree>
    <p:extLst>
      <p:ext uri="{BB962C8B-B14F-4D97-AF65-F5344CB8AC3E}">
        <p14:creationId xmlns:p14="http://schemas.microsoft.com/office/powerpoint/2010/main" val="382022467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2328" y="457200"/>
            <a:ext cx="3194943"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4211340" y="987427"/>
            <a:ext cx="5014913"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82328" y="2057400"/>
            <a:ext cx="3194943"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2D1FB5FC-1629-4A0D-9573-785FAC7ED015}" type="datetimeFigureOut">
              <a:rPr lang="en-US" smtClean="0"/>
              <a:t>2/22/2026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483C504-7F0E-4585-832D-B71C6D96FE19}" type="slidenum">
              <a:rPr lang="en-US" smtClean="0"/>
              <a:t>‹#›</a:t>
            </a:fld>
            <a:endParaRPr lang="en-US"/>
          </a:p>
        </p:txBody>
      </p:sp>
    </p:spTree>
    <p:extLst>
      <p:ext uri="{BB962C8B-B14F-4D97-AF65-F5344CB8AC3E}">
        <p14:creationId xmlns:p14="http://schemas.microsoft.com/office/powerpoint/2010/main" val="417911979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2328" y="457200"/>
            <a:ext cx="3194943"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4211340" y="987427"/>
            <a:ext cx="5014913"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82328" y="2057400"/>
            <a:ext cx="3194943"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2D1FB5FC-1629-4A0D-9573-785FAC7ED015}" type="datetimeFigureOut">
              <a:rPr lang="en-US" smtClean="0"/>
              <a:t>2/22/2026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483C504-7F0E-4585-832D-B71C6D96FE19}" type="slidenum">
              <a:rPr lang="en-US" smtClean="0"/>
              <a:t>‹#›</a:t>
            </a:fld>
            <a:endParaRPr lang="en-US"/>
          </a:p>
        </p:txBody>
      </p:sp>
    </p:spTree>
    <p:extLst>
      <p:ext uri="{BB962C8B-B14F-4D97-AF65-F5344CB8AC3E}">
        <p14:creationId xmlns:p14="http://schemas.microsoft.com/office/powerpoint/2010/main" val="245361383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D1FB5FC-1629-4A0D-9573-785FAC7ED015}" type="datetimeFigureOut">
              <a:rPr lang="en-US" smtClean="0"/>
              <a:t>2/22/2026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483C504-7F0E-4585-832D-B71C6D96FE19}" type="slidenum">
              <a:rPr lang="en-US" smtClean="0"/>
              <a:t>‹#›</a:t>
            </a:fld>
            <a:endParaRPr lang="en-US"/>
          </a:p>
        </p:txBody>
      </p:sp>
    </p:spTree>
    <p:extLst>
      <p:ext uri="{BB962C8B-B14F-4D97-AF65-F5344CB8AC3E}">
        <p14:creationId xmlns:p14="http://schemas.microsoft.com/office/powerpoint/2010/main" val="61361430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088982" y="365125"/>
            <a:ext cx="2135981"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81038" y="365125"/>
            <a:ext cx="6284119"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D1FB5FC-1629-4A0D-9573-785FAC7ED015}" type="datetimeFigureOut">
              <a:rPr lang="en-US" smtClean="0"/>
              <a:t>2/22/2026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483C504-7F0E-4585-832D-B71C6D96FE19}" type="slidenum">
              <a:rPr lang="en-US" smtClean="0"/>
              <a:t>‹#›</a:t>
            </a:fld>
            <a:endParaRPr lang="en-US"/>
          </a:p>
        </p:txBody>
      </p:sp>
    </p:spTree>
    <p:extLst>
      <p:ext uri="{BB962C8B-B14F-4D97-AF65-F5344CB8AC3E}">
        <p14:creationId xmlns:p14="http://schemas.microsoft.com/office/powerpoint/2010/main" val="216965029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81038" y="365127"/>
            <a:ext cx="8543925"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81038" y="1825625"/>
            <a:ext cx="8543925"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81038" y="6356352"/>
            <a:ext cx="222885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2D1FB5FC-1629-4A0D-9573-785FAC7ED015}" type="datetimeFigureOut">
              <a:rPr lang="en-US" smtClean="0"/>
              <a:t>2/22/2026</a:t>
            </a:fld>
            <a:endParaRPr lang="en-US"/>
          </a:p>
        </p:txBody>
      </p:sp>
      <p:sp>
        <p:nvSpPr>
          <p:cNvPr id="5" name="Footer Placeholder 4"/>
          <p:cNvSpPr>
            <a:spLocks noGrp="1"/>
          </p:cNvSpPr>
          <p:nvPr>
            <p:ph type="ftr" sz="quarter" idx="3"/>
          </p:nvPr>
        </p:nvSpPr>
        <p:spPr>
          <a:xfrm>
            <a:off x="3281363" y="6356352"/>
            <a:ext cx="3343275"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6996113" y="6356352"/>
            <a:ext cx="222885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E483C504-7F0E-4585-832D-B71C6D96FE19}" type="slidenum">
              <a:rPr lang="en-US" smtClean="0"/>
              <a:t>‹#›</a:t>
            </a:fld>
            <a:endParaRPr lang="en-US"/>
          </a:p>
        </p:txBody>
      </p:sp>
    </p:spTree>
    <p:extLst>
      <p:ext uri="{BB962C8B-B14F-4D97-AF65-F5344CB8AC3E}">
        <p14:creationId xmlns:p14="http://schemas.microsoft.com/office/powerpoint/2010/main" val="209040606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hyperlink" Target="https://intellipaat.com/blog/marquee-tag-in-html/" TargetMode="External"/><Relationship Id="rId2" Type="http://schemas.openxmlformats.org/officeDocument/2006/relationships/hyperlink" Target="https://intellipaat.com/blog/lists-in-html/" TargetMode="Externa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hyperlink" Target="https://intellipaat.com/blog/difference-between-html-and-css/" TargetMode="Externa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hyperlink" Target="https://intellipaat.com/blog/br-tag-in-html/" TargetMode="Externa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hyperlink" Target="https://intellipaat.com/blog/html5-video-tag/" TargetMode="Externa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hyperlink" Target="https://intellipaat.com/blog/javascript-events/" TargetMode="Externa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2" Type="http://schemas.openxmlformats.org/officeDocument/2006/relationships/hyperlink" Target="https://intellipaat.com/blog/frames-in-html/" TargetMode="External"/><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2" Type="http://schemas.openxmlformats.org/officeDocument/2006/relationships/hyperlink" Target="https://intellipaat.com/blog/difference-between-html-and-html5/" TargetMode="External"/><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2" Type="http://schemas.openxmlformats.org/officeDocument/2006/relationships/hyperlink" Target="https://intellipaat.com/blog/html5-web-storage/" TargetMode="External"/><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3B2B87E-DEFA-CD2B-CA17-01E616DB878B}"/>
              </a:ext>
            </a:extLst>
          </p:cNvPr>
          <p:cNvSpPr txBox="1"/>
          <p:nvPr/>
        </p:nvSpPr>
        <p:spPr>
          <a:xfrm>
            <a:off x="150124" y="359776"/>
            <a:ext cx="9457899" cy="3990836"/>
          </a:xfrm>
          <a:prstGeom prst="rect">
            <a:avLst/>
          </a:prstGeom>
          <a:noFill/>
        </p:spPr>
        <p:txBody>
          <a:bodyPr wrap="square">
            <a:spAutoFit/>
          </a:bodyPr>
          <a:lstStyle/>
          <a:p>
            <a:pPr algn="l">
              <a:lnSpc>
                <a:spcPts val="2100"/>
              </a:lnSpc>
              <a:spcBef>
                <a:spcPts val="2400"/>
              </a:spcBef>
              <a:spcAft>
                <a:spcPts val="1800"/>
              </a:spcAft>
              <a:buNone/>
            </a:pPr>
            <a:r>
              <a:rPr lang="en-US" b="0" i="0" dirty="0">
                <a:solidFill>
                  <a:srgbClr val="272C37"/>
                </a:solidFill>
                <a:effectLst/>
                <a:latin typeface="Roboto" panose="02000000000000000000" pitchFamily="2" charset="0"/>
              </a:rPr>
              <a:t>1. What is HTML?</a:t>
            </a:r>
          </a:p>
          <a:p>
            <a:pPr algn="just">
              <a:lnSpc>
                <a:spcPts val="2100"/>
              </a:lnSpc>
              <a:spcBef>
                <a:spcPts val="1650"/>
              </a:spcBef>
              <a:buNone/>
            </a:pPr>
            <a:r>
              <a:rPr lang="en-US" b="0" i="0" dirty="0">
                <a:solidFill>
                  <a:srgbClr val="3A3A3A"/>
                </a:solidFill>
                <a:effectLst/>
                <a:latin typeface="Roboto" panose="02000000000000000000" pitchFamily="2" charset="0"/>
              </a:rPr>
              <a:t>To build the structure of web pages, we use HTML (</a:t>
            </a:r>
            <a:r>
              <a:rPr lang="en-US" b="0" i="0" dirty="0" err="1">
                <a:solidFill>
                  <a:srgbClr val="3A3A3A"/>
                </a:solidFill>
                <a:effectLst/>
                <a:latin typeface="Roboto" panose="02000000000000000000" pitchFamily="2" charset="0"/>
              </a:rPr>
              <a:t>HyperText</a:t>
            </a:r>
            <a:r>
              <a:rPr lang="en-US" b="0" i="0" dirty="0">
                <a:solidFill>
                  <a:srgbClr val="3A3A3A"/>
                </a:solidFill>
                <a:effectLst/>
                <a:latin typeface="Roboto" panose="02000000000000000000" pitchFamily="2" charset="0"/>
              </a:rPr>
              <a:t> Markup Language), the most basic language used in constructing web pages. Different tags, such as &lt;p&gt;, &lt;h1&gt;, and &lt;a&gt;, enable us to organize content as well as provide linking, images, and so on. Hence, HTML serves as the basis of all websites, with CSS for style and JavaScript for interaction.</a:t>
            </a:r>
          </a:p>
          <a:p>
            <a:pPr algn="l">
              <a:lnSpc>
                <a:spcPts val="2100"/>
              </a:lnSpc>
              <a:spcBef>
                <a:spcPts val="2400"/>
              </a:spcBef>
              <a:spcAft>
                <a:spcPts val="1800"/>
              </a:spcAft>
              <a:buNone/>
            </a:pPr>
            <a:r>
              <a:rPr lang="en-US" b="0" i="0" dirty="0">
                <a:solidFill>
                  <a:srgbClr val="272C37"/>
                </a:solidFill>
                <a:effectLst/>
                <a:latin typeface="Roboto" panose="02000000000000000000" pitchFamily="2" charset="0"/>
              </a:rPr>
              <a:t>2. What are HTML Tags?</a:t>
            </a:r>
          </a:p>
          <a:p>
            <a:pPr algn="just">
              <a:lnSpc>
                <a:spcPts val="2100"/>
              </a:lnSpc>
              <a:spcBef>
                <a:spcPts val="1650"/>
              </a:spcBef>
              <a:buNone/>
            </a:pPr>
            <a:r>
              <a:rPr lang="en-US" b="0" i="0" dirty="0">
                <a:solidFill>
                  <a:srgbClr val="3A3A3A"/>
                </a:solidFill>
                <a:effectLst/>
                <a:latin typeface="Roboto" panose="02000000000000000000" pitchFamily="2" charset="0"/>
              </a:rPr>
              <a:t>HTML tags are particular words that you put inside angle brackets, such as &lt;p&gt; or &lt;h1&gt;, and they tell the browser what to display on the page. These are used in headings, paragraphs, links, and images. Tags are of two types: open and closed; for example, &lt;p&gt; and &lt;/p&gt; tags. Single tags occur, for example, when an &lt;</a:t>
            </a:r>
            <a:r>
              <a:rPr lang="en-US" b="0" i="0" dirty="0" err="1">
                <a:solidFill>
                  <a:srgbClr val="3A3A3A"/>
                </a:solidFill>
                <a:effectLst/>
                <a:latin typeface="Roboto" panose="02000000000000000000" pitchFamily="2" charset="0"/>
              </a:rPr>
              <a:t>img</a:t>
            </a:r>
            <a:r>
              <a:rPr lang="en-US" b="0" i="0" dirty="0">
                <a:solidFill>
                  <a:srgbClr val="3A3A3A"/>
                </a:solidFill>
                <a:effectLst/>
                <a:latin typeface="Roboto" panose="02000000000000000000" pitchFamily="2" charset="0"/>
              </a:rPr>
              <a:t>&gt; is used.</a:t>
            </a:r>
          </a:p>
        </p:txBody>
      </p:sp>
    </p:spTree>
    <p:extLst>
      <p:ext uri="{BB962C8B-B14F-4D97-AF65-F5344CB8AC3E}">
        <p14:creationId xmlns:p14="http://schemas.microsoft.com/office/powerpoint/2010/main" val="68678147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D047F0-2EEC-3B96-C431-447C7F2D0060}"/>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3A57A18B-9734-7BEF-6C6D-8FCB14B941E5}"/>
              </a:ext>
            </a:extLst>
          </p:cNvPr>
          <p:cNvSpPr txBox="1"/>
          <p:nvPr/>
        </p:nvSpPr>
        <p:spPr>
          <a:xfrm>
            <a:off x="278642" y="471780"/>
            <a:ext cx="9348716" cy="5914440"/>
          </a:xfrm>
          <a:prstGeom prst="rect">
            <a:avLst/>
          </a:prstGeom>
          <a:noFill/>
        </p:spPr>
        <p:txBody>
          <a:bodyPr wrap="square">
            <a:spAutoFit/>
          </a:bodyPr>
          <a:lstStyle/>
          <a:p>
            <a:pPr algn="l">
              <a:lnSpc>
                <a:spcPts val="2100"/>
              </a:lnSpc>
              <a:spcBef>
                <a:spcPts val="2400"/>
              </a:spcBef>
              <a:spcAft>
                <a:spcPts val="1800"/>
              </a:spcAft>
              <a:buNone/>
            </a:pPr>
            <a:r>
              <a:rPr lang="en-US" b="0" i="0" dirty="0">
                <a:solidFill>
                  <a:srgbClr val="272C37"/>
                </a:solidFill>
                <a:effectLst/>
                <a:latin typeface="Roboto" panose="02000000000000000000" pitchFamily="2" charset="0"/>
              </a:rPr>
              <a:t>3. What is the difference between &lt;div&gt; and &lt;span&gt;?</a:t>
            </a:r>
          </a:p>
          <a:p>
            <a:pPr algn="just">
              <a:lnSpc>
                <a:spcPts val="2100"/>
              </a:lnSpc>
              <a:spcBef>
                <a:spcPts val="1650"/>
              </a:spcBef>
              <a:spcAft>
                <a:spcPts val="600"/>
              </a:spcAft>
              <a:buFont typeface="Arial" panose="020B0604020202020204" pitchFamily="34" charset="0"/>
              <a:buChar char="•"/>
            </a:pPr>
            <a:r>
              <a:rPr lang="en-US" b="0" i="0" dirty="0">
                <a:solidFill>
                  <a:srgbClr val="3A3A3A"/>
                </a:solidFill>
                <a:effectLst/>
                <a:latin typeface="Roboto" panose="02000000000000000000" pitchFamily="2" charset="0"/>
              </a:rPr>
              <a:t>DIV: It is a block-level element. It generally contains tags that are larger in structure, like paragraphs and images. It starts on a new line.</a:t>
            </a:r>
          </a:p>
          <a:p>
            <a:pPr algn="just">
              <a:lnSpc>
                <a:spcPts val="2100"/>
              </a:lnSpc>
              <a:spcBef>
                <a:spcPts val="1650"/>
              </a:spcBef>
              <a:spcAft>
                <a:spcPts val="600"/>
              </a:spcAft>
              <a:buFont typeface="Arial" panose="020B0604020202020204" pitchFamily="34" charset="0"/>
              <a:buChar char="•"/>
            </a:pPr>
            <a:r>
              <a:rPr lang="en-US" b="0" i="0" dirty="0">
                <a:solidFill>
                  <a:srgbClr val="3A3A3A"/>
                </a:solidFill>
                <a:effectLst/>
                <a:latin typeface="Roboto" panose="02000000000000000000" pitchFamily="2" charset="0"/>
              </a:rPr>
              <a:t>SPAN: It is an inline element used to style or group small parts of text without disrupting the line flow.</a:t>
            </a:r>
          </a:p>
          <a:p>
            <a:pPr algn="l">
              <a:lnSpc>
                <a:spcPts val="2100"/>
              </a:lnSpc>
              <a:spcBef>
                <a:spcPts val="2400"/>
              </a:spcBef>
              <a:spcAft>
                <a:spcPts val="1800"/>
              </a:spcAft>
              <a:buNone/>
            </a:pPr>
            <a:r>
              <a:rPr lang="en-US" b="0" i="0" dirty="0">
                <a:solidFill>
                  <a:srgbClr val="272C37"/>
                </a:solidFill>
                <a:effectLst/>
                <a:latin typeface="Roboto" panose="02000000000000000000" pitchFamily="2" charset="0"/>
              </a:rPr>
              <a:t>4. What are semantic tags in &lt;html&gt;?</a:t>
            </a:r>
          </a:p>
          <a:p>
            <a:pPr algn="just">
              <a:lnSpc>
                <a:spcPts val="2100"/>
              </a:lnSpc>
              <a:spcBef>
                <a:spcPts val="1650"/>
              </a:spcBef>
              <a:buNone/>
            </a:pPr>
            <a:r>
              <a:rPr lang="en-US" b="0" i="0" dirty="0">
                <a:solidFill>
                  <a:srgbClr val="3A3A3A"/>
                </a:solidFill>
                <a:effectLst/>
                <a:latin typeface="Roboto" panose="02000000000000000000" pitchFamily="2" charset="0"/>
              </a:rPr>
              <a:t>Semantic tags are those that define what is inside them and therefore make the webpage easily understandable, both for humans and search engines.</a:t>
            </a:r>
          </a:p>
          <a:p>
            <a:pPr algn="just">
              <a:lnSpc>
                <a:spcPts val="2100"/>
              </a:lnSpc>
              <a:spcBef>
                <a:spcPts val="750"/>
              </a:spcBef>
              <a:buNone/>
            </a:pPr>
            <a:r>
              <a:rPr lang="en-US" b="0" i="0" dirty="0">
                <a:solidFill>
                  <a:srgbClr val="3A3A3A"/>
                </a:solidFill>
                <a:effectLst/>
                <a:latin typeface="Roboto" panose="02000000000000000000" pitchFamily="2" charset="0"/>
              </a:rPr>
              <a:t>Examples:</a:t>
            </a:r>
          </a:p>
          <a:p>
            <a:pPr algn="just">
              <a:lnSpc>
                <a:spcPts val="2100"/>
              </a:lnSpc>
              <a:spcBef>
                <a:spcPts val="750"/>
              </a:spcBef>
              <a:spcAft>
                <a:spcPts val="600"/>
              </a:spcAft>
              <a:buFont typeface="Arial" panose="020B0604020202020204" pitchFamily="34" charset="0"/>
              <a:buChar char="•"/>
            </a:pPr>
            <a:r>
              <a:rPr lang="en-US" b="0" i="0" dirty="0">
                <a:solidFill>
                  <a:srgbClr val="3A3A3A"/>
                </a:solidFill>
                <a:effectLst/>
                <a:latin typeface="Roboto" panose="02000000000000000000" pitchFamily="2" charset="0"/>
              </a:rPr>
              <a:t>&lt;header&gt;: The top-most section, like a title or navigation.</a:t>
            </a:r>
          </a:p>
          <a:p>
            <a:pPr algn="just">
              <a:lnSpc>
                <a:spcPts val="2100"/>
              </a:lnSpc>
              <a:spcBef>
                <a:spcPts val="750"/>
              </a:spcBef>
              <a:spcAft>
                <a:spcPts val="600"/>
              </a:spcAft>
              <a:buFont typeface="Arial" panose="020B0604020202020204" pitchFamily="34" charset="0"/>
              <a:buChar char="•"/>
            </a:pPr>
            <a:r>
              <a:rPr lang="en-US" b="0" i="0" dirty="0">
                <a:solidFill>
                  <a:srgbClr val="3A3A3A"/>
                </a:solidFill>
                <a:effectLst/>
                <a:latin typeface="Roboto" panose="02000000000000000000" pitchFamily="2" charset="0"/>
              </a:rPr>
              <a:t>&lt;footer&gt;: The bottom section, mostly composed of copyright or contact information.</a:t>
            </a:r>
          </a:p>
          <a:p>
            <a:pPr algn="just">
              <a:lnSpc>
                <a:spcPts val="2100"/>
              </a:lnSpc>
              <a:spcBef>
                <a:spcPts val="750"/>
              </a:spcBef>
              <a:spcAft>
                <a:spcPts val="600"/>
              </a:spcAft>
              <a:buFont typeface="Arial" panose="020B0604020202020204" pitchFamily="34" charset="0"/>
              <a:buChar char="•"/>
            </a:pPr>
            <a:r>
              <a:rPr lang="en-US" b="0" i="0" dirty="0">
                <a:solidFill>
                  <a:srgbClr val="3A3A3A"/>
                </a:solidFill>
                <a:effectLst/>
                <a:latin typeface="Roboto" panose="02000000000000000000" pitchFamily="2" charset="0"/>
              </a:rPr>
              <a:t>&lt;article&gt;: A self-contained piece of content, like a blog post.</a:t>
            </a:r>
          </a:p>
          <a:p>
            <a:pPr algn="just">
              <a:lnSpc>
                <a:spcPts val="2100"/>
              </a:lnSpc>
              <a:spcBef>
                <a:spcPts val="750"/>
              </a:spcBef>
              <a:spcAft>
                <a:spcPts val="600"/>
              </a:spcAft>
              <a:buFont typeface="Arial" panose="020B0604020202020204" pitchFamily="34" charset="0"/>
              <a:buChar char="•"/>
            </a:pPr>
            <a:r>
              <a:rPr lang="en-US" b="0" i="0" dirty="0">
                <a:solidFill>
                  <a:srgbClr val="3A3A3A"/>
                </a:solidFill>
                <a:effectLst/>
                <a:latin typeface="Roboto" panose="02000000000000000000" pitchFamily="2" charset="0"/>
              </a:rPr>
              <a:t>&lt;section&gt;: Groupings of related content.</a:t>
            </a:r>
          </a:p>
        </p:txBody>
      </p:sp>
    </p:spTree>
    <p:extLst>
      <p:ext uri="{BB962C8B-B14F-4D97-AF65-F5344CB8AC3E}">
        <p14:creationId xmlns:p14="http://schemas.microsoft.com/office/powerpoint/2010/main" val="115739366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34D29A-B4F1-7845-01A9-9FC7E064E3C6}"/>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254CB868-4369-1BD1-F58B-CAE1135D1525}"/>
              </a:ext>
            </a:extLst>
          </p:cNvPr>
          <p:cNvSpPr txBox="1"/>
          <p:nvPr/>
        </p:nvSpPr>
        <p:spPr>
          <a:xfrm>
            <a:off x="169459" y="0"/>
            <a:ext cx="9567081" cy="7440498"/>
          </a:xfrm>
          <a:prstGeom prst="rect">
            <a:avLst/>
          </a:prstGeom>
          <a:noFill/>
        </p:spPr>
        <p:txBody>
          <a:bodyPr wrap="square">
            <a:spAutoFit/>
          </a:bodyPr>
          <a:lstStyle/>
          <a:p>
            <a:pPr algn="l">
              <a:lnSpc>
                <a:spcPts val="2100"/>
              </a:lnSpc>
              <a:spcBef>
                <a:spcPts val="2400"/>
              </a:spcBef>
              <a:spcAft>
                <a:spcPts val="1800"/>
              </a:spcAft>
              <a:buNone/>
            </a:pPr>
            <a:r>
              <a:rPr lang="en-US" b="0" i="0" dirty="0">
                <a:solidFill>
                  <a:srgbClr val="272C37"/>
                </a:solidFill>
                <a:effectLst/>
                <a:latin typeface="Roboto" panose="02000000000000000000" pitchFamily="2" charset="0"/>
              </a:rPr>
              <a:t>5. What is a &lt;!DOCTYPE&gt; declaration?</a:t>
            </a:r>
          </a:p>
          <a:p>
            <a:pPr algn="just">
              <a:lnSpc>
                <a:spcPts val="2100"/>
              </a:lnSpc>
              <a:spcBef>
                <a:spcPts val="1650"/>
              </a:spcBef>
              <a:buNone/>
            </a:pPr>
            <a:r>
              <a:rPr lang="en-US" b="0" i="0" dirty="0">
                <a:solidFill>
                  <a:srgbClr val="3A3A3A"/>
                </a:solidFill>
                <a:effectLst/>
                <a:latin typeface="Roboto" panose="02000000000000000000" pitchFamily="2" charset="0"/>
              </a:rPr>
              <a:t>A &lt;DOCTYPE&gt; declaration is the very first thing in an HTML document. It specifies the HTML version in use on that webpage so that the browser will read the contents in the proper format.</a:t>
            </a:r>
          </a:p>
          <a:p>
            <a:pPr algn="l">
              <a:lnSpc>
                <a:spcPts val="2100"/>
              </a:lnSpc>
              <a:spcBef>
                <a:spcPts val="2400"/>
              </a:spcBef>
              <a:spcAft>
                <a:spcPts val="1800"/>
              </a:spcAft>
              <a:buNone/>
            </a:pPr>
            <a:r>
              <a:rPr lang="en-US" b="0" i="0" dirty="0">
                <a:solidFill>
                  <a:srgbClr val="272C37"/>
                </a:solidFill>
                <a:effectLst/>
                <a:latin typeface="Roboto" panose="02000000000000000000" pitchFamily="2" charset="0"/>
              </a:rPr>
              <a:t>6. What are attributes in HTML?</a:t>
            </a:r>
          </a:p>
          <a:p>
            <a:pPr algn="just">
              <a:lnSpc>
                <a:spcPts val="2100"/>
              </a:lnSpc>
              <a:spcBef>
                <a:spcPts val="1650"/>
              </a:spcBef>
              <a:buNone/>
            </a:pPr>
            <a:r>
              <a:rPr lang="en-US" b="0" i="0" dirty="0">
                <a:solidFill>
                  <a:srgbClr val="3A3A3A"/>
                </a:solidFill>
                <a:effectLst/>
                <a:latin typeface="Roboto" panose="02000000000000000000" pitchFamily="2" charset="0"/>
              </a:rPr>
              <a:t>Attributes provide information about an element. They are written inside the opening tag and define properties such as style and </a:t>
            </a:r>
            <a:r>
              <a:rPr lang="en-US" b="0" i="0" dirty="0" err="1">
                <a:solidFill>
                  <a:srgbClr val="3A3A3A"/>
                </a:solidFill>
                <a:effectLst/>
                <a:latin typeface="Roboto" panose="02000000000000000000" pitchFamily="2" charset="0"/>
              </a:rPr>
              <a:t>behaviour</a:t>
            </a:r>
            <a:r>
              <a:rPr lang="en-US" b="0" i="0" dirty="0">
                <a:solidFill>
                  <a:srgbClr val="3A3A3A"/>
                </a:solidFill>
                <a:effectLst/>
                <a:latin typeface="Roboto" panose="02000000000000000000" pitchFamily="2" charset="0"/>
              </a:rPr>
              <a:t>.</a:t>
            </a:r>
          </a:p>
          <a:p>
            <a:pPr algn="l">
              <a:lnSpc>
                <a:spcPts val="2100"/>
              </a:lnSpc>
              <a:spcBef>
                <a:spcPts val="2400"/>
              </a:spcBef>
              <a:spcAft>
                <a:spcPts val="1800"/>
              </a:spcAft>
              <a:buNone/>
            </a:pPr>
            <a:r>
              <a:rPr lang="en-US" b="0" i="0" dirty="0">
                <a:solidFill>
                  <a:srgbClr val="272C37"/>
                </a:solidFill>
                <a:effectLst/>
                <a:latin typeface="Roboto" panose="02000000000000000000" pitchFamily="2" charset="0"/>
              </a:rPr>
              <a:t>7. What is the ‘</a:t>
            </a:r>
            <a:r>
              <a:rPr lang="en-US" b="0" i="0" dirty="0" err="1">
                <a:solidFill>
                  <a:srgbClr val="272C37"/>
                </a:solidFill>
                <a:effectLst/>
                <a:latin typeface="Roboto" panose="02000000000000000000" pitchFamily="2" charset="0"/>
              </a:rPr>
              <a:t>class’</a:t>
            </a:r>
            <a:r>
              <a:rPr lang="en-US" b="0" i="0" dirty="0">
                <a:solidFill>
                  <a:srgbClr val="272C37"/>
                </a:solidFill>
                <a:effectLst/>
                <a:latin typeface="Roboto" panose="02000000000000000000" pitchFamily="2" charset="0"/>
              </a:rPr>
              <a:t> attribute in HTML?</a:t>
            </a:r>
          </a:p>
          <a:p>
            <a:pPr algn="just">
              <a:lnSpc>
                <a:spcPts val="2100"/>
              </a:lnSpc>
              <a:spcBef>
                <a:spcPts val="1650"/>
              </a:spcBef>
              <a:buNone/>
            </a:pPr>
            <a:r>
              <a:rPr lang="en-US" b="0" i="0" dirty="0">
                <a:solidFill>
                  <a:srgbClr val="3A3A3A"/>
                </a:solidFill>
                <a:effectLst/>
                <a:latin typeface="Roboto" panose="02000000000000000000" pitchFamily="2" charset="0"/>
              </a:rPr>
              <a:t>The class attribute in HTML is used to give a name to an element. This name can be used to apply the same style to many elements using CSS or to work with them in JavaScript.</a:t>
            </a:r>
          </a:p>
          <a:p>
            <a:pPr algn="l">
              <a:lnSpc>
                <a:spcPts val="2100"/>
              </a:lnSpc>
              <a:spcBef>
                <a:spcPts val="2400"/>
              </a:spcBef>
              <a:spcAft>
                <a:spcPts val="1800"/>
              </a:spcAft>
              <a:buNone/>
            </a:pPr>
            <a:r>
              <a:rPr lang="en-US" b="0" i="0" dirty="0">
                <a:solidFill>
                  <a:srgbClr val="272C37"/>
                </a:solidFill>
                <a:effectLst/>
                <a:latin typeface="Roboto" panose="02000000000000000000" pitchFamily="2" charset="0"/>
              </a:rPr>
              <a:t>8. What is the difference between the id and class attributes?</a:t>
            </a:r>
          </a:p>
          <a:p>
            <a:pPr algn="just">
              <a:lnSpc>
                <a:spcPts val="2100"/>
              </a:lnSpc>
              <a:spcBef>
                <a:spcPts val="1650"/>
              </a:spcBef>
              <a:spcAft>
                <a:spcPts val="600"/>
              </a:spcAft>
              <a:buFont typeface="Arial" panose="020B0604020202020204" pitchFamily="34" charset="0"/>
              <a:buChar char="•"/>
            </a:pPr>
            <a:r>
              <a:rPr lang="en-US" b="0" i="0" dirty="0">
                <a:solidFill>
                  <a:srgbClr val="3A3A3A"/>
                </a:solidFill>
                <a:effectLst/>
                <a:latin typeface="Roboto" panose="02000000000000000000" pitchFamily="2" charset="0"/>
              </a:rPr>
              <a:t>id: Used for one unique element on a page. Each id must be different.</a:t>
            </a:r>
            <a:br>
              <a:rPr lang="en-US" b="0" i="0" dirty="0">
                <a:solidFill>
                  <a:srgbClr val="3A3A3A"/>
                </a:solidFill>
                <a:effectLst/>
                <a:latin typeface="Roboto" panose="02000000000000000000" pitchFamily="2" charset="0"/>
              </a:rPr>
            </a:br>
            <a:r>
              <a:rPr lang="en-US" b="0" i="0" dirty="0">
                <a:solidFill>
                  <a:srgbClr val="3A3A3A"/>
                </a:solidFill>
                <a:effectLst/>
                <a:latin typeface="Roboto" panose="02000000000000000000" pitchFamily="2" charset="0"/>
              </a:rPr>
              <a:t>Example: &lt;div id=”header”&gt;</a:t>
            </a:r>
          </a:p>
          <a:p>
            <a:pPr algn="just">
              <a:lnSpc>
                <a:spcPts val="2100"/>
              </a:lnSpc>
              <a:spcBef>
                <a:spcPts val="1650"/>
              </a:spcBef>
              <a:spcAft>
                <a:spcPts val="600"/>
              </a:spcAft>
              <a:buFont typeface="Arial" panose="020B0604020202020204" pitchFamily="34" charset="0"/>
              <a:buChar char="•"/>
            </a:pPr>
            <a:r>
              <a:rPr lang="en-US" b="0" i="0" dirty="0">
                <a:solidFill>
                  <a:srgbClr val="3A3A3A"/>
                </a:solidFill>
                <a:effectLst/>
                <a:latin typeface="Roboto" panose="02000000000000000000" pitchFamily="2" charset="0"/>
              </a:rPr>
              <a:t>class: Can be used for multiple elements. It’s for grouping elements with similar styles.</a:t>
            </a:r>
          </a:p>
          <a:p>
            <a:pPr algn="just">
              <a:lnSpc>
                <a:spcPts val="2100"/>
              </a:lnSpc>
              <a:spcBef>
                <a:spcPts val="1650"/>
              </a:spcBef>
              <a:buNone/>
            </a:pPr>
            <a:r>
              <a:rPr lang="en-US" b="0" i="0" dirty="0">
                <a:solidFill>
                  <a:srgbClr val="3A3A3A"/>
                </a:solidFill>
                <a:effectLst/>
                <a:latin typeface="Roboto" panose="02000000000000000000" pitchFamily="2" charset="0"/>
              </a:rPr>
              <a:t>Example: &lt;div class=”box”&gt;</a:t>
            </a:r>
          </a:p>
        </p:txBody>
      </p:sp>
    </p:spTree>
    <p:extLst>
      <p:ext uri="{BB962C8B-B14F-4D97-AF65-F5344CB8AC3E}">
        <p14:creationId xmlns:p14="http://schemas.microsoft.com/office/powerpoint/2010/main" val="300373782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9FD1ED-AE24-6A7F-06AD-E8D52398C31C}"/>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372867B4-E3DC-85ED-8906-170208FE665C}"/>
              </a:ext>
            </a:extLst>
          </p:cNvPr>
          <p:cNvSpPr txBox="1"/>
          <p:nvPr/>
        </p:nvSpPr>
        <p:spPr>
          <a:xfrm>
            <a:off x="382138" y="160958"/>
            <a:ext cx="8843749" cy="6299160"/>
          </a:xfrm>
          <a:prstGeom prst="rect">
            <a:avLst/>
          </a:prstGeom>
          <a:noFill/>
        </p:spPr>
        <p:txBody>
          <a:bodyPr wrap="square">
            <a:spAutoFit/>
          </a:bodyPr>
          <a:lstStyle/>
          <a:p>
            <a:pPr algn="l">
              <a:lnSpc>
                <a:spcPts val="2100"/>
              </a:lnSpc>
              <a:spcBef>
                <a:spcPts val="2400"/>
              </a:spcBef>
              <a:spcAft>
                <a:spcPts val="1800"/>
              </a:spcAft>
              <a:buNone/>
            </a:pPr>
            <a:r>
              <a:rPr lang="en-US" b="0" i="0" dirty="0">
                <a:solidFill>
                  <a:srgbClr val="272C37"/>
                </a:solidFill>
                <a:effectLst/>
                <a:latin typeface="Roboto" panose="02000000000000000000" pitchFamily="2" charset="0"/>
              </a:rPr>
              <a:t>9. What is the &lt;a&gt; tag in HTML?</a:t>
            </a:r>
          </a:p>
          <a:p>
            <a:pPr algn="just">
              <a:lnSpc>
                <a:spcPts val="2100"/>
              </a:lnSpc>
              <a:spcBef>
                <a:spcPts val="1650"/>
              </a:spcBef>
              <a:buNone/>
            </a:pPr>
            <a:r>
              <a:rPr lang="en-US" b="0" i="0" dirty="0">
                <a:solidFill>
                  <a:srgbClr val="3A3A3A"/>
                </a:solidFill>
                <a:effectLst/>
                <a:latin typeface="Roboto" panose="02000000000000000000" pitchFamily="2" charset="0"/>
              </a:rPr>
              <a:t>The use of the ⁣&lt;a&gt; tag is to create hyperlinks. As such, it can link to other pages, websites, or resources. An </a:t>
            </a:r>
            <a:r>
              <a:rPr lang="en-US" b="0" i="0" dirty="0" err="1">
                <a:solidFill>
                  <a:srgbClr val="3A3A3A"/>
                </a:solidFill>
                <a:effectLst/>
                <a:latin typeface="Roboto" panose="02000000000000000000" pitchFamily="2" charset="0"/>
              </a:rPr>
              <a:t>href</a:t>
            </a:r>
            <a:r>
              <a:rPr lang="en-US" b="0" i="0" dirty="0">
                <a:solidFill>
                  <a:srgbClr val="3A3A3A"/>
                </a:solidFill>
                <a:effectLst/>
                <a:latin typeface="Roboto" panose="02000000000000000000" pitchFamily="2" charset="0"/>
              </a:rPr>
              <a:t> attribute describes the target address of the link.</a:t>
            </a:r>
          </a:p>
          <a:p>
            <a:pPr algn="just">
              <a:lnSpc>
                <a:spcPts val="2100"/>
              </a:lnSpc>
              <a:spcBef>
                <a:spcPts val="750"/>
              </a:spcBef>
              <a:buNone/>
            </a:pPr>
            <a:r>
              <a:rPr lang="en-US" b="0" i="0" dirty="0">
                <a:solidFill>
                  <a:srgbClr val="3A3A3A"/>
                </a:solidFill>
                <a:effectLst/>
                <a:latin typeface="Roboto" panose="02000000000000000000" pitchFamily="2" charset="0"/>
              </a:rPr>
              <a:t>Eg: &lt;a </a:t>
            </a:r>
            <a:r>
              <a:rPr lang="en-US" b="0" i="0" dirty="0" err="1">
                <a:solidFill>
                  <a:srgbClr val="3A3A3A"/>
                </a:solidFill>
                <a:effectLst/>
                <a:latin typeface="Roboto" panose="02000000000000000000" pitchFamily="2" charset="0"/>
              </a:rPr>
              <a:t>href</a:t>
            </a:r>
            <a:r>
              <a:rPr lang="en-US" b="0" i="0" dirty="0">
                <a:solidFill>
                  <a:srgbClr val="3A3A3A"/>
                </a:solidFill>
                <a:effectLst/>
                <a:latin typeface="Roboto" panose="02000000000000000000" pitchFamily="2" charset="0"/>
              </a:rPr>
              <a:t>=”https://www.intellipaat.com”&gt;Click here&lt;/a&gt;</a:t>
            </a:r>
          </a:p>
          <a:p>
            <a:pPr algn="l">
              <a:lnSpc>
                <a:spcPts val="2100"/>
              </a:lnSpc>
              <a:spcBef>
                <a:spcPts val="2400"/>
              </a:spcBef>
              <a:spcAft>
                <a:spcPts val="1800"/>
              </a:spcAft>
              <a:buNone/>
            </a:pPr>
            <a:r>
              <a:rPr lang="en-US" b="0" i="0" dirty="0">
                <a:solidFill>
                  <a:srgbClr val="272C37"/>
                </a:solidFill>
                <a:effectLst/>
                <a:latin typeface="Roboto" panose="02000000000000000000" pitchFamily="2" charset="0"/>
              </a:rPr>
              <a:t>10. Define types of lists in HTML.</a:t>
            </a:r>
          </a:p>
          <a:p>
            <a:pPr algn="just">
              <a:lnSpc>
                <a:spcPts val="2100"/>
              </a:lnSpc>
              <a:spcBef>
                <a:spcPts val="1650"/>
              </a:spcBef>
              <a:buNone/>
            </a:pPr>
            <a:r>
              <a:rPr lang="en-US" b="0" i="0" dirty="0">
                <a:solidFill>
                  <a:srgbClr val="3A3A3A"/>
                </a:solidFill>
                <a:effectLst/>
                <a:latin typeface="Roboto" panose="02000000000000000000" pitchFamily="2" charset="0"/>
              </a:rPr>
              <a:t>There are 3 types of </a:t>
            </a:r>
            <a:r>
              <a:rPr lang="en-US" b="0" i="0" u="none" strike="noStrike" dirty="0">
                <a:solidFill>
                  <a:srgbClr val="0F5A9E"/>
                </a:solidFill>
                <a:effectLst/>
                <a:latin typeface="Roboto" panose="02000000000000000000" pitchFamily="2" charset="0"/>
                <a:hlinkClick r:id="rId2"/>
              </a:rPr>
              <a:t>lists in HTML</a:t>
            </a:r>
            <a:r>
              <a:rPr lang="en-US" b="0" i="0" dirty="0">
                <a:solidFill>
                  <a:srgbClr val="3A3A3A"/>
                </a:solidFill>
                <a:effectLst/>
                <a:latin typeface="Roboto" panose="02000000000000000000" pitchFamily="2" charset="0"/>
              </a:rPr>
              <a:t>:</a:t>
            </a:r>
          </a:p>
          <a:p>
            <a:pPr algn="just">
              <a:lnSpc>
                <a:spcPts val="2100"/>
              </a:lnSpc>
              <a:spcBef>
                <a:spcPts val="750"/>
              </a:spcBef>
              <a:spcAft>
                <a:spcPts val="600"/>
              </a:spcAft>
              <a:buFont typeface="Arial" panose="020B0604020202020204" pitchFamily="34" charset="0"/>
              <a:buChar char="•"/>
            </a:pPr>
            <a:r>
              <a:rPr lang="en-US" b="0" i="0" dirty="0">
                <a:solidFill>
                  <a:srgbClr val="3A3A3A"/>
                </a:solidFill>
                <a:effectLst/>
                <a:latin typeface="Roboto" panose="02000000000000000000" pitchFamily="2" charset="0"/>
              </a:rPr>
              <a:t>&lt;</a:t>
            </a:r>
            <a:r>
              <a:rPr lang="en-US" b="0" i="0" dirty="0" err="1">
                <a:solidFill>
                  <a:srgbClr val="3A3A3A"/>
                </a:solidFill>
                <a:effectLst/>
                <a:latin typeface="Roboto" panose="02000000000000000000" pitchFamily="2" charset="0"/>
              </a:rPr>
              <a:t>ol</a:t>
            </a:r>
            <a:r>
              <a:rPr lang="en-US" b="0" i="0" dirty="0">
                <a:solidFill>
                  <a:srgbClr val="3A3A3A"/>
                </a:solidFill>
                <a:effectLst/>
                <a:latin typeface="Roboto" panose="02000000000000000000" pitchFamily="2" charset="0"/>
              </a:rPr>
              <a:t>&gt; (Ordered List): Items of a list which are enumerated or ordered.</a:t>
            </a:r>
          </a:p>
          <a:p>
            <a:pPr algn="just">
              <a:lnSpc>
                <a:spcPts val="2100"/>
              </a:lnSpc>
              <a:spcBef>
                <a:spcPts val="750"/>
              </a:spcBef>
              <a:spcAft>
                <a:spcPts val="600"/>
              </a:spcAft>
              <a:buFont typeface="Arial" panose="020B0604020202020204" pitchFamily="34" charset="0"/>
              <a:buChar char="•"/>
            </a:pPr>
            <a:r>
              <a:rPr lang="en-US" b="0" i="0" dirty="0">
                <a:solidFill>
                  <a:srgbClr val="3A3A3A"/>
                </a:solidFill>
                <a:effectLst/>
                <a:latin typeface="Roboto" panose="02000000000000000000" pitchFamily="2" charset="0"/>
              </a:rPr>
              <a:t>&lt;ul&gt; (Unordered List): Items of a list are denoted with a marker or bullet points.</a:t>
            </a:r>
          </a:p>
          <a:p>
            <a:pPr algn="just">
              <a:lnSpc>
                <a:spcPts val="2100"/>
              </a:lnSpc>
              <a:spcBef>
                <a:spcPts val="750"/>
              </a:spcBef>
              <a:spcAft>
                <a:spcPts val="600"/>
              </a:spcAft>
              <a:buFont typeface="Arial" panose="020B0604020202020204" pitchFamily="34" charset="0"/>
              <a:buChar char="•"/>
            </a:pPr>
            <a:r>
              <a:rPr lang="en-US" b="0" i="0" dirty="0">
                <a:solidFill>
                  <a:srgbClr val="3A3A3A"/>
                </a:solidFill>
                <a:effectLst/>
                <a:latin typeface="Roboto" panose="02000000000000000000" pitchFamily="2" charset="0"/>
              </a:rPr>
              <a:t>&lt;dl&gt; (Description List): Items in a list with a term and the respective description.</a:t>
            </a:r>
          </a:p>
          <a:p>
            <a:pPr algn="l">
              <a:lnSpc>
                <a:spcPts val="2100"/>
              </a:lnSpc>
              <a:spcBef>
                <a:spcPts val="2400"/>
              </a:spcBef>
              <a:spcAft>
                <a:spcPts val="1800"/>
              </a:spcAft>
              <a:buNone/>
            </a:pPr>
            <a:r>
              <a:rPr lang="en-US" b="0" i="0" dirty="0">
                <a:solidFill>
                  <a:srgbClr val="272C37"/>
                </a:solidFill>
                <a:effectLst/>
                <a:latin typeface="Roboto" panose="02000000000000000000" pitchFamily="2" charset="0"/>
              </a:rPr>
              <a:t>11. What is a marquee in HTML?</a:t>
            </a:r>
          </a:p>
          <a:p>
            <a:pPr algn="just">
              <a:lnSpc>
                <a:spcPts val="2100"/>
              </a:lnSpc>
              <a:spcBef>
                <a:spcPts val="1650"/>
              </a:spcBef>
              <a:buNone/>
            </a:pPr>
            <a:r>
              <a:rPr lang="en-US" b="0" i="0" dirty="0">
                <a:solidFill>
                  <a:srgbClr val="3A3A3A"/>
                </a:solidFill>
                <a:effectLst/>
                <a:latin typeface="Roboto" panose="02000000000000000000" pitchFamily="2" charset="0"/>
              </a:rPr>
              <a:t>A marquee in HTML is used to make text or images move (scroll) across the screen automatically.</a:t>
            </a:r>
          </a:p>
          <a:p>
            <a:pPr algn="just">
              <a:lnSpc>
                <a:spcPts val="2100"/>
              </a:lnSpc>
              <a:spcBef>
                <a:spcPts val="750"/>
              </a:spcBef>
              <a:buNone/>
            </a:pPr>
            <a:r>
              <a:rPr lang="en-US" b="0" i="0" dirty="0">
                <a:solidFill>
                  <a:srgbClr val="3A3A3A"/>
                </a:solidFill>
                <a:effectLst/>
                <a:latin typeface="Roboto" panose="02000000000000000000" pitchFamily="2" charset="0"/>
              </a:rPr>
              <a:t>It is created using the </a:t>
            </a:r>
            <a:r>
              <a:rPr lang="en-US" b="0" i="0" u="none" strike="noStrike" dirty="0">
                <a:solidFill>
                  <a:srgbClr val="0F5A9E"/>
                </a:solidFill>
                <a:effectLst/>
                <a:latin typeface="Roboto" panose="02000000000000000000" pitchFamily="2" charset="0"/>
                <a:hlinkClick r:id="rId3"/>
              </a:rPr>
              <a:t>&lt;marquee&gt;</a:t>
            </a:r>
            <a:r>
              <a:rPr lang="en-US" b="0" i="0" dirty="0">
                <a:solidFill>
                  <a:srgbClr val="3A3A3A"/>
                </a:solidFill>
                <a:effectLst/>
                <a:latin typeface="Roboto" panose="02000000000000000000" pitchFamily="2" charset="0"/>
              </a:rPr>
              <a:t> tag.</a:t>
            </a:r>
          </a:p>
        </p:txBody>
      </p:sp>
    </p:spTree>
    <p:extLst>
      <p:ext uri="{BB962C8B-B14F-4D97-AF65-F5344CB8AC3E}">
        <p14:creationId xmlns:p14="http://schemas.microsoft.com/office/powerpoint/2010/main" val="325845770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77EBBE-70C4-1F8D-8A27-CED0ABFBD1C8}"/>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84635620-31E8-A113-ED32-FAC2A00FD34E}"/>
              </a:ext>
            </a:extLst>
          </p:cNvPr>
          <p:cNvSpPr txBox="1"/>
          <p:nvPr/>
        </p:nvSpPr>
        <p:spPr>
          <a:xfrm>
            <a:off x="191068" y="210728"/>
            <a:ext cx="9225887" cy="9456435"/>
          </a:xfrm>
          <a:prstGeom prst="rect">
            <a:avLst/>
          </a:prstGeom>
          <a:noFill/>
        </p:spPr>
        <p:txBody>
          <a:bodyPr wrap="square">
            <a:spAutoFit/>
          </a:bodyPr>
          <a:lstStyle/>
          <a:p>
            <a:pPr algn="l">
              <a:lnSpc>
                <a:spcPts val="2100"/>
              </a:lnSpc>
              <a:spcBef>
                <a:spcPts val="2400"/>
              </a:spcBef>
              <a:spcAft>
                <a:spcPts val="1800"/>
              </a:spcAft>
              <a:buNone/>
            </a:pPr>
            <a:r>
              <a:rPr lang="en-US" b="0" i="0" dirty="0">
                <a:solidFill>
                  <a:srgbClr val="272C37"/>
                </a:solidFill>
                <a:effectLst/>
                <a:latin typeface="Roboto" panose="02000000000000000000" pitchFamily="2" charset="0"/>
              </a:rPr>
              <a:t>12. How do you separate a section of text in HTML?</a:t>
            </a:r>
          </a:p>
          <a:p>
            <a:pPr algn="just">
              <a:lnSpc>
                <a:spcPts val="2100"/>
              </a:lnSpc>
              <a:spcBef>
                <a:spcPts val="1650"/>
              </a:spcBef>
              <a:buNone/>
            </a:pPr>
            <a:r>
              <a:rPr lang="en-US" b="0" i="0" dirty="0">
                <a:solidFill>
                  <a:srgbClr val="3A3A3A"/>
                </a:solidFill>
                <a:effectLst/>
                <a:latin typeface="Roboto" panose="02000000000000000000" pitchFamily="2" charset="0"/>
              </a:rPr>
              <a:t>You can separate a section of text in HTML using the &lt;div&gt;, &lt;p&gt;, or heading tags like &lt;h1&gt; to &lt;h6&gt;.</a:t>
            </a:r>
          </a:p>
          <a:p>
            <a:pPr algn="l">
              <a:lnSpc>
                <a:spcPts val="2100"/>
              </a:lnSpc>
              <a:spcBef>
                <a:spcPts val="2400"/>
              </a:spcBef>
              <a:spcAft>
                <a:spcPts val="1800"/>
              </a:spcAft>
              <a:buNone/>
            </a:pPr>
            <a:r>
              <a:rPr lang="en-US" b="0" i="0" dirty="0">
                <a:solidFill>
                  <a:srgbClr val="272C37"/>
                </a:solidFill>
                <a:effectLst/>
                <a:latin typeface="Roboto" panose="02000000000000000000" pitchFamily="2" charset="0"/>
              </a:rPr>
              <a:t>13. How do you align list items in an HTML file?</a:t>
            </a:r>
          </a:p>
          <a:p>
            <a:pPr algn="just">
              <a:lnSpc>
                <a:spcPts val="2100"/>
              </a:lnSpc>
              <a:spcBef>
                <a:spcPts val="1650"/>
              </a:spcBef>
              <a:buNone/>
            </a:pPr>
            <a:r>
              <a:rPr lang="en-US" b="0" i="0" dirty="0">
                <a:solidFill>
                  <a:srgbClr val="3A3A3A"/>
                </a:solidFill>
                <a:effectLst/>
                <a:latin typeface="Roboto" panose="02000000000000000000" pitchFamily="2" charset="0"/>
              </a:rPr>
              <a:t>You can align list items in an HTML file using CSS.</a:t>
            </a:r>
          </a:p>
          <a:p>
            <a:pPr algn="just">
              <a:lnSpc>
                <a:spcPts val="2100"/>
              </a:lnSpc>
              <a:spcBef>
                <a:spcPts val="750"/>
              </a:spcBef>
              <a:buNone/>
            </a:pPr>
            <a:r>
              <a:rPr lang="en-US" b="0" i="0" dirty="0">
                <a:solidFill>
                  <a:srgbClr val="3A3A3A"/>
                </a:solidFill>
                <a:effectLst/>
                <a:latin typeface="Roboto" panose="02000000000000000000" pitchFamily="2" charset="0"/>
              </a:rPr>
              <a:t>Example – center align elements</a:t>
            </a:r>
          </a:p>
          <a:p>
            <a:pPr algn="just">
              <a:lnSpc>
                <a:spcPts val="2100"/>
              </a:lnSpc>
              <a:spcBef>
                <a:spcPts val="750"/>
              </a:spcBef>
              <a:buNone/>
            </a:pPr>
            <a:r>
              <a:rPr lang="en-US" b="0" i="0" dirty="0">
                <a:solidFill>
                  <a:srgbClr val="3A3A3A"/>
                </a:solidFill>
                <a:effectLst/>
                <a:latin typeface="Roboto" panose="02000000000000000000" pitchFamily="2" charset="0"/>
              </a:rPr>
              <a:t>HTML:</a:t>
            </a:r>
          </a:p>
          <a:p>
            <a:pPr algn="l">
              <a:spcBef>
                <a:spcPts val="1125"/>
              </a:spcBef>
              <a:spcAft>
                <a:spcPts val="375"/>
              </a:spcAft>
              <a:buNone/>
            </a:pPr>
            <a:r>
              <a:rPr lang="en-US" b="0" i="0" dirty="0">
                <a:solidFill>
                  <a:srgbClr val="212529"/>
                </a:solidFill>
                <a:effectLst/>
                <a:latin typeface="Courier New" panose="02070309020205020404" pitchFamily="49" charset="0"/>
              </a:rPr>
              <a:t>&lt;ul class="course"&gt;</a:t>
            </a:r>
          </a:p>
          <a:p>
            <a:pPr algn="l">
              <a:spcBef>
                <a:spcPts val="1125"/>
              </a:spcBef>
              <a:spcAft>
                <a:spcPts val="375"/>
              </a:spcAft>
              <a:buNone/>
            </a:pPr>
            <a:endParaRPr lang="en-US" b="0" i="0" dirty="0">
              <a:solidFill>
                <a:srgbClr val="212529"/>
              </a:solidFill>
              <a:effectLst/>
              <a:latin typeface="Courier New" panose="02070309020205020404" pitchFamily="49" charset="0"/>
            </a:endParaRPr>
          </a:p>
          <a:p>
            <a:pPr algn="l">
              <a:spcBef>
                <a:spcPts val="1125"/>
              </a:spcBef>
              <a:spcAft>
                <a:spcPts val="375"/>
              </a:spcAft>
              <a:buNone/>
            </a:pPr>
            <a:r>
              <a:rPr lang="en-US" b="0" i="0" dirty="0">
                <a:solidFill>
                  <a:srgbClr val="212529"/>
                </a:solidFill>
                <a:effectLst/>
                <a:latin typeface="Courier New" panose="02070309020205020404" pitchFamily="49" charset="0"/>
              </a:rPr>
              <a:t>  &lt;li&gt;HTML&lt;/li&gt;</a:t>
            </a:r>
          </a:p>
          <a:p>
            <a:pPr algn="l">
              <a:spcBef>
                <a:spcPts val="1125"/>
              </a:spcBef>
              <a:spcAft>
                <a:spcPts val="375"/>
              </a:spcAft>
              <a:buNone/>
            </a:pPr>
            <a:endParaRPr lang="en-US" b="0" i="0" dirty="0">
              <a:solidFill>
                <a:srgbClr val="212529"/>
              </a:solidFill>
              <a:effectLst/>
              <a:latin typeface="Courier New" panose="02070309020205020404" pitchFamily="49" charset="0"/>
            </a:endParaRPr>
          </a:p>
          <a:p>
            <a:pPr algn="l">
              <a:spcBef>
                <a:spcPts val="1125"/>
              </a:spcBef>
              <a:spcAft>
                <a:spcPts val="375"/>
              </a:spcAft>
              <a:buNone/>
            </a:pPr>
            <a:r>
              <a:rPr lang="en-US" b="0" i="0" dirty="0">
                <a:solidFill>
                  <a:srgbClr val="212529"/>
                </a:solidFill>
                <a:effectLst/>
                <a:latin typeface="Courier New" panose="02070309020205020404" pitchFamily="49" charset="0"/>
              </a:rPr>
              <a:t>  &lt;li&gt;CSS&lt;/li&gt;</a:t>
            </a:r>
          </a:p>
          <a:p>
            <a:pPr algn="l">
              <a:spcBef>
                <a:spcPts val="1125"/>
              </a:spcBef>
              <a:spcAft>
                <a:spcPts val="375"/>
              </a:spcAft>
              <a:buNone/>
            </a:pPr>
            <a:endParaRPr lang="en-US" b="0" i="0" dirty="0">
              <a:solidFill>
                <a:srgbClr val="212529"/>
              </a:solidFill>
              <a:effectLst/>
              <a:latin typeface="Courier New" panose="02070309020205020404" pitchFamily="49" charset="0"/>
            </a:endParaRPr>
          </a:p>
          <a:p>
            <a:pPr algn="l">
              <a:spcBef>
                <a:spcPts val="1125"/>
              </a:spcBef>
              <a:spcAft>
                <a:spcPts val="375"/>
              </a:spcAft>
              <a:buNone/>
            </a:pPr>
            <a:r>
              <a:rPr lang="en-US" b="0" i="0" dirty="0">
                <a:solidFill>
                  <a:srgbClr val="212529"/>
                </a:solidFill>
                <a:effectLst/>
                <a:latin typeface="Courier New" panose="02070309020205020404" pitchFamily="49" charset="0"/>
              </a:rPr>
              <a:t>&lt;/ul&gt;</a:t>
            </a:r>
          </a:p>
          <a:p>
            <a:pPr algn="just">
              <a:lnSpc>
                <a:spcPts val="2100"/>
              </a:lnSpc>
              <a:spcBef>
                <a:spcPts val="1650"/>
              </a:spcBef>
              <a:buNone/>
            </a:pPr>
            <a:r>
              <a:rPr lang="en-US" b="0" i="0" dirty="0">
                <a:solidFill>
                  <a:srgbClr val="3A3A3A"/>
                </a:solidFill>
                <a:effectLst/>
                <a:latin typeface="Roboto" panose="02000000000000000000" pitchFamily="2" charset="0"/>
              </a:rPr>
              <a:t>CSS:</a:t>
            </a:r>
          </a:p>
          <a:p>
            <a:pPr algn="l">
              <a:spcBef>
                <a:spcPts val="1125"/>
              </a:spcBef>
              <a:spcAft>
                <a:spcPts val="375"/>
              </a:spcAft>
              <a:buNone/>
            </a:pPr>
            <a:r>
              <a:rPr lang="en-US" b="0" i="0" dirty="0">
                <a:solidFill>
                  <a:srgbClr val="212529"/>
                </a:solidFill>
                <a:effectLst/>
                <a:latin typeface="Courier New" panose="02070309020205020404" pitchFamily="49" charset="0"/>
              </a:rPr>
              <a:t>.course {</a:t>
            </a:r>
          </a:p>
          <a:p>
            <a:pPr algn="l">
              <a:spcBef>
                <a:spcPts val="1125"/>
              </a:spcBef>
              <a:spcAft>
                <a:spcPts val="375"/>
              </a:spcAft>
              <a:buNone/>
            </a:pPr>
            <a:endParaRPr lang="en-US" b="0" i="0" dirty="0">
              <a:solidFill>
                <a:srgbClr val="212529"/>
              </a:solidFill>
              <a:effectLst/>
              <a:latin typeface="Courier New" panose="02070309020205020404" pitchFamily="49" charset="0"/>
            </a:endParaRPr>
          </a:p>
          <a:p>
            <a:pPr algn="l">
              <a:spcBef>
                <a:spcPts val="1125"/>
              </a:spcBef>
              <a:spcAft>
                <a:spcPts val="375"/>
              </a:spcAft>
              <a:buNone/>
            </a:pPr>
            <a:r>
              <a:rPr lang="en-US" b="0" i="0" dirty="0">
                <a:solidFill>
                  <a:srgbClr val="212529"/>
                </a:solidFill>
                <a:effectLst/>
                <a:latin typeface="Courier New" panose="02070309020205020404" pitchFamily="49" charset="0"/>
              </a:rPr>
              <a:t>  text-align: center; /* or left, right */</a:t>
            </a:r>
          </a:p>
          <a:p>
            <a:pPr algn="l">
              <a:spcBef>
                <a:spcPts val="1125"/>
              </a:spcBef>
              <a:spcAft>
                <a:spcPts val="375"/>
              </a:spcAft>
              <a:buNone/>
            </a:pPr>
            <a:endParaRPr lang="en-US" b="0" i="0" dirty="0">
              <a:solidFill>
                <a:srgbClr val="212529"/>
              </a:solidFill>
              <a:effectLst/>
              <a:latin typeface="Courier New" panose="02070309020205020404" pitchFamily="49" charset="0"/>
            </a:endParaRPr>
          </a:p>
          <a:p>
            <a:pPr algn="l">
              <a:spcBef>
                <a:spcPts val="1125"/>
              </a:spcBef>
              <a:spcAft>
                <a:spcPts val="375"/>
              </a:spcAft>
              <a:buNone/>
            </a:pPr>
            <a:r>
              <a:rPr lang="en-US" b="0" i="0" dirty="0">
                <a:solidFill>
                  <a:srgbClr val="212529"/>
                </a:solidFill>
                <a:effectLst/>
                <a:latin typeface="Courier New" panose="02070309020205020404" pitchFamily="49" charset="0"/>
              </a:rPr>
              <a:t>}</a:t>
            </a:r>
          </a:p>
        </p:txBody>
      </p:sp>
    </p:spTree>
    <p:extLst>
      <p:ext uri="{BB962C8B-B14F-4D97-AF65-F5344CB8AC3E}">
        <p14:creationId xmlns:p14="http://schemas.microsoft.com/office/powerpoint/2010/main" val="292836560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ADA10F-2D85-0FDB-FDC3-AC4C4EFA2012}"/>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5477DA6C-3BA8-91B9-E6A5-D8A2ACC48234}"/>
              </a:ext>
            </a:extLst>
          </p:cNvPr>
          <p:cNvSpPr txBox="1"/>
          <p:nvPr/>
        </p:nvSpPr>
        <p:spPr>
          <a:xfrm>
            <a:off x="320723" y="346445"/>
            <a:ext cx="4954136" cy="630942"/>
          </a:xfrm>
          <a:prstGeom prst="rect">
            <a:avLst/>
          </a:prstGeom>
          <a:noFill/>
        </p:spPr>
        <p:txBody>
          <a:bodyPr wrap="square">
            <a:spAutoFit/>
          </a:bodyPr>
          <a:lstStyle/>
          <a:p>
            <a:pPr algn="l">
              <a:lnSpc>
                <a:spcPts val="2100"/>
              </a:lnSpc>
              <a:spcBef>
                <a:spcPts val="2400"/>
              </a:spcBef>
              <a:spcAft>
                <a:spcPts val="1800"/>
              </a:spcAft>
              <a:buNone/>
            </a:pPr>
            <a:r>
              <a:rPr lang="en-US" b="0" i="0" dirty="0">
                <a:solidFill>
                  <a:srgbClr val="272C37"/>
                </a:solidFill>
                <a:effectLst/>
                <a:latin typeface="Roboto" panose="02000000000000000000" pitchFamily="2" charset="0"/>
              </a:rPr>
              <a:t>14. Difference between an ordered list and an unordered list.</a:t>
            </a:r>
          </a:p>
        </p:txBody>
      </p:sp>
      <p:graphicFrame>
        <p:nvGraphicFramePr>
          <p:cNvPr id="4" name="Table 3">
            <a:extLst>
              <a:ext uri="{FF2B5EF4-FFF2-40B4-BE49-F238E27FC236}">
                <a16:creationId xmlns:a16="http://schemas.microsoft.com/office/drawing/2014/main" id="{0909240D-3585-B9BD-669F-9999B5BBDB8D}"/>
              </a:ext>
            </a:extLst>
          </p:cNvPr>
          <p:cNvGraphicFramePr>
            <a:graphicFrameLocks noGrp="1"/>
          </p:cNvGraphicFramePr>
          <p:nvPr/>
        </p:nvGraphicFramePr>
        <p:xfrm>
          <a:off x="681038" y="2873534"/>
          <a:ext cx="8543925" cy="2255520"/>
        </p:xfrm>
        <a:graphic>
          <a:graphicData uri="http://schemas.openxmlformats.org/drawingml/2006/table">
            <a:tbl>
              <a:tblPr/>
              <a:tblGrid>
                <a:gridCol w="2847975">
                  <a:extLst>
                    <a:ext uri="{9D8B030D-6E8A-4147-A177-3AD203B41FA5}">
                      <a16:colId xmlns:a16="http://schemas.microsoft.com/office/drawing/2014/main" val="3581805750"/>
                    </a:ext>
                  </a:extLst>
                </a:gridCol>
                <a:gridCol w="2847975">
                  <a:extLst>
                    <a:ext uri="{9D8B030D-6E8A-4147-A177-3AD203B41FA5}">
                      <a16:colId xmlns:a16="http://schemas.microsoft.com/office/drawing/2014/main" val="816131051"/>
                    </a:ext>
                  </a:extLst>
                </a:gridCol>
                <a:gridCol w="2847975">
                  <a:extLst>
                    <a:ext uri="{9D8B030D-6E8A-4147-A177-3AD203B41FA5}">
                      <a16:colId xmlns:a16="http://schemas.microsoft.com/office/drawing/2014/main" val="3245206868"/>
                    </a:ext>
                  </a:extLst>
                </a:gridCol>
              </a:tblGrid>
              <a:tr h="0">
                <a:tc>
                  <a:txBody>
                    <a:bodyPr/>
                    <a:lstStyle/>
                    <a:p>
                      <a:pPr algn="ctr" fontAlgn="t">
                        <a:buNone/>
                      </a:pPr>
                      <a:r>
                        <a:rPr lang="en-US" b="1">
                          <a:solidFill>
                            <a:srgbClr val="FFFFFF"/>
                          </a:solidFill>
                          <a:effectLst/>
                        </a:rPr>
                        <a:t>Feature</a:t>
                      </a:r>
                    </a:p>
                  </a:txBody>
                  <a:tcPr marL="76200" marR="76200" marT="76200" marB="76200">
                    <a:lnL w="7620" cap="flat" cmpd="sng" algn="ctr">
                      <a:solidFill>
                        <a:srgbClr val="000000"/>
                      </a:solidFill>
                      <a:prstDash val="solid"/>
                      <a:round/>
                      <a:headEnd type="none" w="med" len="med"/>
                      <a:tailEnd type="none" w="med" len="med"/>
                    </a:lnL>
                    <a:lnR w="7620" cap="flat" cmpd="sng" algn="ctr">
                      <a:solidFill>
                        <a:srgbClr val="000000"/>
                      </a:solidFill>
                      <a:prstDash val="solid"/>
                      <a:round/>
                      <a:headEnd type="none" w="med" len="med"/>
                      <a:tailEnd type="none" w="med" len="med"/>
                    </a:lnR>
                    <a:lnT w="7620" cap="flat" cmpd="sng" algn="ctr">
                      <a:solidFill>
                        <a:srgbClr val="000000"/>
                      </a:solidFill>
                      <a:prstDash val="solid"/>
                      <a:round/>
                      <a:headEnd type="none" w="med" len="med"/>
                      <a:tailEnd type="none" w="med" len="med"/>
                    </a:lnT>
                    <a:lnB w="7620" cap="flat" cmpd="sng" algn="ctr">
                      <a:solidFill>
                        <a:srgbClr val="000000"/>
                      </a:solidFill>
                      <a:prstDash val="solid"/>
                      <a:round/>
                      <a:headEnd type="none" w="med" len="med"/>
                      <a:tailEnd type="none" w="med" len="med"/>
                    </a:lnB>
                    <a:solidFill>
                      <a:srgbClr val="008DD9"/>
                    </a:solidFill>
                  </a:tcPr>
                </a:tc>
                <a:tc>
                  <a:txBody>
                    <a:bodyPr/>
                    <a:lstStyle/>
                    <a:p>
                      <a:pPr algn="ctr" fontAlgn="t">
                        <a:buNone/>
                      </a:pPr>
                      <a:r>
                        <a:rPr lang="en-US" b="1">
                          <a:solidFill>
                            <a:srgbClr val="FFFFFF"/>
                          </a:solidFill>
                          <a:effectLst/>
                        </a:rPr>
                        <a:t>Ordered List (&lt;ol&gt;)</a:t>
                      </a:r>
                    </a:p>
                  </a:txBody>
                  <a:tcPr marL="76200" marR="76200" marT="76200" marB="76200">
                    <a:lnL w="7620" cap="flat" cmpd="sng" algn="ctr">
                      <a:solidFill>
                        <a:srgbClr val="000000"/>
                      </a:solidFill>
                      <a:prstDash val="solid"/>
                      <a:round/>
                      <a:headEnd type="none" w="med" len="med"/>
                      <a:tailEnd type="none" w="med" len="med"/>
                    </a:lnL>
                    <a:lnR w="7620" cap="flat" cmpd="sng" algn="ctr">
                      <a:solidFill>
                        <a:srgbClr val="000000"/>
                      </a:solidFill>
                      <a:prstDash val="solid"/>
                      <a:round/>
                      <a:headEnd type="none" w="med" len="med"/>
                      <a:tailEnd type="none" w="med" len="med"/>
                    </a:lnR>
                    <a:lnT w="7620" cap="flat" cmpd="sng" algn="ctr">
                      <a:solidFill>
                        <a:srgbClr val="000000"/>
                      </a:solidFill>
                      <a:prstDash val="solid"/>
                      <a:round/>
                      <a:headEnd type="none" w="med" len="med"/>
                      <a:tailEnd type="none" w="med" len="med"/>
                    </a:lnT>
                    <a:lnB w="7620" cap="flat" cmpd="sng" algn="ctr">
                      <a:solidFill>
                        <a:srgbClr val="000000"/>
                      </a:solidFill>
                      <a:prstDash val="solid"/>
                      <a:round/>
                      <a:headEnd type="none" w="med" len="med"/>
                      <a:tailEnd type="none" w="med" len="med"/>
                    </a:lnB>
                    <a:solidFill>
                      <a:srgbClr val="008DD9"/>
                    </a:solidFill>
                  </a:tcPr>
                </a:tc>
                <a:tc>
                  <a:txBody>
                    <a:bodyPr/>
                    <a:lstStyle/>
                    <a:p>
                      <a:pPr algn="ctr" fontAlgn="t">
                        <a:buNone/>
                      </a:pPr>
                      <a:r>
                        <a:rPr lang="en-US" b="1">
                          <a:solidFill>
                            <a:srgbClr val="FFFFFF"/>
                          </a:solidFill>
                          <a:effectLst/>
                        </a:rPr>
                        <a:t>Unordered List (&lt;ul&gt;)</a:t>
                      </a:r>
                    </a:p>
                  </a:txBody>
                  <a:tcPr marL="76200" marR="76200" marT="76200" marB="76200">
                    <a:lnL w="7620" cap="flat" cmpd="sng" algn="ctr">
                      <a:solidFill>
                        <a:srgbClr val="000000"/>
                      </a:solidFill>
                      <a:prstDash val="solid"/>
                      <a:round/>
                      <a:headEnd type="none" w="med" len="med"/>
                      <a:tailEnd type="none" w="med" len="med"/>
                    </a:lnL>
                    <a:lnR w="7620" cap="flat" cmpd="sng" algn="ctr">
                      <a:solidFill>
                        <a:srgbClr val="000000"/>
                      </a:solidFill>
                      <a:prstDash val="solid"/>
                      <a:round/>
                      <a:headEnd type="none" w="med" len="med"/>
                      <a:tailEnd type="none" w="med" len="med"/>
                    </a:lnR>
                    <a:lnT w="7620" cap="flat" cmpd="sng" algn="ctr">
                      <a:solidFill>
                        <a:srgbClr val="000000"/>
                      </a:solidFill>
                      <a:prstDash val="solid"/>
                      <a:round/>
                      <a:headEnd type="none" w="med" len="med"/>
                      <a:tailEnd type="none" w="med" len="med"/>
                    </a:lnT>
                    <a:lnB w="7620" cap="flat" cmpd="sng" algn="ctr">
                      <a:solidFill>
                        <a:srgbClr val="000000"/>
                      </a:solidFill>
                      <a:prstDash val="solid"/>
                      <a:round/>
                      <a:headEnd type="none" w="med" len="med"/>
                      <a:tailEnd type="none" w="med" len="med"/>
                    </a:lnB>
                    <a:solidFill>
                      <a:srgbClr val="008DD9"/>
                    </a:solidFill>
                  </a:tcPr>
                </a:tc>
                <a:extLst>
                  <a:ext uri="{0D108BD9-81ED-4DB2-BD59-A6C34878D82A}">
                    <a16:rowId xmlns:a16="http://schemas.microsoft.com/office/drawing/2014/main" val="4124159916"/>
                  </a:ext>
                </a:extLst>
              </a:tr>
              <a:tr h="0">
                <a:tc>
                  <a:txBody>
                    <a:bodyPr/>
                    <a:lstStyle/>
                    <a:p>
                      <a:pPr fontAlgn="t">
                        <a:buNone/>
                      </a:pPr>
                      <a:r>
                        <a:rPr lang="en-US" b="1">
                          <a:effectLst/>
                        </a:rPr>
                        <a:t>Definition</a:t>
                      </a:r>
                    </a:p>
                  </a:txBody>
                  <a:tcPr marL="76200" marR="76200" marT="76200" marB="76200">
                    <a:lnL w="7620" cap="flat" cmpd="sng" algn="ctr">
                      <a:solidFill>
                        <a:srgbClr val="000000"/>
                      </a:solidFill>
                      <a:prstDash val="solid"/>
                      <a:round/>
                      <a:headEnd type="none" w="med" len="med"/>
                      <a:tailEnd type="none" w="med" len="med"/>
                    </a:lnL>
                    <a:lnR w="7620" cap="flat" cmpd="sng" algn="ctr">
                      <a:solidFill>
                        <a:srgbClr val="000000"/>
                      </a:solidFill>
                      <a:prstDash val="solid"/>
                      <a:round/>
                      <a:headEnd type="none" w="med" len="med"/>
                      <a:tailEnd type="none" w="med" len="med"/>
                    </a:lnR>
                    <a:lnT w="7620" cap="flat" cmpd="sng" algn="ctr">
                      <a:solidFill>
                        <a:srgbClr val="000000"/>
                      </a:solidFill>
                      <a:prstDash val="solid"/>
                      <a:round/>
                      <a:headEnd type="none" w="med" len="med"/>
                      <a:tailEnd type="none" w="med" len="med"/>
                    </a:lnT>
                    <a:lnB w="7620" cap="flat" cmpd="sng" algn="ctr">
                      <a:solidFill>
                        <a:srgbClr val="000000"/>
                      </a:solidFill>
                      <a:prstDash val="solid"/>
                      <a:round/>
                      <a:headEnd type="none" w="med" len="med"/>
                      <a:tailEnd type="none" w="med" len="med"/>
                    </a:lnB>
                    <a:solidFill>
                      <a:srgbClr val="FFFFFF"/>
                    </a:solidFill>
                  </a:tcPr>
                </a:tc>
                <a:tc>
                  <a:txBody>
                    <a:bodyPr/>
                    <a:lstStyle/>
                    <a:p>
                      <a:pPr fontAlgn="t">
                        <a:buNone/>
                      </a:pPr>
                      <a:r>
                        <a:rPr lang="en-US">
                          <a:effectLst/>
                        </a:rPr>
                        <a:t>A list with items in a sequence</a:t>
                      </a:r>
                    </a:p>
                  </a:txBody>
                  <a:tcPr marL="76200" marR="76200" marT="76200" marB="76200">
                    <a:lnL w="7620" cap="flat" cmpd="sng" algn="ctr">
                      <a:solidFill>
                        <a:srgbClr val="000000"/>
                      </a:solidFill>
                      <a:prstDash val="solid"/>
                      <a:round/>
                      <a:headEnd type="none" w="med" len="med"/>
                      <a:tailEnd type="none" w="med" len="med"/>
                    </a:lnL>
                    <a:lnR w="7620" cap="flat" cmpd="sng" algn="ctr">
                      <a:solidFill>
                        <a:srgbClr val="000000"/>
                      </a:solidFill>
                      <a:prstDash val="solid"/>
                      <a:round/>
                      <a:headEnd type="none" w="med" len="med"/>
                      <a:tailEnd type="none" w="med" len="med"/>
                    </a:lnR>
                    <a:lnT w="7620" cap="flat" cmpd="sng" algn="ctr">
                      <a:solidFill>
                        <a:srgbClr val="000000"/>
                      </a:solidFill>
                      <a:prstDash val="solid"/>
                      <a:round/>
                      <a:headEnd type="none" w="med" len="med"/>
                      <a:tailEnd type="none" w="med" len="med"/>
                    </a:lnT>
                    <a:lnB w="7620" cap="flat" cmpd="sng" algn="ctr">
                      <a:solidFill>
                        <a:srgbClr val="000000"/>
                      </a:solidFill>
                      <a:prstDash val="solid"/>
                      <a:round/>
                      <a:headEnd type="none" w="med" len="med"/>
                      <a:tailEnd type="none" w="med" len="med"/>
                    </a:lnB>
                    <a:solidFill>
                      <a:srgbClr val="FFFFFF"/>
                    </a:solidFill>
                  </a:tcPr>
                </a:tc>
                <a:tc>
                  <a:txBody>
                    <a:bodyPr/>
                    <a:lstStyle/>
                    <a:p>
                      <a:pPr fontAlgn="t">
                        <a:buNone/>
                      </a:pPr>
                      <a:r>
                        <a:rPr lang="en-US">
                          <a:effectLst/>
                        </a:rPr>
                        <a:t>A list with items not in order</a:t>
                      </a:r>
                    </a:p>
                  </a:txBody>
                  <a:tcPr marL="76200" marR="76200" marT="76200" marB="76200">
                    <a:lnL w="7620" cap="flat" cmpd="sng" algn="ctr">
                      <a:solidFill>
                        <a:srgbClr val="000000"/>
                      </a:solidFill>
                      <a:prstDash val="solid"/>
                      <a:round/>
                      <a:headEnd type="none" w="med" len="med"/>
                      <a:tailEnd type="none" w="med" len="med"/>
                    </a:lnL>
                    <a:lnR w="7620" cap="flat" cmpd="sng" algn="ctr">
                      <a:solidFill>
                        <a:srgbClr val="000000"/>
                      </a:solidFill>
                      <a:prstDash val="solid"/>
                      <a:round/>
                      <a:headEnd type="none" w="med" len="med"/>
                      <a:tailEnd type="none" w="med" len="med"/>
                    </a:lnR>
                    <a:lnT w="7620" cap="flat" cmpd="sng" algn="ctr">
                      <a:solidFill>
                        <a:srgbClr val="000000"/>
                      </a:solidFill>
                      <a:prstDash val="solid"/>
                      <a:round/>
                      <a:headEnd type="none" w="med" len="med"/>
                      <a:tailEnd type="none" w="med" len="med"/>
                    </a:lnT>
                    <a:lnB w="762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4131116844"/>
                  </a:ext>
                </a:extLst>
              </a:tr>
              <a:tr h="0">
                <a:tc>
                  <a:txBody>
                    <a:bodyPr/>
                    <a:lstStyle/>
                    <a:p>
                      <a:pPr fontAlgn="t">
                        <a:buNone/>
                      </a:pPr>
                      <a:r>
                        <a:rPr lang="en-US" b="1">
                          <a:effectLst/>
                        </a:rPr>
                        <a:t>Tag Used</a:t>
                      </a:r>
                    </a:p>
                  </a:txBody>
                  <a:tcPr marL="76200" marR="76200" marT="76200" marB="76200">
                    <a:lnL w="7620" cap="flat" cmpd="sng" algn="ctr">
                      <a:solidFill>
                        <a:srgbClr val="000000"/>
                      </a:solidFill>
                      <a:prstDash val="solid"/>
                      <a:round/>
                      <a:headEnd type="none" w="med" len="med"/>
                      <a:tailEnd type="none" w="med" len="med"/>
                    </a:lnL>
                    <a:lnR w="7620" cap="flat" cmpd="sng" algn="ctr">
                      <a:solidFill>
                        <a:srgbClr val="000000"/>
                      </a:solidFill>
                      <a:prstDash val="solid"/>
                      <a:round/>
                      <a:headEnd type="none" w="med" len="med"/>
                      <a:tailEnd type="none" w="med" len="med"/>
                    </a:lnR>
                    <a:lnT w="7620" cap="flat" cmpd="sng" algn="ctr">
                      <a:solidFill>
                        <a:srgbClr val="000000"/>
                      </a:solidFill>
                      <a:prstDash val="solid"/>
                      <a:round/>
                      <a:headEnd type="none" w="med" len="med"/>
                      <a:tailEnd type="none" w="med" len="med"/>
                    </a:lnT>
                    <a:lnB w="7620" cap="flat" cmpd="sng" algn="ctr">
                      <a:solidFill>
                        <a:srgbClr val="000000"/>
                      </a:solidFill>
                      <a:prstDash val="solid"/>
                      <a:round/>
                      <a:headEnd type="none" w="med" len="med"/>
                      <a:tailEnd type="none" w="med" len="med"/>
                    </a:lnB>
                    <a:solidFill>
                      <a:srgbClr val="FFFFFF"/>
                    </a:solidFill>
                  </a:tcPr>
                </a:tc>
                <a:tc>
                  <a:txBody>
                    <a:bodyPr/>
                    <a:lstStyle/>
                    <a:p>
                      <a:pPr fontAlgn="t">
                        <a:buNone/>
                      </a:pPr>
                      <a:r>
                        <a:rPr lang="en-US">
                          <a:effectLst/>
                          <a:latin typeface="Courier New" panose="02070309020205020404" pitchFamily="49" charset="0"/>
                        </a:rPr>
                        <a:t>&lt;ol&gt;</a:t>
                      </a:r>
                    </a:p>
                  </a:txBody>
                  <a:tcPr marL="76200" marR="76200" marT="76200" marB="76200">
                    <a:lnL w="7620" cap="flat" cmpd="sng" algn="ctr">
                      <a:solidFill>
                        <a:srgbClr val="000000"/>
                      </a:solidFill>
                      <a:prstDash val="solid"/>
                      <a:round/>
                      <a:headEnd type="none" w="med" len="med"/>
                      <a:tailEnd type="none" w="med" len="med"/>
                    </a:lnL>
                    <a:lnR w="7620" cap="flat" cmpd="sng" algn="ctr">
                      <a:solidFill>
                        <a:srgbClr val="000000"/>
                      </a:solidFill>
                      <a:prstDash val="solid"/>
                      <a:round/>
                      <a:headEnd type="none" w="med" len="med"/>
                      <a:tailEnd type="none" w="med" len="med"/>
                    </a:lnR>
                    <a:lnT w="7620" cap="flat" cmpd="sng" algn="ctr">
                      <a:solidFill>
                        <a:srgbClr val="000000"/>
                      </a:solidFill>
                      <a:prstDash val="solid"/>
                      <a:round/>
                      <a:headEnd type="none" w="med" len="med"/>
                      <a:tailEnd type="none" w="med" len="med"/>
                    </a:lnT>
                    <a:lnB w="7620" cap="flat" cmpd="sng" algn="ctr">
                      <a:solidFill>
                        <a:srgbClr val="000000"/>
                      </a:solidFill>
                      <a:prstDash val="solid"/>
                      <a:round/>
                      <a:headEnd type="none" w="med" len="med"/>
                      <a:tailEnd type="none" w="med" len="med"/>
                    </a:lnB>
                    <a:solidFill>
                      <a:srgbClr val="FFFFFF"/>
                    </a:solidFill>
                  </a:tcPr>
                </a:tc>
                <a:tc>
                  <a:txBody>
                    <a:bodyPr/>
                    <a:lstStyle/>
                    <a:p>
                      <a:pPr fontAlgn="t">
                        <a:buNone/>
                      </a:pPr>
                      <a:r>
                        <a:rPr lang="en-US">
                          <a:effectLst/>
                          <a:latin typeface="Courier New" panose="02070309020205020404" pitchFamily="49" charset="0"/>
                        </a:rPr>
                        <a:t>&lt;ul&gt;</a:t>
                      </a:r>
                    </a:p>
                  </a:txBody>
                  <a:tcPr marL="76200" marR="76200" marT="76200" marB="76200">
                    <a:lnL w="7620" cap="flat" cmpd="sng" algn="ctr">
                      <a:solidFill>
                        <a:srgbClr val="000000"/>
                      </a:solidFill>
                      <a:prstDash val="solid"/>
                      <a:round/>
                      <a:headEnd type="none" w="med" len="med"/>
                      <a:tailEnd type="none" w="med" len="med"/>
                    </a:lnL>
                    <a:lnR w="7620" cap="flat" cmpd="sng" algn="ctr">
                      <a:solidFill>
                        <a:srgbClr val="000000"/>
                      </a:solidFill>
                      <a:prstDash val="solid"/>
                      <a:round/>
                      <a:headEnd type="none" w="med" len="med"/>
                      <a:tailEnd type="none" w="med" len="med"/>
                    </a:lnR>
                    <a:lnT w="7620" cap="flat" cmpd="sng" algn="ctr">
                      <a:solidFill>
                        <a:srgbClr val="000000"/>
                      </a:solidFill>
                      <a:prstDash val="solid"/>
                      <a:round/>
                      <a:headEnd type="none" w="med" len="med"/>
                      <a:tailEnd type="none" w="med" len="med"/>
                    </a:lnT>
                    <a:lnB w="762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3118758063"/>
                  </a:ext>
                </a:extLst>
              </a:tr>
              <a:tr h="0">
                <a:tc>
                  <a:txBody>
                    <a:bodyPr/>
                    <a:lstStyle/>
                    <a:p>
                      <a:pPr fontAlgn="t">
                        <a:buNone/>
                      </a:pPr>
                      <a:r>
                        <a:rPr lang="en-US" b="1">
                          <a:effectLst/>
                        </a:rPr>
                        <a:t>Bullet Type</a:t>
                      </a:r>
                    </a:p>
                  </a:txBody>
                  <a:tcPr marL="76200" marR="76200" marT="76200" marB="76200">
                    <a:lnL w="7620" cap="flat" cmpd="sng" algn="ctr">
                      <a:solidFill>
                        <a:srgbClr val="000000"/>
                      </a:solidFill>
                      <a:prstDash val="solid"/>
                      <a:round/>
                      <a:headEnd type="none" w="med" len="med"/>
                      <a:tailEnd type="none" w="med" len="med"/>
                    </a:lnL>
                    <a:lnR w="7620" cap="flat" cmpd="sng" algn="ctr">
                      <a:solidFill>
                        <a:srgbClr val="000000"/>
                      </a:solidFill>
                      <a:prstDash val="solid"/>
                      <a:round/>
                      <a:headEnd type="none" w="med" len="med"/>
                      <a:tailEnd type="none" w="med" len="med"/>
                    </a:lnR>
                    <a:lnT w="7620" cap="flat" cmpd="sng" algn="ctr">
                      <a:solidFill>
                        <a:srgbClr val="000000"/>
                      </a:solidFill>
                      <a:prstDash val="solid"/>
                      <a:round/>
                      <a:headEnd type="none" w="med" len="med"/>
                      <a:tailEnd type="none" w="med" len="med"/>
                    </a:lnT>
                    <a:lnB w="7620" cap="flat" cmpd="sng" algn="ctr">
                      <a:solidFill>
                        <a:srgbClr val="000000"/>
                      </a:solidFill>
                      <a:prstDash val="solid"/>
                      <a:round/>
                      <a:headEnd type="none" w="med" len="med"/>
                      <a:tailEnd type="none" w="med" len="med"/>
                    </a:lnB>
                    <a:solidFill>
                      <a:srgbClr val="FFFFFF"/>
                    </a:solidFill>
                  </a:tcPr>
                </a:tc>
                <a:tc>
                  <a:txBody>
                    <a:bodyPr/>
                    <a:lstStyle/>
                    <a:p>
                      <a:pPr fontAlgn="t">
                        <a:buNone/>
                      </a:pPr>
                      <a:r>
                        <a:rPr lang="en-US">
                          <a:effectLst/>
                        </a:rPr>
                        <a:t>Numbers, letters, or Roman numerals</a:t>
                      </a:r>
                    </a:p>
                  </a:txBody>
                  <a:tcPr marL="76200" marR="76200" marT="76200" marB="76200">
                    <a:lnL w="7620" cap="flat" cmpd="sng" algn="ctr">
                      <a:solidFill>
                        <a:srgbClr val="000000"/>
                      </a:solidFill>
                      <a:prstDash val="solid"/>
                      <a:round/>
                      <a:headEnd type="none" w="med" len="med"/>
                      <a:tailEnd type="none" w="med" len="med"/>
                    </a:lnL>
                    <a:lnR w="7620" cap="flat" cmpd="sng" algn="ctr">
                      <a:solidFill>
                        <a:srgbClr val="000000"/>
                      </a:solidFill>
                      <a:prstDash val="solid"/>
                      <a:round/>
                      <a:headEnd type="none" w="med" len="med"/>
                      <a:tailEnd type="none" w="med" len="med"/>
                    </a:lnR>
                    <a:lnT w="7620" cap="flat" cmpd="sng" algn="ctr">
                      <a:solidFill>
                        <a:srgbClr val="000000"/>
                      </a:solidFill>
                      <a:prstDash val="solid"/>
                      <a:round/>
                      <a:headEnd type="none" w="med" len="med"/>
                      <a:tailEnd type="none" w="med" len="med"/>
                    </a:lnT>
                    <a:lnB w="7620" cap="flat" cmpd="sng" algn="ctr">
                      <a:solidFill>
                        <a:srgbClr val="000000"/>
                      </a:solidFill>
                      <a:prstDash val="solid"/>
                      <a:round/>
                      <a:headEnd type="none" w="med" len="med"/>
                      <a:tailEnd type="none" w="med" len="med"/>
                    </a:lnB>
                    <a:solidFill>
                      <a:srgbClr val="FFFFFF"/>
                    </a:solidFill>
                  </a:tcPr>
                </a:tc>
                <a:tc>
                  <a:txBody>
                    <a:bodyPr/>
                    <a:lstStyle/>
                    <a:p>
                      <a:pPr fontAlgn="t">
                        <a:buNone/>
                      </a:pPr>
                      <a:r>
                        <a:rPr lang="en-US" dirty="0">
                          <a:effectLst/>
                        </a:rPr>
                        <a:t>Dots (default), circles, squares</a:t>
                      </a:r>
                    </a:p>
                  </a:txBody>
                  <a:tcPr marL="76200" marR="76200" marT="76200" marB="76200">
                    <a:lnL w="7620" cap="flat" cmpd="sng" algn="ctr">
                      <a:solidFill>
                        <a:srgbClr val="000000"/>
                      </a:solidFill>
                      <a:prstDash val="solid"/>
                      <a:round/>
                      <a:headEnd type="none" w="med" len="med"/>
                      <a:tailEnd type="none" w="med" len="med"/>
                    </a:lnL>
                    <a:lnR w="7620" cap="flat" cmpd="sng" algn="ctr">
                      <a:solidFill>
                        <a:srgbClr val="000000"/>
                      </a:solidFill>
                      <a:prstDash val="solid"/>
                      <a:round/>
                      <a:headEnd type="none" w="med" len="med"/>
                      <a:tailEnd type="none" w="med" len="med"/>
                    </a:lnR>
                    <a:lnT w="7620" cap="flat" cmpd="sng" algn="ctr">
                      <a:solidFill>
                        <a:srgbClr val="000000"/>
                      </a:solidFill>
                      <a:prstDash val="solid"/>
                      <a:round/>
                      <a:headEnd type="none" w="med" len="med"/>
                      <a:tailEnd type="none" w="med" len="med"/>
                    </a:lnT>
                    <a:lnB w="762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938655840"/>
                  </a:ext>
                </a:extLst>
              </a:tr>
            </a:tbl>
          </a:graphicData>
        </a:graphic>
      </p:graphicFrame>
    </p:spTree>
    <p:extLst>
      <p:ext uri="{BB962C8B-B14F-4D97-AF65-F5344CB8AC3E}">
        <p14:creationId xmlns:p14="http://schemas.microsoft.com/office/powerpoint/2010/main" val="132704671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6EF776-5122-9D9C-1832-6BA7A8725792}"/>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CD9CD330-3BBF-AA0C-25A4-840DDC1B1909}"/>
              </a:ext>
            </a:extLst>
          </p:cNvPr>
          <p:cNvSpPr txBox="1"/>
          <p:nvPr/>
        </p:nvSpPr>
        <p:spPr>
          <a:xfrm>
            <a:off x="2477069" y="2437268"/>
            <a:ext cx="4954136" cy="1990288"/>
          </a:xfrm>
          <a:prstGeom prst="rect">
            <a:avLst/>
          </a:prstGeom>
          <a:noFill/>
        </p:spPr>
        <p:txBody>
          <a:bodyPr wrap="square">
            <a:spAutoFit/>
          </a:bodyPr>
          <a:lstStyle/>
          <a:p>
            <a:pPr algn="l">
              <a:lnSpc>
                <a:spcPts val="2100"/>
              </a:lnSpc>
              <a:spcBef>
                <a:spcPts val="2400"/>
              </a:spcBef>
              <a:spcAft>
                <a:spcPts val="1800"/>
              </a:spcAft>
              <a:buNone/>
            </a:pPr>
            <a:r>
              <a:rPr lang="en-US" b="0" i="0" dirty="0">
                <a:solidFill>
                  <a:srgbClr val="272C37"/>
                </a:solidFill>
                <a:effectLst/>
                <a:latin typeface="Roboto" panose="02000000000000000000" pitchFamily="2" charset="0"/>
              </a:rPr>
              <a:t>15. What is an element in HTML?</a:t>
            </a:r>
          </a:p>
          <a:p>
            <a:pPr algn="just">
              <a:lnSpc>
                <a:spcPts val="2100"/>
              </a:lnSpc>
              <a:spcBef>
                <a:spcPts val="1650"/>
              </a:spcBef>
              <a:buNone/>
            </a:pPr>
            <a:r>
              <a:rPr lang="en-US" b="0" i="0" dirty="0">
                <a:solidFill>
                  <a:srgbClr val="3A3A3A"/>
                </a:solidFill>
                <a:effectLst/>
                <a:latin typeface="Roboto" panose="02000000000000000000" pitchFamily="2" charset="0"/>
              </a:rPr>
              <a:t>An HTML element is the basic content of a webpage. It consists of a start tag, content, and an end tag.</a:t>
            </a:r>
          </a:p>
          <a:p>
            <a:pPr algn="just">
              <a:lnSpc>
                <a:spcPts val="2100"/>
              </a:lnSpc>
              <a:spcBef>
                <a:spcPts val="750"/>
              </a:spcBef>
              <a:buNone/>
            </a:pPr>
            <a:r>
              <a:rPr lang="en-US" b="0" i="0" dirty="0">
                <a:solidFill>
                  <a:srgbClr val="3A3A3A"/>
                </a:solidFill>
                <a:effectLst/>
                <a:latin typeface="Roboto" panose="02000000000000000000" pitchFamily="2" charset="0"/>
              </a:rPr>
              <a:t>Example: &lt;p&gt;Hello </a:t>
            </a:r>
            <a:r>
              <a:rPr lang="en-US" b="0" i="0" dirty="0" err="1">
                <a:solidFill>
                  <a:srgbClr val="3A3A3A"/>
                </a:solidFill>
                <a:effectLst/>
                <a:latin typeface="Roboto" panose="02000000000000000000" pitchFamily="2" charset="0"/>
              </a:rPr>
              <a:t>Intellipaat</a:t>
            </a:r>
            <a:r>
              <a:rPr lang="en-US" b="0" i="0" dirty="0">
                <a:solidFill>
                  <a:srgbClr val="3A3A3A"/>
                </a:solidFill>
                <a:effectLst/>
                <a:latin typeface="Roboto" panose="02000000000000000000" pitchFamily="2" charset="0"/>
              </a:rPr>
              <a:t>&lt;/p&gt;</a:t>
            </a:r>
          </a:p>
        </p:txBody>
      </p:sp>
    </p:spTree>
    <p:extLst>
      <p:ext uri="{BB962C8B-B14F-4D97-AF65-F5344CB8AC3E}">
        <p14:creationId xmlns:p14="http://schemas.microsoft.com/office/powerpoint/2010/main" val="81685169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DA56DC-4F95-0F27-C495-4C63757B1AAE}"/>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EC1990A1-9AEF-121D-0D8E-9599B45FBCE8}"/>
              </a:ext>
            </a:extLst>
          </p:cNvPr>
          <p:cNvSpPr txBox="1"/>
          <p:nvPr/>
        </p:nvSpPr>
        <p:spPr>
          <a:xfrm>
            <a:off x="266132" y="152972"/>
            <a:ext cx="4954136" cy="1618392"/>
          </a:xfrm>
          <a:prstGeom prst="rect">
            <a:avLst/>
          </a:prstGeom>
          <a:noFill/>
        </p:spPr>
        <p:txBody>
          <a:bodyPr wrap="square">
            <a:spAutoFit/>
          </a:bodyPr>
          <a:lstStyle/>
          <a:p>
            <a:pPr algn="l">
              <a:lnSpc>
                <a:spcPts val="2100"/>
              </a:lnSpc>
              <a:spcBef>
                <a:spcPts val="2400"/>
              </a:spcBef>
              <a:spcAft>
                <a:spcPts val="1800"/>
              </a:spcAft>
              <a:buNone/>
            </a:pPr>
            <a:r>
              <a:rPr lang="en-US" b="0" i="0" dirty="0">
                <a:solidFill>
                  <a:srgbClr val="272C37"/>
                </a:solidFill>
                <a:effectLst/>
                <a:latin typeface="Roboto" panose="02000000000000000000" pitchFamily="2" charset="0"/>
              </a:rPr>
              <a:t>16. What is the difference between HTML and CSS?</a:t>
            </a:r>
          </a:p>
          <a:p>
            <a:pPr algn="just">
              <a:lnSpc>
                <a:spcPts val="2100"/>
              </a:lnSpc>
              <a:spcBef>
                <a:spcPts val="1650"/>
              </a:spcBef>
              <a:buNone/>
            </a:pPr>
            <a:r>
              <a:rPr lang="en-US" b="0" i="0" dirty="0">
                <a:solidFill>
                  <a:srgbClr val="3A3A3A"/>
                </a:solidFill>
                <a:effectLst/>
                <a:latin typeface="Roboto" panose="02000000000000000000" pitchFamily="2" charset="0"/>
              </a:rPr>
              <a:t>The following table shows the </a:t>
            </a:r>
            <a:r>
              <a:rPr lang="en-US" b="0" i="0" u="none" strike="noStrike" dirty="0">
                <a:solidFill>
                  <a:srgbClr val="0F5A9E"/>
                </a:solidFill>
                <a:effectLst/>
                <a:latin typeface="Roboto" panose="02000000000000000000" pitchFamily="2" charset="0"/>
                <a:hlinkClick r:id="rId2"/>
              </a:rPr>
              <a:t>difference between HTML and CSS</a:t>
            </a:r>
            <a:r>
              <a:rPr lang="en-US" b="0" i="0" dirty="0">
                <a:solidFill>
                  <a:srgbClr val="3A3A3A"/>
                </a:solidFill>
                <a:effectLst/>
                <a:latin typeface="Roboto" panose="02000000000000000000" pitchFamily="2" charset="0"/>
              </a:rPr>
              <a:t>:</a:t>
            </a:r>
          </a:p>
        </p:txBody>
      </p:sp>
      <p:graphicFrame>
        <p:nvGraphicFramePr>
          <p:cNvPr id="4" name="Table 3">
            <a:extLst>
              <a:ext uri="{FF2B5EF4-FFF2-40B4-BE49-F238E27FC236}">
                <a16:creationId xmlns:a16="http://schemas.microsoft.com/office/drawing/2014/main" id="{88B69988-F68F-97FB-813B-B91BE1A97F4D}"/>
              </a:ext>
            </a:extLst>
          </p:cNvPr>
          <p:cNvGraphicFramePr>
            <a:graphicFrameLocks noGrp="1"/>
          </p:cNvGraphicFramePr>
          <p:nvPr/>
        </p:nvGraphicFramePr>
        <p:xfrm>
          <a:off x="2226519" y="2020094"/>
          <a:ext cx="5452963" cy="3962400"/>
        </p:xfrm>
        <a:graphic>
          <a:graphicData uri="http://schemas.openxmlformats.org/drawingml/2006/table">
            <a:tbl>
              <a:tblPr/>
              <a:tblGrid>
                <a:gridCol w="1154079">
                  <a:extLst>
                    <a:ext uri="{9D8B030D-6E8A-4147-A177-3AD203B41FA5}">
                      <a16:colId xmlns:a16="http://schemas.microsoft.com/office/drawing/2014/main" val="2201534554"/>
                    </a:ext>
                  </a:extLst>
                </a:gridCol>
                <a:gridCol w="2072015">
                  <a:extLst>
                    <a:ext uri="{9D8B030D-6E8A-4147-A177-3AD203B41FA5}">
                      <a16:colId xmlns:a16="http://schemas.microsoft.com/office/drawing/2014/main" val="2128120102"/>
                    </a:ext>
                  </a:extLst>
                </a:gridCol>
                <a:gridCol w="2226869">
                  <a:extLst>
                    <a:ext uri="{9D8B030D-6E8A-4147-A177-3AD203B41FA5}">
                      <a16:colId xmlns:a16="http://schemas.microsoft.com/office/drawing/2014/main" val="150623317"/>
                    </a:ext>
                  </a:extLst>
                </a:gridCol>
              </a:tblGrid>
              <a:tr h="0">
                <a:tc>
                  <a:txBody>
                    <a:bodyPr/>
                    <a:lstStyle/>
                    <a:p>
                      <a:pPr algn="ctr" fontAlgn="t">
                        <a:buNone/>
                      </a:pPr>
                      <a:r>
                        <a:rPr lang="en-US" b="1">
                          <a:solidFill>
                            <a:srgbClr val="FFFFFF"/>
                          </a:solidFill>
                          <a:effectLst/>
                        </a:rPr>
                        <a:t>Feature</a:t>
                      </a:r>
                    </a:p>
                  </a:txBody>
                  <a:tcPr marT="91440" marB="91440">
                    <a:lnL w="7620" cap="flat" cmpd="sng" algn="ctr">
                      <a:solidFill>
                        <a:srgbClr val="000000"/>
                      </a:solidFill>
                      <a:prstDash val="solid"/>
                      <a:round/>
                      <a:headEnd type="none" w="med" len="med"/>
                      <a:tailEnd type="none" w="med" len="med"/>
                    </a:lnL>
                    <a:lnR w="7620" cap="flat" cmpd="sng" algn="ctr">
                      <a:solidFill>
                        <a:srgbClr val="000000"/>
                      </a:solidFill>
                      <a:prstDash val="solid"/>
                      <a:round/>
                      <a:headEnd type="none" w="med" len="med"/>
                      <a:tailEnd type="none" w="med" len="med"/>
                    </a:lnR>
                    <a:lnT w="7620" cap="flat" cmpd="sng" algn="ctr">
                      <a:solidFill>
                        <a:srgbClr val="000000"/>
                      </a:solidFill>
                      <a:prstDash val="solid"/>
                      <a:round/>
                      <a:headEnd type="none" w="med" len="med"/>
                      <a:tailEnd type="none" w="med" len="med"/>
                    </a:lnT>
                    <a:lnB w="7620" cap="flat" cmpd="sng" algn="ctr">
                      <a:solidFill>
                        <a:srgbClr val="000000"/>
                      </a:solidFill>
                      <a:prstDash val="solid"/>
                      <a:round/>
                      <a:headEnd type="none" w="med" len="med"/>
                      <a:tailEnd type="none" w="med" len="med"/>
                    </a:lnB>
                    <a:solidFill>
                      <a:srgbClr val="008DD9"/>
                    </a:solidFill>
                  </a:tcPr>
                </a:tc>
                <a:tc>
                  <a:txBody>
                    <a:bodyPr/>
                    <a:lstStyle/>
                    <a:p>
                      <a:pPr algn="ctr" fontAlgn="t">
                        <a:buNone/>
                      </a:pPr>
                      <a:r>
                        <a:rPr lang="en-US" b="1">
                          <a:solidFill>
                            <a:srgbClr val="FFFFFF"/>
                          </a:solidFill>
                          <a:effectLst/>
                        </a:rPr>
                        <a:t>HTML</a:t>
                      </a:r>
                    </a:p>
                  </a:txBody>
                  <a:tcPr marT="91440" marB="91440">
                    <a:lnL w="7620" cap="flat" cmpd="sng" algn="ctr">
                      <a:solidFill>
                        <a:srgbClr val="000000"/>
                      </a:solidFill>
                      <a:prstDash val="solid"/>
                      <a:round/>
                      <a:headEnd type="none" w="med" len="med"/>
                      <a:tailEnd type="none" w="med" len="med"/>
                    </a:lnL>
                    <a:lnR w="7620" cap="flat" cmpd="sng" algn="ctr">
                      <a:solidFill>
                        <a:srgbClr val="000000"/>
                      </a:solidFill>
                      <a:prstDash val="solid"/>
                      <a:round/>
                      <a:headEnd type="none" w="med" len="med"/>
                      <a:tailEnd type="none" w="med" len="med"/>
                    </a:lnR>
                    <a:lnT w="7620" cap="flat" cmpd="sng" algn="ctr">
                      <a:solidFill>
                        <a:srgbClr val="000000"/>
                      </a:solidFill>
                      <a:prstDash val="solid"/>
                      <a:round/>
                      <a:headEnd type="none" w="med" len="med"/>
                      <a:tailEnd type="none" w="med" len="med"/>
                    </a:lnT>
                    <a:lnB w="7620" cap="flat" cmpd="sng" algn="ctr">
                      <a:solidFill>
                        <a:srgbClr val="000000"/>
                      </a:solidFill>
                      <a:prstDash val="solid"/>
                      <a:round/>
                      <a:headEnd type="none" w="med" len="med"/>
                      <a:tailEnd type="none" w="med" len="med"/>
                    </a:lnB>
                    <a:solidFill>
                      <a:srgbClr val="008DD9"/>
                    </a:solidFill>
                  </a:tcPr>
                </a:tc>
                <a:tc>
                  <a:txBody>
                    <a:bodyPr/>
                    <a:lstStyle/>
                    <a:p>
                      <a:pPr algn="ctr" fontAlgn="t">
                        <a:buNone/>
                      </a:pPr>
                      <a:r>
                        <a:rPr lang="en-US" b="1">
                          <a:solidFill>
                            <a:srgbClr val="FFFFFF"/>
                          </a:solidFill>
                          <a:effectLst/>
                        </a:rPr>
                        <a:t>CSS</a:t>
                      </a:r>
                    </a:p>
                  </a:txBody>
                  <a:tcPr marT="91440" marB="91440">
                    <a:lnL w="7620" cap="flat" cmpd="sng" algn="ctr">
                      <a:solidFill>
                        <a:srgbClr val="000000"/>
                      </a:solidFill>
                      <a:prstDash val="solid"/>
                      <a:round/>
                      <a:headEnd type="none" w="med" len="med"/>
                      <a:tailEnd type="none" w="med" len="med"/>
                    </a:lnL>
                    <a:lnR w="7620" cap="flat" cmpd="sng" algn="ctr">
                      <a:solidFill>
                        <a:srgbClr val="000000"/>
                      </a:solidFill>
                      <a:prstDash val="solid"/>
                      <a:round/>
                      <a:headEnd type="none" w="med" len="med"/>
                      <a:tailEnd type="none" w="med" len="med"/>
                    </a:lnR>
                    <a:lnT w="7620" cap="flat" cmpd="sng" algn="ctr">
                      <a:solidFill>
                        <a:srgbClr val="000000"/>
                      </a:solidFill>
                      <a:prstDash val="solid"/>
                      <a:round/>
                      <a:headEnd type="none" w="med" len="med"/>
                      <a:tailEnd type="none" w="med" len="med"/>
                    </a:lnT>
                    <a:lnB w="7620" cap="flat" cmpd="sng" algn="ctr">
                      <a:solidFill>
                        <a:srgbClr val="000000"/>
                      </a:solidFill>
                      <a:prstDash val="solid"/>
                      <a:round/>
                      <a:headEnd type="none" w="med" len="med"/>
                      <a:tailEnd type="none" w="med" len="med"/>
                    </a:lnB>
                    <a:solidFill>
                      <a:srgbClr val="008DD9"/>
                    </a:solidFill>
                  </a:tcPr>
                </a:tc>
                <a:extLst>
                  <a:ext uri="{0D108BD9-81ED-4DB2-BD59-A6C34878D82A}">
                    <a16:rowId xmlns:a16="http://schemas.microsoft.com/office/drawing/2014/main" val="1371731114"/>
                  </a:ext>
                </a:extLst>
              </a:tr>
              <a:tr h="0">
                <a:tc>
                  <a:txBody>
                    <a:bodyPr/>
                    <a:lstStyle/>
                    <a:p>
                      <a:pPr fontAlgn="t">
                        <a:buNone/>
                      </a:pPr>
                      <a:r>
                        <a:rPr lang="en-US" b="1">
                          <a:effectLst/>
                        </a:rPr>
                        <a:t>Full Form</a:t>
                      </a:r>
                    </a:p>
                  </a:txBody>
                  <a:tcPr marL="76200" marR="76200" marT="76200" marB="76200">
                    <a:lnL w="7620" cap="flat" cmpd="sng" algn="ctr">
                      <a:solidFill>
                        <a:srgbClr val="000000"/>
                      </a:solidFill>
                      <a:prstDash val="solid"/>
                      <a:round/>
                      <a:headEnd type="none" w="med" len="med"/>
                      <a:tailEnd type="none" w="med" len="med"/>
                    </a:lnL>
                    <a:lnR w="7620" cap="flat" cmpd="sng" algn="ctr">
                      <a:solidFill>
                        <a:srgbClr val="000000"/>
                      </a:solidFill>
                      <a:prstDash val="solid"/>
                      <a:round/>
                      <a:headEnd type="none" w="med" len="med"/>
                      <a:tailEnd type="none" w="med" len="med"/>
                    </a:lnR>
                    <a:lnT w="7620" cap="flat" cmpd="sng" algn="ctr">
                      <a:solidFill>
                        <a:srgbClr val="000000"/>
                      </a:solidFill>
                      <a:prstDash val="solid"/>
                      <a:round/>
                      <a:headEnd type="none" w="med" len="med"/>
                      <a:tailEnd type="none" w="med" len="med"/>
                    </a:lnT>
                    <a:lnB w="7620" cap="flat" cmpd="sng" algn="ctr">
                      <a:solidFill>
                        <a:srgbClr val="000000"/>
                      </a:solidFill>
                      <a:prstDash val="solid"/>
                      <a:round/>
                      <a:headEnd type="none" w="med" len="med"/>
                      <a:tailEnd type="none" w="med" len="med"/>
                    </a:lnB>
                    <a:solidFill>
                      <a:srgbClr val="FFFFFF"/>
                    </a:solidFill>
                  </a:tcPr>
                </a:tc>
                <a:tc>
                  <a:txBody>
                    <a:bodyPr/>
                    <a:lstStyle/>
                    <a:p>
                      <a:pPr fontAlgn="t">
                        <a:buNone/>
                      </a:pPr>
                      <a:r>
                        <a:rPr lang="en-US">
                          <a:effectLst/>
                        </a:rPr>
                        <a:t>HyperText Markup Language</a:t>
                      </a:r>
                    </a:p>
                  </a:txBody>
                  <a:tcPr marL="76200" marR="76200" marT="76200" marB="76200">
                    <a:lnL w="7620" cap="flat" cmpd="sng" algn="ctr">
                      <a:solidFill>
                        <a:srgbClr val="000000"/>
                      </a:solidFill>
                      <a:prstDash val="solid"/>
                      <a:round/>
                      <a:headEnd type="none" w="med" len="med"/>
                      <a:tailEnd type="none" w="med" len="med"/>
                    </a:lnL>
                    <a:lnR w="7620" cap="flat" cmpd="sng" algn="ctr">
                      <a:solidFill>
                        <a:srgbClr val="000000"/>
                      </a:solidFill>
                      <a:prstDash val="solid"/>
                      <a:round/>
                      <a:headEnd type="none" w="med" len="med"/>
                      <a:tailEnd type="none" w="med" len="med"/>
                    </a:lnR>
                    <a:lnT w="7620" cap="flat" cmpd="sng" algn="ctr">
                      <a:solidFill>
                        <a:srgbClr val="000000"/>
                      </a:solidFill>
                      <a:prstDash val="solid"/>
                      <a:round/>
                      <a:headEnd type="none" w="med" len="med"/>
                      <a:tailEnd type="none" w="med" len="med"/>
                    </a:lnT>
                    <a:lnB w="7620" cap="flat" cmpd="sng" algn="ctr">
                      <a:solidFill>
                        <a:srgbClr val="000000"/>
                      </a:solidFill>
                      <a:prstDash val="solid"/>
                      <a:round/>
                      <a:headEnd type="none" w="med" len="med"/>
                      <a:tailEnd type="none" w="med" len="med"/>
                    </a:lnB>
                    <a:solidFill>
                      <a:srgbClr val="FFFFFF"/>
                    </a:solidFill>
                  </a:tcPr>
                </a:tc>
                <a:tc>
                  <a:txBody>
                    <a:bodyPr/>
                    <a:lstStyle/>
                    <a:p>
                      <a:pPr fontAlgn="t">
                        <a:buNone/>
                      </a:pPr>
                      <a:r>
                        <a:rPr lang="en-US">
                          <a:effectLst/>
                        </a:rPr>
                        <a:t>Cascading Style Sheets</a:t>
                      </a:r>
                    </a:p>
                  </a:txBody>
                  <a:tcPr marL="76200" marR="76200" marT="76200" marB="76200">
                    <a:lnL w="7620" cap="flat" cmpd="sng" algn="ctr">
                      <a:solidFill>
                        <a:srgbClr val="000000"/>
                      </a:solidFill>
                      <a:prstDash val="solid"/>
                      <a:round/>
                      <a:headEnd type="none" w="med" len="med"/>
                      <a:tailEnd type="none" w="med" len="med"/>
                    </a:lnL>
                    <a:lnR w="7620" cap="flat" cmpd="sng" algn="ctr">
                      <a:solidFill>
                        <a:srgbClr val="000000"/>
                      </a:solidFill>
                      <a:prstDash val="solid"/>
                      <a:round/>
                      <a:headEnd type="none" w="med" len="med"/>
                      <a:tailEnd type="none" w="med" len="med"/>
                    </a:lnR>
                    <a:lnT w="7620" cap="flat" cmpd="sng" algn="ctr">
                      <a:solidFill>
                        <a:srgbClr val="000000"/>
                      </a:solidFill>
                      <a:prstDash val="solid"/>
                      <a:round/>
                      <a:headEnd type="none" w="med" len="med"/>
                      <a:tailEnd type="none" w="med" len="med"/>
                    </a:lnT>
                    <a:lnB w="762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2145194472"/>
                  </a:ext>
                </a:extLst>
              </a:tr>
              <a:tr h="0">
                <a:tc>
                  <a:txBody>
                    <a:bodyPr/>
                    <a:lstStyle/>
                    <a:p>
                      <a:pPr fontAlgn="t">
                        <a:buNone/>
                      </a:pPr>
                      <a:r>
                        <a:rPr lang="en-US" b="1">
                          <a:effectLst/>
                        </a:rPr>
                        <a:t>Purpose</a:t>
                      </a:r>
                    </a:p>
                  </a:txBody>
                  <a:tcPr marL="76200" marR="76200" marT="76200" marB="76200">
                    <a:lnL w="7620" cap="flat" cmpd="sng" algn="ctr">
                      <a:solidFill>
                        <a:srgbClr val="000000"/>
                      </a:solidFill>
                      <a:prstDash val="solid"/>
                      <a:round/>
                      <a:headEnd type="none" w="med" len="med"/>
                      <a:tailEnd type="none" w="med" len="med"/>
                    </a:lnL>
                    <a:lnR w="7620" cap="flat" cmpd="sng" algn="ctr">
                      <a:solidFill>
                        <a:srgbClr val="000000"/>
                      </a:solidFill>
                      <a:prstDash val="solid"/>
                      <a:round/>
                      <a:headEnd type="none" w="med" len="med"/>
                      <a:tailEnd type="none" w="med" len="med"/>
                    </a:lnR>
                    <a:lnT w="7620" cap="flat" cmpd="sng" algn="ctr">
                      <a:solidFill>
                        <a:srgbClr val="000000"/>
                      </a:solidFill>
                      <a:prstDash val="solid"/>
                      <a:round/>
                      <a:headEnd type="none" w="med" len="med"/>
                      <a:tailEnd type="none" w="med" len="med"/>
                    </a:lnT>
                    <a:lnB w="7620" cap="flat" cmpd="sng" algn="ctr">
                      <a:solidFill>
                        <a:srgbClr val="000000"/>
                      </a:solidFill>
                      <a:prstDash val="solid"/>
                      <a:round/>
                      <a:headEnd type="none" w="med" len="med"/>
                      <a:tailEnd type="none" w="med" len="med"/>
                    </a:lnB>
                    <a:solidFill>
                      <a:srgbClr val="FFFFFF"/>
                    </a:solidFill>
                  </a:tcPr>
                </a:tc>
                <a:tc>
                  <a:txBody>
                    <a:bodyPr/>
                    <a:lstStyle/>
                    <a:p>
                      <a:pPr fontAlgn="t">
                        <a:buNone/>
                      </a:pPr>
                      <a:r>
                        <a:rPr lang="en-US">
                          <a:effectLst/>
                        </a:rPr>
                        <a:t>Creates the structure of a webpage</a:t>
                      </a:r>
                    </a:p>
                  </a:txBody>
                  <a:tcPr marL="76200" marR="76200" marT="76200" marB="76200">
                    <a:lnL w="7620" cap="flat" cmpd="sng" algn="ctr">
                      <a:solidFill>
                        <a:srgbClr val="000000"/>
                      </a:solidFill>
                      <a:prstDash val="solid"/>
                      <a:round/>
                      <a:headEnd type="none" w="med" len="med"/>
                      <a:tailEnd type="none" w="med" len="med"/>
                    </a:lnL>
                    <a:lnR w="7620" cap="flat" cmpd="sng" algn="ctr">
                      <a:solidFill>
                        <a:srgbClr val="000000"/>
                      </a:solidFill>
                      <a:prstDash val="solid"/>
                      <a:round/>
                      <a:headEnd type="none" w="med" len="med"/>
                      <a:tailEnd type="none" w="med" len="med"/>
                    </a:lnR>
                    <a:lnT w="7620" cap="flat" cmpd="sng" algn="ctr">
                      <a:solidFill>
                        <a:srgbClr val="000000"/>
                      </a:solidFill>
                      <a:prstDash val="solid"/>
                      <a:round/>
                      <a:headEnd type="none" w="med" len="med"/>
                      <a:tailEnd type="none" w="med" len="med"/>
                    </a:lnT>
                    <a:lnB w="7620" cap="flat" cmpd="sng" algn="ctr">
                      <a:solidFill>
                        <a:srgbClr val="000000"/>
                      </a:solidFill>
                      <a:prstDash val="solid"/>
                      <a:round/>
                      <a:headEnd type="none" w="med" len="med"/>
                      <a:tailEnd type="none" w="med" len="med"/>
                    </a:lnB>
                    <a:solidFill>
                      <a:srgbClr val="FFFFFF"/>
                    </a:solidFill>
                  </a:tcPr>
                </a:tc>
                <a:tc>
                  <a:txBody>
                    <a:bodyPr/>
                    <a:lstStyle/>
                    <a:p>
                      <a:pPr fontAlgn="t">
                        <a:buNone/>
                      </a:pPr>
                      <a:r>
                        <a:rPr lang="en-US">
                          <a:effectLst/>
                        </a:rPr>
                        <a:t>Styles the webpage (colors, layout, fonts)</a:t>
                      </a:r>
                    </a:p>
                  </a:txBody>
                  <a:tcPr marL="76200" marR="76200" marT="76200" marB="76200">
                    <a:lnL w="7620" cap="flat" cmpd="sng" algn="ctr">
                      <a:solidFill>
                        <a:srgbClr val="000000"/>
                      </a:solidFill>
                      <a:prstDash val="solid"/>
                      <a:round/>
                      <a:headEnd type="none" w="med" len="med"/>
                      <a:tailEnd type="none" w="med" len="med"/>
                    </a:lnL>
                    <a:lnR w="7620" cap="flat" cmpd="sng" algn="ctr">
                      <a:solidFill>
                        <a:srgbClr val="000000"/>
                      </a:solidFill>
                      <a:prstDash val="solid"/>
                      <a:round/>
                      <a:headEnd type="none" w="med" len="med"/>
                      <a:tailEnd type="none" w="med" len="med"/>
                    </a:lnR>
                    <a:lnT w="7620" cap="flat" cmpd="sng" algn="ctr">
                      <a:solidFill>
                        <a:srgbClr val="000000"/>
                      </a:solidFill>
                      <a:prstDash val="solid"/>
                      <a:round/>
                      <a:headEnd type="none" w="med" len="med"/>
                      <a:tailEnd type="none" w="med" len="med"/>
                    </a:lnT>
                    <a:lnB w="762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228457603"/>
                  </a:ext>
                </a:extLst>
              </a:tr>
              <a:tr h="0">
                <a:tc>
                  <a:txBody>
                    <a:bodyPr/>
                    <a:lstStyle/>
                    <a:p>
                      <a:pPr fontAlgn="t">
                        <a:buNone/>
                      </a:pPr>
                      <a:r>
                        <a:rPr lang="en-US" b="1">
                          <a:effectLst/>
                        </a:rPr>
                        <a:t>Function</a:t>
                      </a:r>
                    </a:p>
                  </a:txBody>
                  <a:tcPr marL="76200" marR="76200" marT="76200" marB="76200">
                    <a:lnL w="7620" cap="flat" cmpd="sng" algn="ctr">
                      <a:solidFill>
                        <a:srgbClr val="000000"/>
                      </a:solidFill>
                      <a:prstDash val="solid"/>
                      <a:round/>
                      <a:headEnd type="none" w="med" len="med"/>
                      <a:tailEnd type="none" w="med" len="med"/>
                    </a:lnL>
                    <a:lnR w="7620" cap="flat" cmpd="sng" algn="ctr">
                      <a:solidFill>
                        <a:srgbClr val="000000"/>
                      </a:solidFill>
                      <a:prstDash val="solid"/>
                      <a:round/>
                      <a:headEnd type="none" w="med" len="med"/>
                      <a:tailEnd type="none" w="med" len="med"/>
                    </a:lnR>
                    <a:lnT w="7620" cap="flat" cmpd="sng" algn="ctr">
                      <a:solidFill>
                        <a:srgbClr val="000000"/>
                      </a:solidFill>
                      <a:prstDash val="solid"/>
                      <a:round/>
                      <a:headEnd type="none" w="med" len="med"/>
                      <a:tailEnd type="none" w="med" len="med"/>
                    </a:lnT>
                    <a:lnB w="7620" cap="flat" cmpd="sng" algn="ctr">
                      <a:solidFill>
                        <a:srgbClr val="000000"/>
                      </a:solidFill>
                      <a:prstDash val="solid"/>
                      <a:round/>
                      <a:headEnd type="none" w="med" len="med"/>
                      <a:tailEnd type="none" w="med" len="med"/>
                    </a:lnB>
                    <a:solidFill>
                      <a:srgbClr val="FFFFFF"/>
                    </a:solidFill>
                  </a:tcPr>
                </a:tc>
                <a:tc>
                  <a:txBody>
                    <a:bodyPr/>
                    <a:lstStyle/>
                    <a:p>
                      <a:pPr fontAlgn="t">
                        <a:buNone/>
                      </a:pPr>
                      <a:r>
                        <a:rPr lang="en-US">
                          <a:effectLst/>
                        </a:rPr>
                        <a:t>Defines content (text, images, links)</a:t>
                      </a:r>
                    </a:p>
                  </a:txBody>
                  <a:tcPr marL="76200" marR="76200" marT="76200" marB="76200">
                    <a:lnL w="7620" cap="flat" cmpd="sng" algn="ctr">
                      <a:solidFill>
                        <a:srgbClr val="000000"/>
                      </a:solidFill>
                      <a:prstDash val="solid"/>
                      <a:round/>
                      <a:headEnd type="none" w="med" len="med"/>
                      <a:tailEnd type="none" w="med" len="med"/>
                    </a:lnL>
                    <a:lnR w="7620" cap="flat" cmpd="sng" algn="ctr">
                      <a:solidFill>
                        <a:srgbClr val="000000"/>
                      </a:solidFill>
                      <a:prstDash val="solid"/>
                      <a:round/>
                      <a:headEnd type="none" w="med" len="med"/>
                      <a:tailEnd type="none" w="med" len="med"/>
                    </a:lnR>
                    <a:lnT w="7620" cap="flat" cmpd="sng" algn="ctr">
                      <a:solidFill>
                        <a:srgbClr val="000000"/>
                      </a:solidFill>
                      <a:prstDash val="solid"/>
                      <a:round/>
                      <a:headEnd type="none" w="med" len="med"/>
                      <a:tailEnd type="none" w="med" len="med"/>
                    </a:lnT>
                    <a:lnB w="7620" cap="flat" cmpd="sng" algn="ctr">
                      <a:solidFill>
                        <a:srgbClr val="000000"/>
                      </a:solidFill>
                      <a:prstDash val="solid"/>
                      <a:round/>
                      <a:headEnd type="none" w="med" len="med"/>
                      <a:tailEnd type="none" w="med" len="med"/>
                    </a:lnB>
                    <a:solidFill>
                      <a:srgbClr val="FFFFFF"/>
                    </a:solidFill>
                  </a:tcPr>
                </a:tc>
                <a:tc>
                  <a:txBody>
                    <a:bodyPr/>
                    <a:lstStyle/>
                    <a:p>
                      <a:pPr fontAlgn="t">
                        <a:buNone/>
                      </a:pPr>
                      <a:r>
                        <a:rPr lang="en-US">
                          <a:effectLst/>
                        </a:rPr>
                        <a:t>Defines how the content looks</a:t>
                      </a:r>
                    </a:p>
                  </a:txBody>
                  <a:tcPr marL="76200" marR="76200" marT="76200" marB="76200">
                    <a:lnL w="7620" cap="flat" cmpd="sng" algn="ctr">
                      <a:solidFill>
                        <a:srgbClr val="000000"/>
                      </a:solidFill>
                      <a:prstDash val="solid"/>
                      <a:round/>
                      <a:headEnd type="none" w="med" len="med"/>
                      <a:tailEnd type="none" w="med" len="med"/>
                    </a:lnL>
                    <a:lnR w="7620" cap="flat" cmpd="sng" algn="ctr">
                      <a:solidFill>
                        <a:srgbClr val="000000"/>
                      </a:solidFill>
                      <a:prstDash val="solid"/>
                      <a:round/>
                      <a:headEnd type="none" w="med" len="med"/>
                      <a:tailEnd type="none" w="med" len="med"/>
                    </a:lnR>
                    <a:lnT w="7620" cap="flat" cmpd="sng" algn="ctr">
                      <a:solidFill>
                        <a:srgbClr val="000000"/>
                      </a:solidFill>
                      <a:prstDash val="solid"/>
                      <a:round/>
                      <a:headEnd type="none" w="med" len="med"/>
                      <a:tailEnd type="none" w="med" len="med"/>
                    </a:lnT>
                    <a:lnB w="762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3479113073"/>
                  </a:ext>
                </a:extLst>
              </a:tr>
              <a:tr h="0">
                <a:tc>
                  <a:txBody>
                    <a:bodyPr/>
                    <a:lstStyle/>
                    <a:p>
                      <a:pPr fontAlgn="t">
                        <a:buNone/>
                      </a:pPr>
                      <a:r>
                        <a:rPr lang="en-US" b="1">
                          <a:effectLst/>
                        </a:rPr>
                        <a:t>Syntax Example</a:t>
                      </a:r>
                    </a:p>
                  </a:txBody>
                  <a:tcPr marL="76200" marR="76200" marT="76200" marB="76200">
                    <a:lnL w="7620" cap="flat" cmpd="sng" algn="ctr">
                      <a:solidFill>
                        <a:srgbClr val="000000"/>
                      </a:solidFill>
                      <a:prstDash val="solid"/>
                      <a:round/>
                      <a:headEnd type="none" w="med" len="med"/>
                      <a:tailEnd type="none" w="med" len="med"/>
                    </a:lnL>
                    <a:lnR w="7620" cap="flat" cmpd="sng" algn="ctr">
                      <a:solidFill>
                        <a:srgbClr val="000000"/>
                      </a:solidFill>
                      <a:prstDash val="solid"/>
                      <a:round/>
                      <a:headEnd type="none" w="med" len="med"/>
                      <a:tailEnd type="none" w="med" len="med"/>
                    </a:lnR>
                    <a:lnT w="7620" cap="flat" cmpd="sng" algn="ctr">
                      <a:solidFill>
                        <a:srgbClr val="000000"/>
                      </a:solidFill>
                      <a:prstDash val="solid"/>
                      <a:round/>
                      <a:headEnd type="none" w="med" len="med"/>
                      <a:tailEnd type="none" w="med" len="med"/>
                    </a:lnT>
                    <a:lnB w="7620" cap="flat" cmpd="sng" algn="ctr">
                      <a:solidFill>
                        <a:srgbClr val="000000"/>
                      </a:solidFill>
                      <a:prstDash val="solid"/>
                      <a:round/>
                      <a:headEnd type="none" w="med" len="med"/>
                      <a:tailEnd type="none" w="med" len="med"/>
                    </a:lnB>
                    <a:solidFill>
                      <a:srgbClr val="FFFFFF"/>
                    </a:solidFill>
                  </a:tcPr>
                </a:tc>
                <a:tc>
                  <a:txBody>
                    <a:bodyPr/>
                    <a:lstStyle/>
                    <a:p>
                      <a:pPr fontAlgn="t">
                        <a:buNone/>
                      </a:pPr>
                      <a:r>
                        <a:rPr lang="en-US">
                          <a:effectLst/>
                          <a:latin typeface="Courier New" panose="02070309020205020404" pitchFamily="49" charset="0"/>
                        </a:rPr>
                        <a:t>&lt;p&gt;Hello&lt;/p&gt;</a:t>
                      </a:r>
                    </a:p>
                  </a:txBody>
                  <a:tcPr marL="76200" marR="76200" marT="76200" marB="76200">
                    <a:lnL w="7620" cap="flat" cmpd="sng" algn="ctr">
                      <a:solidFill>
                        <a:srgbClr val="000000"/>
                      </a:solidFill>
                      <a:prstDash val="solid"/>
                      <a:round/>
                      <a:headEnd type="none" w="med" len="med"/>
                      <a:tailEnd type="none" w="med" len="med"/>
                    </a:lnL>
                    <a:lnR w="7620" cap="flat" cmpd="sng" algn="ctr">
                      <a:solidFill>
                        <a:srgbClr val="000000"/>
                      </a:solidFill>
                      <a:prstDash val="solid"/>
                      <a:round/>
                      <a:headEnd type="none" w="med" len="med"/>
                      <a:tailEnd type="none" w="med" len="med"/>
                    </a:lnR>
                    <a:lnT w="7620" cap="flat" cmpd="sng" algn="ctr">
                      <a:solidFill>
                        <a:srgbClr val="000000"/>
                      </a:solidFill>
                      <a:prstDash val="solid"/>
                      <a:round/>
                      <a:headEnd type="none" w="med" len="med"/>
                      <a:tailEnd type="none" w="med" len="med"/>
                    </a:lnT>
                    <a:lnB w="7620" cap="flat" cmpd="sng" algn="ctr">
                      <a:solidFill>
                        <a:srgbClr val="000000"/>
                      </a:solidFill>
                      <a:prstDash val="solid"/>
                      <a:round/>
                      <a:headEnd type="none" w="med" len="med"/>
                      <a:tailEnd type="none" w="med" len="med"/>
                    </a:lnB>
                    <a:solidFill>
                      <a:srgbClr val="FFFFFF"/>
                    </a:solidFill>
                  </a:tcPr>
                </a:tc>
                <a:tc>
                  <a:txBody>
                    <a:bodyPr/>
                    <a:lstStyle/>
                    <a:p>
                      <a:pPr fontAlgn="t">
                        <a:buNone/>
                      </a:pPr>
                      <a:r>
                        <a:rPr lang="en-US">
                          <a:effectLst/>
                          <a:latin typeface="Courier New" panose="02070309020205020404" pitchFamily="49" charset="0"/>
                        </a:rPr>
                        <a:t>p {color: red;}</a:t>
                      </a:r>
                    </a:p>
                  </a:txBody>
                  <a:tcPr marL="76200" marR="76200" marT="76200" marB="76200">
                    <a:lnL w="7620" cap="flat" cmpd="sng" algn="ctr">
                      <a:solidFill>
                        <a:srgbClr val="000000"/>
                      </a:solidFill>
                      <a:prstDash val="solid"/>
                      <a:round/>
                      <a:headEnd type="none" w="med" len="med"/>
                      <a:tailEnd type="none" w="med" len="med"/>
                    </a:lnL>
                    <a:lnR w="7620" cap="flat" cmpd="sng" algn="ctr">
                      <a:solidFill>
                        <a:srgbClr val="000000"/>
                      </a:solidFill>
                      <a:prstDash val="solid"/>
                      <a:round/>
                      <a:headEnd type="none" w="med" len="med"/>
                      <a:tailEnd type="none" w="med" len="med"/>
                    </a:lnR>
                    <a:lnT w="7620" cap="flat" cmpd="sng" algn="ctr">
                      <a:solidFill>
                        <a:srgbClr val="000000"/>
                      </a:solidFill>
                      <a:prstDash val="solid"/>
                      <a:round/>
                      <a:headEnd type="none" w="med" len="med"/>
                      <a:tailEnd type="none" w="med" len="med"/>
                    </a:lnT>
                    <a:lnB w="762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3960079382"/>
                  </a:ext>
                </a:extLst>
              </a:tr>
              <a:tr h="0">
                <a:tc>
                  <a:txBody>
                    <a:bodyPr/>
                    <a:lstStyle/>
                    <a:p>
                      <a:pPr fontAlgn="t">
                        <a:buNone/>
                      </a:pPr>
                      <a:r>
                        <a:rPr lang="en-US" b="1">
                          <a:effectLst/>
                        </a:rPr>
                        <a:t>File Type</a:t>
                      </a:r>
                    </a:p>
                  </a:txBody>
                  <a:tcPr marL="76200" marR="76200" marT="76200" marB="76200">
                    <a:lnL w="7620" cap="flat" cmpd="sng" algn="ctr">
                      <a:solidFill>
                        <a:srgbClr val="000000"/>
                      </a:solidFill>
                      <a:prstDash val="solid"/>
                      <a:round/>
                      <a:headEnd type="none" w="med" len="med"/>
                      <a:tailEnd type="none" w="med" len="med"/>
                    </a:lnL>
                    <a:lnR w="7620" cap="flat" cmpd="sng" algn="ctr">
                      <a:solidFill>
                        <a:srgbClr val="000000"/>
                      </a:solidFill>
                      <a:prstDash val="solid"/>
                      <a:round/>
                      <a:headEnd type="none" w="med" len="med"/>
                      <a:tailEnd type="none" w="med" len="med"/>
                    </a:lnR>
                    <a:lnT w="7620" cap="flat" cmpd="sng" algn="ctr">
                      <a:solidFill>
                        <a:srgbClr val="000000"/>
                      </a:solidFill>
                      <a:prstDash val="solid"/>
                      <a:round/>
                      <a:headEnd type="none" w="med" len="med"/>
                      <a:tailEnd type="none" w="med" len="med"/>
                    </a:lnT>
                    <a:lnB w="7620" cap="flat" cmpd="sng" algn="ctr">
                      <a:solidFill>
                        <a:srgbClr val="000000"/>
                      </a:solidFill>
                      <a:prstDash val="solid"/>
                      <a:round/>
                      <a:headEnd type="none" w="med" len="med"/>
                      <a:tailEnd type="none" w="med" len="med"/>
                    </a:lnB>
                    <a:solidFill>
                      <a:srgbClr val="FFFFFF"/>
                    </a:solidFill>
                  </a:tcPr>
                </a:tc>
                <a:tc>
                  <a:txBody>
                    <a:bodyPr/>
                    <a:lstStyle/>
                    <a:p>
                      <a:pPr fontAlgn="t">
                        <a:buNone/>
                      </a:pPr>
                      <a:r>
                        <a:rPr lang="en-US">
                          <a:effectLst/>
                          <a:latin typeface="Courier New" panose="02070309020205020404" pitchFamily="49" charset="0"/>
                        </a:rPr>
                        <a:t>.html</a:t>
                      </a:r>
                    </a:p>
                  </a:txBody>
                  <a:tcPr marL="76200" marR="76200" marT="76200" marB="76200">
                    <a:lnL w="7620" cap="flat" cmpd="sng" algn="ctr">
                      <a:solidFill>
                        <a:srgbClr val="000000"/>
                      </a:solidFill>
                      <a:prstDash val="solid"/>
                      <a:round/>
                      <a:headEnd type="none" w="med" len="med"/>
                      <a:tailEnd type="none" w="med" len="med"/>
                    </a:lnL>
                    <a:lnR w="7620" cap="flat" cmpd="sng" algn="ctr">
                      <a:solidFill>
                        <a:srgbClr val="000000"/>
                      </a:solidFill>
                      <a:prstDash val="solid"/>
                      <a:round/>
                      <a:headEnd type="none" w="med" len="med"/>
                      <a:tailEnd type="none" w="med" len="med"/>
                    </a:lnR>
                    <a:lnT w="7620" cap="flat" cmpd="sng" algn="ctr">
                      <a:solidFill>
                        <a:srgbClr val="000000"/>
                      </a:solidFill>
                      <a:prstDash val="solid"/>
                      <a:round/>
                      <a:headEnd type="none" w="med" len="med"/>
                      <a:tailEnd type="none" w="med" len="med"/>
                    </a:lnT>
                    <a:lnB w="7620" cap="flat" cmpd="sng" algn="ctr">
                      <a:solidFill>
                        <a:srgbClr val="000000"/>
                      </a:solidFill>
                      <a:prstDash val="solid"/>
                      <a:round/>
                      <a:headEnd type="none" w="med" len="med"/>
                      <a:tailEnd type="none" w="med" len="med"/>
                    </a:lnB>
                    <a:solidFill>
                      <a:srgbClr val="FFFFFF"/>
                    </a:solidFill>
                  </a:tcPr>
                </a:tc>
                <a:tc>
                  <a:txBody>
                    <a:bodyPr/>
                    <a:lstStyle/>
                    <a:p>
                      <a:pPr fontAlgn="t">
                        <a:buNone/>
                      </a:pPr>
                      <a:r>
                        <a:rPr lang="en-US" dirty="0">
                          <a:effectLst/>
                          <a:latin typeface="Courier New" panose="02070309020205020404" pitchFamily="49" charset="0"/>
                        </a:rPr>
                        <a:t>.</a:t>
                      </a:r>
                      <a:r>
                        <a:rPr lang="en-US" dirty="0" err="1">
                          <a:effectLst/>
                          <a:latin typeface="Courier New" panose="02070309020205020404" pitchFamily="49" charset="0"/>
                        </a:rPr>
                        <a:t>css</a:t>
                      </a:r>
                      <a:endParaRPr lang="en-US" dirty="0">
                        <a:effectLst/>
                        <a:latin typeface="Courier New" panose="02070309020205020404" pitchFamily="49" charset="0"/>
                      </a:endParaRPr>
                    </a:p>
                  </a:txBody>
                  <a:tcPr marL="76200" marR="76200" marT="76200" marB="76200">
                    <a:lnL w="7620" cap="flat" cmpd="sng" algn="ctr">
                      <a:solidFill>
                        <a:srgbClr val="000000"/>
                      </a:solidFill>
                      <a:prstDash val="solid"/>
                      <a:round/>
                      <a:headEnd type="none" w="med" len="med"/>
                      <a:tailEnd type="none" w="med" len="med"/>
                    </a:lnL>
                    <a:lnR w="7620" cap="flat" cmpd="sng" algn="ctr">
                      <a:solidFill>
                        <a:srgbClr val="000000"/>
                      </a:solidFill>
                      <a:prstDash val="solid"/>
                      <a:round/>
                      <a:headEnd type="none" w="med" len="med"/>
                      <a:tailEnd type="none" w="med" len="med"/>
                    </a:lnR>
                    <a:lnT w="7620" cap="flat" cmpd="sng" algn="ctr">
                      <a:solidFill>
                        <a:srgbClr val="000000"/>
                      </a:solidFill>
                      <a:prstDash val="solid"/>
                      <a:round/>
                      <a:headEnd type="none" w="med" len="med"/>
                      <a:tailEnd type="none" w="med" len="med"/>
                    </a:lnT>
                    <a:lnB w="762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3049484614"/>
                  </a:ext>
                </a:extLst>
              </a:tr>
            </a:tbl>
          </a:graphicData>
        </a:graphic>
      </p:graphicFrame>
    </p:spTree>
    <p:extLst>
      <p:ext uri="{BB962C8B-B14F-4D97-AF65-F5344CB8AC3E}">
        <p14:creationId xmlns:p14="http://schemas.microsoft.com/office/powerpoint/2010/main" val="214576156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77B41F-6114-4AA2-952A-6083A34CF3D1}"/>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D994D778-D069-E1A0-0980-94747602CDC6}"/>
              </a:ext>
            </a:extLst>
          </p:cNvPr>
          <p:cNvSpPr txBox="1"/>
          <p:nvPr/>
        </p:nvSpPr>
        <p:spPr>
          <a:xfrm>
            <a:off x="241110" y="121684"/>
            <a:ext cx="9421505" cy="6076022"/>
          </a:xfrm>
          <a:prstGeom prst="rect">
            <a:avLst/>
          </a:prstGeom>
          <a:noFill/>
        </p:spPr>
        <p:txBody>
          <a:bodyPr wrap="square">
            <a:spAutoFit/>
          </a:bodyPr>
          <a:lstStyle/>
          <a:p>
            <a:pPr algn="l">
              <a:lnSpc>
                <a:spcPts val="2100"/>
              </a:lnSpc>
              <a:spcBef>
                <a:spcPts val="2400"/>
              </a:spcBef>
              <a:spcAft>
                <a:spcPts val="1800"/>
              </a:spcAft>
              <a:buNone/>
            </a:pPr>
            <a:r>
              <a:rPr lang="en-US" b="0" i="0" dirty="0">
                <a:solidFill>
                  <a:srgbClr val="272C37"/>
                </a:solidFill>
                <a:effectLst/>
                <a:latin typeface="Roboto" panose="02000000000000000000" pitchFamily="2" charset="0"/>
              </a:rPr>
              <a:t>17. Are the HTML tags and elements the same thing?</a:t>
            </a:r>
          </a:p>
          <a:p>
            <a:pPr algn="just">
              <a:lnSpc>
                <a:spcPts val="2100"/>
              </a:lnSpc>
              <a:spcBef>
                <a:spcPts val="1650"/>
              </a:spcBef>
              <a:buNone/>
            </a:pPr>
            <a:r>
              <a:rPr lang="en-US" b="0" i="0" dirty="0">
                <a:solidFill>
                  <a:srgbClr val="3A3A3A"/>
                </a:solidFill>
                <a:effectLst/>
                <a:latin typeface="Roboto" panose="02000000000000000000" pitchFamily="2" charset="0"/>
              </a:rPr>
              <a:t>No, they are not exactly the same, but they are closely related. A tag is just the markup used to define an element. It includes the start tag and sometimes an end tag. An element is the complete structure. It includes the tags and the content inside.</a:t>
            </a:r>
          </a:p>
          <a:p>
            <a:pPr algn="l">
              <a:lnSpc>
                <a:spcPts val="2100"/>
              </a:lnSpc>
              <a:spcBef>
                <a:spcPts val="2400"/>
              </a:spcBef>
              <a:spcAft>
                <a:spcPts val="1800"/>
              </a:spcAft>
              <a:buNone/>
            </a:pPr>
            <a:r>
              <a:rPr lang="en-US" b="0" i="0" dirty="0">
                <a:solidFill>
                  <a:srgbClr val="272C37"/>
                </a:solidFill>
                <a:effectLst/>
                <a:latin typeface="Roboto" panose="02000000000000000000" pitchFamily="2" charset="0"/>
              </a:rPr>
              <a:t>18. What are void elements in HTML?</a:t>
            </a:r>
          </a:p>
          <a:p>
            <a:pPr algn="just">
              <a:lnSpc>
                <a:spcPts val="2100"/>
              </a:lnSpc>
              <a:spcBef>
                <a:spcPts val="1650"/>
              </a:spcBef>
              <a:buNone/>
            </a:pPr>
            <a:r>
              <a:rPr lang="en-US" b="0" i="0" dirty="0">
                <a:solidFill>
                  <a:srgbClr val="3A3A3A"/>
                </a:solidFill>
                <a:effectLst/>
                <a:latin typeface="Roboto" panose="02000000000000000000" pitchFamily="2" charset="0"/>
              </a:rPr>
              <a:t>Void elements are HTML elements that do not have a closing tag and do not contain any content.</a:t>
            </a:r>
          </a:p>
          <a:p>
            <a:pPr algn="just">
              <a:lnSpc>
                <a:spcPts val="2100"/>
              </a:lnSpc>
              <a:spcBef>
                <a:spcPts val="750"/>
              </a:spcBef>
              <a:buNone/>
            </a:pPr>
            <a:r>
              <a:rPr lang="en-US" b="0" i="0" dirty="0">
                <a:solidFill>
                  <a:srgbClr val="3A3A3A"/>
                </a:solidFill>
                <a:effectLst/>
                <a:latin typeface="Roboto" panose="02000000000000000000" pitchFamily="2" charset="0"/>
              </a:rPr>
              <a:t>Example: </a:t>
            </a:r>
            <a:r>
              <a:rPr lang="en-US" b="0" i="0" u="none" strike="noStrike" dirty="0">
                <a:solidFill>
                  <a:srgbClr val="0F5A9E"/>
                </a:solidFill>
                <a:effectLst/>
                <a:latin typeface="Roboto" panose="02000000000000000000" pitchFamily="2" charset="0"/>
                <a:hlinkClick r:id="rId2"/>
              </a:rPr>
              <a:t>&lt;</a:t>
            </a:r>
            <a:r>
              <a:rPr lang="en-US" b="0" i="0" u="none" strike="noStrike" dirty="0" err="1">
                <a:solidFill>
                  <a:srgbClr val="0F5A9E"/>
                </a:solidFill>
                <a:effectLst/>
                <a:latin typeface="Roboto" panose="02000000000000000000" pitchFamily="2" charset="0"/>
                <a:hlinkClick r:id="rId2"/>
              </a:rPr>
              <a:t>br</a:t>
            </a:r>
            <a:r>
              <a:rPr lang="en-US" b="0" i="0" u="none" strike="noStrike" dirty="0">
                <a:solidFill>
                  <a:srgbClr val="0F5A9E"/>
                </a:solidFill>
                <a:effectLst/>
                <a:latin typeface="Roboto" panose="02000000000000000000" pitchFamily="2" charset="0"/>
                <a:hlinkClick r:id="rId2"/>
              </a:rPr>
              <a:t>&gt;</a:t>
            </a:r>
            <a:r>
              <a:rPr lang="en-US" b="0" i="0" dirty="0">
                <a:solidFill>
                  <a:srgbClr val="3A3A3A"/>
                </a:solidFill>
                <a:effectLst/>
                <a:latin typeface="Roboto" panose="02000000000000000000" pitchFamily="2" charset="0"/>
              </a:rPr>
              <a:t>, &lt;</a:t>
            </a:r>
            <a:r>
              <a:rPr lang="en-US" b="0" i="0" dirty="0" err="1">
                <a:solidFill>
                  <a:srgbClr val="3A3A3A"/>
                </a:solidFill>
                <a:effectLst/>
                <a:latin typeface="Roboto" panose="02000000000000000000" pitchFamily="2" charset="0"/>
              </a:rPr>
              <a:t>img</a:t>
            </a:r>
            <a:r>
              <a:rPr lang="en-US" b="0" i="0" dirty="0">
                <a:solidFill>
                  <a:srgbClr val="3A3A3A"/>
                </a:solidFill>
                <a:effectLst/>
                <a:latin typeface="Roboto" panose="02000000000000000000" pitchFamily="2" charset="0"/>
              </a:rPr>
              <a:t>&gt;, &lt;input&gt;, &lt;meta&gt;, &lt;link&gt;</a:t>
            </a:r>
          </a:p>
          <a:p>
            <a:pPr algn="l">
              <a:lnSpc>
                <a:spcPts val="2100"/>
              </a:lnSpc>
              <a:spcBef>
                <a:spcPts val="2400"/>
              </a:spcBef>
              <a:spcAft>
                <a:spcPts val="1800"/>
              </a:spcAft>
              <a:buNone/>
            </a:pPr>
            <a:r>
              <a:rPr lang="en-US" b="0" i="0" dirty="0">
                <a:solidFill>
                  <a:srgbClr val="272C37"/>
                </a:solidFill>
                <a:effectLst/>
                <a:latin typeface="Roboto" panose="02000000000000000000" pitchFamily="2" charset="0"/>
              </a:rPr>
              <a:t>19. How do you insert a comment in HTML?</a:t>
            </a:r>
          </a:p>
          <a:p>
            <a:pPr algn="just">
              <a:lnSpc>
                <a:spcPts val="2100"/>
              </a:lnSpc>
              <a:spcBef>
                <a:spcPts val="1650"/>
              </a:spcBef>
              <a:buNone/>
            </a:pPr>
            <a:r>
              <a:rPr lang="en-US" b="0" i="0" dirty="0">
                <a:solidFill>
                  <a:srgbClr val="3A3A3A"/>
                </a:solidFill>
                <a:effectLst/>
                <a:latin typeface="Roboto" panose="02000000000000000000" pitchFamily="2" charset="0"/>
              </a:rPr>
              <a:t>You insert a comment in HTML using the following syntax:</a:t>
            </a:r>
          </a:p>
          <a:p>
            <a:pPr algn="l">
              <a:spcBef>
                <a:spcPts val="1125"/>
              </a:spcBef>
              <a:spcAft>
                <a:spcPts val="375"/>
              </a:spcAft>
              <a:buNone/>
            </a:pPr>
            <a:r>
              <a:rPr lang="en-US" b="0" i="0" dirty="0">
                <a:solidFill>
                  <a:srgbClr val="212529"/>
                </a:solidFill>
                <a:effectLst/>
                <a:latin typeface="Courier New" panose="02070309020205020404" pitchFamily="49" charset="0"/>
              </a:rPr>
              <a:t>&lt;!-- This is a comment --&gt;</a:t>
            </a:r>
          </a:p>
          <a:p>
            <a:pPr algn="just">
              <a:lnSpc>
                <a:spcPts val="2100"/>
              </a:lnSpc>
              <a:spcBef>
                <a:spcPts val="1650"/>
              </a:spcBef>
              <a:buNone/>
            </a:pPr>
            <a:r>
              <a:rPr lang="en-US" b="0" i="0" dirty="0">
                <a:solidFill>
                  <a:srgbClr val="3A3A3A"/>
                </a:solidFill>
                <a:effectLst/>
                <a:latin typeface="Roboto" panose="02000000000000000000" pitchFamily="2" charset="0"/>
              </a:rPr>
              <a:t>Anything inside &lt;!– and –&gt; will be ignored by the browser and won’t be shown on the webpage. Comments are useful for adding notes or explanations in your code.</a:t>
            </a:r>
          </a:p>
        </p:txBody>
      </p:sp>
    </p:spTree>
    <p:extLst>
      <p:ext uri="{BB962C8B-B14F-4D97-AF65-F5344CB8AC3E}">
        <p14:creationId xmlns:p14="http://schemas.microsoft.com/office/powerpoint/2010/main" val="255503317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D5E068-DA3F-7C9A-61FF-2FCD6CDF2022}"/>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0481F67B-A20C-EC03-C8A5-E6EF8EAB1652}"/>
              </a:ext>
            </a:extLst>
          </p:cNvPr>
          <p:cNvSpPr txBox="1"/>
          <p:nvPr/>
        </p:nvSpPr>
        <p:spPr>
          <a:xfrm>
            <a:off x="2477069" y="2219260"/>
            <a:ext cx="4954136" cy="2426305"/>
          </a:xfrm>
          <a:prstGeom prst="rect">
            <a:avLst/>
          </a:prstGeom>
          <a:noFill/>
        </p:spPr>
        <p:txBody>
          <a:bodyPr wrap="square">
            <a:spAutoFit/>
          </a:bodyPr>
          <a:lstStyle/>
          <a:p>
            <a:pPr algn="l">
              <a:lnSpc>
                <a:spcPts val="2100"/>
              </a:lnSpc>
              <a:spcBef>
                <a:spcPts val="2400"/>
              </a:spcBef>
              <a:spcAft>
                <a:spcPts val="1800"/>
              </a:spcAft>
              <a:buNone/>
            </a:pPr>
            <a:r>
              <a:rPr lang="en-US" b="0" i="0" dirty="0">
                <a:solidFill>
                  <a:srgbClr val="272C37"/>
                </a:solidFill>
                <a:effectLst/>
                <a:latin typeface="Roboto" panose="02000000000000000000" pitchFamily="2" charset="0"/>
              </a:rPr>
              <a:t>20. What are HTML Entities?</a:t>
            </a:r>
          </a:p>
          <a:p>
            <a:pPr algn="just">
              <a:lnSpc>
                <a:spcPts val="2100"/>
              </a:lnSpc>
              <a:spcBef>
                <a:spcPts val="1650"/>
              </a:spcBef>
              <a:buNone/>
            </a:pPr>
            <a:r>
              <a:rPr lang="en-US" b="0" i="0" dirty="0">
                <a:solidFill>
                  <a:srgbClr val="3A3A3A"/>
                </a:solidFill>
                <a:effectLst/>
                <a:latin typeface="Roboto" panose="02000000000000000000" pitchFamily="2" charset="0"/>
              </a:rPr>
              <a:t>HTML Entities are special codes used to display reserved characters or characters that are not easily typed in HTML. Some characters like &lt;, &gt;, &amp;, or “ have special meanings in HTML. To show them as normal text, you use HTML entities.</a:t>
            </a:r>
          </a:p>
        </p:txBody>
      </p:sp>
    </p:spTree>
    <p:extLst>
      <p:ext uri="{BB962C8B-B14F-4D97-AF65-F5344CB8AC3E}">
        <p14:creationId xmlns:p14="http://schemas.microsoft.com/office/powerpoint/2010/main" val="216884572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38208D-0985-00C8-9982-1D94173FECE5}"/>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08D8EAC0-7329-2BBD-D0E7-594D518AD28D}"/>
              </a:ext>
            </a:extLst>
          </p:cNvPr>
          <p:cNvSpPr txBox="1"/>
          <p:nvPr/>
        </p:nvSpPr>
        <p:spPr>
          <a:xfrm>
            <a:off x="156950" y="135027"/>
            <a:ext cx="7253784" cy="1002839"/>
          </a:xfrm>
          <a:prstGeom prst="rect">
            <a:avLst/>
          </a:prstGeom>
          <a:noFill/>
        </p:spPr>
        <p:txBody>
          <a:bodyPr wrap="square">
            <a:spAutoFit/>
          </a:bodyPr>
          <a:lstStyle/>
          <a:p>
            <a:pPr algn="l">
              <a:lnSpc>
                <a:spcPts val="2550"/>
              </a:lnSpc>
              <a:spcBef>
                <a:spcPts val="3000"/>
              </a:spcBef>
              <a:buNone/>
            </a:pPr>
            <a:r>
              <a:rPr lang="en-US" b="0" i="0" dirty="0">
                <a:solidFill>
                  <a:srgbClr val="272C37"/>
                </a:solidFill>
                <a:effectLst/>
                <a:latin typeface="Roboto" panose="02000000000000000000" pitchFamily="2" charset="0"/>
              </a:rPr>
              <a:t>HTML Interview Questions for Experienced</a:t>
            </a:r>
          </a:p>
          <a:p>
            <a:pPr algn="l">
              <a:lnSpc>
                <a:spcPts val="2100"/>
              </a:lnSpc>
              <a:spcBef>
                <a:spcPts val="2400"/>
              </a:spcBef>
              <a:spcAft>
                <a:spcPts val="1800"/>
              </a:spcAft>
              <a:buNone/>
            </a:pPr>
            <a:r>
              <a:rPr lang="en-US" b="0" i="0" dirty="0">
                <a:solidFill>
                  <a:srgbClr val="272C37"/>
                </a:solidFill>
                <a:effectLst/>
                <a:latin typeface="Roboto" panose="02000000000000000000" pitchFamily="2" charset="0"/>
              </a:rPr>
              <a:t>21. What is the difference between HTML and XHTML?</a:t>
            </a:r>
          </a:p>
        </p:txBody>
      </p:sp>
      <p:graphicFrame>
        <p:nvGraphicFramePr>
          <p:cNvPr id="4" name="Table 3">
            <a:extLst>
              <a:ext uri="{FF2B5EF4-FFF2-40B4-BE49-F238E27FC236}">
                <a16:creationId xmlns:a16="http://schemas.microsoft.com/office/drawing/2014/main" id="{4D16B45B-48A1-9763-8F9C-DF1AEE5E07AF}"/>
              </a:ext>
            </a:extLst>
          </p:cNvPr>
          <p:cNvGraphicFramePr>
            <a:graphicFrameLocks noGrp="1"/>
          </p:cNvGraphicFramePr>
          <p:nvPr>
            <p:extLst>
              <p:ext uri="{D42A27DB-BD31-4B8C-83A1-F6EECF244321}">
                <p14:modId xmlns:p14="http://schemas.microsoft.com/office/powerpoint/2010/main" val="3026827181"/>
              </p:ext>
            </p:extLst>
          </p:nvPr>
        </p:nvGraphicFramePr>
        <p:xfrm>
          <a:off x="380787" y="1137866"/>
          <a:ext cx="8543925" cy="2834640"/>
        </p:xfrm>
        <a:graphic>
          <a:graphicData uri="http://schemas.openxmlformats.org/drawingml/2006/table">
            <a:tbl>
              <a:tblPr/>
              <a:tblGrid>
                <a:gridCol w="2847975">
                  <a:extLst>
                    <a:ext uri="{9D8B030D-6E8A-4147-A177-3AD203B41FA5}">
                      <a16:colId xmlns:a16="http://schemas.microsoft.com/office/drawing/2014/main" val="99562855"/>
                    </a:ext>
                  </a:extLst>
                </a:gridCol>
                <a:gridCol w="2847975">
                  <a:extLst>
                    <a:ext uri="{9D8B030D-6E8A-4147-A177-3AD203B41FA5}">
                      <a16:colId xmlns:a16="http://schemas.microsoft.com/office/drawing/2014/main" val="1640135000"/>
                    </a:ext>
                  </a:extLst>
                </a:gridCol>
                <a:gridCol w="2847975">
                  <a:extLst>
                    <a:ext uri="{9D8B030D-6E8A-4147-A177-3AD203B41FA5}">
                      <a16:colId xmlns:a16="http://schemas.microsoft.com/office/drawing/2014/main" val="902505265"/>
                    </a:ext>
                  </a:extLst>
                </a:gridCol>
              </a:tblGrid>
              <a:tr h="0">
                <a:tc>
                  <a:txBody>
                    <a:bodyPr/>
                    <a:lstStyle/>
                    <a:p>
                      <a:pPr algn="ctr" fontAlgn="t">
                        <a:buNone/>
                      </a:pPr>
                      <a:r>
                        <a:rPr lang="en-US" b="1">
                          <a:solidFill>
                            <a:srgbClr val="FFFFFF"/>
                          </a:solidFill>
                          <a:effectLst/>
                        </a:rPr>
                        <a:t>Aspect</a:t>
                      </a:r>
                    </a:p>
                  </a:txBody>
                  <a:tcPr marT="91440" marB="91440">
                    <a:lnL w="7620" cap="flat" cmpd="sng" algn="ctr">
                      <a:solidFill>
                        <a:srgbClr val="000000"/>
                      </a:solidFill>
                      <a:prstDash val="solid"/>
                      <a:round/>
                      <a:headEnd type="none" w="med" len="med"/>
                      <a:tailEnd type="none" w="med" len="med"/>
                    </a:lnL>
                    <a:lnR w="7620" cap="flat" cmpd="sng" algn="ctr">
                      <a:solidFill>
                        <a:srgbClr val="000000"/>
                      </a:solidFill>
                      <a:prstDash val="solid"/>
                      <a:round/>
                      <a:headEnd type="none" w="med" len="med"/>
                      <a:tailEnd type="none" w="med" len="med"/>
                    </a:lnR>
                    <a:lnT w="7620" cap="flat" cmpd="sng" algn="ctr">
                      <a:solidFill>
                        <a:srgbClr val="000000"/>
                      </a:solidFill>
                      <a:prstDash val="solid"/>
                      <a:round/>
                      <a:headEnd type="none" w="med" len="med"/>
                      <a:tailEnd type="none" w="med" len="med"/>
                    </a:lnT>
                    <a:lnB w="7620" cap="flat" cmpd="sng" algn="ctr">
                      <a:solidFill>
                        <a:srgbClr val="000000"/>
                      </a:solidFill>
                      <a:prstDash val="solid"/>
                      <a:round/>
                      <a:headEnd type="none" w="med" len="med"/>
                      <a:tailEnd type="none" w="med" len="med"/>
                    </a:lnB>
                    <a:solidFill>
                      <a:srgbClr val="008DD9"/>
                    </a:solidFill>
                  </a:tcPr>
                </a:tc>
                <a:tc>
                  <a:txBody>
                    <a:bodyPr/>
                    <a:lstStyle/>
                    <a:p>
                      <a:pPr algn="ctr" fontAlgn="t">
                        <a:buNone/>
                      </a:pPr>
                      <a:r>
                        <a:rPr lang="en-US" b="1">
                          <a:solidFill>
                            <a:srgbClr val="FFFFFF"/>
                          </a:solidFill>
                          <a:effectLst/>
                        </a:rPr>
                        <a:t>HTML</a:t>
                      </a:r>
                    </a:p>
                  </a:txBody>
                  <a:tcPr marT="91440" marB="91440">
                    <a:lnL w="7620" cap="flat" cmpd="sng" algn="ctr">
                      <a:solidFill>
                        <a:srgbClr val="000000"/>
                      </a:solidFill>
                      <a:prstDash val="solid"/>
                      <a:round/>
                      <a:headEnd type="none" w="med" len="med"/>
                      <a:tailEnd type="none" w="med" len="med"/>
                    </a:lnL>
                    <a:lnR w="7620" cap="flat" cmpd="sng" algn="ctr">
                      <a:solidFill>
                        <a:srgbClr val="000000"/>
                      </a:solidFill>
                      <a:prstDash val="solid"/>
                      <a:round/>
                      <a:headEnd type="none" w="med" len="med"/>
                      <a:tailEnd type="none" w="med" len="med"/>
                    </a:lnR>
                    <a:lnT w="7620" cap="flat" cmpd="sng" algn="ctr">
                      <a:solidFill>
                        <a:srgbClr val="000000"/>
                      </a:solidFill>
                      <a:prstDash val="solid"/>
                      <a:round/>
                      <a:headEnd type="none" w="med" len="med"/>
                      <a:tailEnd type="none" w="med" len="med"/>
                    </a:lnT>
                    <a:lnB w="7620" cap="flat" cmpd="sng" algn="ctr">
                      <a:solidFill>
                        <a:srgbClr val="000000"/>
                      </a:solidFill>
                      <a:prstDash val="solid"/>
                      <a:round/>
                      <a:headEnd type="none" w="med" len="med"/>
                      <a:tailEnd type="none" w="med" len="med"/>
                    </a:lnB>
                    <a:solidFill>
                      <a:srgbClr val="008DD9"/>
                    </a:solidFill>
                  </a:tcPr>
                </a:tc>
                <a:tc>
                  <a:txBody>
                    <a:bodyPr/>
                    <a:lstStyle/>
                    <a:p>
                      <a:pPr algn="ctr" fontAlgn="t">
                        <a:buNone/>
                      </a:pPr>
                      <a:r>
                        <a:rPr lang="en-US" b="1">
                          <a:solidFill>
                            <a:srgbClr val="FFFFFF"/>
                          </a:solidFill>
                          <a:effectLst/>
                        </a:rPr>
                        <a:t>XHTML</a:t>
                      </a:r>
                    </a:p>
                  </a:txBody>
                  <a:tcPr marT="91440" marB="91440">
                    <a:lnL w="7620" cap="flat" cmpd="sng" algn="ctr">
                      <a:solidFill>
                        <a:srgbClr val="000000"/>
                      </a:solidFill>
                      <a:prstDash val="solid"/>
                      <a:round/>
                      <a:headEnd type="none" w="med" len="med"/>
                      <a:tailEnd type="none" w="med" len="med"/>
                    </a:lnL>
                    <a:lnR w="7620" cap="flat" cmpd="sng" algn="ctr">
                      <a:solidFill>
                        <a:srgbClr val="000000"/>
                      </a:solidFill>
                      <a:prstDash val="solid"/>
                      <a:round/>
                      <a:headEnd type="none" w="med" len="med"/>
                      <a:tailEnd type="none" w="med" len="med"/>
                    </a:lnR>
                    <a:lnT w="7620" cap="flat" cmpd="sng" algn="ctr">
                      <a:solidFill>
                        <a:srgbClr val="000000"/>
                      </a:solidFill>
                      <a:prstDash val="solid"/>
                      <a:round/>
                      <a:headEnd type="none" w="med" len="med"/>
                      <a:tailEnd type="none" w="med" len="med"/>
                    </a:lnT>
                    <a:lnB w="7620" cap="flat" cmpd="sng" algn="ctr">
                      <a:solidFill>
                        <a:srgbClr val="000000"/>
                      </a:solidFill>
                      <a:prstDash val="solid"/>
                      <a:round/>
                      <a:headEnd type="none" w="med" len="med"/>
                      <a:tailEnd type="none" w="med" len="med"/>
                    </a:lnB>
                    <a:solidFill>
                      <a:srgbClr val="008DD9"/>
                    </a:solidFill>
                  </a:tcPr>
                </a:tc>
                <a:extLst>
                  <a:ext uri="{0D108BD9-81ED-4DB2-BD59-A6C34878D82A}">
                    <a16:rowId xmlns:a16="http://schemas.microsoft.com/office/drawing/2014/main" val="3896091843"/>
                  </a:ext>
                </a:extLst>
              </a:tr>
              <a:tr h="0">
                <a:tc>
                  <a:txBody>
                    <a:bodyPr/>
                    <a:lstStyle/>
                    <a:p>
                      <a:pPr fontAlgn="t">
                        <a:buNone/>
                      </a:pPr>
                      <a:r>
                        <a:rPr lang="en-US" b="1">
                          <a:effectLst/>
                        </a:rPr>
                        <a:t>Syntax</a:t>
                      </a:r>
                    </a:p>
                  </a:txBody>
                  <a:tcPr marL="76200" marR="76200" marT="76200" marB="76200">
                    <a:lnL w="7620" cap="flat" cmpd="sng" algn="ctr">
                      <a:solidFill>
                        <a:srgbClr val="000000"/>
                      </a:solidFill>
                      <a:prstDash val="solid"/>
                      <a:round/>
                      <a:headEnd type="none" w="med" len="med"/>
                      <a:tailEnd type="none" w="med" len="med"/>
                    </a:lnL>
                    <a:lnR w="7620" cap="flat" cmpd="sng" algn="ctr">
                      <a:solidFill>
                        <a:srgbClr val="000000"/>
                      </a:solidFill>
                      <a:prstDash val="solid"/>
                      <a:round/>
                      <a:headEnd type="none" w="med" len="med"/>
                      <a:tailEnd type="none" w="med" len="med"/>
                    </a:lnR>
                    <a:lnT w="7620" cap="flat" cmpd="sng" algn="ctr">
                      <a:solidFill>
                        <a:srgbClr val="000000"/>
                      </a:solidFill>
                      <a:prstDash val="solid"/>
                      <a:round/>
                      <a:headEnd type="none" w="med" len="med"/>
                      <a:tailEnd type="none" w="med" len="med"/>
                    </a:lnT>
                    <a:lnB w="7620" cap="flat" cmpd="sng" algn="ctr">
                      <a:solidFill>
                        <a:srgbClr val="000000"/>
                      </a:solidFill>
                      <a:prstDash val="solid"/>
                      <a:round/>
                      <a:headEnd type="none" w="med" len="med"/>
                      <a:tailEnd type="none" w="med" len="med"/>
                    </a:lnB>
                    <a:solidFill>
                      <a:srgbClr val="FFFFFF"/>
                    </a:solidFill>
                  </a:tcPr>
                </a:tc>
                <a:tc>
                  <a:txBody>
                    <a:bodyPr/>
                    <a:lstStyle/>
                    <a:p>
                      <a:pPr fontAlgn="t">
                        <a:buNone/>
                      </a:pPr>
                      <a:r>
                        <a:rPr lang="en-US">
                          <a:effectLst/>
                        </a:rPr>
                        <a:t>More flexible and doesn’t require all tags to be closed.</a:t>
                      </a:r>
                    </a:p>
                  </a:txBody>
                  <a:tcPr marL="76200" marR="76200" marT="76200" marB="76200">
                    <a:lnL w="7620" cap="flat" cmpd="sng" algn="ctr">
                      <a:solidFill>
                        <a:srgbClr val="000000"/>
                      </a:solidFill>
                      <a:prstDash val="solid"/>
                      <a:round/>
                      <a:headEnd type="none" w="med" len="med"/>
                      <a:tailEnd type="none" w="med" len="med"/>
                    </a:lnL>
                    <a:lnR w="7620" cap="flat" cmpd="sng" algn="ctr">
                      <a:solidFill>
                        <a:srgbClr val="000000"/>
                      </a:solidFill>
                      <a:prstDash val="solid"/>
                      <a:round/>
                      <a:headEnd type="none" w="med" len="med"/>
                      <a:tailEnd type="none" w="med" len="med"/>
                    </a:lnR>
                    <a:lnT w="7620" cap="flat" cmpd="sng" algn="ctr">
                      <a:solidFill>
                        <a:srgbClr val="000000"/>
                      </a:solidFill>
                      <a:prstDash val="solid"/>
                      <a:round/>
                      <a:headEnd type="none" w="med" len="med"/>
                      <a:tailEnd type="none" w="med" len="med"/>
                    </a:lnT>
                    <a:lnB w="7620" cap="flat" cmpd="sng" algn="ctr">
                      <a:solidFill>
                        <a:srgbClr val="000000"/>
                      </a:solidFill>
                      <a:prstDash val="solid"/>
                      <a:round/>
                      <a:headEnd type="none" w="med" len="med"/>
                      <a:tailEnd type="none" w="med" len="med"/>
                    </a:lnB>
                    <a:solidFill>
                      <a:srgbClr val="FFFFFF"/>
                    </a:solidFill>
                  </a:tcPr>
                </a:tc>
                <a:tc>
                  <a:txBody>
                    <a:bodyPr/>
                    <a:lstStyle/>
                    <a:p>
                      <a:pPr fontAlgn="t">
                        <a:buNone/>
                      </a:pPr>
                      <a:r>
                        <a:rPr lang="en-US">
                          <a:effectLst/>
                        </a:rPr>
                        <a:t>Strict rules: all tags must be closed.</a:t>
                      </a:r>
                    </a:p>
                  </a:txBody>
                  <a:tcPr marL="76200" marR="76200" marT="76200" marB="76200">
                    <a:lnL w="7620" cap="flat" cmpd="sng" algn="ctr">
                      <a:solidFill>
                        <a:srgbClr val="000000"/>
                      </a:solidFill>
                      <a:prstDash val="solid"/>
                      <a:round/>
                      <a:headEnd type="none" w="med" len="med"/>
                      <a:tailEnd type="none" w="med" len="med"/>
                    </a:lnL>
                    <a:lnR w="7620" cap="flat" cmpd="sng" algn="ctr">
                      <a:solidFill>
                        <a:srgbClr val="000000"/>
                      </a:solidFill>
                      <a:prstDash val="solid"/>
                      <a:round/>
                      <a:headEnd type="none" w="med" len="med"/>
                      <a:tailEnd type="none" w="med" len="med"/>
                    </a:lnR>
                    <a:lnT w="7620" cap="flat" cmpd="sng" algn="ctr">
                      <a:solidFill>
                        <a:srgbClr val="000000"/>
                      </a:solidFill>
                      <a:prstDash val="solid"/>
                      <a:round/>
                      <a:headEnd type="none" w="med" len="med"/>
                      <a:tailEnd type="none" w="med" len="med"/>
                    </a:lnT>
                    <a:lnB w="762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3933685260"/>
                  </a:ext>
                </a:extLst>
              </a:tr>
              <a:tr h="0">
                <a:tc>
                  <a:txBody>
                    <a:bodyPr/>
                    <a:lstStyle/>
                    <a:p>
                      <a:pPr fontAlgn="t">
                        <a:buNone/>
                      </a:pPr>
                      <a:r>
                        <a:rPr lang="en-US" b="1">
                          <a:effectLst/>
                        </a:rPr>
                        <a:t>Case Sensitivity</a:t>
                      </a:r>
                    </a:p>
                  </a:txBody>
                  <a:tcPr marL="76200" marR="76200" marT="76200" marB="76200">
                    <a:lnL w="7620" cap="flat" cmpd="sng" algn="ctr">
                      <a:solidFill>
                        <a:srgbClr val="000000"/>
                      </a:solidFill>
                      <a:prstDash val="solid"/>
                      <a:round/>
                      <a:headEnd type="none" w="med" len="med"/>
                      <a:tailEnd type="none" w="med" len="med"/>
                    </a:lnL>
                    <a:lnR w="7620" cap="flat" cmpd="sng" algn="ctr">
                      <a:solidFill>
                        <a:srgbClr val="000000"/>
                      </a:solidFill>
                      <a:prstDash val="solid"/>
                      <a:round/>
                      <a:headEnd type="none" w="med" len="med"/>
                      <a:tailEnd type="none" w="med" len="med"/>
                    </a:lnR>
                    <a:lnT w="7620" cap="flat" cmpd="sng" algn="ctr">
                      <a:solidFill>
                        <a:srgbClr val="000000"/>
                      </a:solidFill>
                      <a:prstDash val="solid"/>
                      <a:round/>
                      <a:headEnd type="none" w="med" len="med"/>
                      <a:tailEnd type="none" w="med" len="med"/>
                    </a:lnT>
                    <a:lnB w="7620" cap="flat" cmpd="sng" algn="ctr">
                      <a:solidFill>
                        <a:srgbClr val="000000"/>
                      </a:solidFill>
                      <a:prstDash val="solid"/>
                      <a:round/>
                      <a:headEnd type="none" w="med" len="med"/>
                      <a:tailEnd type="none" w="med" len="med"/>
                    </a:lnB>
                    <a:solidFill>
                      <a:srgbClr val="FFFFFF"/>
                    </a:solidFill>
                  </a:tcPr>
                </a:tc>
                <a:tc>
                  <a:txBody>
                    <a:bodyPr/>
                    <a:lstStyle/>
                    <a:p>
                      <a:pPr fontAlgn="t">
                        <a:buNone/>
                      </a:pPr>
                      <a:r>
                        <a:rPr lang="en-US">
                          <a:effectLst/>
                        </a:rPr>
                        <a:t>Tags can be in any case (e.g., &lt;TITLE&gt; or &lt;title&gt;).</a:t>
                      </a:r>
                    </a:p>
                  </a:txBody>
                  <a:tcPr marL="76200" marR="76200" marT="76200" marB="76200">
                    <a:lnL w="7620" cap="flat" cmpd="sng" algn="ctr">
                      <a:solidFill>
                        <a:srgbClr val="000000"/>
                      </a:solidFill>
                      <a:prstDash val="solid"/>
                      <a:round/>
                      <a:headEnd type="none" w="med" len="med"/>
                      <a:tailEnd type="none" w="med" len="med"/>
                    </a:lnL>
                    <a:lnR w="7620" cap="flat" cmpd="sng" algn="ctr">
                      <a:solidFill>
                        <a:srgbClr val="000000"/>
                      </a:solidFill>
                      <a:prstDash val="solid"/>
                      <a:round/>
                      <a:headEnd type="none" w="med" len="med"/>
                      <a:tailEnd type="none" w="med" len="med"/>
                    </a:lnR>
                    <a:lnT w="7620" cap="flat" cmpd="sng" algn="ctr">
                      <a:solidFill>
                        <a:srgbClr val="000000"/>
                      </a:solidFill>
                      <a:prstDash val="solid"/>
                      <a:round/>
                      <a:headEnd type="none" w="med" len="med"/>
                      <a:tailEnd type="none" w="med" len="med"/>
                    </a:lnT>
                    <a:lnB w="7620" cap="flat" cmpd="sng" algn="ctr">
                      <a:solidFill>
                        <a:srgbClr val="000000"/>
                      </a:solidFill>
                      <a:prstDash val="solid"/>
                      <a:round/>
                      <a:headEnd type="none" w="med" len="med"/>
                      <a:tailEnd type="none" w="med" len="med"/>
                    </a:lnB>
                    <a:solidFill>
                      <a:srgbClr val="FFFFFF"/>
                    </a:solidFill>
                  </a:tcPr>
                </a:tc>
                <a:tc>
                  <a:txBody>
                    <a:bodyPr/>
                    <a:lstStyle/>
                    <a:p>
                      <a:pPr fontAlgn="t">
                        <a:buNone/>
                      </a:pPr>
                      <a:r>
                        <a:rPr lang="en-US">
                          <a:effectLst/>
                        </a:rPr>
                        <a:t>Tags must be in lowercase (e.g., &lt;title&gt;).</a:t>
                      </a:r>
                    </a:p>
                  </a:txBody>
                  <a:tcPr marL="76200" marR="76200" marT="76200" marB="76200">
                    <a:lnL w="7620" cap="flat" cmpd="sng" algn="ctr">
                      <a:solidFill>
                        <a:srgbClr val="000000"/>
                      </a:solidFill>
                      <a:prstDash val="solid"/>
                      <a:round/>
                      <a:headEnd type="none" w="med" len="med"/>
                      <a:tailEnd type="none" w="med" len="med"/>
                    </a:lnL>
                    <a:lnR w="7620" cap="flat" cmpd="sng" algn="ctr">
                      <a:solidFill>
                        <a:srgbClr val="000000"/>
                      </a:solidFill>
                      <a:prstDash val="solid"/>
                      <a:round/>
                      <a:headEnd type="none" w="med" len="med"/>
                      <a:tailEnd type="none" w="med" len="med"/>
                    </a:lnR>
                    <a:lnT w="7620" cap="flat" cmpd="sng" algn="ctr">
                      <a:solidFill>
                        <a:srgbClr val="000000"/>
                      </a:solidFill>
                      <a:prstDash val="solid"/>
                      <a:round/>
                      <a:headEnd type="none" w="med" len="med"/>
                      <a:tailEnd type="none" w="med" len="med"/>
                    </a:lnT>
                    <a:lnB w="762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253281281"/>
                  </a:ext>
                </a:extLst>
              </a:tr>
              <a:tr h="0">
                <a:tc>
                  <a:txBody>
                    <a:bodyPr/>
                    <a:lstStyle/>
                    <a:p>
                      <a:pPr fontAlgn="t">
                        <a:buNone/>
                      </a:pPr>
                      <a:r>
                        <a:rPr lang="en-US" b="1">
                          <a:effectLst/>
                        </a:rPr>
                        <a:t>Document Structure</a:t>
                      </a:r>
                    </a:p>
                  </a:txBody>
                  <a:tcPr marL="76200" marR="76200" marT="76200" marB="76200">
                    <a:lnL w="7620" cap="flat" cmpd="sng" algn="ctr">
                      <a:solidFill>
                        <a:srgbClr val="000000"/>
                      </a:solidFill>
                      <a:prstDash val="solid"/>
                      <a:round/>
                      <a:headEnd type="none" w="med" len="med"/>
                      <a:tailEnd type="none" w="med" len="med"/>
                    </a:lnL>
                    <a:lnR w="7620" cap="flat" cmpd="sng" algn="ctr">
                      <a:solidFill>
                        <a:srgbClr val="000000"/>
                      </a:solidFill>
                      <a:prstDash val="solid"/>
                      <a:round/>
                      <a:headEnd type="none" w="med" len="med"/>
                      <a:tailEnd type="none" w="med" len="med"/>
                    </a:lnR>
                    <a:lnT w="7620" cap="flat" cmpd="sng" algn="ctr">
                      <a:solidFill>
                        <a:srgbClr val="000000"/>
                      </a:solidFill>
                      <a:prstDash val="solid"/>
                      <a:round/>
                      <a:headEnd type="none" w="med" len="med"/>
                      <a:tailEnd type="none" w="med" len="med"/>
                    </a:lnT>
                    <a:lnB w="7620" cap="flat" cmpd="sng" algn="ctr">
                      <a:solidFill>
                        <a:srgbClr val="000000"/>
                      </a:solidFill>
                      <a:prstDash val="solid"/>
                      <a:round/>
                      <a:headEnd type="none" w="med" len="med"/>
                      <a:tailEnd type="none" w="med" len="med"/>
                    </a:lnB>
                    <a:solidFill>
                      <a:srgbClr val="FFFFFF"/>
                    </a:solidFill>
                  </a:tcPr>
                </a:tc>
                <a:tc>
                  <a:txBody>
                    <a:bodyPr/>
                    <a:lstStyle/>
                    <a:p>
                      <a:pPr fontAlgn="t">
                        <a:buNone/>
                      </a:pPr>
                      <a:r>
                        <a:rPr lang="en-US">
                          <a:effectLst/>
                        </a:rPr>
                        <a:t>Can have missing or incorrect closing tags.</a:t>
                      </a:r>
                    </a:p>
                  </a:txBody>
                  <a:tcPr marL="76200" marR="76200" marT="76200" marB="76200">
                    <a:lnL w="7620" cap="flat" cmpd="sng" algn="ctr">
                      <a:solidFill>
                        <a:srgbClr val="000000"/>
                      </a:solidFill>
                      <a:prstDash val="solid"/>
                      <a:round/>
                      <a:headEnd type="none" w="med" len="med"/>
                      <a:tailEnd type="none" w="med" len="med"/>
                    </a:lnL>
                    <a:lnR w="7620" cap="flat" cmpd="sng" algn="ctr">
                      <a:solidFill>
                        <a:srgbClr val="000000"/>
                      </a:solidFill>
                      <a:prstDash val="solid"/>
                      <a:round/>
                      <a:headEnd type="none" w="med" len="med"/>
                      <a:tailEnd type="none" w="med" len="med"/>
                    </a:lnR>
                    <a:lnT w="7620" cap="flat" cmpd="sng" algn="ctr">
                      <a:solidFill>
                        <a:srgbClr val="000000"/>
                      </a:solidFill>
                      <a:prstDash val="solid"/>
                      <a:round/>
                      <a:headEnd type="none" w="med" len="med"/>
                      <a:tailEnd type="none" w="med" len="med"/>
                    </a:lnT>
                    <a:lnB w="7620" cap="flat" cmpd="sng" algn="ctr">
                      <a:solidFill>
                        <a:srgbClr val="000000"/>
                      </a:solidFill>
                      <a:prstDash val="solid"/>
                      <a:round/>
                      <a:headEnd type="none" w="med" len="med"/>
                      <a:tailEnd type="none" w="med" len="med"/>
                    </a:lnB>
                    <a:solidFill>
                      <a:srgbClr val="FFFFFF"/>
                    </a:solidFill>
                  </a:tcPr>
                </a:tc>
                <a:tc>
                  <a:txBody>
                    <a:bodyPr/>
                    <a:lstStyle/>
                    <a:p>
                      <a:pPr fontAlgn="t">
                        <a:buNone/>
                      </a:pPr>
                      <a:r>
                        <a:rPr lang="en-US" dirty="0">
                          <a:effectLst/>
                        </a:rPr>
                        <a:t>Needs properly closed and nested tags.</a:t>
                      </a:r>
                    </a:p>
                  </a:txBody>
                  <a:tcPr marL="76200" marR="76200" marT="76200" marB="76200">
                    <a:lnL w="7620" cap="flat" cmpd="sng" algn="ctr">
                      <a:solidFill>
                        <a:srgbClr val="000000"/>
                      </a:solidFill>
                      <a:prstDash val="solid"/>
                      <a:round/>
                      <a:headEnd type="none" w="med" len="med"/>
                      <a:tailEnd type="none" w="med" len="med"/>
                    </a:lnL>
                    <a:lnR w="7620" cap="flat" cmpd="sng" algn="ctr">
                      <a:solidFill>
                        <a:srgbClr val="000000"/>
                      </a:solidFill>
                      <a:prstDash val="solid"/>
                      <a:round/>
                      <a:headEnd type="none" w="med" len="med"/>
                      <a:tailEnd type="none" w="med" len="med"/>
                    </a:lnR>
                    <a:lnT w="7620" cap="flat" cmpd="sng" algn="ctr">
                      <a:solidFill>
                        <a:srgbClr val="000000"/>
                      </a:solidFill>
                      <a:prstDash val="solid"/>
                      <a:round/>
                      <a:headEnd type="none" w="med" len="med"/>
                      <a:tailEnd type="none" w="med" len="med"/>
                    </a:lnT>
                    <a:lnB w="762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2213957072"/>
                  </a:ext>
                </a:extLst>
              </a:tr>
            </a:tbl>
          </a:graphicData>
        </a:graphic>
      </p:graphicFrame>
    </p:spTree>
    <p:extLst>
      <p:ext uri="{BB962C8B-B14F-4D97-AF65-F5344CB8AC3E}">
        <p14:creationId xmlns:p14="http://schemas.microsoft.com/office/powerpoint/2010/main" val="202634301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AA536A-EED8-A427-E116-F5A6BD812FAD}"/>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D8BA980E-06A0-FE84-4630-540FA77C01DB}"/>
              </a:ext>
            </a:extLst>
          </p:cNvPr>
          <p:cNvSpPr txBox="1"/>
          <p:nvPr/>
        </p:nvSpPr>
        <p:spPr>
          <a:xfrm>
            <a:off x="736979" y="339258"/>
            <a:ext cx="8720920" cy="4562788"/>
          </a:xfrm>
          <a:prstGeom prst="rect">
            <a:avLst/>
          </a:prstGeom>
          <a:noFill/>
        </p:spPr>
        <p:txBody>
          <a:bodyPr wrap="square">
            <a:spAutoFit/>
          </a:bodyPr>
          <a:lstStyle/>
          <a:p>
            <a:pPr algn="l">
              <a:lnSpc>
                <a:spcPts val="2100"/>
              </a:lnSpc>
              <a:spcBef>
                <a:spcPts val="2400"/>
              </a:spcBef>
              <a:spcAft>
                <a:spcPts val="1800"/>
              </a:spcAft>
              <a:buNone/>
            </a:pPr>
            <a:r>
              <a:rPr lang="en-US" b="0" i="0" dirty="0">
                <a:solidFill>
                  <a:srgbClr val="272C37"/>
                </a:solidFill>
                <a:effectLst/>
                <a:latin typeface="Roboto" panose="02000000000000000000" pitchFamily="2" charset="0"/>
              </a:rPr>
              <a:t>22. What are data attributes in HTML?</a:t>
            </a:r>
          </a:p>
          <a:p>
            <a:pPr algn="just">
              <a:lnSpc>
                <a:spcPts val="2100"/>
              </a:lnSpc>
              <a:spcBef>
                <a:spcPts val="1650"/>
              </a:spcBef>
              <a:buNone/>
            </a:pPr>
            <a:r>
              <a:rPr lang="en-US" b="0" i="0" dirty="0">
                <a:solidFill>
                  <a:srgbClr val="3A3A3A"/>
                </a:solidFill>
                <a:effectLst/>
                <a:latin typeface="Roboto" panose="02000000000000000000" pitchFamily="2" charset="0"/>
              </a:rPr>
              <a:t>Data attributes are extra attributes that you can add to any HTML element to contain additional information that doesn’t impact an element in any way. They begin with data, and then are followed by the name of your preference.</a:t>
            </a:r>
          </a:p>
          <a:p>
            <a:pPr algn="just">
              <a:lnSpc>
                <a:spcPts val="2100"/>
              </a:lnSpc>
              <a:spcBef>
                <a:spcPts val="750"/>
              </a:spcBef>
              <a:buNone/>
            </a:pPr>
            <a:r>
              <a:rPr lang="en-US" b="0" i="0" dirty="0">
                <a:solidFill>
                  <a:srgbClr val="3A3A3A"/>
                </a:solidFill>
                <a:effectLst/>
                <a:latin typeface="Roboto" panose="02000000000000000000" pitchFamily="2" charset="0"/>
              </a:rPr>
              <a:t>Example:</a:t>
            </a:r>
          </a:p>
          <a:p>
            <a:pPr algn="l">
              <a:spcBef>
                <a:spcPts val="1125"/>
              </a:spcBef>
              <a:spcAft>
                <a:spcPts val="375"/>
              </a:spcAft>
              <a:buNone/>
            </a:pPr>
            <a:r>
              <a:rPr lang="en-US" b="0" i="0" dirty="0">
                <a:solidFill>
                  <a:srgbClr val="212529"/>
                </a:solidFill>
                <a:effectLst/>
                <a:latin typeface="Courier New" panose="02070309020205020404" pitchFamily="49" charset="0"/>
              </a:rPr>
              <a:t>&lt;div data-id=”123″ data-info=”content”&gt;Click me&lt;/div&gt;</a:t>
            </a:r>
          </a:p>
          <a:p>
            <a:pPr algn="l">
              <a:lnSpc>
                <a:spcPts val="2100"/>
              </a:lnSpc>
              <a:spcBef>
                <a:spcPts val="2400"/>
              </a:spcBef>
              <a:spcAft>
                <a:spcPts val="1800"/>
              </a:spcAft>
              <a:buNone/>
            </a:pPr>
            <a:r>
              <a:rPr lang="en-US" b="0" i="0" dirty="0">
                <a:solidFill>
                  <a:srgbClr val="272C37"/>
                </a:solidFill>
                <a:effectLst/>
                <a:latin typeface="Roboto" panose="02000000000000000000" pitchFamily="2" charset="0"/>
              </a:rPr>
              <a:t>23. What is the role of the &lt;nav&gt; tag?</a:t>
            </a:r>
          </a:p>
          <a:p>
            <a:pPr algn="just">
              <a:lnSpc>
                <a:spcPts val="2100"/>
              </a:lnSpc>
              <a:spcBef>
                <a:spcPts val="1650"/>
              </a:spcBef>
              <a:buNone/>
            </a:pPr>
            <a:r>
              <a:rPr lang="en-US" b="0" i="0" dirty="0">
                <a:solidFill>
                  <a:srgbClr val="3A3A3A"/>
                </a:solidFill>
                <a:effectLst/>
                <a:latin typeface="Roboto" panose="02000000000000000000" pitchFamily="2" charset="0"/>
              </a:rPr>
              <a:t>The &lt;nav&gt; tag is used to create a section within a webpage that may consist of menus or links to other pages of the website. It makes sense to both search engines and guests that this strip is used for navigation between different parts of a site or tabs.</a:t>
            </a:r>
          </a:p>
        </p:txBody>
      </p:sp>
    </p:spTree>
    <p:extLst>
      <p:ext uri="{BB962C8B-B14F-4D97-AF65-F5344CB8AC3E}">
        <p14:creationId xmlns:p14="http://schemas.microsoft.com/office/powerpoint/2010/main" val="424937715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216295-F736-4541-E380-60D1680D5928}"/>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D93059B2-1ED5-96C4-BB35-62252DD0E023}"/>
              </a:ext>
            </a:extLst>
          </p:cNvPr>
          <p:cNvSpPr txBox="1"/>
          <p:nvPr/>
        </p:nvSpPr>
        <p:spPr>
          <a:xfrm>
            <a:off x="163773" y="-2382000"/>
            <a:ext cx="9253182" cy="11090215"/>
          </a:xfrm>
          <a:prstGeom prst="rect">
            <a:avLst/>
          </a:prstGeom>
          <a:noFill/>
        </p:spPr>
        <p:txBody>
          <a:bodyPr wrap="square">
            <a:spAutoFit/>
          </a:bodyPr>
          <a:lstStyle/>
          <a:p>
            <a:pPr algn="l">
              <a:lnSpc>
                <a:spcPts val="2100"/>
              </a:lnSpc>
              <a:spcBef>
                <a:spcPts val="2400"/>
              </a:spcBef>
              <a:spcAft>
                <a:spcPts val="1800"/>
              </a:spcAft>
              <a:buNone/>
            </a:pPr>
            <a:r>
              <a:rPr lang="en-US" b="0" i="0" dirty="0">
                <a:solidFill>
                  <a:srgbClr val="272C37"/>
                </a:solidFill>
                <a:effectLst/>
                <a:latin typeface="Roboto" panose="02000000000000000000" pitchFamily="2" charset="0"/>
              </a:rPr>
              <a:t>24. How do you create a table in HTML? What attributes can be used with a table?</a:t>
            </a:r>
          </a:p>
          <a:p>
            <a:pPr algn="just">
              <a:lnSpc>
                <a:spcPts val="2100"/>
              </a:lnSpc>
              <a:spcBef>
                <a:spcPts val="1650"/>
              </a:spcBef>
              <a:buNone/>
            </a:pPr>
            <a:r>
              <a:rPr lang="en-US" b="0" i="0" dirty="0">
                <a:solidFill>
                  <a:srgbClr val="3A3A3A"/>
                </a:solidFill>
                <a:effectLst/>
                <a:latin typeface="Roboto" panose="02000000000000000000" pitchFamily="2" charset="0"/>
              </a:rPr>
              <a:t>To create a table in HTML, you use the &lt;table&gt; element along with other elements like &lt;tr&gt;, &lt;</a:t>
            </a:r>
            <a:r>
              <a:rPr lang="en-US" b="0" i="0" dirty="0" err="1">
                <a:solidFill>
                  <a:srgbClr val="3A3A3A"/>
                </a:solidFill>
                <a:effectLst/>
                <a:latin typeface="Roboto" panose="02000000000000000000" pitchFamily="2" charset="0"/>
              </a:rPr>
              <a:t>th</a:t>
            </a:r>
            <a:r>
              <a:rPr lang="en-US" b="0" i="0" dirty="0">
                <a:solidFill>
                  <a:srgbClr val="3A3A3A"/>
                </a:solidFill>
                <a:effectLst/>
                <a:latin typeface="Roboto" panose="02000000000000000000" pitchFamily="2" charset="0"/>
              </a:rPr>
              <a:t>&gt;, and &lt;td&gt;.</a:t>
            </a:r>
          </a:p>
          <a:p>
            <a:pPr algn="just">
              <a:lnSpc>
                <a:spcPts val="2100"/>
              </a:lnSpc>
              <a:spcBef>
                <a:spcPts val="750"/>
              </a:spcBef>
              <a:spcAft>
                <a:spcPts val="600"/>
              </a:spcAft>
              <a:buFont typeface="Arial" panose="020B0604020202020204" pitchFamily="34" charset="0"/>
              <a:buChar char="•"/>
            </a:pPr>
            <a:r>
              <a:rPr lang="en-US" b="0" i="0" dirty="0">
                <a:solidFill>
                  <a:srgbClr val="3A3A3A"/>
                </a:solidFill>
                <a:effectLst/>
                <a:latin typeface="Roboto" panose="02000000000000000000" pitchFamily="2" charset="0"/>
              </a:rPr>
              <a:t>&lt;table&gt;: Defines the table.</a:t>
            </a:r>
          </a:p>
          <a:p>
            <a:pPr algn="just">
              <a:lnSpc>
                <a:spcPts val="2100"/>
              </a:lnSpc>
              <a:spcBef>
                <a:spcPts val="750"/>
              </a:spcBef>
              <a:spcAft>
                <a:spcPts val="600"/>
              </a:spcAft>
              <a:buFont typeface="Arial" panose="020B0604020202020204" pitchFamily="34" charset="0"/>
              <a:buChar char="•"/>
            </a:pPr>
            <a:r>
              <a:rPr lang="en-US" b="0" i="0" dirty="0">
                <a:solidFill>
                  <a:srgbClr val="3A3A3A"/>
                </a:solidFill>
                <a:effectLst/>
                <a:latin typeface="Roboto" panose="02000000000000000000" pitchFamily="2" charset="0"/>
              </a:rPr>
              <a:t>&lt;tr&gt;: Defines a row in the table.</a:t>
            </a:r>
          </a:p>
          <a:p>
            <a:pPr algn="just">
              <a:lnSpc>
                <a:spcPts val="2100"/>
              </a:lnSpc>
              <a:spcBef>
                <a:spcPts val="750"/>
              </a:spcBef>
              <a:spcAft>
                <a:spcPts val="600"/>
              </a:spcAft>
              <a:buFont typeface="Arial" panose="020B0604020202020204" pitchFamily="34" charset="0"/>
              <a:buChar char="•"/>
            </a:pPr>
            <a:r>
              <a:rPr lang="en-US" b="0" i="0" dirty="0">
                <a:solidFill>
                  <a:srgbClr val="3A3A3A"/>
                </a:solidFill>
                <a:effectLst/>
                <a:latin typeface="Roboto" panose="02000000000000000000" pitchFamily="2" charset="0"/>
              </a:rPr>
              <a:t>&lt;</a:t>
            </a:r>
            <a:r>
              <a:rPr lang="en-US" b="0" i="0" dirty="0" err="1">
                <a:solidFill>
                  <a:srgbClr val="3A3A3A"/>
                </a:solidFill>
                <a:effectLst/>
                <a:latin typeface="Roboto" panose="02000000000000000000" pitchFamily="2" charset="0"/>
              </a:rPr>
              <a:t>th</a:t>
            </a:r>
            <a:r>
              <a:rPr lang="en-US" b="0" i="0" dirty="0">
                <a:solidFill>
                  <a:srgbClr val="3A3A3A"/>
                </a:solidFill>
                <a:effectLst/>
                <a:latin typeface="Roboto" panose="02000000000000000000" pitchFamily="2" charset="0"/>
              </a:rPr>
              <a:t>&gt;: Defines a header cell.</a:t>
            </a:r>
          </a:p>
          <a:p>
            <a:pPr algn="just">
              <a:lnSpc>
                <a:spcPts val="2100"/>
              </a:lnSpc>
              <a:spcBef>
                <a:spcPts val="750"/>
              </a:spcBef>
              <a:spcAft>
                <a:spcPts val="600"/>
              </a:spcAft>
              <a:buFont typeface="Arial" panose="020B0604020202020204" pitchFamily="34" charset="0"/>
              <a:buChar char="•"/>
            </a:pPr>
            <a:r>
              <a:rPr lang="en-US" b="0" i="0" dirty="0">
                <a:solidFill>
                  <a:srgbClr val="3A3A3A"/>
                </a:solidFill>
                <a:effectLst/>
                <a:latin typeface="Roboto" panose="02000000000000000000" pitchFamily="2" charset="0"/>
              </a:rPr>
              <a:t>&lt;td&gt;: Defines a regular table cell.</a:t>
            </a:r>
          </a:p>
          <a:p>
            <a:pPr algn="just">
              <a:lnSpc>
                <a:spcPts val="2100"/>
              </a:lnSpc>
              <a:spcBef>
                <a:spcPts val="1650"/>
              </a:spcBef>
              <a:buNone/>
            </a:pPr>
            <a:r>
              <a:rPr lang="en-US" b="0" i="0" dirty="0">
                <a:solidFill>
                  <a:srgbClr val="3A3A3A"/>
                </a:solidFill>
                <a:effectLst/>
                <a:latin typeface="Roboto" panose="02000000000000000000" pitchFamily="2" charset="0"/>
              </a:rPr>
              <a:t>Example:</a:t>
            </a:r>
          </a:p>
          <a:p>
            <a:pPr algn="l">
              <a:spcBef>
                <a:spcPts val="1125"/>
              </a:spcBef>
              <a:spcAft>
                <a:spcPts val="375"/>
              </a:spcAft>
              <a:buNone/>
            </a:pPr>
            <a:r>
              <a:rPr lang="en-US" b="0" i="0" dirty="0">
                <a:solidFill>
                  <a:srgbClr val="212529"/>
                </a:solidFill>
                <a:effectLst/>
                <a:latin typeface="Courier New" panose="02070309020205020404" pitchFamily="49" charset="0"/>
              </a:rPr>
              <a:t>&lt;table&gt;</a:t>
            </a:r>
          </a:p>
          <a:p>
            <a:pPr algn="l">
              <a:spcBef>
                <a:spcPts val="1125"/>
              </a:spcBef>
              <a:spcAft>
                <a:spcPts val="375"/>
              </a:spcAft>
              <a:buNone/>
            </a:pPr>
            <a:r>
              <a:rPr lang="en-US" b="0" i="0" dirty="0">
                <a:solidFill>
                  <a:srgbClr val="212529"/>
                </a:solidFill>
                <a:effectLst/>
                <a:latin typeface="Courier New" panose="02070309020205020404" pitchFamily="49" charset="0"/>
              </a:rPr>
              <a:t>&lt;</a:t>
            </a:r>
            <a:r>
              <a:rPr lang="en-US" b="0" i="0" dirty="0" err="1">
                <a:solidFill>
                  <a:srgbClr val="212529"/>
                </a:solidFill>
                <a:effectLst/>
                <a:latin typeface="Courier New" panose="02070309020205020404" pitchFamily="49" charset="0"/>
              </a:rPr>
              <a:t>tbody</a:t>
            </a:r>
            <a:r>
              <a:rPr lang="en-US" b="0" i="0" dirty="0">
                <a:solidFill>
                  <a:srgbClr val="212529"/>
                </a:solidFill>
                <a:effectLst/>
                <a:latin typeface="Courier New" panose="02070309020205020404" pitchFamily="49" charset="0"/>
              </a:rPr>
              <a:t>&gt;</a:t>
            </a:r>
          </a:p>
          <a:p>
            <a:pPr algn="l">
              <a:spcBef>
                <a:spcPts val="1125"/>
              </a:spcBef>
              <a:spcAft>
                <a:spcPts val="375"/>
              </a:spcAft>
              <a:buNone/>
            </a:pPr>
            <a:r>
              <a:rPr lang="en-US" b="0" i="0" dirty="0">
                <a:solidFill>
                  <a:srgbClr val="212529"/>
                </a:solidFill>
                <a:effectLst/>
                <a:latin typeface="Courier New" panose="02070309020205020404" pitchFamily="49" charset="0"/>
              </a:rPr>
              <a:t>&lt;tr&gt;</a:t>
            </a:r>
          </a:p>
          <a:p>
            <a:pPr algn="l">
              <a:spcBef>
                <a:spcPts val="1125"/>
              </a:spcBef>
              <a:spcAft>
                <a:spcPts val="375"/>
              </a:spcAft>
              <a:buNone/>
            </a:pPr>
            <a:r>
              <a:rPr lang="en-US" b="0" i="0" dirty="0">
                <a:solidFill>
                  <a:srgbClr val="212529"/>
                </a:solidFill>
                <a:effectLst/>
                <a:latin typeface="Courier New" panose="02070309020205020404" pitchFamily="49" charset="0"/>
              </a:rPr>
              <a:t>&lt;</a:t>
            </a:r>
            <a:r>
              <a:rPr lang="en-US" b="0" i="0" dirty="0" err="1">
                <a:solidFill>
                  <a:srgbClr val="212529"/>
                </a:solidFill>
                <a:effectLst/>
                <a:latin typeface="Courier New" panose="02070309020205020404" pitchFamily="49" charset="0"/>
              </a:rPr>
              <a:t>th</a:t>
            </a:r>
            <a:r>
              <a:rPr lang="en-US" b="0" i="0" dirty="0">
                <a:solidFill>
                  <a:srgbClr val="212529"/>
                </a:solidFill>
                <a:effectLst/>
                <a:latin typeface="Courier New" panose="02070309020205020404" pitchFamily="49" charset="0"/>
              </a:rPr>
              <a:t>&gt;Heading 1&lt;/</a:t>
            </a:r>
            <a:r>
              <a:rPr lang="en-US" b="0" i="0" dirty="0" err="1">
                <a:solidFill>
                  <a:srgbClr val="212529"/>
                </a:solidFill>
                <a:effectLst/>
                <a:latin typeface="Courier New" panose="02070309020205020404" pitchFamily="49" charset="0"/>
              </a:rPr>
              <a:t>th</a:t>
            </a:r>
            <a:r>
              <a:rPr lang="en-US" b="0" i="0" dirty="0">
                <a:solidFill>
                  <a:srgbClr val="212529"/>
                </a:solidFill>
                <a:effectLst/>
                <a:latin typeface="Courier New" panose="02070309020205020404" pitchFamily="49" charset="0"/>
              </a:rPr>
              <a:t>&gt;</a:t>
            </a:r>
          </a:p>
          <a:p>
            <a:pPr algn="l">
              <a:spcBef>
                <a:spcPts val="1125"/>
              </a:spcBef>
              <a:spcAft>
                <a:spcPts val="375"/>
              </a:spcAft>
              <a:buNone/>
            </a:pPr>
            <a:r>
              <a:rPr lang="en-US" b="0" i="0" dirty="0">
                <a:solidFill>
                  <a:srgbClr val="212529"/>
                </a:solidFill>
                <a:effectLst/>
                <a:latin typeface="Courier New" panose="02070309020205020404" pitchFamily="49" charset="0"/>
              </a:rPr>
              <a:t>&lt;</a:t>
            </a:r>
            <a:r>
              <a:rPr lang="en-US" b="0" i="0" dirty="0" err="1">
                <a:solidFill>
                  <a:srgbClr val="212529"/>
                </a:solidFill>
                <a:effectLst/>
                <a:latin typeface="Courier New" panose="02070309020205020404" pitchFamily="49" charset="0"/>
              </a:rPr>
              <a:t>th</a:t>
            </a:r>
            <a:r>
              <a:rPr lang="en-US" b="0" i="0" dirty="0">
                <a:solidFill>
                  <a:srgbClr val="212529"/>
                </a:solidFill>
                <a:effectLst/>
                <a:latin typeface="Courier New" panose="02070309020205020404" pitchFamily="49" charset="0"/>
              </a:rPr>
              <a:t>&gt;Heading 2&lt;/</a:t>
            </a:r>
            <a:r>
              <a:rPr lang="en-US" b="0" i="0" dirty="0" err="1">
                <a:solidFill>
                  <a:srgbClr val="212529"/>
                </a:solidFill>
                <a:effectLst/>
                <a:latin typeface="Courier New" panose="02070309020205020404" pitchFamily="49" charset="0"/>
              </a:rPr>
              <a:t>th</a:t>
            </a:r>
            <a:r>
              <a:rPr lang="en-US" b="0" i="0" dirty="0">
                <a:solidFill>
                  <a:srgbClr val="212529"/>
                </a:solidFill>
                <a:effectLst/>
                <a:latin typeface="Courier New" panose="02070309020205020404" pitchFamily="49" charset="0"/>
              </a:rPr>
              <a:t>&gt;</a:t>
            </a:r>
          </a:p>
          <a:p>
            <a:pPr algn="l">
              <a:spcBef>
                <a:spcPts val="1125"/>
              </a:spcBef>
              <a:spcAft>
                <a:spcPts val="375"/>
              </a:spcAft>
              <a:buNone/>
            </a:pPr>
            <a:r>
              <a:rPr lang="en-US" b="0" i="0" dirty="0">
                <a:solidFill>
                  <a:srgbClr val="212529"/>
                </a:solidFill>
                <a:effectLst/>
                <a:latin typeface="Courier New" panose="02070309020205020404" pitchFamily="49" charset="0"/>
              </a:rPr>
              <a:t>&lt;/tr&gt;</a:t>
            </a:r>
          </a:p>
          <a:p>
            <a:pPr algn="l">
              <a:spcBef>
                <a:spcPts val="1125"/>
              </a:spcBef>
              <a:spcAft>
                <a:spcPts val="375"/>
              </a:spcAft>
              <a:buNone/>
            </a:pPr>
            <a:r>
              <a:rPr lang="en-US" b="0" i="0" dirty="0">
                <a:solidFill>
                  <a:srgbClr val="212529"/>
                </a:solidFill>
                <a:effectLst/>
                <a:latin typeface="Courier New" panose="02070309020205020404" pitchFamily="49" charset="0"/>
              </a:rPr>
              <a:t>&lt;tr&gt;</a:t>
            </a:r>
          </a:p>
          <a:p>
            <a:pPr algn="l">
              <a:spcBef>
                <a:spcPts val="1125"/>
              </a:spcBef>
              <a:spcAft>
                <a:spcPts val="375"/>
              </a:spcAft>
              <a:buNone/>
            </a:pPr>
            <a:r>
              <a:rPr lang="en-US" b="0" i="0" dirty="0">
                <a:solidFill>
                  <a:srgbClr val="212529"/>
                </a:solidFill>
                <a:effectLst/>
                <a:latin typeface="Courier New" panose="02070309020205020404" pitchFamily="49" charset="0"/>
              </a:rPr>
              <a:t>&lt;td&gt;Data 1&lt;/td&gt;</a:t>
            </a:r>
          </a:p>
          <a:p>
            <a:pPr algn="l">
              <a:spcBef>
                <a:spcPts val="1125"/>
              </a:spcBef>
              <a:spcAft>
                <a:spcPts val="375"/>
              </a:spcAft>
              <a:buNone/>
            </a:pPr>
            <a:r>
              <a:rPr lang="en-US" b="0" i="0" dirty="0">
                <a:solidFill>
                  <a:srgbClr val="212529"/>
                </a:solidFill>
                <a:effectLst/>
                <a:latin typeface="Courier New" panose="02070309020205020404" pitchFamily="49" charset="0"/>
              </a:rPr>
              <a:t>&lt;td&gt;Data 2&lt;/td&gt;</a:t>
            </a:r>
          </a:p>
          <a:p>
            <a:pPr algn="l">
              <a:spcBef>
                <a:spcPts val="1125"/>
              </a:spcBef>
              <a:spcAft>
                <a:spcPts val="375"/>
              </a:spcAft>
              <a:buNone/>
            </a:pPr>
            <a:r>
              <a:rPr lang="en-US" b="0" i="0" dirty="0">
                <a:solidFill>
                  <a:srgbClr val="212529"/>
                </a:solidFill>
                <a:effectLst/>
                <a:latin typeface="Courier New" panose="02070309020205020404" pitchFamily="49" charset="0"/>
              </a:rPr>
              <a:t>&lt;/tr&gt;</a:t>
            </a:r>
          </a:p>
          <a:p>
            <a:pPr algn="l">
              <a:spcBef>
                <a:spcPts val="1125"/>
              </a:spcBef>
              <a:spcAft>
                <a:spcPts val="375"/>
              </a:spcAft>
              <a:buNone/>
            </a:pPr>
            <a:r>
              <a:rPr lang="en-US" b="0" i="0" dirty="0">
                <a:solidFill>
                  <a:srgbClr val="212529"/>
                </a:solidFill>
                <a:effectLst/>
                <a:latin typeface="Courier New" panose="02070309020205020404" pitchFamily="49" charset="0"/>
              </a:rPr>
              <a:t>&lt;tr&gt;</a:t>
            </a:r>
          </a:p>
          <a:p>
            <a:pPr algn="l">
              <a:spcBef>
                <a:spcPts val="1125"/>
              </a:spcBef>
              <a:spcAft>
                <a:spcPts val="375"/>
              </a:spcAft>
              <a:buNone/>
            </a:pPr>
            <a:r>
              <a:rPr lang="en-US" b="0" i="0" dirty="0">
                <a:solidFill>
                  <a:srgbClr val="212529"/>
                </a:solidFill>
                <a:effectLst/>
                <a:latin typeface="Courier New" panose="02070309020205020404" pitchFamily="49" charset="0"/>
              </a:rPr>
              <a:t>&lt;td&gt;Data 3&lt;/td&gt;</a:t>
            </a:r>
          </a:p>
          <a:p>
            <a:pPr algn="l">
              <a:spcBef>
                <a:spcPts val="1125"/>
              </a:spcBef>
              <a:spcAft>
                <a:spcPts val="375"/>
              </a:spcAft>
              <a:buNone/>
            </a:pPr>
            <a:r>
              <a:rPr lang="en-US" b="0" i="0" dirty="0">
                <a:solidFill>
                  <a:srgbClr val="212529"/>
                </a:solidFill>
                <a:effectLst/>
                <a:latin typeface="Courier New" panose="02070309020205020404" pitchFamily="49" charset="0"/>
              </a:rPr>
              <a:t>&lt;td&gt;Data 4&lt;/td&gt;</a:t>
            </a:r>
          </a:p>
          <a:p>
            <a:pPr algn="l">
              <a:spcBef>
                <a:spcPts val="1125"/>
              </a:spcBef>
              <a:spcAft>
                <a:spcPts val="375"/>
              </a:spcAft>
              <a:buNone/>
            </a:pPr>
            <a:r>
              <a:rPr lang="en-US" b="0" i="0" dirty="0">
                <a:solidFill>
                  <a:srgbClr val="212529"/>
                </a:solidFill>
                <a:effectLst/>
                <a:latin typeface="Courier New" panose="02070309020205020404" pitchFamily="49" charset="0"/>
              </a:rPr>
              <a:t>&lt;/tr&gt;</a:t>
            </a:r>
          </a:p>
          <a:p>
            <a:pPr algn="l">
              <a:spcBef>
                <a:spcPts val="1125"/>
              </a:spcBef>
              <a:spcAft>
                <a:spcPts val="375"/>
              </a:spcAft>
              <a:buNone/>
            </a:pPr>
            <a:r>
              <a:rPr lang="en-US" b="0" i="0" dirty="0">
                <a:solidFill>
                  <a:srgbClr val="212529"/>
                </a:solidFill>
                <a:effectLst/>
                <a:latin typeface="Courier New" panose="02070309020205020404" pitchFamily="49" charset="0"/>
              </a:rPr>
              <a:t>&lt;/</a:t>
            </a:r>
            <a:r>
              <a:rPr lang="en-US" b="0" i="0" dirty="0" err="1">
                <a:solidFill>
                  <a:srgbClr val="212529"/>
                </a:solidFill>
                <a:effectLst/>
                <a:latin typeface="Courier New" panose="02070309020205020404" pitchFamily="49" charset="0"/>
              </a:rPr>
              <a:t>tbody</a:t>
            </a:r>
            <a:r>
              <a:rPr lang="en-US" b="0" i="0" dirty="0">
                <a:solidFill>
                  <a:srgbClr val="212529"/>
                </a:solidFill>
                <a:effectLst/>
                <a:latin typeface="Courier New" panose="02070309020205020404" pitchFamily="49" charset="0"/>
              </a:rPr>
              <a:t>&gt;</a:t>
            </a:r>
          </a:p>
          <a:p>
            <a:pPr algn="l">
              <a:spcBef>
                <a:spcPts val="1125"/>
              </a:spcBef>
              <a:spcAft>
                <a:spcPts val="375"/>
              </a:spcAft>
              <a:buNone/>
            </a:pPr>
            <a:r>
              <a:rPr lang="en-US" b="0" i="0" dirty="0">
                <a:solidFill>
                  <a:srgbClr val="212529"/>
                </a:solidFill>
                <a:effectLst/>
                <a:latin typeface="Courier New" panose="02070309020205020404" pitchFamily="49" charset="0"/>
              </a:rPr>
              <a:t>&lt;/table&gt;</a:t>
            </a:r>
          </a:p>
        </p:txBody>
      </p:sp>
    </p:spTree>
    <p:extLst>
      <p:ext uri="{BB962C8B-B14F-4D97-AF65-F5344CB8AC3E}">
        <p14:creationId xmlns:p14="http://schemas.microsoft.com/office/powerpoint/2010/main" val="322793314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67C126-04A2-CF97-FE38-E47FAAC339A9}"/>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70FB6F10-8554-6D77-1E7F-31F295E284DB}"/>
              </a:ext>
            </a:extLst>
          </p:cNvPr>
          <p:cNvSpPr txBox="1"/>
          <p:nvPr/>
        </p:nvSpPr>
        <p:spPr>
          <a:xfrm>
            <a:off x="278642" y="0"/>
            <a:ext cx="9348716" cy="6555641"/>
          </a:xfrm>
          <a:prstGeom prst="rect">
            <a:avLst/>
          </a:prstGeom>
          <a:noFill/>
        </p:spPr>
        <p:txBody>
          <a:bodyPr wrap="square">
            <a:spAutoFit/>
          </a:bodyPr>
          <a:lstStyle/>
          <a:p>
            <a:pPr algn="l">
              <a:lnSpc>
                <a:spcPts val="2100"/>
              </a:lnSpc>
              <a:spcBef>
                <a:spcPts val="2400"/>
              </a:spcBef>
              <a:spcAft>
                <a:spcPts val="1800"/>
              </a:spcAft>
              <a:buNone/>
            </a:pPr>
            <a:r>
              <a:rPr lang="en-US" b="0" i="0" dirty="0">
                <a:solidFill>
                  <a:srgbClr val="272C37"/>
                </a:solidFill>
                <a:effectLst/>
                <a:latin typeface="Roboto" panose="02000000000000000000" pitchFamily="2" charset="0"/>
              </a:rPr>
              <a:t>25. What is the difference between &lt;section&gt; and &lt;article&gt;?</a:t>
            </a:r>
          </a:p>
          <a:p>
            <a:pPr algn="just">
              <a:lnSpc>
                <a:spcPts val="2100"/>
              </a:lnSpc>
              <a:spcBef>
                <a:spcPts val="1650"/>
              </a:spcBef>
              <a:buNone/>
            </a:pPr>
            <a:r>
              <a:rPr lang="en-US" b="0" i="0" dirty="0">
                <a:solidFill>
                  <a:srgbClr val="3A3A3A"/>
                </a:solidFill>
                <a:effectLst/>
                <a:latin typeface="Roboto" panose="02000000000000000000" pitchFamily="2" charset="0"/>
              </a:rPr>
              <a:t>The &lt;section&gt; and &lt;article&gt; tags both group content, but they are used differently:</a:t>
            </a:r>
          </a:p>
          <a:p>
            <a:pPr algn="just">
              <a:lnSpc>
                <a:spcPts val="2100"/>
              </a:lnSpc>
              <a:spcBef>
                <a:spcPts val="750"/>
              </a:spcBef>
              <a:spcAft>
                <a:spcPts val="600"/>
              </a:spcAft>
              <a:buFont typeface="Arial" panose="020B0604020202020204" pitchFamily="34" charset="0"/>
              <a:buChar char="•"/>
            </a:pPr>
            <a:r>
              <a:rPr lang="en-US" b="0" i="0" dirty="0">
                <a:solidFill>
                  <a:srgbClr val="3A3A3A"/>
                </a:solidFill>
                <a:effectLst/>
                <a:latin typeface="Roboto" panose="02000000000000000000" pitchFamily="2" charset="0"/>
              </a:rPr>
              <a:t>&lt;section&gt;: Used to group related content in a webpage, like a part of an article or a specific topic.</a:t>
            </a:r>
          </a:p>
          <a:p>
            <a:pPr algn="just">
              <a:lnSpc>
                <a:spcPts val="2100"/>
              </a:lnSpc>
              <a:spcBef>
                <a:spcPts val="750"/>
              </a:spcBef>
              <a:spcAft>
                <a:spcPts val="600"/>
              </a:spcAft>
              <a:buFont typeface="Arial" panose="020B0604020202020204" pitchFamily="34" charset="0"/>
              <a:buChar char="•"/>
            </a:pPr>
            <a:r>
              <a:rPr lang="en-US" b="0" i="0" dirty="0">
                <a:solidFill>
                  <a:srgbClr val="3A3A3A"/>
                </a:solidFill>
                <a:effectLst/>
                <a:latin typeface="Roboto" panose="02000000000000000000" pitchFamily="2" charset="0"/>
              </a:rPr>
              <a:t>&lt;article&gt;: Used for a self-contained piece of content that can stand alone, like a blog post or news article.</a:t>
            </a:r>
          </a:p>
          <a:p>
            <a:pPr algn="l">
              <a:lnSpc>
                <a:spcPts val="2100"/>
              </a:lnSpc>
              <a:spcBef>
                <a:spcPts val="2400"/>
              </a:spcBef>
              <a:spcAft>
                <a:spcPts val="1800"/>
              </a:spcAft>
              <a:buNone/>
            </a:pPr>
            <a:r>
              <a:rPr lang="en-US" b="0" i="0" dirty="0">
                <a:solidFill>
                  <a:srgbClr val="272C37"/>
                </a:solidFill>
                <a:effectLst/>
                <a:latin typeface="Roboto" panose="02000000000000000000" pitchFamily="2" charset="0"/>
              </a:rPr>
              <a:t>26. What is the difference between inline, block, and inline-block elements?</a:t>
            </a:r>
          </a:p>
          <a:p>
            <a:pPr algn="just">
              <a:lnSpc>
                <a:spcPts val="2100"/>
              </a:lnSpc>
              <a:spcBef>
                <a:spcPts val="1650"/>
              </a:spcBef>
              <a:spcAft>
                <a:spcPts val="600"/>
              </a:spcAft>
              <a:buFont typeface="Arial" panose="020B0604020202020204" pitchFamily="34" charset="0"/>
              <a:buChar char="•"/>
            </a:pPr>
            <a:r>
              <a:rPr lang="en-US" b="0" i="0" dirty="0">
                <a:solidFill>
                  <a:srgbClr val="3A3A3A"/>
                </a:solidFill>
                <a:effectLst/>
                <a:latin typeface="Roboto" panose="02000000000000000000" pitchFamily="2" charset="0"/>
              </a:rPr>
              <a:t>Inline elements: Inline elements like &lt;span&gt; or &lt;a&gt; begin at the same line as the content they affect and do not occupy additional lines, but only the number of lines needed by them. You can’t set their width or height.</a:t>
            </a:r>
          </a:p>
          <a:p>
            <a:pPr algn="just">
              <a:lnSpc>
                <a:spcPts val="2100"/>
              </a:lnSpc>
              <a:spcBef>
                <a:spcPts val="1650"/>
              </a:spcBef>
              <a:spcAft>
                <a:spcPts val="600"/>
              </a:spcAft>
              <a:buFont typeface="Arial" panose="020B0604020202020204" pitchFamily="34" charset="0"/>
              <a:buChar char="•"/>
            </a:pPr>
            <a:r>
              <a:rPr lang="en-US" b="0" i="0" dirty="0">
                <a:solidFill>
                  <a:srgbClr val="3A3A3A"/>
                </a:solidFill>
                <a:effectLst/>
                <a:latin typeface="Roboto" panose="02000000000000000000" pitchFamily="2" charset="0"/>
              </a:rPr>
              <a:t>Block elements: Block elements like &lt;div&gt; or &lt;p&gt; begin on a new line and take up the entire width of the container.  You can set their width, height, margins, and padding.</a:t>
            </a:r>
          </a:p>
          <a:p>
            <a:pPr algn="just">
              <a:lnSpc>
                <a:spcPts val="2100"/>
              </a:lnSpc>
              <a:spcBef>
                <a:spcPts val="1650"/>
              </a:spcBef>
              <a:spcAft>
                <a:spcPts val="600"/>
              </a:spcAft>
              <a:buFont typeface="Arial" panose="020B0604020202020204" pitchFamily="34" charset="0"/>
              <a:buChar char="•"/>
            </a:pPr>
            <a:r>
              <a:rPr lang="en-US" b="0" i="0" dirty="0">
                <a:solidFill>
                  <a:srgbClr val="3A3A3A"/>
                </a:solidFill>
                <a:effectLst/>
                <a:latin typeface="Roboto" panose="02000000000000000000" pitchFamily="2" charset="0"/>
              </a:rPr>
              <a:t>Inline-block elements: Inline-block elements combine the features of both. Although they do not begin a new line as inline elements do, you can set the width and height of the container, among other properties of the context box model, just like block elements. Example: &lt;</a:t>
            </a:r>
            <a:r>
              <a:rPr lang="en-US" b="0" i="0" dirty="0" err="1">
                <a:solidFill>
                  <a:srgbClr val="3A3A3A"/>
                </a:solidFill>
                <a:effectLst/>
                <a:latin typeface="Roboto" panose="02000000000000000000" pitchFamily="2" charset="0"/>
              </a:rPr>
              <a:t>img</a:t>
            </a:r>
            <a:r>
              <a:rPr lang="en-US" b="0" i="0" dirty="0">
                <a:solidFill>
                  <a:srgbClr val="3A3A3A"/>
                </a:solidFill>
                <a:effectLst/>
                <a:latin typeface="Roboto" panose="02000000000000000000" pitchFamily="2" charset="0"/>
              </a:rPr>
              <a:t>&gt; and &lt;button&gt;.</a:t>
            </a:r>
          </a:p>
        </p:txBody>
      </p:sp>
    </p:spTree>
    <p:extLst>
      <p:ext uri="{BB962C8B-B14F-4D97-AF65-F5344CB8AC3E}">
        <p14:creationId xmlns:p14="http://schemas.microsoft.com/office/powerpoint/2010/main" val="24822445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742B9A-8337-6E47-F8F4-F1FF3D654635}"/>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A282D632-306E-B739-9662-4C143BC3B8CC}"/>
              </a:ext>
            </a:extLst>
          </p:cNvPr>
          <p:cNvSpPr txBox="1"/>
          <p:nvPr/>
        </p:nvSpPr>
        <p:spPr>
          <a:xfrm>
            <a:off x="340057" y="384910"/>
            <a:ext cx="9225886" cy="5722079"/>
          </a:xfrm>
          <a:prstGeom prst="rect">
            <a:avLst/>
          </a:prstGeom>
          <a:noFill/>
        </p:spPr>
        <p:txBody>
          <a:bodyPr wrap="square">
            <a:spAutoFit/>
          </a:bodyPr>
          <a:lstStyle/>
          <a:p>
            <a:pPr algn="l">
              <a:lnSpc>
                <a:spcPts val="2100"/>
              </a:lnSpc>
              <a:spcBef>
                <a:spcPts val="2400"/>
              </a:spcBef>
              <a:spcAft>
                <a:spcPts val="1800"/>
              </a:spcAft>
              <a:buNone/>
            </a:pPr>
            <a:r>
              <a:rPr lang="en-US" b="0" i="0" dirty="0">
                <a:solidFill>
                  <a:srgbClr val="272C37"/>
                </a:solidFill>
                <a:effectLst/>
                <a:latin typeface="Roboto" panose="02000000000000000000" pitchFamily="2" charset="0"/>
              </a:rPr>
              <a:t>27. How do you specify global attributes in HTML?</a:t>
            </a:r>
          </a:p>
          <a:p>
            <a:pPr algn="just">
              <a:lnSpc>
                <a:spcPts val="2100"/>
              </a:lnSpc>
              <a:spcBef>
                <a:spcPts val="1650"/>
              </a:spcBef>
              <a:buNone/>
            </a:pPr>
            <a:r>
              <a:rPr lang="en-US" b="0" i="0" dirty="0">
                <a:solidFill>
                  <a:srgbClr val="3A3A3A"/>
                </a:solidFill>
                <a:effectLst/>
                <a:latin typeface="Roboto" panose="02000000000000000000" pitchFamily="2" charset="0"/>
              </a:rPr>
              <a:t>Global attributes in HTML tags are those attributes that can apply to almost all types of HTML elements. Here are a few examples of common global attributes: </a:t>
            </a:r>
          </a:p>
          <a:p>
            <a:pPr algn="just">
              <a:lnSpc>
                <a:spcPts val="2100"/>
              </a:lnSpc>
              <a:spcBef>
                <a:spcPts val="750"/>
              </a:spcBef>
              <a:spcAft>
                <a:spcPts val="600"/>
              </a:spcAft>
              <a:buFont typeface="Arial" panose="020B0604020202020204" pitchFamily="34" charset="0"/>
              <a:buChar char="•"/>
            </a:pPr>
            <a:r>
              <a:rPr lang="en-US" b="0" i="0" dirty="0">
                <a:solidFill>
                  <a:srgbClr val="3A3A3A"/>
                </a:solidFill>
                <a:effectLst/>
                <a:latin typeface="Roboto" panose="02000000000000000000" pitchFamily="2" charset="0"/>
              </a:rPr>
              <a:t>id: Assigns unique names to an element. </a:t>
            </a:r>
          </a:p>
          <a:p>
            <a:pPr algn="just">
              <a:lnSpc>
                <a:spcPts val="2100"/>
              </a:lnSpc>
              <a:spcBef>
                <a:spcPts val="750"/>
              </a:spcBef>
              <a:spcAft>
                <a:spcPts val="600"/>
              </a:spcAft>
              <a:buFont typeface="Arial" panose="020B0604020202020204" pitchFamily="34" charset="0"/>
              <a:buChar char="•"/>
            </a:pPr>
            <a:r>
              <a:rPr lang="en-US" b="0" i="0" dirty="0">
                <a:solidFill>
                  <a:srgbClr val="3A3A3A"/>
                </a:solidFill>
                <a:effectLst/>
                <a:latin typeface="Roboto" panose="02000000000000000000" pitchFamily="2" charset="0"/>
              </a:rPr>
              <a:t>class: Assigns one or several class names for styling or scripting purposes. </a:t>
            </a:r>
          </a:p>
          <a:p>
            <a:pPr algn="just">
              <a:lnSpc>
                <a:spcPts val="2100"/>
              </a:lnSpc>
              <a:spcBef>
                <a:spcPts val="750"/>
              </a:spcBef>
              <a:spcAft>
                <a:spcPts val="600"/>
              </a:spcAft>
              <a:buFont typeface="Arial" panose="020B0604020202020204" pitchFamily="34" charset="0"/>
              <a:buChar char="•"/>
            </a:pPr>
            <a:r>
              <a:rPr lang="en-US" b="0" i="0" dirty="0">
                <a:solidFill>
                  <a:srgbClr val="3A3A3A"/>
                </a:solidFill>
                <a:effectLst/>
                <a:latin typeface="Roboto" panose="02000000000000000000" pitchFamily="2" charset="0"/>
              </a:rPr>
              <a:t>style: Writes either inline CSS styles for that element. </a:t>
            </a:r>
          </a:p>
          <a:p>
            <a:pPr algn="just">
              <a:lnSpc>
                <a:spcPts val="2100"/>
              </a:lnSpc>
              <a:spcBef>
                <a:spcPts val="750"/>
              </a:spcBef>
              <a:spcAft>
                <a:spcPts val="600"/>
              </a:spcAft>
              <a:buFont typeface="Arial" panose="020B0604020202020204" pitchFamily="34" charset="0"/>
              <a:buChar char="•"/>
            </a:pPr>
            <a:r>
              <a:rPr lang="en-US" b="0" i="0" dirty="0">
                <a:solidFill>
                  <a:srgbClr val="3A3A3A"/>
                </a:solidFill>
                <a:effectLst/>
                <a:latin typeface="Roboto" panose="02000000000000000000" pitchFamily="2" charset="0"/>
              </a:rPr>
              <a:t>title: Displays extra information while hovering with a mouse on an element.</a:t>
            </a:r>
          </a:p>
          <a:p>
            <a:pPr algn="just">
              <a:lnSpc>
                <a:spcPts val="2100"/>
              </a:lnSpc>
              <a:spcBef>
                <a:spcPts val="750"/>
              </a:spcBef>
              <a:spcAft>
                <a:spcPts val="600"/>
              </a:spcAft>
              <a:buFont typeface="Arial" panose="020B0604020202020204" pitchFamily="34" charset="0"/>
              <a:buChar char="•"/>
            </a:pPr>
            <a:r>
              <a:rPr lang="en-US" b="0" i="0" dirty="0">
                <a:solidFill>
                  <a:srgbClr val="3A3A3A"/>
                </a:solidFill>
                <a:effectLst/>
                <a:latin typeface="Roboto" panose="02000000000000000000" pitchFamily="2" charset="0"/>
              </a:rPr>
              <a:t>lang: Specifies the language of the element’s content.</a:t>
            </a:r>
          </a:p>
          <a:p>
            <a:pPr algn="l">
              <a:lnSpc>
                <a:spcPts val="2100"/>
              </a:lnSpc>
              <a:spcBef>
                <a:spcPts val="2400"/>
              </a:spcBef>
              <a:spcAft>
                <a:spcPts val="1800"/>
              </a:spcAft>
              <a:buNone/>
            </a:pPr>
            <a:r>
              <a:rPr lang="en-US" b="0" i="0" dirty="0">
                <a:solidFill>
                  <a:srgbClr val="272C37"/>
                </a:solidFill>
                <a:effectLst/>
                <a:latin typeface="Roboto" panose="02000000000000000000" pitchFamily="2" charset="0"/>
              </a:rPr>
              <a:t>28. What difference is there between &lt;b&gt; and &lt;strong&gt; tags in HTML?</a:t>
            </a:r>
          </a:p>
          <a:p>
            <a:pPr algn="just">
              <a:lnSpc>
                <a:spcPts val="2100"/>
              </a:lnSpc>
              <a:spcBef>
                <a:spcPts val="1650"/>
              </a:spcBef>
              <a:spcAft>
                <a:spcPts val="600"/>
              </a:spcAft>
              <a:buFont typeface="Arial" panose="020B0604020202020204" pitchFamily="34" charset="0"/>
              <a:buChar char="•"/>
            </a:pPr>
            <a:r>
              <a:rPr lang="en-US" b="0" i="0" dirty="0">
                <a:solidFill>
                  <a:srgbClr val="3A3A3A"/>
                </a:solidFill>
                <a:effectLst/>
                <a:latin typeface="Roboto" panose="02000000000000000000" pitchFamily="2" charset="0"/>
              </a:rPr>
              <a:t>&lt;b&gt;: It applies to making text bold, not by any special definition.</a:t>
            </a:r>
          </a:p>
          <a:p>
            <a:pPr algn="just">
              <a:lnSpc>
                <a:spcPts val="2100"/>
              </a:lnSpc>
              <a:spcBef>
                <a:spcPts val="1650"/>
              </a:spcBef>
              <a:spcAft>
                <a:spcPts val="600"/>
              </a:spcAft>
              <a:buFont typeface="Arial" panose="020B0604020202020204" pitchFamily="34" charset="0"/>
              <a:buChar char="•"/>
            </a:pPr>
            <a:r>
              <a:rPr lang="en-US" b="0" i="0" dirty="0">
                <a:solidFill>
                  <a:srgbClr val="3A3A3A"/>
                </a:solidFill>
                <a:effectLst/>
                <a:latin typeface="Roboto" panose="02000000000000000000" pitchFamily="2" charset="0"/>
              </a:rPr>
              <a:t>&lt;strong&gt;: </a:t>
            </a:r>
            <a:r>
              <a:rPr lang="en-US" b="0" i="0" dirty="0">
                <a:solidFill>
                  <a:srgbClr val="000000"/>
                </a:solidFill>
                <a:effectLst/>
                <a:latin typeface="Roboto" panose="02000000000000000000" pitchFamily="2" charset="0"/>
              </a:rPr>
              <a:t>It also makes the text bold, but it is used to show the importance of the text, like headings.</a:t>
            </a:r>
            <a:endParaRPr lang="en-US" b="0" i="0" dirty="0">
              <a:solidFill>
                <a:srgbClr val="3A3A3A"/>
              </a:solidFill>
              <a:effectLst/>
              <a:latin typeface="Roboto" panose="02000000000000000000" pitchFamily="2" charset="0"/>
            </a:endParaRPr>
          </a:p>
        </p:txBody>
      </p:sp>
    </p:spTree>
    <p:extLst>
      <p:ext uri="{BB962C8B-B14F-4D97-AF65-F5344CB8AC3E}">
        <p14:creationId xmlns:p14="http://schemas.microsoft.com/office/powerpoint/2010/main" val="398243423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8D39D9-771D-1A99-8C9D-AF905F4171D5}"/>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4B7BF8C1-04DA-030B-86C6-EBE08B791A3F}"/>
              </a:ext>
            </a:extLst>
          </p:cNvPr>
          <p:cNvSpPr txBox="1"/>
          <p:nvPr/>
        </p:nvSpPr>
        <p:spPr>
          <a:xfrm>
            <a:off x="655093" y="807335"/>
            <a:ext cx="8434316" cy="4442242"/>
          </a:xfrm>
          <a:prstGeom prst="rect">
            <a:avLst/>
          </a:prstGeom>
          <a:noFill/>
        </p:spPr>
        <p:txBody>
          <a:bodyPr wrap="square">
            <a:spAutoFit/>
          </a:bodyPr>
          <a:lstStyle/>
          <a:p>
            <a:pPr algn="l">
              <a:lnSpc>
                <a:spcPts val="2100"/>
              </a:lnSpc>
              <a:spcBef>
                <a:spcPts val="2400"/>
              </a:spcBef>
              <a:spcAft>
                <a:spcPts val="1800"/>
              </a:spcAft>
              <a:buNone/>
            </a:pPr>
            <a:r>
              <a:rPr lang="en-US" b="0" i="0" dirty="0">
                <a:solidFill>
                  <a:srgbClr val="272C37"/>
                </a:solidFill>
                <a:effectLst/>
                <a:latin typeface="Roboto" panose="02000000000000000000" pitchFamily="2" charset="0"/>
              </a:rPr>
              <a:t>29. How do you insert a copyright symbol in HTML?</a:t>
            </a:r>
          </a:p>
          <a:p>
            <a:pPr algn="just">
              <a:lnSpc>
                <a:spcPts val="2100"/>
              </a:lnSpc>
              <a:spcBef>
                <a:spcPts val="1650"/>
              </a:spcBef>
              <a:buNone/>
            </a:pPr>
            <a:r>
              <a:rPr lang="en-US" b="0" i="0" dirty="0">
                <a:solidFill>
                  <a:srgbClr val="3A3A3A"/>
                </a:solidFill>
                <a:effectLst/>
                <a:latin typeface="Roboto" panose="02000000000000000000" pitchFamily="2" charset="0"/>
              </a:rPr>
              <a:t>You can insert a copyright symbol in HTML using an HTML entity “&amp;copy;”.</a:t>
            </a:r>
          </a:p>
          <a:p>
            <a:pPr algn="just">
              <a:lnSpc>
                <a:spcPts val="2100"/>
              </a:lnSpc>
              <a:spcBef>
                <a:spcPts val="750"/>
              </a:spcBef>
              <a:buNone/>
            </a:pPr>
            <a:r>
              <a:rPr lang="en-US" b="0" i="0" dirty="0">
                <a:solidFill>
                  <a:srgbClr val="3A3A3A"/>
                </a:solidFill>
                <a:effectLst/>
                <a:latin typeface="Roboto" panose="02000000000000000000" pitchFamily="2" charset="0"/>
              </a:rPr>
              <a:t>For example:</a:t>
            </a:r>
          </a:p>
          <a:p>
            <a:pPr algn="l">
              <a:spcBef>
                <a:spcPts val="1125"/>
              </a:spcBef>
              <a:spcAft>
                <a:spcPts val="375"/>
              </a:spcAft>
              <a:buNone/>
            </a:pPr>
            <a:r>
              <a:rPr lang="en-US" b="0" i="0" dirty="0">
                <a:solidFill>
                  <a:srgbClr val="212529"/>
                </a:solidFill>
                <a:effectLst/>
                <a:latin typeface="Courier New" panose="02070309020205020404" pitchFamily="49" charset="0"/>
              </a:rPr>
              <a:t>&lt;p&gt;&amp;copy; 2025 </a:t>
            </a:r>
            <a:r>
              <a:rPr lang="en-US" b="0" i="0" dirty="0" err="1">
                <a:solidFill>
                  <a:srgbClr val="212529"/>
                </a:solidFill>
                <a:effectLst/>
                <a:latin typeface="Courier New" panose="02070309020205020404" pitchFamily="49" charset="0"/>
              </a:rPr>
              <a:t>Intellipaat</a:t>
            </a:r>
            <a:r>
              <a:rPr lang="en-US" b="0" i="0" dirty="0">
                <a:solidFill>
                  <a:srgbClr val="212529"/>
                </a:solidFill>
                <a:effectLst/>
                <a:latin typeface="Courier New" panose="02070309020205020404" pitchFamily="49" charset="0"/>
              </a:rPr>
              <a:t>&lt;/p&gt;</a:t>
            </a:r>
          </a:p>
          <a:p>
            <a:pPr algn="just">
              <a:lnSpc>
                <a:spcPts val="2100"/>
              </a:lnSpc>
              <a:spcBef>
                <a:spcPts val="1650"/>
              </a:spcBef>
              <a:buNone/>
            </a:pPr>
            <a:r>
              <a:rPr lang="en-US" b="0" i="0" dirty="0">
                <a:solidFill>
                  <a:srgbClr val="3A3A3A"/>
                </a:solidFill>
                <a:effectLst/>
                <a:latin typeface="Roboto" panose="02000000000000000000" pitchFamily="2" charset="0"/>
              </a:rPr>
              <a:t>Will result in:</a:t>
            </a:r>
          </a:p>
          <a:p>
            <a:pPr algn="l">
              <a:spcBef>
                <a:spcPts val="1125"/>
              </a:spcBef>
              <a:spcAft>
                <a:spcPts val="375"/>
              </a:spcAft>
              <a:buNone/>
            </a:pPr>
            <a:r>
              <a:rPr lang="en-US" b="0" i="0" dirty="0">
                <a:solidFill>
                  <a:srgbClr val="212529"/>
                </a:solidFill>
                <a:effectLst/>
                <a:latin typeface="Courier New" panose="02070309020205020404" pitchFamily="49" charset="0"/>
              </a:rPr>
              <a:t>© 2025 </a:t>
            </a:r>
            <a:r>
              <a:rPr lang="en-US" b="0" i="0" dirty="0" err="1">
                <a:solidFill>
                  <a:srgbClr val="212529"/>
                </a:solidFill>
                <a:effectLst/>
                <a:latin typeface="Courier New" panose="02070309020205020404" pitchFamily="49" charset="0"/>
              </a:rPr>
              <a:t>Intellipaat</a:t>
            </a:r>
            <a:endParaRPr lang="en-US" b="0" i="0" dirty="0">
              <a:solidFill>
                <a:srgbClr val="212529"/>
              </a:solidFill>
              <a:effectLst/>
              <a:latin typeface="Courier New" panose="02070309020205020404" pitchFamily="49" charset="0"/>
            </a:endParaRPr>
          </a:p>
          <a:p>
            <a:pPr algn="l">
              <a:lnSpc>
                <a:spcPts val="2100"/>
              </a:lnSpc>
              <a:spcBef>
                <a:spcPts val="2400"/>
              </a:spcBef>
              <a:spcAft>
                <a:spcPts val="1800"/>
              </a:spcAft>
              <a:buNone/>
            </a:pPr>
            <a:r>
              <a:rPr lang="en-US" b="0" i="0" dirty="0">
                <a:solidFill>
                  <a:srgbClr val="272C37"/>
                </a:solidFill>
                <a:effectLst/>
                <a:latin typeface="Roboto" panose="02000000000000000000" pitchFamily="2" charset="0"/>
              </a:rPr>
              <a:t>30. What is white space in HTML?</a:t>
            </a:r>
          </a:p>
          <a:p>
            <a:pPr algn="just">
              <a:lnSpc>
                <a:spcPts val="2100"/>
              </a:lnSpc>
              <a:spcBef>
                <a:spcPts val="1650"/>
              </a:spcBef>
              <a:buNone/>
            </a:pPr>
            <a:r>
              <a:rPr lang="en-US" b="0" i="0" dirty="0">
                <a:solidFill>
                  <a:srgbClr val="3A3A3A"/>
                </a:solidFill>
                <a:effectLst/>
                <a:latin typeface="Roboto" panose="02000000000000000000" pitchFamily="2" charset="0"/>
              </a:rPr>
              <a:t>White space in HTML refers to blank spaces, tabs, and line breaks between words or elements.</a:t>
            </a:r>
          </a:p>
        </p:txBody>
      </p:sp>
    </p:spTree>
    <p:extLst>
      <p:ext uri="{BB962C8B-B14F-4D97-AF65-F5344CB8AC3E}">
        <p14:creationId xmlns:p14="http://schemas.microsoft.com/office/powerpoint/2010/main" val="321149508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5F51D3-0345-00B0-8AB0-A45023E7406D}"/>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31844605-E349-1C96-94DA-631C595B761B}"/>
              </a:ext>
            </a:extLst>
          </p:cNvPr>
          <p:cNvSpPr txBox="1"/>
          <p:nvPr/>
        </p:nvSpPr>
        <p:spPr>
          <a:xfrm>
            <a:off x="1296537" y="-534058"/>
            <a:ext cx="6134668" cy="7101944"/>
          </a:xfrm>
          <a:prstGeom prst="rect">
            <a:avLst/>
          </a:prstGeom>
          <a:noFill/>
        </p:spPr>
        <p:txBody>
          <a:bodyPr wrap="square">
            <a:spAutoFit/>
          </a:bodyPr>
          <a:lstStyle/>
          <a:p>
            <a:pPr algn="l">
              <a:lnSpc>
                <a:spcPts val="2100"/>
              </a:lnSpc>
              <a:spcBef>
                <a:spcPts val="2400"/>
              </a:spcBef>
              <a:spcAft>
                <a:spcPts val="1800"/>
              </a:spcAft>
              <a:buNone/>
            </a:pPr>
            <a:r>
              <a:rPr lang="en-US" b="0" i="0" dirty="0">
                <a:solidFill>
                  <a:srgbClr val="272C37"/>
                </a:solidFill>
                <a:effectLst/>
                <a:latin typeface="Roboto" panose="02000000000000000000" pitchFamily="2" charset="0"/>
              </a:rPr>
              <a:t>31. How do you create links to different sections within the same HTML web page?</a:t>
            </a:r>
          </a:p>
          <a:p>
            <a:pPr algn="just">
              <a:lnSpc>
                <a:spcPts val="2100"/>
              </a:lnSpc>
              <a:spcBef>
                <a:spcPts val="1650"/>
              </a:spcBef>
              <a:buNone/>
            </a:pPr>
            <a:r>
              <a:rPr lang="en-US" b="0" i="0" dirty="0">
                <a:solidFill>
                  <a:srgbClr val="3A3A3A"/>
                </a:solidFill>
                <a:effectLst/>
                <a:latin typeface="Roboto" panose="02000000000000000000" pitchFamily="2" charset="0"/>
              </a:rPr>
              <a:t>You can create internal links using the id attribute and anchor tags &lt;a&gt;.</a:t>
            </a:r>
          </a:p>
          <a:p>
            <a:pPr algn="just">
              <a:lnSpc>
                <a:spcPts val="2100"/>
              </a:lnSpc>
              <a:spcBef>
                <a:spcPts val="750"/>
              </a:spcBef>
              <a:buNone/>
            </a:pPr>
            <a:r>
              <a:rPr lang="en-US" b="0" i="0" dirty="0">
                <a:solidFill>
                  <a:srgbClr val="3A3A3A"/>
                </a:solidFill>
                <a:effectLst/>
                <a:latin typeface="Roboto" panose="02000000000000000000" pitchFamily="2" charset="0"/>
              </a:rPr>
              <a:t>Example:</a:t>
            </a:r>
          </a:p>
          <a:p>
            <a:pPr algn="l">
              <a:spcBef>
                <a:spcPts val="1125"/>
              </a:spcBef>
              <a:spcAft>
                <a:spcPts val="375"/>
              </a:spcAft>
              <a:buNone/>
            </a:pPr>
            <a:r>
              <a:rPr lang="en-US" b="0" i="0" dirty="0">
                <a:solidFill>
                  <a:srgbClr val="212529"/>
                </a:solidFill>
                <a:effectLst/>
                <a:latin typeface="Courier New" panose="02070309020205020404" pitchFamily="49" charset="0"/>
              </a:rPr>
              <a:t>&lt;!-- creating a link to that section --&gt;</a:t>
            </a:r>
          </a:p>
          <a:p>
            <a:pPr algn="l">
              <a:spcBef>
                <a:spcPts val="1125"/>
              </a:spcBef>
              <a:spcAft>
                <a:spcPts val="375"/>
              </a:spcAft>
              <a:buNone/>
            </a:pPr>
            <a:endParaRPr lang="en-US" b="0" i="0" dirty="0">
              <a:solidFill>
                <a:srgbClr val="212529"/>
              </a:solidFill>
              <a:effectLst/>
              <a:latin typeface="Courier New" panose="02070309020205020404" pitchFamily="49" charset="0"/>
            </a:endParaRPr>
          </a:p>
          <a:p>
            <a:pPr algn="l">
              <a:spcBef>
                <a:spcPts val="1125"/>
              </a:spcBef>
              <a:spcAft>
                <a:spcPts val="375"/>
              </a:spcAft>
              <a:buNone/>
            </a:pPr>
            <a:r>
              <a:rPr lang="en-US" b="0" i="0" dirty="0">
                <a:solidFill>
                  <a:srgbClr val="212529"/>
                </a:solidFill>
                <a:effectLst/>
                <a:latin typeface="Courier New" panose="02070309020205020404" pitchFamily="49" charset="0"/>
              </a:rPr>
              <a:t>&lt;a </a:t>
            </a:r>
            <a:r>
              <a:rPr lang="en-US" b="0" i="0" dirty="0" err="1">
                <a:solidFill>
                  <a:srgbClr val="212529"/>
                </a:solidFill>
                <a:effectLst/>
                <a:latin typeface="Courier New" panose="02070309020205020404" pitchFamily="49" charset="0"/>
              </a:rPr>
              <a:t>href</a:t>
            </a:r>
            <a:r>
              <a:rPr lang="en-US" b="0" i="0" dirty="0">
                <a:solidFill>
                  <a:srgbClr val="212529"/>
                </a:solidFill>
                <a:effectLst/>
                <a:latin typeface="Courier New" panose="02070309020205020404" pitchFamily="49" charset="0"/>
              </a:rPr>
              <a:t>="#contact"&gt;Contact&lt;/a&gt;</a:t>
            </a:r>
          </a:p>
          <a:p>
            <a:pPr algn="l">
              <a:spcBef>
                <a:spcPts val="1125"/>
              </a:spcBef>
              <a:spcAft>
                <a:spcPts val="375"/>
              </a:spcAft>
              <a:buNone/>
            </a:pPr>
            <a:endParaRPr lang="en-US" b="0" i="0" dirty="0">
              <a:solidFill>
                <a:srgbClr val="212529"/>
              </a:solidFill>
              <a:effectLst/>
              <a:latin typeface="Courier New" panose="02070309020205020404" pitchFamily="49" charset="0"/>
            </a:endParaRPr>
          </a:p>
          <a:p>
            <a:pPr algn="l">
              <a:spcBef>
                <a:spcPts val="1125"/>
              </a:spcBef>
              <a:spcAft>
                <a:spcPts val="375"/>
              </a:spcAft>
              <a:buNone/>
            </a:pPr>
            <a:r>
              <a:rPr lang="en-US" b="0" i="0" dirty="0">
                <a:solidFill>
                  <a:srgbClr val="212529"/>
                </a:solidFill>
                <a:effectLst/>
                <a:latin typeface="Courier New" panose="02070309020205020404" pitchFamily="49" charset="0"/>
              </a:rPr>
              <a:t> </a:t>
            </a:r>
          </a:p>
          <a:p>
            <a:pPr algn="l">
              <a:spcBef>
                <a:spcPts val="1125"/>
              </a:spcBef>
              <a:spcAft>
                <a:spcPts val="375"/>
              </a:spcAft>
              <a:buNone/>
            </a:pPr>
            <a:endParaRPr lang="en-US" b="0" i="0" dirty="0">
              <a:solidFill>
                <a:srgbClr val="212529"/>
              </a:solidFill>
              <a:effectLst/>
              <a:latin typeface="Courier New" panose="02070309020205020404" pitchFamily="49" charset="0"/>
            </a:endParaRPr>
          </a:p>
          <a:p>
            <a:pPr algn="l">
              <a:spcBef>
                <a:spcPts val="1125"/>
              </a:spcBef>
              <a:spcAft>
                <a:spcPts val="375"/>
              </a:spcAft>
              <a:buNone/>
            </a:pPr>
            <a:r>
              <a:rPr lang="en-US" b="0" i="0" dirty="0">
                <a:solidFill>
                  <a:srgbClr val="212529"/>
                </a:solidFill>
                <a:effectLst/>
                <a:latin typeface="Courier New" panose="02070309020205020404" pitchFamily="49" charset="0"/>
              </a:rPr>
              <a:t>&lt;!-- Give the target section an id --&gt;</a:t>
            </a:r>
          </a:p>
          <a:p>
            <a:pPr algn="l">
              <a:spcBef>
                <a:spcPts val="1125"/>
              </a:spcBef>
              <a:spcAft>
                <a:spcPts val="375"/>
              </a:spcAft>
              <a:buNone/>
            </a:pPr>
            <a:endParaRPr lang="en-US" b="0" i="0" dirty="0">
              <a:solidFill>
                <a:srgbClr val="212529"/>
              </a:solidFill>
              <a:effectLst/>
              <a:latin typeface="Courier New" panose="02070309020205020404" pitchFamily="49" charset="0"/>
            </a:endParaRPr>
          </a:p>
          <a:p>
            <a:pPr algn="l">
              <a:spcBef>
                <a:spcPts val="1125"/>
              </a:spcBef>
              <a:spcAft>
                <a:spcPts val="375"/>
              </a:spcAft>
              <a:buNone/>
            </a:pPr>
            <a:r>
              <a:rPr lang="en-US" b="0" i="0" dirty="0">
                <a:solidFill>
                  <a:srgbClr val="212529"/>
                </a:solidFill>
                <a:effectLst/>
                <a:latin typeface="Courier New" panose="02070309020205020404" pitchFamily="49" charset="0"/>
              </a:rPr>
              <a:t>&lt;h2 id="contact"&gt;Contact Section&lt;/h2&gt;</a:t>
            </a:r>
          </a:p>
          <a:p>
            <a:pPr algn="l">
              <a:spcBef>
                <a:spcPts val="1125"/>
              </a:spcBef>
              <a:spcAft>
                <a:spcPts val="375"/>
              </a:spcAft>
              <a:buNone/>
            </a:pPr>
            <a:endParaRPr lang="en-US" b="0" i="0" dirty="0">
              <a:solidFill>
                <a:srgbClr val="212529"/>
              </a:solidFill>
              <a:effectLst/>
              <a:latin typeface="Courier New" panose="02070309020205020404" pitchFamily="49" charset="0"/>
            </a:endParaRPr>
          </a:p>
          <a:p>
            <a:pPr algn="l">
              <a:spcBef>
                <a:spcPts val="1125"/>
              </a:spcBef>
              <a:spcAft>
                <a:spcPts val="375"/>
              </a:spcAft>
              <a:buNone/>
            </a:pPr>
            <a:r>
              <a:rPr lang="en-US" b="0" i="0" dirty="0">
                <a:solidFill>
                  <a:srgbClr val="212529"/>
                </a:solidFill>
                <a:effectLst/>
                <a:latin typeface="Courier New" panose="02070309020205020404" pitchFamily="49" charset="0"/>
              </a:rPr>
              <a:t>&lt;p&gt;Reach out to us here.&lt;/p&gt;</a:t>
            </a:r>
          </a:p>
        </p:txBody>
      </p:sp>
    </p:spTree>
    <p:extLst>
      <p:ext uri="{BB962C8B-B14F-4D97-AF65-F5344CB8AC3E}">
        <p14:creationId xmlns:p14="http://schemas.microsoft.com/office/powerpoint/2010/main" val="329660146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85CCC6-E6E7-B7C6-6CCC-9091F85AE183}"/>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A65672DA-9D06-D26C-C12A-0B322D701D48}"/>
              </a:ext>
            </a:extLst>
          </p:cNvPr>
          <p:cNvSpPr txBox="1"/>
          <p:nvPr/>
        </p:nvSpPr>
        <p:spPr>
          <a:xfrm>
            <a:off x="2477069" y="-745655"/>
            <a:ext cx="4954136" cy="8356134"/>
          </a:xfrm>
          <a:prstGeom prst="rect">
            <a:avLst/>
          </a:prstGeom>
          <a:noFill/>
        </p:spPr>
        <p:txBody>
          <a:bodyPr wrap="square">
            <a:spAutoFit/>
          </a:bodyPr>
          <a:lstStyle/>
          <a:p>
            <a:pPr algn="l">
              <a:lnSpc>
                <a:spcPts val="2100"/>
              </a:lnSpc>
              <a:spcBef>
                <a:spcPts val="2400"/>
              </a:spcBef>
              <a:spcAft>
                <a:spcPts val="1800"/>
              </a:spcAft>
              <a:buNone/>
            </a:pPr>
            <a:r>
              <a:rPr lang="en-US" b="0" i="0" dirty="0">
                <a:solidFill>
                  <a:srgbClr val="272C37"/>
                </a:solidFill>
                <a:effectLst/>
                <a:latin typeface="Roboto" panose="02000000000000000000" pitchFamily="2" charset="0"/>
              </a:rPr>
              <a:t>32. What is an image map?</a:t>
            </a:r>
          </a:p>
          <a:p>
            <a:pPr algn="just">
              <a:lnSpc>
                <a:spcPts val="2100"/>
              </a:lnSpc>
              <a:spcBef>
                <a:spcPts val="1650"/>
              </a:spcBef>
              <a:buNone/>
            </a:pPr>
            <a:r>
              <a:rPr lang="en-US" b="0" i="0" dirty="0">
                <a:solidFill>
                  <a:srgbClr val="3A3A3A"/>
                </a:solidFill>
                <a:effectLst/>
                <a:latin typeface="Roboto" panose="02000000000000000000" pitchFamily="2" charset="0"/>
              </a:rPr>
              <a:t>An image map is a special kind of image where different parts of the image are clickable. Each clickable part (called a hotspot) can link to a different URL or section of the website. This is useful when you want to use one image to link to several places.</a:t>
            </a:r>
          </a:p>
          <a:p>
            <a:pPr algn="just">
              <a:lnSpc>
                <a:spcPts val="2100"/>
              </a:lnSpc>
              <a:spcBef>
                <a:spcPts val="750"/>
              </a:spcBef>
              <a:buNone/>
            </a:pPr>
            <a:r>
              <a:rPr lang="en-US" b="0" i="0" dirty="0">
                <a:solidFill>
                  <a:srgbClr val="3A3A3A"/>
                </a:solidFill>
                <a:effectLst/>
                <a:latin typeface="Roboto" panose="02000000000000000000" pitchFamily="2" charset="0"/>
              </a:rPr>
              <a:t>Example:</a:t>
            </a:r>
          </a:p>
          <a:p>
            <a:pPr algn="l">
              <a:spcBef>
                <a:spcPts val="1125"/>
              </a:spcBef>
              <a:spcAft>
                <a:spcPts val="375"/>
              </a:spcAft>
              <a:buNone/>
            </a:pPr>
            <a:r>
              <a:rPr lang="en-US" b="0" i="0" dirty="0">
                <a:solidFill>
                  <a:srgbClr val="212529"/>
                </a:solidFill>
                <a:effectLst/>
                <a:latin typeface="Courier New" panose="02070309020205020404" pitchFamily="49" charset="0"/>
              </a:rPr>
              <a:t>&lt;</a:t>
            </a:r>
            <a:r>
              <a:rPr lang="en-US" b="0" i="0" dirty="0" err="1">
                <a:solidFill>
                  <a:srgbClr val="212529"/>
                </a:solidFill>
                <a:effectLst/>
                <a:latin typeface="Courier New" panose="02070309020205020404" pitchFamily="49" charset="0"/>
              </a:rPr>
              <a:t>img</a:t>
            </a:r>
            <a:r>
              <a:rPr lang="en-US" b="0" i="0" dirty="0">
                <a:solidFill>
                  <a:srgbClr val="212529"/>
                </a:solidFill>
                <a:effectLst/>
                <a:latin typeface="Courier New" panose="02070309020205020404" pitchFamily="49" charset="0"/>
              </a:rPr>
              <a:t> </a:t>
            </a:r>
            <a:r>
              <a:rPr lang="en-US" b="0" i="0" dirty="0" err="1">
                <a:solidFill>
                  <a:srgbClr val="212529"/>
                </a:solidFill>
                <a:effectLst/>
                <a:latin typeface="Courier New" panose="02070309020205020404" pitchFamily="49" charset="0"/>
              </a:rPr>
              <a:t>src</a:t>
            </a:r>
            <a:r>
              <a:rPr lang="en-US" b="0" i="0" dirty="0">
                <a:solidFill>
                  <a:srgbClr val="212529"/>
                </a:solidFill>
                <a:effectLst/>
                <a:latin typeface="Courier New" panose="02070309020205020404" pitchFamily="49" charset="0"/>
              </a:rPr>
              <a:t>="image.jpg" </a:t>
            </a:r>
            <a:r>
              <a:rPr lang="en-US" b="0" i="0" dirty="0" err="1">
                <a:solidFill>
                  <a:srgbClr val="212529"/>
                </a:solidFill>
                <a:effectLst/>
                <a:latin typeface="Courier New" panose="02070309020205020404" pitchFamily="49" charset="0"/>
              </a:rPr>
              <a:t>usemap</a:t>
            </a:r>
            <a:r>
              <a:rPr lang="en-US" b="0" i="0" dirty="0">
                <a:solidFill>
                  <a:srgbClr val="212529"/>
                </a:solidFill>
                <a:effectLst/>
                <a:latin typeface="Courier New" panose="02070309020205020404" pitchFamily="49" charset="0"/>
              </a:rPr>
              <a:t>="#</a:t>
            </a:r>
            <a:r>
              <a:rPr lang="en-US" b="0" i="0" dirty="0" err="1">
                <a:solidFill>
                  <a:srgbClr val="212529"/>
                </a:solidFill>
                <a:effectLst/>
                <a:latin typeface="Courier New" panose="02070309020205020404" pitchFamily="49" charset="0"/>
              </a:rPr>
              <a:t>examplemap</a:t>
            </a:r>
            <a:r>
              <a:rPr lang="en-US" b="0" i="0" dirty="0">
                <a:solidFill>
                  <a:srgbClr val="212529"/>
                </a:solidFill>
                <a:effectLst/>
                <a:latin typeface="Courier New" panose="02070309020205020404" pitchFamily="49" charset="0"/>
              </a:rPr>
              <a:t>"&gt;</a:t>
            </a:r>
          </a:p>
          <a:p>
            <a:pPr algn="l">
              <a:spcBef>
                <a:spcPts val="1125"/>
              </a:spcBef>
              <a:spcAft>
                <a:spcPts val="375"/>
              </a:spcAft>
              <a:buNone/>
            </a:pPr>
            <a:endParaRPr lang="en-US" b="0" i="0" dirty="0">
              <a:solidFill>
                <a:srgbClr val="212529"/>
              </a:solidFill>
              <a:effectLst/>
              <a:latin typeface="Courier New" panose="02070309020205020404" pitchFamily="49" charset="0"/>
            </a:endParaRPr>
          </a:p>
          <a:p>
            <a:pPr algn="l">
              <a:spcBef>
                <a:spcPts val="1125"/>
              </a:spcBef>
              <a:spcAft>
                <a:spcPts val="375"/>
              </a:spcAft>
              <a:buNone/>
            </a:pPr>
            <a:r>
              <a:rPr lang="en-US" b="0" i="0" dirty="0">
                <a:solidFill>
                  <a:srgbClr val="212529"/>
                </a:solidFill>
                <a:effectLst/>
                <a:latin typeface="Courier New" panose="02070309020205020404" pitchFamily="49" charset="0"/>
              </a:rPr>
              <a:t>&lt;map name="</a:t>
            </a:r>
            <a:r>
              <a:rPr lang="en-US" b="0" i="0" dirty="0" err="1">
                <a:solidFill>
                  <a:srgbClr val="212529"/>
                </a:solidFill>
                <a:effectLst/>
                <a:latin typeface="Courier New" panose="02070309020205020404" pitchFamily="49" charset="0"/>
              </a:rPr>
              <a:t>examplemap</a:t>
            </a:r>
            <a:r>
              <a:rPr lang="en-US" b="0" i="0" dirty="0">
                <a:solidFill>
                  <a:srgbClr val="212529"/>
                </a:solidFill>
                <a:effectLst/>
                <a:latin typeface="Courier New" panose="02070309020205020404" pitchFamily="49" charset="0"/>
              </a:rPr>
              <a:t>"&gt;</a:t>
            </a:r>
          </a:p>
          <a:p>
            <a:pPr algn="l">
              <a:spcBef>
                <a:spcPts val="1125"/>
              </a:spcBef>
              <a:spcAft>
                <a:spcPts val="375"/>
              </a:spcAft>
              <a:buNone/>
            </a:pPr>
            <a:endParaRPr lang="en-US" b="0" i="0" dirty="0">
              <a:solidFill>
                <a:srgbClr val="212529"/>
              </a:solidFill>
              <a:effectLst/>
              <a:latin typeface="Courier New" panose="02070309020205020404" pitchFamily="49" charset="0"/>
            </a:endParaRPr>
          </a:p>
          <a:p>
            <a:pPr algn="l">
              <a:spcBef>
                <a:spcPts val="1125"/>
              </a:spcBef>
              <a:spcAft>
                <a:spcPts val="375"/>
              </a:spcAft>
              <a:buNone/>
            </a:pPr>
            <a:r>
              <a:rPr lang="en-US" b="0" i="0" dirty="0">
                <a:solidFill>
                  <a:srgbClr val="212529"/>
                </a:solidFill>
                <a:effectLst/>
                <a:latin typeface="Courier New" panose="02070309020205020404" pitchFamily="49" charset="0"/>
              </a:rPr>
              <a:t>  &lt;area shape="</a:t>
            </a:r>
            <a:r>
              <a:rPr lang="en-US" b="0" i="0" dirty="0" err="1">
                <a:solidFill>
                  <a:srgbClr val="212529"/>
                </a:solidFill>
                <a:effectLst/>
                <a:latin typeface="Courier New" panose="02070309020205020404" pitchFamily="49" charset="0"/>
              </a:rPr>
              <a:t>rect</a:t>
            </a:r>
            <a:r>
              <a:rPr lang="en-US" b="0" i="0" dirty="0">
                <a:solidFill>
                  <a:srgbClr val="212529"/>
                </a:solidFill>
                <a:effectLst/>
                <a:latin typeface="Courier New" panose="02070309020205020404" pitchFamily="49" charset="0"/>
              </a:rPr>
              <a:t>" coords="34,44,270,350" </a:t>
            </a:r>
            <a:r>
              <a:rPr lang="en-US" b="0" i="0" dirty="0" err="1">
                <a:solidFill>
                  <a:srgbClr val="212529"/>
                </a:solidFill>
                <a:effectLst/>
                <a:latin typeface="Courier New" panose="02070309020205020404" pitchFamily="49" charset="0"/>
              </a:rPr>
              <a:t>href</a:t>
            </a:r>
            <a:r>
              <a:rPr lang="en-US" b="0" i="0" dirty="0">
                <a:solidFill>
                  <a:srgbClr val="212529"/>
                </a:solidFill>
                <a:effectLst/>
                <a:latin typeface="Courier New" panose="02070309020205020404" pitchFamily="49" charset="0"/>
              </a:rPr>
              <a:t>="page1.html"&gt;</a:t>
            </a:r>
          </a:p>
          <a:p>
            <a:pPr algn="l">
              <a:spcBef>
                <a:spcPts val="1125"/>
              </a:spcBef>
              <a:spcAft>
                <a:spcPts val="375"/>
              </a:spcAft>
              <a:buNone/>
            </a:pPr>
            <a:endParaRPr lang="en-US" b="0" i="0" dirty="0">
              <a:solidFill>
                <a:srgbClr val="212529"/>
              </a:solidFill>
              <a:effectLst/>
              <a:latin typeface="Courier New" panose="02070309020205020404" pitchFamily="49" charset="0"/>
            </a:endParaRPr>
          </a:p>
          <a:p>
            <a:pPr algn="l">
              <a:spcBef>
                <a:spcPts val="1125"/>
              </a:spcBef>
              <a:spcAft>
                <a:spcPts val="375"/>
              </a:spcAft>
              <a:buNone/>
            </a:pPr>
            <a:r>
              <a:rPr lang="en-US" b="0" i="0" dirty="0">
                <a:solidFill>
                  <a:srgbClr val="212529"/>
                </a:solidFill>
                <a:effectLst/>
                <a:latin typeface="Courier New" panose="02070309020205020404" pitchFamily="49" charset="0"/>
              </a:rPr>
              <a:t>  &lt;area shape="circle" coords="130,136,60" </a:t>
            </a:r>
            <a:r>
              <a:rPr lang="en-US" b="0" i="0" dirty="0" err="1">
                <a:solidFill>
                  <a:srgbClr val="212529"/>
                </a:solidFill>
                <a:effectLst/>
                <a:latin typeface="Courier New" panose="02070309020205020404" pitchFamily="49" charset="0"/>
              </a:rPr>
              <a:t>href</a:t>
            </a:r>
            <a:r>
              <a:rPr lang="en-US" b="0" i="0" dirty="0">
                <a:solidFill>
                  <a:srgbClr val="212529"/>
                </a:solidFill>
                <a:effectLst/>
                <a:latin typeface="Courier New" panose="02070309020205020404" pitchFamily="49" charset="0"/>
              </a:rPr>
              <a:t>="page2.html"&gt;</a:t>
            </a:r>
          </a:p>
          <a:p>
            <a:pPr algn="l">
              <a:spcBef>
                <a:spcPts val="1125"/>
              </a:spcBef>
              <a:spcAft>
                <a:spcPts val="375"/>
              </a:spcAft>
              <a:buNone/>
            </a:pPr>
            <a:endParaRPr lang="en-US" b="0" i="0" dirty="0">
              <a:solidFill>
                <a:srgbClr val="212529"/>
              </a:solidFill>
              <a:effectLst/>
              <a:latin typeface="Courier New" panose="02070309020205020404" pitchFamily="49" charset="0"/>
            </a:endParaRPr>
          </a:p>
          <a:p>
            <a:pPr algn="l">
              <a:spcBef>
                <a:spcPts val="1125"/>
              </a:spcBef>
              <a:spcAft>
                <a:spcPts val="375"/>
              </a:spcAft>
              <a:buNone/>
            </a:pPr>
            <a:r>
              <a:rPr lang="en-US" b="0" i="0" dirty="0">
                <a:solidFill>
                  <a:srgbClr val="212529"/>
                </a:solidFill>
                <a:effectLst/>
                <a:latin typeface="Courier New" panose="02070309020205020404" pitchFamily="49" charset="0"/>
              </a:rPr>
              <a:t>&lt;/map&gt;</a:t>
            </a:r>
          </a:p>
        </p:txBody>
      </p:sp>
    </p:spTree>
    <p:extLst>
      <p:ext uri="{BB962C8B-B14F-4D97-AF65-F5344CB8AC3E}">
        <p14:creationId xmlns:p14="http://schemas.microsoft.com/office/powerpoint/2010/main" val="18943406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498316-616B-E845-43AD-535703B1767E}"/>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24BDAB2E-B3ED-85BD-3A71-82A031F995A6}"/>
              </a:ext>
            </a:extLst>
          </p:cNvPr>
          <p:cNvSpPr txBox="1"/>
          <p:nvPr/>
        </p:nvSpPr>
        <p:spPr>
          <a:xfrm>
            <a:off x="2477069" y="173828"/>
            <a:ext cx="4954136" cy="6517169"/>
          </a:xfrm>
          <a:prstGeom prst="rect">
            <a:avLst/>
          </a:prstGeom>
          <a:noFill/>
        </p:spPr>
        <p:txBody>
          <a:bodyPr wrap="square">
            <a:spAutoFit/>
          </a:bodyPr>
          <a:lstStyle/>
          <a:p>
            <a:pPr algn="l">
              <a:lnSpc>
                <a:spcPts val="2100"/>
              </a:lnSpc>
              <a:spcBef>
                <a:spcPts val="2400"/>
              </a:spcBef>
              <a:spcAft>
                <a:spcPts val="1800"/>
              </a:spcAft>
              <a:buNone/>
            </a:pPr>
            <a:r>
              <a:rPr lang="en-US" b="0" i="0" dirty="0">
                <a:solidFill>
                  <a:srgbClr val="272C37"/>
                </a:solidFill>
                <a:effectLst/>
                <a:latin typeface="Roboto" panose="02000000000000000000" pitchFamily="2" charset="0"/>
              </a:rPr>
              <a:t>33. Why do we use a style sheet in HTML?</a:t>
            </a:r>
          </a:p>
          <a:p>
            <a:pPr algn="just">
              <a:lnSpc>
                <a:spcPts val="2100"/>
              </a:lnSpc>
              <a:spcBef>
                <a:spcPts val="1650"/>
              </a:spcBef>
              <a:buNone/>
            </a:pPr>
            <a:r>
              <a:rPr lang="en-US" b="0" i="0" dirty="0">
                <a:solidFill>
                  <a:srgbClr val="3A3A3A"/>
                </a:solidFill>
                <a:effectLst/>
                <a:latin typeface="Roboto" panose="02000000000000000000" pitchFamily="2" charset="0"/>
              </a:rPr>
              <a:t>We use a style sheet (CSS) to control the appearance of the content on a webpage. It helps us set the </a:t>
            </a:r>
            <a:r>
              <a:rPr lang="en-US" b="0" i="0" dirty="0" err="1">
                <a:solidFill>
                  <a:srgbClr val="3A3A3A"/>
                </a:solidFill>
                <a:effectLst/>
                <a:latin typeface="Roboto" panose="02000000000000000000" pitchFamily="2" charset="0"/>
              </a:rPr>
              <a:t>colour</a:t>
            </a:r>
            <a:r>
              <a:rPr lang="en-US" b="0" i="0" dirty="0">
                <a:solidFill>
                  <a:srgbClr val="3A3A3A"/>
                </a:solidFill>
                <a:effectLst/>
                <a:latin typeface="Roboto" panose="02000000000000000000" pitchFamily="2" charset="0"/>
              </a:rPr>
              <a:t>, size, spacing, and layout of elements. Without CSS, HTML pages would look plain and </a:t>
            </a:r>
            <a:r>
              <a:rPr lang="en-US" b="0" i="0" dirty="0" err="1">
                <a:solidFill>
                  <a:srgbClr val="3A3A3A"/>
                </a:solidFill>
                <a:effectLst/>
                <a:latin typeface="Roboto" panose="02000000000000000000" pitchFamily="2" charset="0"/>
              </a:rPr>
              <a:t>unstyled</a:t>
            </a:r>
            <a:r>
              <a:rPr lang="en-US" b="0" i="0" dirty="0">
                <a:solidFill>
                  <a:srgbClr val="3A3A3A"/>
                </a:solidFill>
                <a:effectLst/>
                <a:latin typeface="Roboto" panose="02000000000000000000" pitchFamily="2" charset="0"/>
              </a:rPr>
              <a:t>.</a:t>
            </a:r>
          </a:p>
          <a:p>
            <a:pPr algn="just">
              <a:lnSpc>
                <a:spcPts val="2100"/>
              </a:lnSpc>
              <a:spcBef>
                <a:spcPts val="750"/>
              </a:spcBef>
              <a:buNone/>
            </a:pPr>
            <a:r>
              <a:rPr lang="en-US" b="0" i="0" dirty="0">
                <a:solidFill>
                  <a:srgbClr val="3A3A3A"/>
                </a:solidFill>
                <a:effectLst/>
                <a:latin typeface="Roboto" panose="02000000000000000000" pitchFamily="2" charset="0"/>
              </a:rPr>
              <a:t>Benefits:</a:t>
            </a:r>
          </a:p>
          <a:p>
            <a:pPr algn="just">
              <a:lnSpc>
                <a:spcPts val="2100"/>
              </a:lnSpc>
              <a:spcBef>
                <a:spcPts val="750"/>
              </a:spcBef>
              <a:spcAft>
                <a:spcPts val="600"/>
              </a:spcAft>
              <a:buFont typeface="Arial" panose="020B0604020202020204" pitchFamily="34" charset="0"/>
              <a:buChar char="•"/>
            </a:pPr>
            <a:r>
              <a:rPr lang="en-US" b="0" i="0" dirty="0">
                <a:solidFill>
                  <a:srgbClr val="3A3A3A"/>
                </a:solidFill>
                <a:effectLst/>
                <a:latin typeface="Roboto" panose="02000000000000000000" pitchFamily="2" charset="0"/>
              </a:rPr>
              <a:t>Makes web pages look better</a:t>
            </a:r>
          </a:p>
          <a:p>
            <a:pPr algn="just">
              <a:lnSpc>
                <a:spcPts val="2100"/>
              </a:lnSpc>
              <a:spcBef>
                <a:spcPts val="750"/>
              </a:spcBef>
              <a:spcAft>
                <a:spcPts val="600"/>
              </a:spcAft>
              <a:buFont typeface="Arial" panose="020B0604020202020204" pitchFamily="34" charset="0"/>
              <a:buChar char="•"/>
            </a:pPr>
            <a:r>
              <a:rPr lang="en-US" b="0" i="0" dirty="0">
                <a:solidFill>
                  <a:srgbClr val="3A3A3A"/>
                </a:solidFill>
                <a:effectLst/>
                <a:latin typeface="Roboto" panose="02000000000000000000" pitchFamily="2" charset="0"/>
              </a:rPr>
              <a:t>Keeps the style separate from the content</a:t>
            </a:r>
          </a:p>
          <a:p>
            <a:pPr algn="just">
              <a:lnSpc>
                <a:spcPts val="2100"/>
              </a:lnSpc>
              <a:spcBef>
                <a:spcPts val="750"/>
              </a:spcBef>
              <a:spcAft>
                <a:spcPts val="600"/>
              </a:spcAft>
              <a:buFont typeface="Arial" panose="020B0604020202020204" pitchFamily="34" charset="0"/>
              <a:buChar char="•"/>
            </a:pPr>
            <a:r>
              <a:rPr lang="en-US" b="0" i="0" dirty="0">
                <a:solidFill>
                  <a:srgbClr val="3A3A3A"/>
                </a:solidFill>
                <a:effectLst/>
                <a:latin typeface="Roboto" panose="02000000000000000000" pitchFamily="2" charset="0"/>
              </a:rPr>
              <a:t>Allows consistent design across multiple pages</a:t>
            </a:r>
          </a:p>
          <a:p>
            <a:pPr algn="l">
              <a:lnSpc>
                <a:spcPts val="2100"/>
              </a:lnSpc>
              <a:spcBef>
                <a:spcPts val="2400"/>
              </a:spcBef>
              <a:spcAft>
                <a:spcPts val="1800"/>
              </a:spcAft>
              <a:buNone/>
            </a:pPr>
            <a:r>
              <a:rPr lang="en-US" b="0" i="0" dirty="0">
                <a:solidFill>
                  <a:srgbClr val="272C37"/>
                </a:solidFill>
                <a:effectLst/>
                <a:latin typeface="Roboto" panose="02000000000000000000" pitchFamily="2" charset="0"/>
              </a:rPr>
              <a:t>34. What is SVG in HTML?</a:t>
            </a:r>
          </a:p>
          <a:p>
            <a:pPr algn="just">
              <a:lnSpc>
                <a:spcPts val="2100"/>
              </a:lnSpc>
              <a:spcBef>
                <a:spcPts val="1650"/>
              </a:spcBef>
              <a:buNone/>
            </a:pPr>
            <a:r>
              <a:rPr lang="en-US" b="0" i="0" dirty="0">
                <a:solidFill>
                  <a:srgbClr val="3A3A3A"/>
                </a:solidFill>
                <a:effectLst/>
                <a:latin typeface="Roboto" panose="02000000000000000000" pitchFamily="2" charset="0"/>
              </a:rPr>
              <a:t>SVG stands for Scalable Vector Graphics. It is used to draw graphics like lines, shapes, and images directly in HTML using code. Unlike normal images (like JPG or PNG), SVG images don’t lose quality when resized.</a:t>
            </a:r>
          </a:p>
        </p:txBody>
      </p:sp>
    </p:spTree>
    <p:extLst>
      <p:ext uri="{BB962C8B-B14F-4D97-AF65-F5344CB8AC3E}">
        <p14:creationId xmlns:p14="http://schemas.microsoft.com/office/powerpoint/2010/main" val="416432425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4FC741-BE3B-1381-C1C3-531DD4C166C7}"/>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12C493E0-1A0B-92A1-4124-6501B6EDB661}"/>
              </a:ext>
            </a:extLst>
          </p:cNvPr>
          <p:cNvSpPr txBox="1"/>
          <p:nvPr/>
        </p:nvSpPr>
        <p:spPr>
          <a:xfrm>
            <a:off x="2477069" y="244360"/>
            <a:ext cx="4954136" cy="6376104"/>
          </a:xfrm>
          <a:prstGeom prst="rect">
            <a:avLst/>
          </a:prstGeom>
          <a:noFill/>
        </p:spPr>
        <p:txBody>
          <a:bodyPr wrap="square">
            <a:spAutoFit/>
          </a:bodyPr>
          <a:lstStyle/>
          <a:p>
            <a:pPr algn="l">
              <a:lnSpc>
                <a:spcPts val="2100"/>
              </a:lnSpc>
              <a:spcBef>
                <a:spcPts val="2400"/>
              </a:spcBef>
              <a:spcAft>
                <a:spcPts val="1800"/>
              </a:spcAft>
              <a:buNone/>
            </a:pPr>
            <a:r>
              <a:rPr lang="en-US" b="0" i="0" dirty="0">
                <a:solidFill>
                  <a:srgbClr val="272C37"/>
                </a:solidFill>
                <a:effectLst/>
                <a:latin typeface="Roboto" panose="02000000000000000000" pitchFamily="2" charset="0"/>
              </a:rPr>
              <a:t>35. What are the different types of headings in HTML?</a:t>
            </a:r>
          </a:p>
          <a:p>
            <a:pPr algn="just">
              <a:lnSpc>
                <a:spcPts val="2100"/>
              </a:lnSpc>
              <a:spcBef>
                <a:spcPts val="1650"/>
              </a:spcBef>
              <a:buNone/>
            </a:pPr>
            <a:r>
              <a:rPr lang="en-US" b="0" i="0" dirty="0">
                <a:solidFill>
                  <a:srgbClr val="3A3A3A"/>
                </a:solidFill>
                <a:effectLst/>
                <a:latin typeface="Roboto" panose="02000000000000000000" pitchFamily="2" charset="0"/>
              </a:rPr>
              <a:t>HTML provides six levels of headings to organize content:</a:t>
            </a:r>
          </a:p>
          <a:p>
            <a:pPr algn="just">
              <a:lnSpc>
                <a:spcPts val="2100"/>
              </a:lnSpc>
              <a:spcBef>
                <a:spcPts val="750"/>
              </a:spcBef>
              <a:spcAft>
                <a:spcPts val="600"/>
              </a:spcAft>
              <a:buFont typeface="Arial" panose="020B0604020202020204" pitchFamily="34" charset="0"/>
              <a:buChar char="•"/>
            </a:pPr>
            <a:r>
              <a:rPr lang="en-US" b="0" i="0" dirty="0">
                <a:solidFill>
                  <a:srgbClr val="3A3A3A"/>
                </a:solidFill>
                <a:effectLst/>
                <a:latin typeface="Roboto" panose="02000000000000000000" pitchFamily="2" charset="0"/>
              </a:rPr>
              <a:t>&lt;h1&gt; – main heading (used once per page)</a:t>
            </a:r>
          </a:p>
          <a:p>
            <a:pPr algn="just">
              <a:lnSpc>
                <a:spcPts val="2100"/>
              </a:lnSpc>
              <a:spcBef>
                <a:spcPts val="750"/>
              </a:spcBef>
              <a:spcAft>
                <a:spcPts val="600"/>
              </a:spcAft>
              <a:buFont typeface="Arial" panose="020B0604020202020204" pitchFamily="34" charset="0"/>
              <a:buChar char="•"/>
            </a:pPr>
            <a:r>
              <a:rPr lang="en-US" b="0" i="0" dirty="0">
                <a:solidFill>
                  <a:srgbClr val="3A3A3A"/>
                </a:solidFill>
                <a:effectLst/>
                <a:latin typeface="Roboto" panose="02000000000000000000" pitchFamily="2" charset="0"/>
              </a:rPr>
              <a:t>&lt;h2&gt; to &lt;h6&gt; – subheadings (used for sections and sub-sections)</a:t>
            </a:r>
          </a:p>
          <a:p>
            <a:pPr algn="just">
              <a:lnSpc>
                <a:spcPts val="2100"/>
              </a:lnSpc>
              <a:spcBef>
                <a:spcPts val="1650"/>
              </a:spcBef>
              <a:buNone/>
            </a:pPr>
            <a:r>
              <a:rPr lang="en-US" b="0" i="0" dirty="0">
                <a:solidFill>
                  <a:srgbClr val="3A3A3A"/>
                </a:solidFill>
                <a:effectLst/>
                <a:latin typeface="Roboto" panose="02000000000000000000" pitchFamily="2" charset="0"/>
              </a:rPr>
              <a:t>Example:</a:t>
            </a:r>
          </a:p>
          <a:p>
            <a:pPr algn="l">
              <a:spcBef>
                <a:spcPts val="1125"/>
              </a:spcBef>
              <a:spcAft>
                <a:spcPts val="375"/>
              </a:spcAft>
              <a:buNone/>
            </a:pPr>
            <a:r>
              <a:rPr lang="en-US" b="0" i="0" dirty="0">
                <a:solidFill>
                  <a:srgbClr val="212529"/>
                </a:solidFill>
                <a:effectLst/>
                <a:latin typeface="Courier New" panose="02070309020205020404" pitchFamily="49" charset="0"/>
              </a:rPr>
              <a:t>&lt;h1&gt;Website Title&lt;/h1&gt;</a:t>
            </a:r>
          </a:p>
          <a:p>
            <a:pPr algn="l">
              <a:spcBef>
                <a:spcPts val="1125"/>
              </a:spcBef>
              <a:spcAft>
                <a:spcPts val="375"/>
              </a:spcAft>
              <a:buNone/>
            </a:pPr>
            <a:endParaRPr lang="en-US" b="0" i="0" dirty="0">
              <a:solidFill>
                <a:srgbClr val="212529"/>
              </a:solidFill>
              <a:effectLst/>
              <a:latin typeface="Courier New" panose="02070309020205020404" pitchFamily="49" charset="0"/>
            </a:endParaRPr>
          </a:p>
          <a:p>
            <a:pPr algn="l">
              <a:spcBef>
                <a:spcPts val="1125"/>
              </a:spcBef>
              <a:spcAft>
                <a:spcPts val="375"/>
              </a:spcAft>
              <a:buNone/>
            </a:pPr>
            <a:r>
              <a:rPr lang="en-US" b="0" i="0" dirty="0">
                <a:solidFill>
                  <a:srgbClr val="212529"/>
                </a:solidFill>
                <a:effectLst/>
                <a:latin typeface="Courier New" panose="02070309020205020404" pitchFamily="49" charset="0"/>
              </a:rPr>
              <a:t>&lt;h2&gt;Section Title&lt;/h2&gt;</a:t>
            </a:r>
          </a:p>
          <a:p>
            <a:pPr algn="l">
              <a:spcBef>
                <a:spcPts val="1125"/>
              </a:spcBef>
              <a:spcAft>
                <a:spcPts val="375"/>
              </a:spcAft>
              <a:buNone/>
            </a:pPr>
            <a:endParaRPr lang="en-US" b="0" i="0" dirty="0">
              <a:solidFill>
                <a:srgbClr val="212529"/>
              </a:solidFill>
              <a:effectLst/>
              <a:latin typeface="Courier New" panose="02070309020205020404" pitchFamily="49" charset="0"/>
            </a:endParaRPr>
          </a:p>
          <a:p>
            <a:pPr algn="l">
              <a:spcBef>
                <a:spcPts val="1125"/>
              </a:spcBef>
              <a:spcAft>
                <a:spcPts val="375"/>
              </a:spcAft>
              <a:buNone/>
            </a:pPr>
            <a:r>
              <a:rPr lang="en-US" b="0" i="0" dirty="0">
                <a:solidFill>
                  <a:srgbClr val="212529"/>
                </a:solidFill>
                <a:effectLst/>
                <a:latin typeface="Courier New" panose="02070309020205020404" pitchFamily="49" charset="0"/>
              </a:rPr>
              <a:t>&lt;h3&gt;Sub-section&lt;/h3&gt;</a:t>
            </a:r>
          </a:p>
          <a:p>
            <a:pPr algn="just">
              <a:lnSpc>
                <a:spcPts val="2100"/>
              </a:lnSpc>
              <a:spcBef>
                <a:spcPts val="1650"/>
              </a:spcBef>
              <a:buNone/>
            </a:pPr>
            <a:r>
              <a:rPr lang="en-US" b="0" i="0" dirty="0">
                <a:solidFill>
                  <a:srgbClr val="3A3A3A"/>
                </a:solidFill>
                <a:effectLst/>
                <a:latin typeface="Roboto" panose="02000000000000000000" pitchFamily="2" charset="0"/>
              </a:rPr>
              <a:t>Headings help improve readability and are also important for SEO.</a:t>
            </a:r>
          </a:p>
        </p:txBody>
      </p:sp>
    </p:spTree>
    <p:extLst>
      <p:ext uri="{BB962C8B-B14F-4D97-AF65-F5344CB8AC3E}">
        <p14:creationId xmlns:p14="http://schemas.microsoft.com/office/powerpoint/2010/main" val="198090760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F1F3F0-8E3C-9EC2-08A0-4468CCE58EC9}"/>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C34250AF-1269-8329-FD56-CD7B45F9FB83}"/>
              </a:ext>
            </a:extLst>
          </p:cNvPr>
          <p:cNvSpPr txBox="1"/>
          <p:nvPr/>
        </p:nvSpPr>
        <p:spPr>
          <a:xfrm>
            <a:off x="2477069" y="-1393268"/>
            <a:ext cx="4954136" cy="9651360"/>
          </a:xfrm>
          <a:prstGeom prst="rect">
            <a:avLst/>
          </a:prstGeom>
          <a:noFill/>
        </p:spPr>
        <p:txBody>
          <a:bodyPr wrap="square">
            <a:spAutoFit/>
          </a:bodyPr>
          <a:lstStyle/>
          <a:p>
            <a:pPr algn="l">
              <a:lnSpc>
                <a:spcPts val="2100"/>
              </a:lnSpc>
              <a:spcBef>
                <a:spcPts val="2400"/>
              </a:spcBef>
              <a:spcAft>
                <a:spcPts val="1800"/>
              </a:spcAft>
              <a:buNone/>
            </a:pPr>
            <a:r>
              <a:rPr lang="en-US" b="0" i="0" dirty="0">
                <a:solidFill>
                  <a:srgbClr val="272C37"/>
                </a:solidFill>
                <a:effectLst/>
                <a:latin typeface="Roboto" panose="02000000000000000000" pitchFamily="2" charset="0"/>
              </a:rPr>
              <a:t>36. How do you create nested web pages in HTML?</a:t>
            </a:r>
          </a:p>
          <a:p>
            <a:pPr algn="just">
              <a:lnSpc>
                <a:spcPts val="2100"/>
              </a:lnSpc>
              <a:spcBef>
                <a:spcPts val="1650"/>
              </a:spcBef>
              <a:buNone/>
            </a:pPr>
            <a:r>
              <a:rPr lang="en-US" b="0" i="0" dirty="0">
                <a:solidFill>
                  <a:srgbClr val="3A3A3A"/>
                </a:solidFill>
                <a:effectLst/>
                <a:latin typeface="Roboto" panose="02000000000000000000" pitchFamily="2" charset="0"/>
              </a:rPr>
              <a:t>You can create nested web pages using the &lt;</a:t>
            </a:r>
            <a:r>
              <a:rPr lang="en-US" b="0" i="0" dirty="0" err="1">
                <a:solidFill>
                  <a:srgbClr val="3A3A3A"/>
                </a:solidFill>
                <a:effectLst/>
                <a:latin typeface="Roboto" panose="02000000000000000000" pitchFamily="2" charset="0"/>
              </a:rPr>
              <a:t>iframe</a:t>
            </a:r>
            <a:r>
              <a:rPr lang="en-US" b="0" i="0" dirty="0">
                <a:solidFill>
                  <a:srgbClr val="3A3A3A"/>
                </a:solidFill>
                <a:effectLst/>
                <a:latin typeface="Roboto" panose="02000000000000000000" pitchFamily="2" charset="0"/>
              </a:rPr>
              <a:t>&gt; tag. An </a:t>
            </a:r>
            <a:r>
              <a:rPr lang="en-US" b="0" i="0" dirty="0" err="1">
                <a:solidFill>
                  <a:srgbClr val="3A3A3A"/>
                </a:solidFill>
                <a:effectLst/>
                <a:latin typeface="Roboto" panose="02000000000000000000" pitchFamily="2" charset="0"/>
              </a:rPr>
              <a:t>iframe</a:t>
            </a:r>
            <a:r>
              <a:rPr lang="en-US" b="0" i="0" dirty="0">
                <a:solidFill>
                  <a:srgbClr val="3A3A3A"/>
                </a:solidFill>
                <a:effectLst/>
                <a:latin typeface="Roboto" panose="02000000000000000000" pitchFamily="2" charset="0"/>
              </a:rPr>
              <a:t> is like a window inside your webpage that displays another webpage.</a:t>
            </a:r>
          </a:p>
          <a:p>
            <a:pPr algn="just">
              <a:lnSpc>
                <a:spcPts val="2100"/>
              </a:lnSpc>
              <a:spcBef>
                <a:spcPts val="750"/>
              </a:spcBef>
              <a:buNone/>
            </a:pPr>
            <a:r>
              <a:rPr lang="en-US" b="0" i="0" dirty="0">
                <a:solidFill>
                  <a:srgbClr val="3A3A3A"/>
                </a:solidFill>
                <a:effectLst/>
                <a:latin typeface="Roboto" panose="02000000000000000000" pitchFamily="2" charset="0"/>
              </a:rPr>
              <a:t>Example:</a:t>
            </a:r>
          </a:p>
          <a:p>
            <a:pPr algn="l">
              <a:spcBef>
                <a:spcPts val="1125"/>
              </a:spcBef>
              <a:spcAft>
                <a:spcPts val="375"/>
              </a:spcAft>
              <a:buNone/>
            </a:pPr>
            <a:r>
              <a:rPr lang="en-US" b="0" i="0" dirty="0">
                <a:solidFill>
                  <a:srgbClr val="212529"/>
                </a:solidFill>
                <a:effectLst/>
                <a:latin typeface="Courier New" panose="02070309020205020404" pitchFamily="49" charset="0"/>
              </a:rPr>
              <a:t>&lt;</a:t>
            </a:r>
            <a:r>
              <a:rPr lang="en-US" b="0" i="0" dirty="0" err="1">
                <a:solidFill>
                  <a:srgbClr val="212529"/>
                </a:solidFill>
                <a:effectLst/>
                <a:latin typeface="Courier New" panose="02070309020205020404" pitchFamily="49" charset="0"/>
              </a:rPr>
              <a:t>iframe</a:t>
            </a:r>
            <a:r>
              <a:rPr lang="en-US" b="0" i="0" dirty="0">
                <a:solidFill>
                  <a:srgbClr val="212529"/>
                </a:solidFill>
                <a:effectLst/>
                <a:latin typeface="Courier New" panose="02070309020205020404" pitchFamily="49" charset="0"/>
              </a:rPr>
              <a:t> </a:t>
            </a:r>
            <a:r>
              <a:rPr lang="en-US" b="0" i="0" dirty="0" err="1">
                <a:solidFill>
                  <a:srgbClr val="212529"/>
                </a:solidFill>
                <a:effectLst/>
                <a:latin typeface="Courier New" panose="02070309020205020404" pitchFamily="49" charset="0"/>
              </a:rPr>
              <a:t>src</a:t>
            </a:r>
            <a:r>
              <a:rPr lang="en-US" b="0" i="0" dirty="0">
                <a:solidFill>
                  <a:srgbClr val="212529"/>
                </a:solidFill>
                <a:effectLst/>
                <a:latin typeface="Courier New" panose="02070309020205020404" pitchFamily="49" charset="0"/>
              </a:rPr>
              <a:t>="anotherpage.html" width="600" height="400"&gt;&lt;/</a:t>
            </a:r>
            <a:r>
              <a:rPr lang="en-US" b="0" i="0" dirty="0" err="1">
                <a:solidFill>
                  <a:srgbClr val="212529"/>
                </a:solidFill>
                <a:effectLst/>
                <a:latin typeface="Courier New" panose="02070309020205020404" pitchFamily="49" charset="0"/>
              </a:rPr>
              <a:t>iframe</a:t>
            </a:r>
            <a:r>
              <a:rPr lang="en-US" b="0" i="0" dirty="0">
                <a:solidFill>
                  <a:srgbClr val="212529"/>
                </a:solidFill>
                <a:effectLst/>
                <a:latin typeface="Courier New" panose="02070309020205020404" pitchFamily="49" charset="0"/>
              </a:rPr>
              <a:t>&gt;</a:t>
            </a:r>
          </a:p>
          <a:p>
            <a:pPr algn="just">
              <a:lnSpc>
                <a:spcPts val="2100"/>
              </a:lnSpc>
              <a:spcBef>
                <a:spcPts val="1650"/>
              </a:spcBef>
              <a:buNone/>
            </a:pPr>
            <a:r>
              <a:rPr lang="en-US" b="0" i="0" dirty="0">
                <a:solidFill>
                  <a:srgbClr val="3A3A3A"/>
                </a:solidFill>
                <a:effectLst/>
                <a:latin typeface="Roboto" panose="02000000000000000000" pitchFamily="2" charset="0"/>
              </a:rPr>
              <a:t>This shows a separate page inside your current page.</a:t>
            </a:r>
          </a:p>
          <a:p>
            <a:pPr algn="l">
              <a:lnSpc>
                <a:spcPts val="2100"/>
              </a:lnSpc>
              <a:spcBef>
                <a:spcPts val="2400"/>
              </a:spcBef>
              <a:spcAft>
                <a:spcPts val="1800"/>
              </a:spcAft>
              <a:buNone/>
            </a:pPr>
            <a:r>
              <a:rPr lang="en-US" b="0" i="0" dirty="0">
                <a:solidFill>
                  <a:srgbClr val="272C37"/>
                </a:solidFill>
                <a:effectLst/>
                <a:latin typeface="Roboto" panose="02000000000000000000" pitchFamily="2" charset="0"/>
              </a:rPr>
              <a:t>37. How do you add buttons in HTML?</a:t>
            </a:r>
          </a:p>
          <a:p>
            <a:pPr algn="just">
              <a:lnSpc>
                <a:spcPts val="2100"/>
              </a:lnSpc>
              <a:spcBef>
                <a:spcPts val="1650"/>
              </a:spcBef>
              <a:buNone/>
            </a:pPr>
            <a:r>
              <a:rPr lang="en-US" b="0" i="0" dirty="0">
                <a:solidFill>
                  <a:srgbClr val="3A3A3A"/>
                </a:solidFill>
                <a:effectLst/>
                <a:latin typeface="Roboto" panose="02000000000000000000" pitchFamily="2" charset="0"/>
              </a:rPr>
              <a:t>You can add buttons using the &lt;button&gt; tag or &lt;input type=”button”&gt;. Buttons can be used to submit forms, run JavaScript, or perform actions.</a:t>
            </a:r>
          </a:p>
          <a:p>
            <a:pPr algn="just">
              <a:lnSpc>
                <a:spcPts val="2100"/>
              </a:lnSpc>
              <a:spcBef>
                <a:spcPts val="750"/>
              </a:spcBef>
              <a:buNone/>
            </a:pPr>
            <a:r>
              <a:rPr lang="en-US" b="0" i="0" dirty="0">
                <a:solidFill>
                  <a:srgbClr val="3A3A3A"/>
                </a:solidFill>
                <a:effectLst/>
                <a:latin typeface="Roboto" panose="02000000000000000000" pitchFamily="2" charset="0"/>
              </a:rPr>
              <a:t>Examples:</a:t>
            </a:r>
          </a:p>
          <a:p>
            <a:pPr algn="l">
              <a:spcBef>
                <a:spcPts val="1125"/>
              </a:spcBef>
              <a:spcAft>
                <a:spcPts val="375"/>
              </a:spcAft>
              <a:buNone/>
            </a:pPr>
            <a:r>
              <a:rPr lang="en-US" b="0" i="0" dirty="0">
                <a:solidFill>
                  <a:srgbClr val="212529"/>
                </a:solidFill>
                <a:effectLst/>
                <a:latin typeface="Courier New" panose="02070309020205020404" pitchFamily="49" charset="0"/>
              </a:rPr>
              <a:t>&lt;button&gt;Click Me&lt;/button&gt;</a:t>
            </a:r>
          </a:p>
          <a:p>
            <a:pPr algn="l">
              <a:spcBef>
                <a:spcPts val="1125"/>
              </a:spcBef>
              <a:spcAft>
                <a:spcPts val="375"/>
              </a:spcAft>
              <a:buNone/>
            </a:pPr>
            <a:endParaRPr lang="en-US" b="0" i="0" dirty="0">
              <a:solidFill>
                <a:srgbClr val="212529"/>
              </a:solidFill>
              <a:effectLst/>
              <a:latin typeface="Courier New" panose="02070309020205020404" pitchFamily="49" charset="0"/>
            </a:endParaRPr>
          </a:p>
          <a:p>
            <a:pPr algn="l">
              <a:spcBef>
                <a:spcPts val="1125"/>
              </a:spcBef>
              <a:spcAft>
                <a:spcPts val="375"/>
              </a:spcAft>
              <a:buNone/>
            </a:pPr>
            <a:r>
              <a:rPr lang="en-US" b="0" i="0" dirty="0">
                <a:solidFill>
                  <a:srgbClr val="212529"/>
                </a:solidFill>
                <a:effectLst/>
                <a:latin typeface="Courier New" panose="02070309020205020404" pitchFamily="49" charset="0"/>
              </a:rPr>
              <a:t>&lt;input type="button" value="Click Me"&gt;</a:t>
            </a:r>
          </a:p>
          <a:p>
            <a:pPr algn="just">
              <a:lnSpc>
                <a:spcPts val="2100"/>
              </a:lnSpc>
              <a:spcBef>
                <a:spcPts val="1650"/>
              </a:spcBef>
              <a:buNone/>
            </a:pPr>
            <a:r>
              <a:rPr lang="en-US" b="0" i="0" dirty="0">
                <a:solidFill>
                  <a:srgbClr val="3A3A3A"/>
                </a:solidFill>
                <a:effectLst/>
                <a:latin typeface="Roboto" panose="02000000000000000000" pitchFamily="2" charset="0"/>
              </a:rPr>
              <a:t>To make a button do something, you can add JavaScript:</a:t>
            </a:r>
          </a:p>
          <a:p>
            <a:pPr algn="l">
              <a:spcBef>
                <a:spcPts val="1125"/>
              </a:spcBef>
              <a:spcAft>
                <a:spcPts val="375"/>
              </a:spcAft>
              <a:buNone/>
            </a:pPr>
            <a:r>
              <a:rPr lang="en-US" b="0" i="0" dirty="0">
                <a:solidFill>
                  <a:srgbClr val="212529"/>
                </a:solidFill>
                <a:effectLst/>
                <a:latin typeface="Courier New" panose="02070309020205020404" pitchFamily="49" charset="0"/>
              </a:rPr>
              <a:t>&lt;button onclick="alert('Hello!')"&gt;Click Me&lt;/button&gt;</a:t>
            </a:r>
          </a:p>
        </p:txBody>
      </p:sp>
    </p:spTree>
    <p:extLst>
      <p:ext uri="{BB962C8B-B14F-4D97-AF65-F5344CB8AC3E}">
        <p14:creationId xmlns:p14="http://schemas.microsoft.com/office/powerpoint/2010/main" val="102982065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8392F3-1F7B-EAA1-D24C-5CD66DFD5208}"/>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D13B14D7-A6B4-7A79-2E8B-95EC94E138B9}"/>
              </a:ext>
            </a:extLst>
          </p:cNvPr>
          <p:cNvSpPr txBox="1"/>
          <p:nvPr/>
        </p:nvSpPr>
        <p:spPr>
          <a:xfrm>
            <a:off x="2477069" y="71236"/>
            <a:ext cx="4954136" cy="6722353"/>
          </a:xfrm>
          <a:prstGeom prst="rect">
            <a:avLst/>
          </a:prstGeom>
          <a:noFill/>
        </p:spPr>
        <p:txBody>
          <a:bodyPr wrap="square">
            <a:spAutoFit/>
          </a:bodyPr>
          <a:lstStyle/>
          <a:p>
            <a:pPr algn="l">
              <a:lnSpc>
                <a:spcPts val="2100"/>
              </a:lnSpc>
              <a:spcBef>
                <a:spcPts val="2400"/>
              </a:spcBef>
              <a:spcAft>
                <a:spcPts val="1800"/>
              </a:spcAft>
              <a:buNone/>
            </a:pPr>
            <a:r>
              <a:rPr lang="en-US" b="0" i="0" dirty="0">
                <a:solidFill>
                  <a:srgbClr val="272C37"/>
                </a:solidFill>
                <a:effectLst/>
                <a:latin typeface="Roboto" panose="02000000000000000000" pitchFamily="2" charset="0"/>
              </a:rPr>
              <a:t>38. How do you insert an image in an HTML webpage?</a:t>
            </a:r>
          </a:p>
          <a:p>
            <a:pPr algn="just">
              <a:lnSpc>
                <a:spcPts val="2100"/>
              </a:lnSpc>
              <a:spcBef>
                <a:spcPts val="1650"/>
              </a:spcBef>
              <a:buNone/>
            </a:pPr>
            <a:r>
              <a:rPr lang="en-US" b="0" i="0" dirty="0">
                <a:solidFill>
                  <a:srgbClr val="3A3A3A"/>
                </a:solidFill>
                <a:effectLst/>
                <a:latin typeface="Roboto" panose="02000000000000000000" pitchFamily="2" charset="0"/>
              </a:rPr>
              <a:t>Use the &lt;</a:t>
            </a:r>
            <a:r>
              <a:rPr lang="en-US" b="0" i="0" dirty="0" err="1">
                <a:solidFill>
                  <a:srgbClr val="3A3A3A"/>
                </a:solidFill>
                <a:effectLst/>
                <a:latin typeface="Roboto" panose="02000000000000000000" pitchFamily="2" charset="0"/>
              </a:rPr>
              <a:t>img</a:t>
            </a:r>
            <a:r>
              <a:rPr lang="en-US" b="0" i="0" dirty="0">
                <a:solidFill>
                  <a:srgbClr val="3A3A3A"/>
                </a:solidFill>
                <a:effectLst/>
                <a:latin typeface="Roboto" panose="02000000000000000000" pitchFamily="2" charset="0"/>
              </a:rPr>
              <a:t>&gt; tag to insert an image. The </a:t>
            </a:r>
            <a:r>
              <a:rPr lang="en-US" b="0" i="0" dirty="0" err="1">
                <a:solidFill>
                  <a:srgbClr val="3A3A3A"/>
                </a:solidFill>
                <a:effectLst/>
                <a:latin typeface="Roboto" panose="02000000000000000000" pitchFamily="2" charset="0"/>
              </a:rPr>
              <a:t>src</a:t>
            </a:r>
            <a:r>
              <a:rPr lang="en-US" b="0" i="0" dirty="0">
                <a:solidFill>
                  <a:srgbClr val="3A3A3A"/>
                </a:solidFill>
                <a:effectLst/>
                <a:latin typeface="Roboto" panose="02000000000000000000" pitchFamily="2" charset="0"/>
              </a:rPr>
              <a:t> attribute tells the browser where the image is located, and alt gives a description if the image can’t load.</a:t>
            </a:r>
          </a:p>
          <a:p>
            <a:pPr algn="just">
              <a:lnSpc>
                <a:spcPts val="2100"/>
              </a:lnSpc>
              <a:spcBef>
                <a:spcPts val="750"/>
              </a:spcBef>
              <a:buNone/>
            </a:pPr>
            <a:r>
              <a:rPr lang="en-US" b="0" i="0" dirty="0">
                <a:solidFill>
                  <a:srgbClr val="3A3A3A"/>
                </a:solidFill>
                <a:effectLst/>
                <a:latin typeface="Roboto" panose="02000000000000000000" pitchFamily="2" charset="0"/>
              </a:rPr>
              <a:t>Example:</a:t>
            </a:r>
          </a:p>
          <a:p>
            <a:pPr algn="l">
              <a:spcBef>
                <a:spcPts val="1125"/>
              </a:spcBef>
              <a:spcAft>
                <a:spcPts val="375"/>
              </a:spcAft>
              <a:buNone/>
            </a:pPr>
            <a:r>
              <a:rPr lang="en-US" b="0" i="0" dirty="0">
                <a:solidFill>
                  <a:srgbClr val="212529"/>
                </a:solidFill>
                <a:effectLst/>
                <a:latin typeface="Courier New" panose="02070309020205020404" pitchFamily="49" charset="0"/>
              </a:rPr>
              <a:t>&lt;</a:t>
            </a:r>
            <a:r>
              <a:rPr lang="en-US" b="0" i="0" dirty="0" err="1">
                <a:solidFill>
                  <a:srgbClr val="212529"/>
                </a:solidFill>
                <a:effectLst/>
                <a:latin typeface="Courier New" panose="02070309020205020404" pitchFamily="49" charset="0"/>
              </a:rPr>
              <a:t>img</a:t>
            </a:r>
            <a:r>
              <a:rPr lang="en-US" b="0" i="0" dirty="0">
                <a:solidFill>
                  <a:srgbClr val="212529"/>
                </a:solidFill>
                <a:effectLst/>
                <a:latin typeface="Courier New" panose="02070309020205020404" pitchFamily="49" charset="0"/>
              </a:rPr>
              <a:t> </a:t>
            </a:r>
            <a:r>
              <a:rPr lang="en-US" b="0" i="0" dirty="0" err="1">
                <a:solidFill>
                  <a:srgbClr val="212529"/>
                </a:solidFill>
                <a:effectLst/>
                <a:latin typeface="Courier New" panose="02070309020205020404" pitchFamily="49" charset="0"/>
              </a:rPr>
              <a:t>src</a:t>
            </a:r>
            <a:r>
              <a:rPr lang="en-US" b="0" i="0" dirty="0">
                <a:solidFill>
                  <a:srgbClr val="212529"/>
                </a:solidFill>
                <a:effectLst/>
                <a:latin typeface="Courier New" panose="02070309020205020404" pitchFamily="49" charset="0"/>
              </a:rPr>
              <a:t>="photo.jpg" alt="A beautiful sunset" width="300" height="200"&gt;</a:t>
            </a:r>
          </a:p>
          <a:p>
            <a:pPr algn="l">
              <a:lnSpc>
                <a:spcPts val="2100"/>
              </a:lnSpc>
              <a:spcBef>
                <a:spcPts val="2400"/>
              </a:spcBef>
              <a:spcAft>
                <a:spcPts val="1800"/>
              </a:spcAft>
              <a:buNone/>
            </a:pPr>
            <a:r>
              <a:rPr lang="en-US" b="0" i="0" dirty="0">
                <a:solidFill>
                  <a:srgbClr val="272C37"/>
                </a:solidFill>
                <a:effectLst/>
                <a:latin typeface="Roboto" panose="02000000000000000000" pitchFamily="2" charset="0"/>
              </a:rPr>
              <a:t>39. What is the alt attribute in HTML?</a:t>
            </a:r>
          </a:p>
          <a:p>
            <a:pPr algn="just">
              <a:lnSpc>
                <a:spcPts val="2100"/>
              </a:lnSpc>
              <a:spcBef>
                <a:spcPts val="1650"/>
              </a:spcBef>
              <a:buNone/>
            </a:pPr>
            <a:r>
              <a:rPr lang="en-US" b="0" i="0" dirty="0">
                <a:solidFill>
                  <a:srgbClr val="3A3A3A"/>
                </a:solidFill>
                <a:effectLst/>
                <a:latin typeface="Roboto" panose="02000000000000000000" pitchFamily="2" charset="0"/>
              </a:rPr>
              <a:t>The alt attribute provides alternative text for an image if it cannot be displayed. It’s also useful for screen readers, which help visually impaired users.</a:t>
            </a:r>
          </a:p>
          <a:p>
            <a:pPr algn="just">
              <a:lnSpc>
                <a:spcPts val="2100"/>
              </a:lnSpc>
              <a:spcBef>
                <a:spcPts val="750"/>
              </a:spcBef>
              <a:buNone/>
            </a:pPr>
            <a:r>
              <a:rPr lang="en-US" b="0" i="0" dirty="0">
                <a:solidFill>
                  <a:srgbClr val="3A3A3A"/>
                </a:solidFill>
                <a:effectLst/>
                <a:latin typeface="Roboto" panose="02000000000000000000" pitchFamily="2" charset="0"/>
              </a:rPr>
              <a:t>Example:</a:t>
            </a:r>
          </a:p>
          <a:p>
            <a:pPr algn="l">
              <a:spcBef>
                <a:spcPts val="1125"/>
              </a:spcBef>
              <a:spcAft>
                <a:spcPts val="375"/>
              </a:spcAft>
              <a:buNone/>
            </a:pPr>
            <a:r>
              <a:rPr lang="en-US" b="0" i="0" dirty="0">
                <a:solidFill>
                  <a:srgbClr val="212529"/>
                </a:solidFill>
                <a:effectLst/>
                <a:latin typeface="Courier New" panose="02070309020205020404" pitchFamily="49" charset="0"/>
              </a:rPr>
              <a:t>&lt;</a:t>
            </a:r>
            <a:r>
              <a:rPr lang="en-US" b="0" i="0" dirty="0" err="1">
                <a:solidFill>
                  <a:srgbClr val="212529"/>
                </a:solidFill>
                <a:effectLst/>
                <a:latin typeface="Courier New" panose="02070309020205020404" pitchFamily="49" charset="0"/>
              </a:rPr>
              <a:t>img</a:t>
            </a:r>
            <a:r>
              <a:rPr lang="en-US" b="0" i="0" dirty="0">
                <a:solidFill>
                  <a:srgbClr val="212529"/>
                </a:solidFill>
                <a:effectLst/>
                <a:latin typeface="Courier New" panose="02070309020205020404" pitchFamily="49" charset="0"/>
              </a:rPr>
              <a:t> </a:t>
            </a:r>
            <a:r>
              <a:rPr lang="en-US" b="0" i="0" dirty="0" err="1">
                <a:solidFill>
                  <a:srgbClr val="212529"/>
                </a:solidFill>
                <a:effectLst/>
                <a:latin typeface="Courier New" panose="02070309020205020404" pitchFamily="49" charset="0"/>
              </a:rPr>
              <a:t>src</a:t>
            </a:r>
            <a:r>
              <a:rPr lang="en-US" b="0" i="0" dirty="0">
                <a:solidFill>
                  <a:srgbClr val="212529"/>
                </a:solidFill>
                <a:effectLst/>
                <a:latin typeface="Courier New" panose="02070309020205020404" pitchFamily="49" charset="0"/>
              </a:rPr>
              <a:t>="logo.png" alt="Company Logo"&gt;</a:t>
            </a:r>
          </a:p>
        </p:txBody>
      </p:sp>
    </p:spTree>
    <p:extLst>
      <p:ext uri="{BB962C8B-B14F-4D97-AF65-F5344CB8AC3E}">
        <p14:creationId xmlns:p14="http://schemas.microsoft.com/office/powerpoint/2010/main" val="5374457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7F4734-C1A0-211C-519C-3E66DD65852D}"/>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3FCDDA71-6B62-B40A-1E23-BBF7D791AE4A}"/>
              </a:ext>
            </a:extLst>
          </p:cNvPr>
          <p:cNvSpPr txBox="1"/>
          <p:nvPr/>
        </p:nvSpPr>
        <p:spPr>
          <a:xfrm>
            <a:off x="2477069" y="1547281"/>
            <a:ext cx="4954136" cy="3770263"/>
          </a:xfrm>
          <a:prstGeom prst="rect">
            <a:avLst/>
          </a:prstGeom>
          <a:noFill/>
        </p:spPr>
        <p:txBody>
          <a:bodyPr wrap="square">
            <a:spAutoFit/>
          </a:bodyPr>
          <a:lstStyle/>
          <a:p>
            <a:pPr algn="l">
              <a:lnSpc>
                <a:spcPts val="2100"/>
              </a:lnSpc>
              <a:spcBef>
                <a:spcPts val="2400"/>
              </a:spcBef>
              <a:spcAft>
                <a:spcPts val="1800"/>
              </a:spcAft>
              <a:buNone/>
            </a:pPr>
            <a:r>
              <a:rPr lang="en-US" b="0" i="0" dirty="0">
                <a:solidFill>
                  <a:srgbClr val="272C37"/>
                </a:solidFill>
                <a:effectLst/>
                <a:latin typeface="Roboto" panose="02000000000000000000" pitchFamily="2" charset="0"/>
              </a:rPr>
              <a:t>40. How do you add a hyperlink in an HTML webpage?</a:t>
            </a:r>
          </a:p>
          <a:p>
            <a:pPr algn="just">
              <a:lnSpc>
                <a:spcPts val="2100"/>
              </a:lnSpc>
              <a:spcBef>
                <a:spcPts val="1650"/>
              </a:spcBef>
              <a:buNone/>
            </a:pPr>
            <a:r>
              <a:rPr lang="en-US" b="0" i="0" dirty="0">
                <a:solidFill>
                  <a:srgbClr val="3A3A3A"/>
                </a:solidFill>
                <a:effectLst/>
                <a:latin typeface="Roboto" panose="02000000000000000000" pitchFamily="2" charset="0"/>
              </a:rPr>
              <a:t>Use the &lt;a&gt; tag to create a hyperlink. The </a:t>
            </a:r>
            <a:r>
              <a:rPr lang="en-US" b="0" i="0" dirty="0" err="1">
                <a:solidFill>
                  <a:srgbClr val="3A3A3A"/>
                </a:solidFill>
                <a:effectLst/>
                <a:latin typeface="Roboto" panose="02000000000000000000" pitchFamily="2" charset="0"/>
              </a:rPr>
              <a:t>href</a:t>
            </a:r>
            <a:r>
              <a:rPr lang="en-US" b="0" i="0" dirty="0">
                <a:solidFill>
                  <a:srgbClr val="3A3A3A"/>
                </a:solidFill>
                <a:effectLst/>
                <a:latin typeface="Roboto" panose="02000000000000000000" pitchFamily="2" charset="0"/>
              </a:rPr>
              <a:t> attribute specifies the URL you want to link to.</a:t>
            </a:r>
          </a:p>
          <a:p>
            <a:pPr algn="just">
              <a:lnSpc>
                <a:spcPts val="2100"/>
              </a:lnSpc>
              <a:spcBef>
                <a:spcPts val="750"/>
              </a:spcBef>
              <a:buNone/>
            </a:pPr>
            <a:r>
              <a:rPr lang="en-US" b="0" i="0" dirty="0">
                <a:solidFill>
                  <a:srgbClr val="3A3A3A"/>
                </a:solidFill>
                <a:effectLst/>
                <a:latin typeface="Roboto" panose="02000000000000000000" pitchFamily="2" charset="0"/>
              </a:rPr>
              <a:t>Example:</a:t>
            </a:r>
          </a:p>
          <a:p>
            <a:pPr algn="l">
              <a:spcBef>
                <a:spcPts val="1125"/>
              </a:spcBef>
              <a:spcAft>
                <a:spcPts val="375"/>
              </a:spcAft>
              <a:buNone/>
            </a:pPr>
            <a:r>
              <a:rPr lang="en-US" b="0" i="0" dirty="0">
                <a:solidFill>
                  <a:srgbClr val="212529"/>
                </a:solidFill>
                <a:effectLst/>
                <a:latin typeface="Courier New" panose="02070309020205020404" pitchFamily="49" charset="0"/>
              </a:rPr>
              <a:t>&lt;a </a:t>
            </a:r>
            <a:r>
              <a:rPr lang="en-US" b="0" i="0" dirty="0" err="1">
                <a:solidFill>
                  <a:srgbClr val="212529"/>
                </a:solidFill>
                <a:effectLst/>
                <a:latin typeface="Courier New" panose="02070309020205020404" pitchFamily="49" charset="0"/>
              </a:rPr>
              <a:t>href</a:t>
            </a:r>
            <a:r>
              <a:rPr lang="en-US" b="0" i="0" dirty="0">
                <a:solidFill>
                  <a:srgbClr val="212529"/>
                </a:solidFill>
                <a:effectLst/>
                <a:latin typeface="Courier New" panose="02070309020205020404" pitchFamily="49" charset="0"/>
              </a:rPr>
              <a:t>="https://www.google.com"&gt;Go to Google&lt;/a&gt;</a:t>
            </a:r>
          </a:p>
          <a:p>
            <a:pPr algn="just">
              <a:lnSpc>
                <a:spcPts val="2100"/>
              </a:lnSpc>
              <a:spcBef>
                <a:spcPts val="1650"/>
              </a:spcBef>
              <a:buNone/>
            </a:pPr>
            <a:r>
              <a:rPr lang="en-US" b="0" i="0" dirty="0">
                <a:solidFill>
                  <a:srgbClr val="3A3A3A"/>
                </a:solidFill>
                <a:effectLst/>
                <a:latin typeface="Roboto" panose="02000000000000000000" pitchFamily="2" charset="0"/>
              </a:rPr>
              <a:t>You can also make images or buttons clickable by putting them inside &lt;a&gt; tags.</a:t>
            </a:r>
          </a:p>
        </p:txBody>
      </p:sp>
    </p:spTree>
    <p:extLst>
      <p:ext uri="{BB962C8B-B14F-4D97-AF65-F5344CB8AC3E}">
        <p14:creationId xmlns:p14="http://schemas.microsoft.com/office/powerpoint/2010/main" val="426840216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8A05F5-03AA-D92D-60A8-B08A3E4A0CFC}"/>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BD7603A2-5634-9227-764B-533767944AFB}"/>
              </a:ext>
            </a:extLst>
          </p:cNvPr>
          <p:cNvSpPr txBox="1"/>
          <p:nvPr/>
        </p:nvSpPr>
        <p:spPr>
          <a:xfrm>
            <a:off x="2477069" y="-735395"/>
            <a:ext cx="4954136" cy="8335615"/>
          </a:xfrm>
          <a:prstGeom prst="rect">
            <a:avLst/>
          </a:prstGeom>
          <a:noFill/>
        </p:spPr>
        <p:txBody>
          <a:bodyPr wrap="square">
            <a:spAutoFit/>
          </a:bodyPr>
          <a:lstStyle/>
          <a:p>
            <a:pPr algn="l">
              <a:lnSpc>
                <a:spcPts val="2100"/>
              </a:lnSpc>
              <a:spcBef>
                <a:spcPts val="2400"/>
              </a:spcBef>
              <a:spcAft>
                <a:spcPts val="1800"/>
              </a:spcAft>
              <a:buNone/>
            </a:pPr>
            <a:r>
              <a:rPr lang="en-US" b="0" i="0" dirty="0">
                <a:solidFill>
                  <a:srgbClr val="272C37"/>
                </a:solidFill>
                <a:effectLst/>
                <a:latin typeface="Roboto" panose="02000000000000000000" pitchFamily="2" charset="0"/>
              </a:rPr>
              <a:t>41. How do you add color to the text in HTML?</a:t>
            </a:r>
          </a:p>
          <a:p>
            <a:pPr algn="just">
              <a:lnSpc>
                <a:spcPts val="2100"/>
              </a:lnSpc>
              <a:spcBef>
                <a:spcPts val="1650"/>
              </a:spcBef>
              <a:buNone/>
            </a:pPr>
            <a:r>
              <a:rPr lang="en-US" b="0" i="0" dirty="0">
                <a:solidFill>
                  <a:srgbClr val="3A3A3A"/>
                </a:solidFill>
                <a:effectLst/>
                <a:latin typeface="Roboto" panose="02000000000000000000" pitchFamily="2" charset="0"/>
              </a:rPr>
              <a:t>To color text, you use CSS. You can either use the style attribute directly or write CSS in a &lt;style&gt; tag.</a:t>
            </a:r>
          </a:p>
          <a:p>
            <a:pPr algn="just">
              <a:lnSpc>
                <a:spcPts val="2100"/>
              </a:lnSpc>
              <a:spcBef>
                <a:spcPts val="750"/>
              </a:spcBef>
              <a:buNone/>
            </a:pPr>
            <a:r>
              <a:rPr lang="en-US" b="0" i="0" dirty="0">
                <a:solidFill>
                  <a:srgbClr val="3A3A3A"/>
                </a:solidFill>
                <a:effectLst/>
                <a:latin typeface="Roboto" panose="02000000000000000000" pitchFamily="2" charset="0"/>
              </a:rPr>
              <a:t>Example (inline):</a:t>
            </a:r>
          </a:p>
          <a:p>
            <a:pPr algn="l">
              <a:spcBef>
                <a:spcPts val="1125"/>
              </a:spcBef>
              <a:spcAft>
                <a:spcPts val="375"/>
              </a:spcAft>
              <a:buNone/>
            </a:pPr>
            <a:r>
              <a:rPr lang="en-US" b="0" i="0" dirty="0">
                <a:solidFill>
                  <a:srgbClr val="212529"/>
                </a:solidFill>
                <a:effectLst/>
                <a:latin typeface="Courier New" panose="02070309020205020404" pitchFamily="49" charset="0"/>
              </a:rPr>
              <a:t>&lt;p style="color: blue;"&gt;This text is blue.&lt;/p&gt;</a:t>
            </a:r>
          </a:p>
          <a:p>
            <a:pPr algn="just">
              <a:lnSpc>
                <a:spcPts val="2100"/>
              </a:lnSpc>
              <a:spcBef>
                <a:spcPts val="1650"/>
              </a:spcBef>
              <a:buNone/>
            </a:pPr>
            <a:r>
              <a:rPr lang="en-US" b="0" i="0" dirty="0">
                <a:solidFill>
                  <a:srgbClr val="3A3A3A"/>
                </a:solidFill>
                <a:effectLst/>
                <a:latin typeface="Roboto" panose="02000000000000000000" pitchFamily="2" charset="0"/>
              </a:rPr>
              <a:t>Example (CSS):</a:t>
            </a:r>
          </a:p>
          <a:p>
            <a:pPr algn="l">
              <a:spcBef>
                <a:spcPts val="1125"/>
              </a:spcBef>
              <a:spcAft>
                <a:spcPts val="375"/>
              </a:spcAft>
              <a:buNone/>
            </a:pPr>
            <a:r>
              <a:rPr lang="en-US" b="0" i="0" dirty="0">
                <a:solidFill>
                  <a:srgbClr val="212529"/>
                </a:solidFill>
                <a:effectLst/>
                <a:latin typeface="Courier New" panose="02070309020205020404" pitchFamily="49" charset="0"/>
              </a:rPr>
              <a:t>&lt;style&gt;</a:t>
            </a:r>
          </a:p>
          <a:p>
            <a:pPr algn="l">
              <a:spcBef>
                <a:spcPts val="1125"/>
              </a:spcBef>
              <a:spcAft>
                <a:spcPts val="375"/>
              </a:spcAft>
              <a:buNone/>
            </a:pPr>
            <a:endParaRPr lang="en-US" b="0" i="0" dirty="0">
              <a:solidFill>
                <a:srgbClr val="212529"/>
              </a:solidFill>
              <a:effectLst/>
              <a:latin typeface="Courier New" panose="02070309020205020404" pitchFamily="49" charset="0"/>
            </a:endParaRPr>
          </a:p>
          <a:p>
            <a:pPr algn="l">
              <a:spcBef>
                <a:spcPts val="1125"/>
              </a:spcBef>
              <a:spcAft>
                <a:spcPts val="375"/>
              </a:spcAft>
              <a:buNone/>
            </a:pPr>
            <a:r>
              <a:rPr lang="en-US" b="0" i="0" dirty="0">
                <a:solidFill>
                  <a:srgbClr val="212529"/>
                </a:solidFill>
                <a:effectLst/>
                <a:latin typeface="Courier New" panose="02070309020205020404" pitchFamily="49" charset="0"/>
              </a:rPr>
              <a:t>  p {</a:t>
            </a:r>
          </a:p>
          <a:p>
            <a:pPr algn="l">
              <a:spcBef>
                <a:spcPts val="1125"/>
              </a:spcBef>
              <a:spcAft>
                <a:spcPts val="375"/>
              </a:spcAft>
              <a:buNone/>
            </a:pPr>
            <a:endParaRPr lang="en-US" b="0" i="0" dirty="0">
              <a:solidFill>
                <a:srgbClr val="212529"/>
              </a:solidFill>
              <a:effectLst/>
              <a:latin typeface="Courier New" panose="02070309020205020404" pitchFamily="49" charset="0"/>
            </a:endParaRPr>
          </a:p>
          <a:p>
            <a:pPr algn="l">
              <a:spcBef>
                <a:spcPts val="1125"/>
              </a:spcBef>
              <a:spcAft>
                <a:spcPts val="375"/>
              </a:spcAft>
              <a:buNone/>
            </a:pPr>
            <a:r>
              <a:rPr lang="en-US" b="0" i="0" dirty="0">
                <a:solidFill>
                  <a:srgbClr val="212529"/>
                </a:solidFill>
                <a:effectLst/>
                <a:latin typeface="Courier New" panose="02070309020205020404" pitchFamily="49" charset="0"/>
              </a:rPr>
              <a:t>    color: green;</a:t>
            </a:r>
          </a:p>
          <a:p>
            <a:pPr algn="l">
              <a:spcBef>
                <a:spcPts val="1125"/>
              </a:spcBef>
              <a:spcAft>
                <a:spcPts val="375"/>
              </a:spcAft>
              <a:buNone/>
            </a:pPr>
            <a:endParaRPr lang="en-US" b="0" i="0" dirty="0">
              <a:solidFill>
                <a:srgbClr val="212529"/>
              </a:solidFill>
              <a:effectLst/>
              <a:latin typeface="Courier New" panose="02070309020205020404" pitchFamily="49" charset="0"/>
            </a:endParaRPr>
          </a:p>
          <a:p>
            <a:pPr algn="l">
              <a:spcBef>
                <a:spcPts val="1125"/>
              </a:spcBef>
              <a:spcAft>
                <a:spcPts val="375"/>
              </a:spcAft>
              <a:buNone/>
            </a:pPr>
            <a:r>
              <a:rPr lang="en-US" b="0" i="0" dirty="0">
                <a:solidFill>
                  <a:srgbClr val="212529"/>
                </a:solidFill>
                <a:effectLst/>
                <a:latin typeface="Courier New" panose="02070309020205020404" pitchFamily="49" charset="0"/>
              </a:rPr>
              <a:t>  }</a:t>
            </a:r>
          </a:p>
          <a:p>
            <a:pPr algn="l">
              <a:spcBef>
                <a:spcPts val="1125"/>
              </a:spcBef>
              <a:spcAft>
                <a:spcPts val="375"/>
              </a:spcAft>
              <a:buNone/>
            </a:pPr>
            <a:endParaRPr lang="en-US" b="0" i="0" dirty="0">
              <a:solidFill>
                <a:srgbClr val="212529"/>
              </a:solidFill>
              <a:effectLst/>
              <a:latin typeface="Courier New" panose="02070309020205020404" pitchFamily="49" charset="0"/>
            </a:endParaRPr>
          </a:p>
          <a:p>
            <a:pPr algn="l">
              <a:spcBef>
                <a:spcPts val="1125"/>
              </a:spcBef>
              <a:spcAft>
                <a:spcPts val="375"/>
              </a:spcAft>
              <a:buNone/>
            </a:pPr>
            <a:r>
              <a:rPr lang="en-US" b="0" i="0" dirty="0">
                <a:solidFill>
                  <a:srgbClr val="212529"/>
                </a:solidFill>
                <a:effectLst/>
                <a:latin typeface="Courier New" panose="02070309020205020404" pitchFamily="49" charset="0"/>
              </a:rPr>
              <a:t>&lt;/style&gt;</a:t>
            </a:r>
          </a:p>
          <a:p>
            <a:pPr algn="l">
              <a:spcBef>
                <a:spcPts val="1125"/>
              </a:spcBef>
              <a:spcAft>
                <a:spcPts val="375"/>
              </a:spcAft>
              <a:buNone/>
            </a:pPr>
            <a:endParaRPr lang="en-US" b="0" i="0" dirty="0">
              <a:solidFill>
                <a:srgbClr val="212529"/>
              </a:solidFill>
              <a:effectLst/>
              <a:latin typeface="Courier New" panose="02070309020205020404" pitchFamily="49" charset="0"/>
            </a:endParaRPr>
          </a:p>
          <a:p>
            <a:pPr algn="l">
              <a:spcBef>
                <a:spcPts val="1125"/>
              </a:spcBef>
              <a:spcAft>
                <a:spcPts val="375"/>
              </a:spcAft>
              <a:buNone/>
            </a:pPr>
            <a:r>
              <a:rPr lang="en-US" b="0" i="0" dirty="0">
                <a:solidFill>
                  <a:srgbClr val="212529"/>
                </a:solidFill>
                <a:effectLst/>
                <a:latin typeface="Courier New" panose="02070309020205020404" pitchFamily="49" charset="0"/>
              </a:rPr>
              <a:t>&lt;p&gt;This text is green.&lt;/p&gt;</a:t>
            </a:r>
          </a:p>
        </p:txBody>
      </p:sp>
    </p:spTree>
    <p:extLst>
      <p:ext uri="{BB962C8B-B14F-4D97-AF65-F5344CB8AC3E}">
        <p14:creationId xmlns:p14="http://schemas.microsoft.com/office/powerpoint/2010/main" val="407764586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89E505-40D9-4ED7-D016-8A821BFA1015}"/>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0A596C4C-E01D-8C26-8C1E-2B9B245EAADE}"/>
              </a:ext>
            </a:extLst>
          </p:cNvPr>
          <p:cNvSpPr txBox="1"/>
          <p:nvPr/>
        </p:nvSpPr>
        <p:spPr>
          <a:xfrm>
            <a:off x="2477069" y="676530"/>
            <a:ext cx="4954136" cy="5511765"/>
          </a:xfrm>
          <a:prstGeom prst="rect">
            <a:avLst/>
          </a:prstGeom>
          <a:noFill/>
        </p:spPr>
        <p:txBody>
          <a:bodyPr wrap="square">
            <a:spAutoFit/>
          </a:bodyPr>
          <a:lstStyle/>
          <a:p>
            <a:pPr algn="l">
              <a:lnSpc>
                <a:spcPts val="2100"/>
              </a:lnSpc>
              <a:spcBef>
                <a:spcPts val="2400"/>
              </a:spcBef>
              <a:spcAft>
                <a:spcPts val="1800"/>
              </a:spcAft>
              <a:buNone/>
            </a:pPr>
            <a:r>
              <a:rPr lang="en-US" b="0" i="0" dirty="0">
                <a:solidFill>
                  <a:srgbClr val="272C37"/>
                </a:solidFill>
                <a:effectLst/>
                <a:latin typeface="Roboto" panose="02000000000000000000" pitchFamily="2" charset="0"/>
              </a:rPr>
              <a:t>42. How do you add JavaScript to an HTML webpage?</a:t>
            </a:r>
          </a:p>
          <a:p>
            <a:pPr algn="just">
              <a:lnSpc>
                <a:spcPts val="2100"/>
              </a:lnSpc>
              <a:spcBef>
                <a:spcPts val="1650"/>
              </a:spcBef>
              <a:buNone/>
            </a:pPr>
            <a:r>
              <a:rPr lang="en-US" b="0" i="0" dirty="0">
                <a:solidFill>
                  <a:srgbClr val="3A3A3A"/>
                </a:solidFill>
                <a:effectLst/>
                <a:latin typeface="Roboto" panose="02000000000000000000" pitchFamily="2" charset="0"/>
              </a:rPr>
              <a:t>You can add JavaScript using the &lt;script&gt; tag. It can go in the &lt;head&gt; or at the end of the &lt;body&gt;.</a:t>
            </a:r>
          </a:p>
          <a:p>
            <a:pPr algn="just">
              <a:lnSpc>
                <a:spcPts val="2100"/>
              </a:lnSpc>
              <a:spcBef>
                <a:spcPts val="750"/>
              </a:spcBef>
              <a:buNone/>
            </a:pPr>
            <a:r>
              <a:rPr lang="en-US" b="0" i="0" dirty="0">
                <a:solidFill>
                  <a:srgbClr val="3A3A3A"/>
                </a:solidFill>
                <a:effectLst/>
                <a:latin typeface="Roboto" panose="02000000000000000000" pitchFamily="2" charset="0"/>
              </a:rPr>
              <a:t>Example:</a:t>
            </a:r>
          </a:p>
          <a:p>
            <a:pPr algn="l">
              <a:spcBef>
                <a:spcPts val="1125"/>
              </a:spcBef>
              <a:spcAft>
                <a:spcPts val="375"/>
              </a:spcAft>
              <a:buNone/>
            </a:pPr>
            <a:r>
              <a:rPr lang="en-US" b="0" i="0" dirty="0">
                <a:solidFill>
                  <a:srgbClr val="212529"/>
                </a:solidFill>
                <a:effectLst/>
                <a:latin typeface="Courier New" panose="02070309020205020404" pitchFamily="49" charset="0"/>
              </a:rPr>
              <a:t>&lt;script&gt;</a:t>
            </a:r>
          </a:p>
          <a:p>
            <a:pPr algn="l">
              <a:spcBef>
                <a:spcPts val="1125"/>
              </a:spcBef>
              <a:spcAft>
                <a:spcPts val="375"/>
              </a:spcAft>
              <a:buNone/>
            </a:pPr>
            <a:endParaRPr lang="en-US" b="0" i="0" dirty="0">
              <a:solidFill>
                <a:srgbClr val="212529"/>
              </a:solidFill>
              <a:effectLst/>
              <a:latin typeface="Courier New" panose="02070309020205020404" pitchFamily="49" charset="0"/>
            </a:endParaRPr>
          </a:p>
          <a:p>
            <a:pPr algn="l">
              <a:spcBef>
                <a:spcPts val="1125"/>
              </a:spcBef>
              <a:spcAft>
                <a:spcPts val="375"/>
              </a:spcAft>
              <a:buNone/>
            </a:pPr>
            <a:r>
              <a:rPr lang="en-US" b="0" i="0" dirty="0">
                <a:solidFill>
                  <a:srgbClr val="212529"/>
                </a:solidFill>
                <a:effectLst/>
                <a:latin typeface="Courier New" panose="02070309020205020404" pitchFamily="49" charset="0"/>
              </a:rPr>
              <a:t>  alert("Hello, world!");</a:t>
            </a:r>
          </a:p>
          <a:p>
            <a:pPr algn="l">
              <a:spcBef>
                <a:spcPts val="1125"/>
              </a:spcBef>
              <a:spcAft>
                <a:spcPts val="375"/>
              </a:spcAft>
              <a:buNone/>
            </a:pPr>
            <a:endParaRPr lang="en-US" b="0" i="0" dirty="0">
              <a:solidFill>
                <a:srgbClr val="212529"/>
              </a:solidFill>
              <a:effectLst/>
              <a:latin typeface="Courier New" panose="02070309020205020404" pitchFamily="49" charset="0"/>
            </a:endParaRPr>
          </a:p>
          <a:p>
            <a:pPr algn="l">
              <a:spcBef>
                <a:spcPts val="1125"/>
              </a:spcBef>
              <a:spcAft>
                <a:spcPts val="375"/>
              </a:spcAft>
              <a:buNone/>
            </a:pPr>
            <a:r>
              <a:rPr lang="en-US" b="0" i="0" dirty="0">
                <a:solidFill>
                  <a:srgbClr val="212529"/>
                </a:solidFill>
                <a:effectLst/>
                <a:latin typeface="Courier New" panose="02070309020205020404" pitchFamily="49" charset="0"/>
              </a:rPr>
              <a:t>&lt;/script&gt;</a:t>
            </a:r>
          </a:p>
          <a:p>
            <a:pPr algn="just">
              <a:lnSpc>
                <a:spcPts val="2100"/>
              </a:lnSpc>
              <a:spcBef>
                <a:spcPts val="1650"/>
              </a:spcBef>
              <a:buNone/>
            </a:pPr>
            <a:r>
              <a:rPr lang="en-US" b="0" i="0" dirty="0">
                <a:solidFill>
                  <a:srgbClr val="3A3A3A"/>
                </a:solidFill>
                <a:effectLst/>
                <a:latin typeface="Roboto" panose="02000000000000000000" pitchFamily="2" charset="0"/>
              </a:rPr>
              <a:t>Or link an external file:</a:t>
            </a:r>
          </a:p>
          <a:p>
            <a:pPr algn="l">
              <a:spcBef>
                <a:spcPts val="1125"/>
              </a:spcBef>
              <a:spcAft>
                <a:spcPts val="375"/>
              </a:spcAft>
              <a:buNone/>
            </a:pPr>
            <a:r>
              <a:rPr lang="en-US" b="0" i="0" dirty="0">
                <a:solidFill>
                  <a:srgbClr val="212529"/>
                </a:solidFill>
                <a:effectLst/>
                <a:latin typeface="Courier New" panose="02070309020205020404" pitchFamily="49" charset="0"/>
              </a:rPr>
              <a:t>&lt;script </a:t>
            </a:r>
            <a:r>
              <a:rPr lang="en-US" b="0" i="0" dirty="0" err="1">
                <a:solidFill>
                  <a:srgbClr val="212529"/>
                </a:solidFill>
                <a:effectLst/>
                <a:latin typeface="Courier New" panose="02070309020205020404" pitchFamily="49" charset="0"/>
              </a:rPr>
              <a:t>src</a:t>
            </a:r>
            <a:r>
              <a:rPr lang="en-US" b="0" i="0" dirty="0">
                <a:solidFill>
                  <a:srgbClr val="212529"/>
                </a:solidFill>
                <a:effectLst/>
                <a:latin typeface="Courier New" panose="02070309020205020404" pitchFamily="49" charset="0"/>
              </a:rPr>
              <a:t>="script.js"&gt;&lt;/script&gt;</a:t>
            </a:r>
          </a:p>
        </p:txBody>
      </p:sp>
    </p:spTree>
    <p:extLst>
      <p:ext uri="{BB962C8B-B14F-4D97-AF65-F5344CB8AC3E}">
        <p14:creationId xmlns:p14="http://schemas.microsoft.com/office/powerpoint/2010/main" val="352822008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309C2D-F040-78E6-DD9B-00AC84CAA3AB}"/>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F9BA5A94-A6E0-EBEA-09D3-1B0C8B78C8FB}"/>
              </a:ext>
            </a:extLst>
          </p:cNvPr>
          <p:cNvSpPr txBox="1"/>
          <p:nvPr/>
        </p:nvSpPr>
        <p:spPr>
          <a:xfrm>
            <a:off x="2477069" y="-408383"/>
            <a:ext cx="4954136" cy="7681590"/>
          </a:xfrm>
          <a:prstGeom prst="rect">
            <a:avLst/>
          </a:prstGeom>
          <a:noFill/>
        </p:spPr>
        <p:txBody>
          <a:bodyPr wrap="square">
            <a:spAutoFit/>
          </a:bodyPr>
          <a:lstStyle/>
          <a:p>
            <a:pPr algn="l">
              <a:lnSpc>
                <a:spcPts val="2100"/>
              </a:lnSpc>
              <a:spcBef>
                <a:spcPts val="2400"/>
              </a:spcBef>
              <a:spcAft>
                <a:spcPts val="1800"/>
              </a:spcAft>
              <a:buNone/>
            </a:pPr>
            <a:r>
              <a:rPr lang="en-US" b="0" i="0" dirty="0">
                <a:solidFill>
                  <a:srgbClr val="272C37"/>
                </a:solidFill>
                <a:effectLst/>
                <a:latin typeface="Roboto" panose="02000000000000000000" pitchFamily="2" charset="0"/>
              </a:rPr>
              <a:t>43. What is the role of the &lt;head&gt; tag in HTML?</a:t>
            </a:r>
          </a:p>
          <a:p>
            <a:pPr algn="just">
              <a:lnSpc>
                <a:spcPts val="2100"/>
              </a:lnSpc>
              <a:spcBef>
                <a:spcPts val="1650"/>
              </a:spcBef>
              <a:buNone/>
            </a:pPr>
            <a:r>
              <a:rPr lang="en-US" b="0" i="0" dirty="0">
                <a:solidFill>
                  <a:srgbClr val="3A3A3A"/>
                </a:solidFill>
                <a:effectLst/>
                <a:latin typeface="Roboto" panose="02000000000000000000" pitchFamily="2" charset="0"/>
              </a:rPr>
              <a:t>The &lt;head&gt; tag contains information about the webpage, not what is shown on the screen. It includes things like:</a:t>
            </a:r>
          </a:p>
          <a:p>
            <a:pPr algn="just">
              <a:lnSpc>
                <a:spcPts val="2100"/>
              </a:lnSpc>
              <a:spcBef>
                <a:spcPts val="750"/>
              </a:spcBef>
              <a:spcAft>
                <a:spcPts val="600"/>
              </a:spcAft>
              <a:buFont typeface="Arial" panose="020B0604020202020204" pitchFamily="34" charset="0"/>
              <a:buChar char="•"/>
            </a:pPr>
            <a:r>
              <a:rPr lang="en-US" b="0" i="0" dirty="0">
                <a:solidFill>
                  <a:srgbClr val="3A3A3A"/>
                </a:solidFill>
                <a:effectLst/>
                <a:latin typeface="Roboto" panose="02000000000000000000" pitchFamily="2" charset="0"/>
              </a:rPr>
              <a:t>Page title (&lt;title&gt;)</a:t>
            </a:r>
          </a:p>
          <a:p>
            <a:pPr algn="just">
              <a:lnSpc>
                <a:spcPts val="2100"/>
              </a:lnSpc>
              <a:spcBef>
                <a:spcPts val="750"/>
              </a:spcBef>
              <a:spcAft>
                <a:spcPts val="600"/>
              </a:spcAft>
              <a:buFont typeface="Arial" panose="020B0604020202020204" pitchFamily="34" charset="0"/>
              <a:buChar char="•"/>
            </a:pPr>
            <a:r>
              <a:rPr lang="en-US" b="0" i="0" dirty="0">
                <a:solidFill>
                  <a:srgbClr val="3A3A3A"/>
                </a:solidFill>
                <a:effectLst/>
                <a:latin typeface="Roboto" panose="02000000000000000000" pitchFamily="2" charset="0"/>
              </a:rPr>
              <a:t>Meta info (for search engines)</a:t>
            </a:r>
          </a:p>
          <a:p>
            <a:pPr algn="just">
              <a:lnSpc>
                <a:spcPts val="2100"/>
              </a:lnSpc>
              <a:spcBef>
                <a:spcPts val="750"/>
              </a:spcBef>
              <a:spcAft>
                <a:spcPts val="600"/>
              </a:spcAft>
              <a:buFont typeface="Arial" panose="020B0604020202020204" pitchFamily="34" charset="0"/>
              <a:buChar char="•"/>
            </a:pPr>
            <a:r>
              <a:rPr lang="en-US" b="0" i="0" dirty="0">
                <a:solidFill>
                  <a:srgbClr val="3A3A3A"/>
                </a:solidFill>
                <a:effectLst/>
                <a:latin typeface="Roboto" panose="02000000000000000000" pitchFamily="2" charset="0"/>
              </a:rPr>
              <a:t>Links to CSS</a:t>
            </a:r>
          </a:p>
          <a:p>
            <a:pPr algn="just">
              <a:lnSpc>
                <a:spcPts val="2100"/>
              </a:lnSpc>
              <a:spcBef>
                <a:spcPts val="750"/>
              </a:spcBef>
              <a:spcAft>
                <a:spcPts val="600"/>
              </a:spcAft>
              <a:buFont typeface="Arial" panose="020B0604020202020204" pitchFamily="34" charset="0"/>
              <a:buChar char="•"/>
            </a:pPr>
            <a:r>
              <a:rPr lang="en-US" b="0" i="0" dirty="0">
                <a:solidFill>
                  <a:srgbClr val="3A3A3A"/>
                </a:solidFill>
                <a:effectLst/>
                <a:latin typeface="Roboto" panose="02000000000000000000" pitchFamily="2" charset="0"/>
              </a:rPr>
              <a:t>Scripts</a:t>
            </a:r>
          </a:p>
          <a:p>
            <a:pPr algn="just">
              <a:lnSpc>
                <a:spcPts val="2100"/>
              </a:lnSpc>
              <a:spcBef>
                <a:spcPts val="1650"/>
              </a:spcBef>
              <a:buNone/>
            </a:pPr>
            <a:r>
              <a:rPr lang="en-US" b="0" i="0" dirty="0">
                <a:solidFill>
                  <a:srgbClr val="3A3A3A"/>
                </a:solidFill>
                <a:effectLst/>
                <a:latin typeface="Roboto" panose="02000000000000000000" pitchFamily="2" charset="0"/>
              </a:rPr>
              <a:t>Example:</a:t>
            </a:r>
          </a:p>
          <a:p>
            <a:pPr algn="l">
              <a:spcBef>
                <a:spcPts val="1125"/>
              </a:spcBef>
              <a:spcAft>
                <a:spcPts val="375"/>
              </a:spcAft>
              <a:buNone/>
            </a:pPr>
            <a:r>
              <a:rPr lang="en-US" b="0" i="0" dirty="0">
                <a:solidFill>
                  <a:srgbClr val="212529"/>
                </a:solidFill>
                <a:effectLst/>
                <a:latin typeface="Courier New" panose="02070309020205020404" pitchFamily="49" charset="0"/>
              </a:rPr>
              <a:t>&lt;head&gt;</a:t>
            </a:r>
          </a:p>
          <a:p>
            <a:pPr algn="l">
              <a:spcBef>
                <a:spcPts val="1125"/>
              </a:spcBef>
              <a:spcAft>
                <a:spcPts val="375"/>
              </a:spcAft>
              <a:buNone/>
            </a:pPr>
            <a:endParaRPr lang="en-US" b="0" i="0" dirty="0">
              <a:solidFill>
                <a:srgbClr val="212529"/>
              </a:solidFill>
              <a:effectLst/>
              <a:latin typeface="Courier New" panose="02070309020205020404" pitchFamily="49" charset="0"/>
            </a:endParaRPr>
          </a:p>
          <a:p>
            <a:pPr algn="l">
              <a:spcBef>
                <a:spcPts val="1125"/>
              </a:spcBef>
              <a:spcAft>
                <a:spcPts val="375"/>
              </a:spcAft>
              <a:buNone/>
            </a:pPr>
            <a:r>
              <a:rPr lang="en-US" b="0" i="0" dirty="0">
                <a:solidFill>
                  <a:srgbClr val="212529"/>
                </a:solidFill>
                <a:effectLst/>
                <a:latin typeface="Courier New" panose="02070309020205020404" pitchFamily="49" charset="0"/>
              </a:rPr>
              <a:t>  &lt;title&gt;My Website&lt;/title&gt;</a:t>
            </a:r>
          </a:p>
          <a:p>
            <a:pPr algn="l">
              <a:spcBef>
                <a:spcPts val="1125"/>
              </a:spcBef>
              <a:spcAft>
                <a:spcPts val="375"/>
              </a:spcAft>
              <a:buNone/>
            </a:pPr>
            <a:endParaRPr lang="en-US" b="0" i="0" dirty="0">
              <a:solidFill>
                <a:srgbClr val="212529"/>
              </a:solidFill>
              <a:effectLst/>
              <a:latin typeface="Courier New" panose="02070309020205020404" pitchFamily="49" charset="0"/>
            </a:endParaRPr>
          </a:p>
          <a:p>
            <a:pPr algn="l">
              <a:spcBef>
                <a:spcPts val="1125"/>
              </a:spcBef>
              <a:spcAft>
                <a:spcPts val="375"/>
              </a:spcAft>
              <a:buNone/>
            </a:pPr>
            <a:r>
              <a:rPr lang="en-US" b="0" i="0" dirty="0">
                <a:solidFill>
                  <a:srgbClr val="212529"/>
                </a:solidFill>
                <a:effectLst/>
                <a:latin typeface="Courier New" panose="02070309020205020404" pitchFamily="49" charset="0"/>
              </a:rPr>
              <a:t>  &lt;link </a:t>
            </a:r>
            <a:r>
              <a:rPr lang="en-US" b="0" i="0" dirty="0" err="1">
                <a:solidFill>
                  <a:srgbClr val="212529"/>
                </a:solidFill>
                <a:effectLst/>
                <a:latin typeface="Courier New" panose="02070309020205020404" pitchFamily="49" charset="0"/>
              </a:rPr>
              <a:t>rel</a:t>
            </a:r>
            <a:r>
              <a:rPr lang="en-US" b="0" i="0" dirty="0">
                <a:solidFill>
                  <a:srgbClr val="212529"/>
                </a:solidFill>
                <a:effectLst/>
                <a:latin typeface="Courier New" panose="02070309020205020404" pitchFamily="49" charset="0"/>
              </a:rPr>
              <a:t>="stylesheet" </a:t>
            </a:r>
            <a:r>
              <a:rPr lang="en-US" b="0" i="0" dirty="0" err="1">
                <a:solidFill>
                  <a:srgbClr val="212529"/>
                </a:solidFill>
                <a:effectLst/>
                <a:latin typeface="Courier New" panose="02070309020205020404" pitchFamily="49" charset="0"/>
              </a:rPr>
              <a:t>href</a:t>
            </a:r>
            <a:r>
              <a:rPr lang="en-US" b="0" i="0" dirty="0">
                <a:solidFill>
                  <a:srgbClr val="212529"/>
                </a:solidFill>
                <a:effectLst/>
                <a:latin typeface="Courier New" panose="02070309020205020404" pitchFamily="49" charset="0"/>
              </a:rPr>
              <a:t>="style.css"&gt;</a:t>
            </a:r>
          </a:p>
          <a:p>
            <a:pPr algn="l">
              <a:spcBef>
                <a:spcPts val="1125"/>
              </a:spcBef>
              <a:spcAft>
                <a:spcPts val="375"/>
              </a:spcAft>
              <a:buNone/>
            </a:pPr>
            <a:endParaRPr lang="en-US" b="0" i="0" dirty="0">
              <a:solidFill>
                <a:srgbClr val="212529"/>
              </a:solidFill>
              <a:effectLst/>
              <a:latin typeface="Courier New" panose="02070309020205020404" pitchFamily="49" charset="0"/>
            </a:endParaRPr>
          </a:p>
          <a:p>
            <a:pPr algn="l">
              <a:spcBef>
                <a:spcPts val="1125"/>
              </a:spcBef>
              <a:spcAft>
                <a:spcPts val="375"/>
              </a:spcAft>
              <a:buNone/>
            </a:pPr>
            <a:r>
              <a:rPr lang="en-US" b="0" i="0" dirty="0">
                <a:solidFill>
                  <a:srgbClr val="212529"/>
                </a:solidFill>
                <a:effectLst/>
                <a:latin typeface="Courier New" panose="02070309020205020404" pitchFamily="49" charset="0"/>
              </a:rPr>
              <a:t>&lt;/head&gt;</a:t>
            </a:r>
          </a:p>
        </p:txBody>
      </p:sp>
    </p:spTree>
    <p:extLst>
      <p:ext uri="{BB962C8B-B14F-4D97-AF65-F5344CB8AC3E}">
        <p14:creationId xmlns:p14="http://schemas.microsoft.com/office/powerpoint/2010/main" val="12500789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5263D5-F352-EAA7-74F0-A6DE67CBD075}"/>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8FE0C752-3C85-2854-5AC1-3CB98BDD8997}"/>
              </a:ext>
            </a:extLst>
          </p:cNvPr>
          <p:cNvSpPr txBox="1"/>
          <p:nvPr/>
        </p:nvSpPr>
        <p:spPr>
          <a:xfrm>
            <a:off x="2477069" y="404660"/>
            <a:ext cx="4954136" cy="6055504"/>
          </a:xfrm>
          <a:prstGeom prst="rect">
            <a:avLst/>
          </a:prstGeom>
          <a:noFill/>
        </p:spPr>
        <p:txBody>
          <a:bodyPr wrap="square">
            <a:spAutoFit/>
          </a:bodyPr>
          <a:lstStyle/>
          <a:p>
            <a:pPr algn="l">
              <a:lnSpc>
                <a:spcPts val="2100"/>
              </a:lnSpc>
              <a:spcBef>
                <a:spcPts val="2400"/>
              </a:spcBef>
              <a:spcAft>
                <a:spcPts val="1800"/>
              </a:spcAft>
              <a:buNone/>
            </a:pPr>
            <a:r>
              <a:rPr lang="en-US" b="0" i="0" dirty="0">
                <a:solidFill>
                  <a:srgbClr val="272C37"/>
                </a:solidFill>
                <a:effectLst/>
                <a:latin typeface="Roboto" panose="02000000000000000000" pitchFamily="2" charset="0"/>
              </a:rPr>
              <a:t>44. What is a form in HTML?</a:t>
            </a:r>
          </a:p>
          <a:p>
            <a:pPr algn="just">
              <a:lnSpc>
                <a:spcPts val="2100"/>
              </a:lnSpc>
              <a:spcBef>
                <a:spcPts val="1650"/>
              </a:spcBef>
              <a:buNone/>
            </a:pPr>
            <a:r>
              <a:rPr lang="en-US" b="0" i="0" dirty="0">
                <a:solidFill>
                  <a:srgbClr val="3A3A3A"/>
                </a:solidFill>
                <a:effectLst/>
                <a:latin typeface="Roboto" panose="02000000000000000000" pitchFamily="2" charset="0"/>
              </a:rPr>
              <a:t>A form lets users enter data that can be sent to a server, such as contact information, login details, or survey answers.</a:t>
            </a:r>
          </a:p>
          <a:p>
            <a:pPr algn="just">
              <a:lnSpc>
                <a:spcPts val="2100"/>
              </a:lnSpc>
              <a:spcBef>
                <a:spcPts val="750"/>
              </a:spcBef>
              <a:buNone/>
            </a:pPr>
            <a:r>
              <a:rPr lang="en-US" b="0" i="0" dirty="0">
                <a:solidFill>
                  <a:srgbClr val="3A3A3A"/>
                </a:solidFill>
                <a:effectLst/>
                <a:latin typeface="Roboto" panose="02000000000000000000" pitchFamily="2" charset="0"/>
              </a:rPr>
              <a:t>Example:</a:t>
            </a:r>
          </a:p>
          <a:p>
            <a:pPr algn="l">
              <a:spcBef>
                <a:spcPts val="1125"/>
              </a:spcBef>
              <a:spcAft>
                <a:spcPts val="375"/>
              </a:spcAft>
              <a:buNone/>
            </a:pPr>
            <a:r>
              <a:rPr lang="en-US" b="0" i="0" dirty="0">
                <a:solidFill>
                  <a:srgbClr val="212529"/>
                </a:solidFill>
                <a:effectLst/>
                <a:latin typeface="Courier New" panose="02070309020205020404" pitchFamily="49" charset="0"/>
              </a:rPr>
              <a:t>&lt;form action="</a:t>
            </a:r>
            <a:r>
              <a:rPr lang="en-US" b="0" i="0" dirty="0" err="1">
                <a:solidFill>
                  <a:srgbClr val="212529"/>
                </a:solidFill>
                <a:effectLst/>
                <a:latin typeface="Courier New" panose="02070309020205020404" pitchFamily="49" charset="0"/>
              </a:rPr>
              <a:t>submit.php</a:t>
            </a:r>
            <a:r>
              <a:rPr lang="en-US" b="0" i="0" dirty="0">
                <a:solidFill>
                  <a:srgbClr val="212529"/>
                </a:solidFill>
                <a:effectLst/>
                <a:latin typeface="Courier New" panose="02070309020205020404" pitchFamily="49" charset="0"/>
              </a:rPr>
              <a:t>" method="post"&gt;</a:t>
            </a:r>
          </a:p>
          <a:p>
            <a:pPr algn="l">
              <a:spcBef>
                <a:spcPts val="1125"/>
              </a:spcBef>
              <a:spcAft>
                <a:spcPts val="375"/>
              </a:spcAft>
              <a:buNone/>
            </a:pPr>
            <a:endParaRPr lang="en-US" b="0" i="0" dirty="0">
              <a:solidFill>
                <a:srgbClr val="212529"/>
              </a:solidFill>
              <a:effectLst/>
              <a:latin typeface="Courier New" panose="02070309020205020404" pitchFamily="49" charset="0"/>
            </a:endParaRPr>
          </a:p>
          <a:p>
            <a:pPr algn="l">
              <a:spcBef>
                <a:spcPts val="1125"/>
              </a:spcBef>
              <a:spcAft>
                <a:spcPts val="375"/>
              </a:spcAft>
              <a:buNone/>
            </a:pPr>
            <a:r>
              <a:rPr lang="en-US" b="0" i="0" dirty="0">
                <a:solidFill>
                  <a:srgbClr val="212529"/>
                </a:solidFill>
                <a:effectLst/>
                <a:latin typeface="Courier New" panose="02070309020205020404" pitchFamily="49" charset="0"/>
              </a:rPr>
              <a:t>  &lt;input type="text" name="username"&gt;</a:t>
            </a:r>
          </a:p>
          <a:p>
            <a:pPr algn="l">
              <a:spcBef>
                <a:spcPts val="1125"/>
              </a:spcBef>
              <a:spcAft>
                <a:spcPts val="375"/>
              </a:spcAft>
              <a:buNone/>
            </a:pPr>
            <a:endParaRPr lang="en-US" b="0" i="0" dirty="0">
              <a:solidFill>
                <a:srgbClr val="212529"/>
              </a:solidFill>
              <a:effectLst/>
              <a:latin typeface="Courier New" panose="02070309020205020404" pitchFamily="49" charset="0"/>
            </a:endParaRPr>
          </a:p>
          <a:p>
            <a:pPr algn="l">
              <a:spcBef>
                <a:spcPts val="1125"/>
              </a:spcBef>
              <a:spcAft>
                <a:spcPts val="375"/>
              </a:spcAft>
              <a:buNone/>
            </a:pPr>
            <a:r>
              <a:rPr lang="en-US" b="0" i="0" dirty="0">
                <a:solidFill>
                  <a:srgbClr val="212529"/>
                </a:solidFill>
                <a:effectLst/>
                <a:latin typeface="Courier New" panose="02070309020205020404" pitchFamily="49" charset="0"/>
              </a:rPr>
              <a:t>  &lt;input type="submit" value="Submit"&gt;</a:t>
            </a:r>
          </a:p>
          <a:p>
            <a:pPr algn="l">
              <a:spcBef>
                <a:spcPts val="1125"/>
              </a:spcBef>
              <a:spcAft>
                <a:spcPts val="375"/>
              </a:spcAft>
              <a:buNone/>
            </a:pPr>
            <a:endParaRPr lang="en-US" b="0" i="0" dirty="0">
              <a:solidFill>
                <a:srgbClr val="212529"/>
              </a:solidFill>
              <a:effectLst/>
              <a:latin typeface="Courier New" panose="02070309020205020404" pitchFamily="49" charset="0"/>
            </a:endParaRPr>
          </a:p>
          <a:p>
            <a:pPr algn="l">
              <a:spcBef>
                <a:spcPts val="1125"/>
              </a:spcBef>
              <a:spcAft>
                <a:spcPts val="375"/>
              </a:spcAft>
              <a:buNone/>
            </a:pPr>
            <a:r>
              <a:rPr lang="en-US" b="0" i="0" dirty="0">
                <a:solidFill>
                  <a:srgbClr val="212529"/>
                </a:solidFill>
                <a:effectLst/>
                <a:latin typeface="Courier New" panose="02070309020205020404" pitchFamily="49" charset="0"/>
              </a:rPr>
              <a:t>&lt;/form&gt;</a:t>
            </a:r>
          </a:p>
        </p:txBody>
      </p:sp>
    </p:spTree>
    <p:extLst>
      <p:ext uri="{BB962C8B-B14F-4D97-AF65-F5344CB8AC3E}">
        <p14:creationId xmlns:p14="http://schemas.microsoft.com/office/powerpoint/2010/main" val="76306400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CB1E5E-CDE1-A6B0-BC87-662752729A8D}"/>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F3DBC5A2-7E2D-FB1B-B614-E3DA0EEA2166}"/>
              </a:ext>
            </a:extLst>
          </p:cNvPr>
          <p:cNvSpPr txBox="1"/>
          <p:nvPr/>
        </p:nvSpPr>
        <p:spPr>
          <a:xfrm>
            <a:off x="2477069" y="-1141917"/>
            <a:ext cx="4954136" cy="9148658"/>
          </a:xfrm>
          <a:prstGeom prst="rect">
            <a:avLst/>
          </a:prstGeom>
          <a:noFill/>
        </p:spPr>
        <p:txBody>
          <a:bodyPr wrap="square">
            <a:spAutoFit/>
          </a:bodyPr>
          <a:lstStyle/>
          <a:p>
            <a:pPr algn="l">
              <a:lnSpc>
                <a:spcPts val="2100"/>
              </a:lnSpc>
              <a:spcBef>
                <a:spcPts val="2400"/>
              </a:spcBef>
              <a:spcAft>
                <a:spcPts val="1800"/>
              </a:spcAft>
              <a:buNone/>
            </a:pPr>
            <a:r>
              <a:rPr lang="en-US" b="0" i="0" dirty="0">
                <a:solidFill>
                  <a:srgbClr val="272C37"/>
                </a:solidFill>
                <a:effectLst/>
                <a:latin typeface="Roboto" panose="02000000000000000000" pitchFamily="2" charset="0"/>
              </a:rPr>
              <a:t>45. How to create a form in HTML?</a:t>
            </a:r>
          </a:p>
          <a:p>
            <a:pPr algn="just">
              <a:lnSpc>
                <a:spcPts val="2100"/>
              </a:lnSpc>
              <a:spcBef>
                <a:spcPts val="1650"/>
              </a:spcBef>
              <a:buNone/>
            </a:pPr>
            <a:r>
              <a:rPr lang="en-US" b="0" i="0" dirty="0">
                <a:solidFill>
                  <a:srgbClr val="3A3A3A"/>
                </a:solidFill>
                <a:effectLst/>
                <a:latin typeface="Roboto" panose="02000000000000000000" pitchFamily="2" charset="0"/>
              </a:rPr>
              <a:t>Use the &lt;form&gt; tag with different input types like text boxes, checkboxes, radio buttons, and buttons.</a:t>
            </a:r>
          </a:p>
          <a:p>
            <a:pPr algn="just">
              <a:lnSpc>
                <a:spcPts val="2100"/>
              </a:lnSpc>
              <a:spcBef>
                <a:spcPts val="750"/>
              </a:spcBef>
              <a:buNone/>
            </a:pPr>
            <a:r>
              <a:rPr lang="en-US" b="0" i="0" dirty="0">
                <a:solidFill>
                  <a:srgbClr val="3A3A3A"/>
                </a:solidFill>
                <a:effectLst/>
                <a:latin typeface="Roboto" panose="02000000000000000000" pitchFamily="2" charset="0"/>
              </a:rPr>
              <a:t>Example:</a:t>
            </a:r>
          </a:p>
          <a:p>
            <a:pPr algn="l">
              <a:spcBef>
                <a:spcPts val="1125"/>
              </a:spcBef>
              <a:spcAft>
                <a:spcPts val="375"/>
              </a:spcAft>
              <a:buNone/>
            </a:pPr>
            <a:r>
              <a:rPr lang="en-US" b="0" i="0" dirty="0">
                <a:solidFill>
                  <a:srgbClr val="212529"/>
                </a:solidFill>
                <a:effectLst/>
                <a:latin typeface="Courier New" panose="02070309020205020404" pitchFamily="49" charset="0"/>
              </a:rPr>
              <a:t>&lt;form action="/submit" method="post"&gt;</a:t>
            </a:r>
          </a:p>
          <a:p>
            <a:pPr algn="l">
              <a:spcBef>
                <a:spcPts val="1125"/>
              </a:spcBef>
              <a:spcAft>
                <a:spcPts val="375"/>
              </a:spcAft>
              <a:buNone/>
            </a:pPr>
            <a:endParaRPr lang="en-US" b="0" i="0" dirty="0">
              <a:solidFill>
                <a:srgbClr val="212529"/>
              </a:solidFill>
              <a:effectLst/>
              <a:latin typeface="Courier New" panose="02070309020205020404" pitchFamily="49" charset="0"/>
            </a:endParaRPr>
          </a:p>
          <a:p>
            <a:pPr algn="l">
              <a:spcBef>
                <a:spcPts val="1125"/>
              </a:spcBef>
              <a:spcAft>
                <a:spcPts val="375"/>
              </a:spcAft>
              <a:buNone/>
            </a:pPr>
            <a:r>
              <a:rPr lang="en-US" b="0" i="0" dirty="0">
                <a:solidFill>
                  <a:srgbClr val="212529"/>
                </a:solidFill>
                <a:effectLst/>
                <a:latin typeface="Courier New" panose="02070309020205020404" pitchFamily="49" charset="0"/>
              </a:rPr>
              <a:t>  &lt;label&gt;Name:&lt;/label&gt;</a:t>
            </a:r>
          </a:p>
          <a:p>
            <a:pPr algn="l">
              <a:spcBef>
                <a:spcPts val="1125"/>
              </a:spcBef>
              <a:spcAft>
                <a:spcPts val="375"/>
              </a:spcAft>
              <a:buNone/>
            </a:pPr>
            <a:endParaRPr lang="en-US" b="0" i="0" dirty="0">
              <a:solidFill>
                <a:srgbClr val="212529"/>
              </a:solidFill>
              <a:effectLst/>
              <a:latin typeface="Courier New" panose="02070309020205020404" pitchFamily="49" charset="0"/>
            </a:endParaRPr>
          </a:p>
          <a:p>
            <a:pPr algn="l">
              <a:spcBef>
                <a:spcPts val="1125"/>
              </a:spcBef>
              <a:spcAft>
                <a:spcPts val="375"/>
              </a:spcAft>
              <a:buNone/>
            </a:pPr>
            <a:r>
              <a:rPr lang="en-US" b="0" i="0" dirty="0">
                <a:solidFill>
                  <a:srgbClr val="212529"/>
                </a:solidFill>
                <a:effectLst/>
                <a:latin typeface="Courier New" panose="02070309020205020404" pitchFamily="49" charset="0"/>
              </a:rPr>
              <a:t>  &lt;input type="text" name="name"&gt;&lt;</a:t>
            </a:r>
            <a:r>
              <a:rPr lang="en-US" b="0" i="0" dirty="0" err="1">
                <a:solidFill>
                  <a:srgbClr val="212529"/>
                </a:solidFill>
                <a:effectLst/>
                <a:latin typeface="Courier New" panose="02070309020205020404" pitchFamily="49" charset="0"/>
              </a:rPr>
              <a:t>br</a:t>
            </a:r>
            <a:r>
              <a:rPr lang="en-US" b="0" i="0" dirty="0">
                <a:solidFill>
                  <a:srgbClr val="212529"/>
                </a:solidFill>
                <a:effectLst/>
                <a:latin typeface="Courier New" panose="02070309020205020404" pitchFamily="49" charset="0"/>
              </a:rPr>
              <a:t>&gt;</a:t>
            </a:r>
          </a:p>
          <a:p>
            <a:pPr algn="l">
              <a:spcBef>
                <a:spcPts val="1125"/>
              </a:spcBef>
              <a:spcAft>
                <a:spcPts val="375"/>
              </a:spcAft>
              <a:buNone/>
            </a:pPr>
            <a:endParaRPr lang="en-US" b="0" i="0" dirty="0">
              <a:solidFill>
                <a:srgbClr val="212529"/>
              </a:solidFill>
              <a:effectLst/>
              <a:latin typeface="Courier New" panose="02070309020205020404" pitchFamily="49" charset="0"/>
            </a:endParaRPr>
          </a:p>
          <a:p>
            <a:pPr algn="l">
              <a:spcBef>
                <a:spcPts val="1125"/>
              </a:spcBef>
              <a:spcAft>
                <a:spcPts val="375"/>
              </a:spcAft>
              <a:buNone/>
            </a:pPr>
            <a:r>
              <a:rPr lang="en-US" b="0" i="0" dirty="0">
                <a:solidFill>
                  <a:srgbClr val="212529"/>
                </a:solidFill>
                <a:effectLst/>
                <a:latin typeface="Courier New" panose="02070309020205020404" pitchFamily="49" charset="0"/>
              </a:rPr>
              <a:t>  &lt;label&gt;Email:&lt;/label&gt;</a:t>
            </a:r>
          </a:p>
          <a:p>
            <a:pPr algn="l">
              <a:spcBef>
                <a:spcPts val="1125"/>
              </a:spcBef>
              <a:spcAft>
                <a:spcPts val="375"/>
              </a:spcAft>
              <a:buNone/>
            </a:pPr>
            <a:endParaRPr lang="en-US" b="0" i="0" dirty="0">
              <a:solidFill>
                <a:srgbClr val="212529"/>
              </a:solidFill>
              <a:effectLst/>
              <a:latin typeface="Courier New" panose="02070309020205020404" pitchFamily="49" charset="0"/>
            </a:endParaRPr>
          </a:p>
          <a:p>
            <a:pPr algn="l">
              <a:spcBef>
                <a:spcPts val="1125"/>
              </a:spcBef>
              <a:spcAft>
                <a:spcPts val="375"/>
              </a:spcAft>
              <a:buNone/>
            </a:pPr>
            <a:r>
              <a:rPr lang="en-US" b="0" i="0" dirty="0">
                <a:solidFill>
                  <a:srgbClr val="212529"/>
                </a:solidFill>
                <a:effectLst/>
                <a:latin typeface="Courier New" panose="02070309020205020404" pitchFamily="49" charset="0"/>
              </a:rPr>
              <a:t>  &lt;input type="email" name="email"&gt;&lt;</a:t>
            </a:r>
            <a:r>
              <a:rPr lang="en-US" b="0" i="0" dirty="0" err="1">
                <a:solidFill>
                  <a:srgbClr val="212529"/>
                </a:solidFill>
                <a:effectLst/>
                <a:latin typeface="Courier New" panose="02070309020205020404" pitchFamily="49" charset="0"/>
              </a:rPr>
              <a:t>br</a:t>
            </a:r>
            <a:r>
              <a:rPr lang="en-US" b="0" i="0" dirty="0">
                <a:solidFill>
                  <a:srgbClr val="212529"/>
                </a:solidFill>
                <a:effectLst/>
                <a:latin typeface="Courier New" panose="02070309020205020404" pitchFamily="49" charset="0"/>
              </a:rPr>
              <a:t>&gt;</a:t>
            </a:r>
          </a:p>
          <a:p>
            <a:pPr algn="l">
              <a:spcBef>
                <a:spcPts val="1125"/>
              </a:spcBef>
              <a:spcAft>
                <a:spcPts val="375"/>
              </a:spcAft>
              <a:buNone/>
            </a:pPr>
            <a:endParaRPr lang="en-US" b="0" i="0" dirty="0">
              <a:solidFill>
                <a:srgbClr val="212529"/>
              </a:solidFill>
              <a:effectLst/>
              <a:latin typeface="Courier New" panose="02070309020205020404" pitchFamily="49" charset="0"/>
            </a:endParaRPr>
          </a:p>
          <a:p>
            <a:pPr algn="l">
              <a:spcBef>
                <a:spcPts val="1125"/>
              </a:spcBef>
              <a:spcAft>
                <a:spcPts val="375"/>
              </a:spcAft>
              <a:buNone/>
            </a:pPr>
            <a:r>
              <a:rPr lang="en-US" b="0" i="0" dirty="0">
                <a:solidFill>
                  <a:srgbClr val="212529"/>
                </a:solidFill>
                <a:effectLst/>
                <a:latin typeface="Courier New" panose="02070309020205020404" pitchFamily="49" charset="0"/>
              </a:rPr>
              <a:t>  &lt;input type="submit" value="Send"&gt;</a:t>
            </a:r>
          </a:p>
          <a:p>
            <a:pPr algn="l">
              <a:spcBef>
                <a:spcPts val="1125"/>
              </a:spcBef>
              <a:spcAft>
                <a:spcPts val="375"/>
              </a:spcAft>
              <a:buNone/>
            </a:pPr>
            <a:endParaRPr lang="en-US" b="0" i="0" dirty="0">
              <a:solidFill>
                <a:srgbClr val="212529"/>
              </a:solidFill>
              <a:effectLst/>
              <a:latin typeface="Courier New" panose="02070309020205020404" pitchFamily="49" charset="0"/>
            </a:endParaRPr>
          </a:p>
          <a:p>
            <a:pPr algn="l">
              <a:spcBef>
                <a:spcPts val="1125"/>
              </a:spcBef>
              <a:spcAft>
                <a:spcPts val="375"/>
              </a:spcAft>
              <a:buNone/>
            </a:pPr>
            <a:r>
              <a:rPr lang="en-US" b="0" i="0" dirty="0">
                <a:solidFill>
                  <a:srgbClr val="212529"/>
                </a:solidFill>
                <a:effectLst/>
                <a:latin typeface="Courier New" panose="02070309020205020404" pitchFamily="49" charset="0"/>
              </a:rPr>
              <a:t>&lt;/form&gt;</a:t>
            </a:r>
          </a:p>
        </p:txBody>
      </p:sp>
    </p:spTree>
    <p:extLst>
      <p:ext uri="{BB962C8B-B14F-4D97-AF65-F5344CB8AC3E}">
        <p14:creationId xmlns:p14="http://schemas.microsoft.com/office/powerpoint/2010/main" val="2165103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BC157C-7E71-00DD-B11C-77BDBC4BF8C5}"/>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1E11DBF5-DE62-7BF1-D047-2C598DA655CF}"/>
              </a:ext>
            </a:extLst>
          </p:cNvPr>
          <p:cNvSpPr txBox="1"/>
          <p:nvPr/>
        </p:nvSpPr>
        <p:spPr>
          <a:xfrm>
            <a:off x="2477069" y="-595614"/>
            <a:ext cx="4954136" cy="8056052"/>
          </a:xfrm>
          <a:prstGeom prst="rect">
            <a:avLst/>
          </a:prstGeom>
          <a:noFill/>
        </p:spPr>
        <p:txBody>
          <a:bodyPr wrap="square">
            <a:spAutoFit/>
          </a:bodyPr>
          <a:lstStyle/>
          <a:p>
            <a:pPr algn="l">
              <a:lnSpc>
                <a:spcPts val="2100"/>
              </a:lnSpc>
              <a:spcBef>
                <a:spcPts val="2400"/>
              </a:spcBef>
              <a:spcAft>
                <a:spcPts val="1800"/>
              </a:spcAft>
              <a:buNone/>
            </a:pPr>
            <a:r>
              <a:rPr lang="en-US" b="0" i="0" dirty="0">
                <a:solidFill>
                  <a:srgbClr val="272C37"/>
                </a:solidFill>
                <a:effectLst/>
                <a:latin typeface="Roboto" panose="02000000000000000000" pitchFamily="2" charset="0"/>
              </a:rPr>
              <a:t>46. What are the different types of form input fields in HTML?</a:t>
            </a:r>
          </a:p>
          <a:p>
            <a:pPr algn="just">
              <a:lnSpc>
                <a:spcPts val="2100"/>
              </a:lnSpc>
              <a:spcBef>
                <a:spcPts val="1650"/>
              </a:spcBef>
              <a:buNone/>
            </a:pPr>
            <a:r>
              <a:rPr lang="en-US" b="0" i="0" dirty="0">
                <a:solidFill>
                  <a:srgbClr val="3A3A3A"/>
                </a:solidFill>
                <a:effectLst/>
                <a:latin typeface="Roboto" panose="02000000000000000000" pitchFamily="2" charset="0"/>
              </a:rPr>
              <a:t>HTML provides many input types for different purposes:</a:t>
            </a:r>
          </a:p>
          <a:p>
            <a:pPr algn="just">
              <a:lnSpc>
                <a:spcPts val="2100"/>
              </a:lnSpc>
              <a:spcBef>
                <a:spcPts val="750"/>
              </a:spcBef>
              <a:spcAft>
                <a:spcPts val="600"/>
              </a:spcAft>
              <a:buFont typeface="Arial" panose="020B0604020202020204" pitchFamily="34" charset="0"/>
              <a:buChar char="•"/>
            </a:pPr>
            <a:r>
              <a:rPr lang="en-US" b="0" i="0" dirty="0">
                <a:solidFill>
                  <a:srgbClr val="3A3A3A"/>
                </a:solidFill>
                <a:effectLst/>
                <a:latin typeface="Roboto" panose="02000000000000000000" pitchFamily="2" charset="0"/>
              </a:rPr>
              <a:t>text – for plain text</a:t>
            </a:r>
          </a:p>
          <a:p>
            <a:pPr algn="just">
              <a:lnSpc>
                <a:spcPts val="2100"/>
              </a:lnSpc>
              <a:spcBef>
                <a:spcPts val="750"/>
              </a:spcBef>
              <a:spcAft>
                <a:spcPts val="600"/>
              </a:spcAft>
              <a:buFont typeface="Arial" panose="020B0604020202020204" pitchFamily="34" charset="0"/>
              <a:buChar char="•"/>
            </a:pPr>
            <a:r>
              <a:rPr lang="en-US" b="0" i="0" dirty="0">
                <a:solidFill>
                  <a:srgbClr val="3A3A3A"/>
                </a:solidFill>
                <a:effectLst/>
                <a:latin typeface="Roboto" panose="02000000000000000000" pitchFamily="2" charset="0"/>
              </a:rPr>
              <a:t>email – for email addresses</a:t>
            </a:r>
          </a:p>
          <a:p>
            <a:pPr algn="just">
              <a:lnSpc>
                <a:spcPts val="2100"/>
              </a:lnSpc>
              <a:spcBef>
                <a:spcPts val="750"/>
              </a:spcBef>
              <a:spcAft>
                <a:spcPts val="600"/>
              </a:spcAft>
              <a:buFont typeface="Arial" panose="020B0604020202020204" pitchFamily="34" charset="0"/>
              <a:buChar char="•"/>
            </a:pPr>
            <a:r>
              <a:rPr lang="en-US" b="0" i="0" dirty="0">
                <a:solidFill>
                  <a:srgbClr val="3A3A3A"/>
                </a:solidFill>
                <a:effectLst/>
                <a:latin typeface="Roboto" panose="02000000000000000000" pitchFamily="2" charset="0"/>
              </a:rPr>
              <a:t>password – hides the text</a:t>
            </a:r>
          </a:p>
          <a:p>
            <a:pPr algn="just">
              <a:lnSpc>
                <a:spcPts val="2100"/>
              </a:lnSpc>
              <a:spcBef>
                <a:spcPts val="750"/>
              </a:spcBef>
              <a:spcAft>
                <a:spcPts val="600"/>
              </a:spcAft>
              <a:buFont typeface="Arial" panose="020B0604020202020204" pitchFamily="34" charset="0"/>
              <a:buChar char="•"/>
            </a:pPr>
            <a:r>
              <a:rPr lang="en-US" b="0" i="0" dirty="0">
                <a:solidFill>
                  <a:srgbClr val="3A3A3A"/>
                </a:solidFill>
                <a:effectLst/>
                <a:latin typeface="Roboto" panose="02000000000000000000" pitchFamily="2" charset="0"/>
              </a:rPr>
              <a:t>checkbox – for multiple selections</a:t>
            </a:r>
          </a:p>
          <a:p>
            <a:pPr algn="just">
              <a:lnSpc>
                <a:spcPts val="2100"/>
              </a:lnSpc>
              <a:spcBef>
                <a:spcPts val="750"/>
              </a:spcBef>
              <a:spcAft>
                <a:spcPts val="600"/>
              </a:spcAft>
              <a:buFont typeface="Arial" panose="020B0604020202020204" pitchFamily="34" charset="0"/>
              <a:buChar char="•"/>
            </a:pPr>
            <a:r>
              <a:rPr lang="en-US" b="0" i="0" dirty="0">
                <a:solidFill>
                  <a:srgbClr val="3A3A3A"/>
                </a:solidFill>
                <a:effectLst/>
                <a:latin typeface="Roboto" panose="02000000000000000000" pitchFamily="2" charset="0"/>
              </a:rPr>
              <a:t>radio – for single selection</a:t>
            </a:r>
          </a:p>
          <a:p>
            <a:pPr algn="just">
              <a:lnSpc>
                <a:spcPts val="2100"/>
              </a:lnSpc>
              <a:spcBef>
                <a:spcPts val="750"/>
              </a:spcBef>
              <a:spcAft>
                <a:spcPts val="600"/>
              </a:spcAft>
              <a:buFont typeface="Arial" panose="020B0604020202020204" pitchFamily="34" charset="0"/>
              <a:buChar char="•"/>
            </a:pPr>
            <a:r>
              <a:rPr lang="en-US" b="0" i="0" dirty="0">
                <a:solidFill>
                  <a:srgbClr val="3A3A3A"/>
                </a:solidFill>
                <a:effectLst/>
                <a:latin typeface="Roboto" panose="02000000000000000000" pitchFamily="2" charset="0"/>
              </a:rPr>
              <a:t>submit – to send the form</a:t>
            </a:r>
          </a:p>
          <a:p>
            <a:pPr algn="just">
              <a:lnSpc>
                <a:spcPts val="2100"/>
              </a:lnSpc>
              <a:spcBef>
                <a:spcPts val="750"/>
              </a:spcBef>
              <a:spcAft>
                <a:spcPts val="600"/>
              </a:spcAft>
              <a:buFont typeface="Arial" panose="020B0604020202020204" pitchFamily="34" charset="0"/>
              <a:buChar char="•"/>
            </a:pPr>
            <a:r>
              <a:rPr lang="en-US" b="0" i="0" dirty="0">
                <a:solidFill>
                  <a:srgbClr val="3A3A3A"/>
                </a:solidFill>
                <a:effectLst/>
                <a:latin typeface="Roboto" panose="02000000000000000000" pitchFamily="2" charset="0"/>
              </a:rPr>
              <a:t>button – a general button</a:t>
            </a:r>
          </a:p>
          <a:p>
            <a:pPr algn="just">
              <a:lnSpc>
                <a:spcPts val="2100"/>
              </a:lnSpc>
              <a:spcBef>
                <a:spcPts val="750"/>
              </a:spcBef>
              <a:spcAft>
                <a:spcPts val="600"/>
              </a:spcAft>
              <a:buFont typeface="Arial" panose="020B0604020202020204" pitchFamily="34" charset="0"/>
              <a:buChar char="•"/>
            </a:pPr>
            <a:r>
              <a:rPr lang="en-US" b="0" i="0" dirty="0">
                <a:solidFill>
                  <a:srgbClr val="3A3A3A"/>
                </a:solidFill>
                <a:effectLst/>
                <a:latin typeface="Roboto" panose="02000000000000000000" pitchFamily="2" charset="0"/>
              </a:rPr>
              <a:t>file – to upload files</a:t>
            </a:r>
          </a:p>
          <a:p>
            <a:pPr algn="just">
              <a:lnSpc>
                <a:spcPts val="2100"/>
              </a:lnSpc>
              <a:spcBef>
                <a:spcPts val="750"/>
              </a:spcBef>
              <a:spcAft>
                <a:spcPts val="600"/>
              </a:spcAft>
              <a:buFont typeface="Arial" panose="020B0604020202020204" pitchFamily="34" charset="0"/>
              <a:buChar char="•"/>
            </a:pPr>
            <a:r>
              <a:rPr lang="en-US" b="0" i="0" dirty="0">
                <a:solidFill>
                  <a:srgbClr val="3A3A3A"/>
                </a:solidFill>
                <a:effectLst/>
                <a:latin typeface="Roboto" panose="02000000000000000000" pitchFamily="2" charset="0"/>
              </a:rPr>
              <a:t>date – for selecting a date</a:t>
            </a:r>
          </a:p>
          <a:p>
            <a:pPr algn="just">
              <a:lnSpc>
                <a:spcPts val="2100"/>
              </a:lnSpc>
              <a:spcBef>
                <a:spcPts val="1650"/>
              </a:spcBef>
              <a:buNone/>
            </a:pPr>
            <a:r>
              <a:rPr lang="en-US" b="0" i="0" dirty="0">
                <a:solidFill>
                  <a:srgbClr val="3A3A3A"/>
                </a:solidFill>
                <a:effectLst/>
                <a:latin typeface="Roboto" panose="02000000000000000000" pitchFamily="2" charset="0"/>
              </a:rPr>
              <a:t>Example:</a:t>
            </a:r>
          </a:p>
          <a:p>
            <a:pPr algn="l">
              <a:spcBef>
                <a:spcPts val="1125"/>
              </a:spcBef>
              <a:spcAft>
                <a:spcPts val="375"/>
              </a:spcAft>
              <a:buNone/>
            </a:pPr>
            <a:r>
              <a:rPr lang="en-US" b="0" i="0" dirty="0">
                <a:solidFill>
                  <a:srgbClr val="212529"/>
                </a:solidFill>
                <a:effectLst/>
                <a:latin typeface="Courier New" panose="02070309020205020404" pitchFamily="49" charset="0"/>
              </a:rPr>
              <a:t>&lt;input type="email" name="</a:t>
            </a:r>
            <a:r>
              <a:rPr lang="en-US" b="0" i="0" dirty="0" err="1">
                <a:solidFill>
                  <a:srgbClr val="212529"/>
                </a:solidFill>
                <a:effectLst/>
                <a:latin typeface="Courier New" panose="02070309020205020404" pitchFamily="49" charset="0"/>
              </a:rPr>
              <a:t>useremail</a:t>
            </a:r>
            <a:r>
              <a:rPr lang="en-US" b="0" i="0" dirty="0">
                <a:solidFill>
                  <a:srgbClr val="212529"/>
                </a:solidFill>
                <a:effectLst/>
                <a:latin typeface="Courier New" panose="02070309020205020404" pitchFamily="49" charset="0"/>
              </a:rPr>
              <a:t>"&gt;</a:t>
            </a:r>
          </a:p>
          <a:p>
            <a:pPr algn="l">
              <a:spcBef>
                <a:spcPts val="1125"/>
              </a:spcBef>
              <a:spcAft>
                <a:spcPts val="375"/>
              </a:spcAft>
              <a:buNone/>
            </a:pPr>
            <a:endParaRPr lang="en-US" b="0" i="0" dirty="0">
              <a:solidFill>
                <a:srgbClr val="212529"/>
              </a:solidFill>
              <a:effectLst/>
              <a:latin typeface="Courier New" panose="02070309020205020404" pitchFamily="49" charset="0"/>
            </a:endParaRPr>
          </a:p>
          <a:p>
            <a:pPr algn="l">
              <a:spcBef>
                <a:spcPts val="1125"/>
              </a:spcBef>
              <a:spcAft>
                <a:spcPts val="375"/>
              </a:spcAft>
              <a:buNone/>
            </a:pPr>
            <a:r>
              <a:rPr lang="en-US" b="0" i="0" dirty="0">
                <a:solidFill>
                  <a:srgbClr val="212529"/>
                </a:solidFill>
                <a:effectLst/>
                <a:latin typeface="Courier New" panose="02070309020205020404" pitchFamily="49" charset="0"/>
              </a:rPr>
              <a:t>&lt;input type="checkbox" name="subscribe"&gt;</a:t>
            </a:r>
          </a:p>
        </p:txBody>
      </p:sp>
    </p:spTree>
    <p:extLst>
      <p:ext uri="{BB962C8B-B14F-4D97-AF65-F5344CB8AC3E}">
        <p14:creationId xmlns:p14="http://schemas.microsoft.com/office/powerpoint/2010/main" val="262361355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F93A60-7F4A-4075-E419-85EE761A0B16}"/>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7F183C73-FFFA-8A16-375A-9DB3CDBD6D3A}"/>
              </a:ext>
            </a:extLst>
          </p:cNvPr>
          <p:cNvSpPr txBox="1"/>
          <p:nvPr/>
        </p:nvSpPr>
        <p:spPr>
          <a:xfrm>
            <a:off x="2477069" y="168698"/>
            <a:ext cx="4954136" cy="6527428"/>
          </a:xfrm>
          <a:prstGeom prst="rect">
            <a:avLst/>
          </a:prstGeom>
          <a:noFill/>
        </p:spPr>
        <p:txBody>
          <a:bodyPr wrap="square">
            <a:spAutoFit/>
          </a:bodyPr>
          <a:lstStyle/>
          <a:p>
            <a:pPr algn="l">
              <a:lnSpc>
                <a:spcPts val="2100"/>
              </a:lnSpc>
              <a:spcBef>
                <a:spcPts val="2400"/>
              </a:spcBef>
              <a:spcAft>
                <a:spcPts val="1800"/>
              </a:spcAft>
              <a:buNone/>
            </a:pPr>
            <a:r>
              <a:rPr lang="en-US" b="0" i="0" dirty="0">
                <a:solidFill>
                  <a:srgbClr val="272C37"/>
                </a:solidFill>
                <a:effectLst/>
                <a:latin typeface="Roboto" panose="02000000000000000000" pitchFamily="2" charset="0"/>
              </a:rPr>
              <a:t>47. What is the difference between link tag &lt;link&gt; and anchor tag &lt;a&gt;?</a:t>
            </a:r>
          </a:p>
          <a:p>
            <a:pPr algn="just">
              <a:lnSpc>
                <a:spcPts val="2100"/>
              </a:lnSpc>
              <a:spcBef>
                <a:spcPts val="1650"/>
              </a:spcBef>
              <a:spcAft>
                <a:spcPts val="600"/>
              </a:spcAft>
              <a:buFont typeface="Arial" panose="020B0604020202020204" pitchFamily="34" charset="0"/>
              <a:buChar char="•"/>
            </a:pPr>
            <a:r>
              <a:rPr lang="en-US" b="0" i="0" dirty="0">
                <a:solidFill>
                  <a:srgbClr val="3A3A3A"/>
                </a:solidFill>
                <a:effectLst/>
                <a:latin typeface="Roboto" panose="02000000000000000000" pitchFamily="2" charset="0"/>
              </a:rPr>
              <a:t>&lt;link&gt; is used in the &lt;head&gt; to link external files, like CSS.</a:t>
            </a:r>
          </a:p>
          <a:p>
            <a:pPr algn="just">
              <a:lnSpc>
                <a:spcPts val="2100"/>
              </a:lnSpc>
              <a:spcBef>
                <a:spcPts val="1650"/>
              </a:spcBef>
              <a:spcAft>
                <a:spcPts val="600"/>
              </a:spcAft>
              <a:buFont typeface="Arial" panose="020B0604020202020204" pitchFamily="34" charset="0"/>
              <a:buChar char="•"/>
            </a:pPr>
            <a:r>
              <a:rPr lang="en-US" b="0" i="0" dirty="0">
                <a:solidFill>
                  <a:srgbClr val="3A3A3A"/>
                </a:solidFill>
                <a:effectLst/>
                <a:latin typeface="Roboto" panose="02000000000000000000" pitchFamily="2" charset="0"/>
              </a:rPr>
              <a:t>&lt;a&gt; is used in the body to create clickable links.</a:t>
            </a:r>
          </a:p>
          <a:p>
            <a:pPr algn="just">
              <a:lnSpc>
                <a:spcPts val="2100"/>
              </a:lnSpc>
              <a:spcBef>
                <a:spcPts val="1650"/>
              </a:spcBef>
              <a:buNone/>
            </a:pPr>
            <a:r>
              <a:rPr lang="en-US" b="0" i="0" dirty="0">
                <a:solidFill>
                  <a:srgbClr val="3A3A3A"/>
                </a:solidFill>
                <a:effectLst/>
                <a:latin typeface="Roboto" panose="02000000000000000000" pitchFamily="2" charset="0"/>
              </a:rPr>
              <a:t>Example:</a:t>
            </a:r>
          </a:p>
          <a:p>
            <a:pPr algn="l">
              <a:spcBef>
                <a:spcPts val="1125"/>
              </a:spcBef>
              <a:spcAft>
                <a:spcPts val="375"/>
              </a:spcAft>
              <a:buNone/>
            </a:pPr>
            <a:r>
              <a:rPr lang="en-US" b="0" i="0" dirty="0">
                <a:solidFill>
                  <a:srgbClr val="212529"/>
                </a:solidFill>
                <a:effectLst/>
                <a:latin typeface="Courier New" panose="02070309020205020404" pitchFamily="49" charset="0"/>
              </a:rPr>
              <a:t>&lt;!-- link tag --&gt;</a:t>
            </a:r>
          </a:p>
          <a:p>
            <a:pPr algn="l">
              <a:spcBef>
                <a:spcPts val="1125"/>
              </a:spcBef>
              <a:spcAft>
                <a:spcPts val="375"/>
              </a:spcAft>
              <a:buNone/>
            </a:pPr>
            <a:endParaRPr lang="en-US" b="0" i="0" dirty="0">
              <a:solidFill>
                <a:srgbClr val="212529"/>
              </a:solidFill>
              <a:effectLst/>
              <a:latin typeface="Courier New" panose="02070309020205020404" pitchFamily="49" charset="0"/>
            </a:endParaRPr>
          </a:p>
          <a:p>
            <a:pPr algn="l">
              <a:spcBef>
                <a:spcPts val="1125"/>
              </a:spcBef>
              <a:spcAft>
                <a:spcPts val="375"/>
              </a:spcAft>
              <a:buNone/>
            </a:pPr>
            <a:r>
              <a:rPr lang="en-US" b="0" i="0" dirty="0">
                <a:solidFill>
                  <a:srgbClr val="212529"/>
                </a:solidFill>
                <a:effectLst/>
                <a:latin typeface="Courier New" panose="02070309020205020404" pitchFamily="49" charset="0"/>
              </a:rPr>
              <a:t>&lt;link </a:t>
            </a:r>
            <a:r>
              <a:rPr lang="en-US" b="0" i="0" dirty="0" err="1">
                <a:solidFill>
                  <a:srgbClr val="212529"/>
                </a:solidFill>
                <a:effectLst/>
                <a:latin typeface="Courier New" panose="02070309020205020404" pitchFamily="49" charset="0"/>
              </a:rPr>
              <a:t>rel</a:t>
            </a:r>
            <a:r>
              <a:rPr lang="en-US" b="0" i="0" dirty="0">
                <a:solidFill>
                  <a:srgbClr val="212529"/>
                </a:solidFill>
                <a:effectLst/>
                <a:latin typeface="Courier New" panose="02070309020205020404" pitchFamily="49" charset="0"/>
              </a:rPr>
              <a:t>="stylesheet" </a:t>
            </a:r>
            <a:r>
              <a:rPr lang="en-US" b="0" i="0" dirty="0" err="1">
                <a:solidFill>
                  <a:srgbClr val="212529"/>
                </a:solidFill>
                <a:effectLst/>
                <a:latin typeface="Courier New" panose="02070309020205020404" pitchFamily="49" charset="0"/>
              </a:rPr>
              <a:t>href</a:t>
            </a:r>
            <a:r>
              <a:rPr lang="en-US" b="0" i="0" dirty="0">
                <a:solidFill>
                  <a:srgbClr val="212529"/>
                </a:solidFill>
                <a:effectLst/>
                <a:latin typeface="Courier New" panose="02070309020205020404" pitchFamily="49" charset="0"/>
              </a:rPr>
              <a:t>="style.css"&gt;</a:t>
            </a:r>
          </a:p>
          <a:p>
            <a:pPr algn="l">
              <a:spcBef>
                <a:spcPts val="1125"/>
              </a:spcBef>
              <a:spcAft>
                <a:spcPts val="375"/>
              </a:spcAft>
              <a:buNone/>
            </a:pPr>
            <a:endParaRPr lang="en-US" b="0" i="0" dirty="0">
              <a:solidFill>
                <a:srgbClr val="212529"/>
              </a:solidFill>
              <a:effectLst/>
              <a:latin typeface="Courier New" panose="02070309020205020404" pitchFamily="49" charset="0"/>
            </a:endParaRPr>
          </a:p>
          <a:p>
            <a:pPr algn="l">
              <a:spcBef>
                <a:spcPts val="1125"/>
              </a:spcBef>
              <a:spcAft>
                <a:spcPts val="375"/>
              </a:spcAft>
              <a:buNone/>
            </a:pPr>
            <a:r>
              <a:rPr lang="en-US" b="0" i="0" dirty="0">
                <a:solidFill>
                  <a:srgbClr val="212529"/>
                </a:solidFill>
                <a:effectLst/>
                <a:latin typeface="Courier New" panose="02070309020205020404" pitchFamily="49" charset="0"/>
              </a:rPr>
              <a:t>&lt;!-- anchor tag --&gt;</a:t>
            </a:r>
          </a:p>
          <a:p>
            <a:pPr algn="l">
              <a:spcBef>
                <a:spcPts val="1125"/>
              </a:spcBef>
              <a:spcAft>
                <a:spcPts val="375"/>
              </a:spcAft>
              <a:buNone/>
            </a:pPr>
            <a:endParaRPr lang="en-US" b="0" i="0" dirty="0">
              <a:solidFill>
                <a:srgbClr val="212529"/>
              </a:solidFill>
              <a:effectLst/>
              <a:latin typeface="Courier New" panose="02070309020205020404" pitchFamily="49" charset="0"/>
            </a:endParaRPr>
          </a:p>
          <a:p>
            <a:pPr algn="l">
              <a:spcBef>
                <a:spcPts val="1125"/>
              </a:spcBef>
              <a:spcAft>
                <a:spcPts val="375"/>
              </a:spcAft>
              <a:buNone/>
            </a:pPr>
            <a:r>
              <a:rPr lang="en-US" b="0" i="0" dirty="0">
                <a:solidFill>
                  <a:srgbClr val="212529"/>
                </a:solidFill>
                <a:effectLst/>
                <a:latin typeface="Courier New" panose="02070309020205020404" pitchFamily="49" charset="0"/>
              </a:rPr>
              <a:t>&lt;a </a:t>
            </a:r>
            <a:r>
              <a:rPr lang="en-US" b="0" i="0" dirty="0" err="1">
                <a:solidFill>
                  <a:srgbClr val="212529"/>
                </a:solidFill>
                <a:effectLst/>
                <a:latin typeface="Courier New" panose="02070309020205020404" pitchFamily="49" charset="0"/>
              </a:rPr>
              <a:t>href</a:t>
            </a:r>
            <a:r>
              <a:rPr lang="en-US" b="0" i="0" dirty="0">
                <a:solidFill>
                  <a:srgbClr val="212529"/>
                </a:solidFill>
                <a:effectLst/>
                <a:latin typeface="Courier New" panose="02070309020205020404" pitchFamily="49" charset="0"/>
              </a:rPr>
              <a:t>="page.html"&gt;Go to Page&lt;/a&gt;</a:t>
            </a:r>
          </a:p>
        </p:txBody>
      </p:sp>
    </p:spTree>
    <p:extLst>
      <p:ext uri="{BB962C8B-B14F-4D97-AF65-F5344CB8AC3E}">
        <p14:creationId xmlns:p14="http://schemas.microsoft.com/office/powerpoint/2010/main" val="100818833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D2FCAA-5208-4115-0033-78F3F505C61C}"/>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BD7810B9-4DF9-E627-9513-989FF5AFBB4A}"/>
              </a:ext>
            </a:extLst>
          </p:cNvPr>
          <p:cNvSpPr txBox="1"/>
          <p:nvPr/>
        </p:nvSpPr>
        <p:spPr>
          <a:xfrm>
            <a:off x="2477069" y="-516105"/>
            <a:ext cx="4954136" cy="7897034"/>
          </a:xfrm>
          <a:prstGeom prst="rect">
            <a:avLst/>
          </a:prstGeom>
          <a:noFill/>
        </p:spPr>
        <p:txBody>
          <a:bodyPr wrap="square">
            <a:spAutoFit/>
          </a:bodyPr>
          <a:lstStyle/>
          <a:p>
            <a:pPr algn="l">
              <a:lnSpc>
                <a:spcPts val="2100"/>
              </a:lnSpc>
              <a:spcBef>
                <a:spcPts val="2400"/>
              </a:spcBef>
              <a:spcAft>
                <a:spcPts val="1800"/>
              </a:spcAft>
              <a:buNone/>
            </a:pPr>
            <a:r>
              <a:rPr lang="en-US" b="0" i="0" dirty="0">
                <a:solidFill>
                  <a:srgbClr val="272C37"/>
                </a:solidFill>
                <a:effectLst/>
                <a:latin typeface="Roboto" panose="02000000000000000000" pitchFamily="2" charset="0"/>
              </a:rPr>
              <a:t>48. When to use scripts in the head and when to use scripts in the body?</a:t>
            </a:r>
          </a:p>
          <a:p>
            <a:pPr algn="just">
              <a:lnSpc>
                <a:spcPts val="2100"/>
              </a:lnSpc>
              <a:spcBef>
                <a:spcPts val="1650"/>
              </a:spcBef>
              <a:spcAft>
                <a:spcPts val="600"/>
              </a:spcAft>
              <a:buFont typeface="Arial" panose="020B0604020202020204" pitchFamily="34" charset="0"/>
              <a:buChar char="•"/>
            </a:pPr>
            <a:r>
              <a:rPr lang="en-US" b="0" i="0" dirty="0">
                <a:solidFill>
                  <a:srgbClr val="3A3A3A"/>
                </a:solidFill>
                <a:effectLst/>
                <a:latin typeface="Roboto" panose="02000000000000000000" pitchFamily="2" charset="0"/>
              </a:rPr>
              <a:t>Use scripts in the head if they need to load before the page content (e.g., libraries or page settings).</a:t>
            </a:r>
          </a:p>
          <a:p>
            <a:pPr algn="just">
              <a:lnSpc>
                <a:spcPts val="2100"/>
              </a:lnSpc>
              <a:spcBef>
                <a:spcPts val="1650"/>
              </a:spcBef>
              <a:spcAft>
                <a:spcPts val="600"/>
              </a:spcAft>
              <a:buFont typeface="Arial" panose="020B0604020202020204" pitchFamily="34" charset="0"/>
              <a:buChar char="•"/>
            </a:pPr>
            <a:r>
              <a:rPr lang="en-US" b="0" i="0" dirty="0">
                <a:solidFill>
                  <a:srgbClr val="3A3A3A"/>
                </a:solidFill>
                <a:effectLst/>
                <a:latin typeface="Roboto" panose="02000000000000000000" pitchFamily="2" charset="0"/>
              </a:rPr>
              <a:t>Use scripts at the end of the body if they interact with page elements, so everything loads first.</a:t>
            </a:r>
          </a:p>
          <a:p>
            <a:pPr algn="just">
              <a:lnSpc>
                <a:spcPts val="2100"/>
              </a:lnSpc>
              <a:spcBef>
                <a:spcPts val="1650"/>
              </a:spcBef>
              <a:buNone/>
            </a:pPr>
            <a:r>
              <a:rPr lang="en-US" b="0" i="0" dirty="0">
                <a:solidFill>
                  <a:srgbClr val="3A3A3A"/>
                </a:solidFill>
                <a:effectLst/>
                <a:latin typeface="Roboto" panose="02000000000000000000" pitchFamily="2" charset="0"/>
              </a:rPr>
              <a:t>Best practice: Place scripts at the end of &lt;body&gt; for better performance.</a:t>
            </a:r>
          </a:p>
          <a:p>
            <a:pPr algn="l">
              <a:lnSpc>
                <a:spcPts val="2100"/>
              </a:lnSpc>
              <a:spcBef>
                <a:spcPts val="2400"/>
              </a:spcBef>
              <a:spcAft>
                <a:spcPts val="1800"/>
              </a:spcAft>
              <a:buNone/>
            </a:pPr>
            <a:r>
              <a:rPr lang="en-US" b="0" i="0" dirty="0">
                <a:solidFill>
                  <a:srgbClr val="272C37"/>
                </a:solidFill>
                <a:effectLst/>
                <a:latin typeface="Roboto" panose="02000000000000000000" pitchFamily="2" charset="0"/>
              </a:rPr>
              <a:t>49. What is the advantage of collapsing white space?</a:t>
            </a:r>
          </a:p>
          <a:p>
            <a:pPr algn="just">
              <a:lnSpc>
                <a:spcPts val="2100"/>
              </a:lnSpc>
              <a:spcBef>
                <a:spcPts val="1650"/>
              </a:spcBef>
              <a:buNone/>
            </a:pPr>
            <a:r>
              <a:rPr lang="en-US" b="0" i="0" dirty="0">
                <a:solidFill>
                  <a:srgbClr val="3A3A3A"/>
                </a:solidFill>
                <a:effectLst/>
                <a:latin typeface="Roboto" panose="02000000000000000000" pitchFamily="2" charset="0"/>
              </a:rPr>
              <a:t>In HTML, extra spaces, tabs, or line breaks are automatically reduced to a single space. This makes code easier to write and cleaner to display.</a:t>
            </a:r>
          </a:p>
          <a:p>
            <a:pPr algn="just">
              <a:lnSpc>
                <a:spcPts val="2100"/>
              </a:lnSpc>
              <a:spcBef>
                <a:spcPts val="750"/>
              </a:spcBef>
              <a:buNone/>
            </a:pPr>
            <a:r>
              <a:rPr lang="en-US" b="0" i="0" dirty="0">
                <a:solidFill>
                  <a:srgbClr val="3A3A3A"/>
                </a:solidFill>
                <a:effectLst/>
                <a:latin typeface="Roboto" panose="02000000000000000000" pitchFamily="2" charset="0"/>
              </a:rPr>
              <a:t>Example:</a:t>
            </a:r>
          </a:p>
          <a:p>
            <a:pPr algn="l">
              <a:spcBef>
                <a:spcPts val="1125"/>
              </a:spcBef>
              <a:spcAft>
                <a:spcPts val="375"/>
              </a:spcAft>
              <a:buNone/>
            </a:pPr>
            <a:r>
              <a:rPr lang="en-US" b="0" i="0" dirty="0">
                <a:solidFill>
                  <a:srgbClr val="212529"/>
                </a:solidFill>
                <a:effectLst/>
                <a:latin typeface="Courier New" panose="02070309020205020404" pitchFamily="49" charset="0"/>
              </a:rPr>
              <a:t>&lt;p&gt;This       is     spaced&lt;/p&gt;</a:t>
            </a:r>
          </a:p>
          <a:p>
            <a:pPr algn="just">
              <a:lnSpc>
                <a:spcPts val="2100"/>
              </a:lnSpc>
              <a:spcBef>
                <a:spcPts val="1650"/>
              </a:spcBef>
              <a:buNone/>
            </a:pPr>
            <a:r>
              <a:rPr lang="en-US" b="0" i="0" dirty="0">
                <a:solidFill>
                  <a:srgbClr val="3A3A3A"/>
                </a:solidFill>
                <a:effectLst/>
                <a:latin typeface="Roboto" panose="02000000000000000000" pitchFamily="2" charset="0"/>
              </a:rPr>
              <a:t>Will show as:</a:t>
            </a:r>
          </a:p>
          <a:p>
            <a:pPr algn="just">
              <a:lnSpc>
                <a:spcPts val="2100"/>
              </a:lnSpc>
              <a:spcBef>
                <a:spcPts val="750"/>
              </a:spcBef>
              <a:buNone/>
            </a:pPr>
            <a:r>
              <a:rPr lang="en-US" b="0" i="0" dirty="0">
                <a:solidFill>
                  <a:srgbClr val="3A3A3A"/>
                </a:solidFill>
                <a:effectLst/>
                <a:latin typeface="Roboto" panose="02000000000000000000" pitchFamily="2" charset="0"/>
              </a:rPr>
              <a:t>“This is spaced”</a:t>
            </a:r>
          </a:p>
        </p:txBody>
      </p:sp>
    </p:spTree>
    <p:extLst>
      <p:ext uri="{BB962C8B-B14F-4D97-AF65-F5344CB8AC3E}">
        <p14:creationId xmlns:p14="http://schemas.microsoft.com/office/powerpoint/2010/main" val="233578140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3C0856-9563-310D-DEF0-85E9C971EA8A}"/>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1ECB75A5-46C0-CF76-FF45-EDE84083F8D7}"/>
              </a:ext>
            </a:extLst>
          </p:cNvPr>
          <p:cNvSpPr txBox="1"/>
          <p:nvPr/>
        </p:nvSpPr>
        <p:spPr>
          <a:xfrm>
            <a:off x="2477069" y="-185245"/>
            <a:ext cx="4954136" cy="7235314"/>
          </a:xfrm>
          <a:prstGeom prst="rect">
            <a:avLst/>
          </a:prstGeom>
          <a:noFill/>
        </p:spPr>
        <p:txBody>
          <a:bodyPr wrap="square">
            <a:spAutoFit/>
          </a:bodyPr>
          <a:lstStyle/>
          <a:p>
            <a:pPr algn="l">
              <a:lnSpc>
                <a:spcPts val="2100"/>
              </a:lnSpc>
              <a:spcBef>
                <a:spcPts val="2400"/>
              </a:spcBef>
              <a:spcAft>
                <a:spcPts val="1800"/>
              </a:spcAft>
              <a:buNone/>
            </a:pPr>
            <a:r>
              <a:rPr lang="en-US" b="0" i="0" dirty="0">
                <a:solidFill>
                  <a:srgbClr val="272C37"/>
                </a:solidFill>
                <a:effectLst/>
                <a:latin typeface="Roboto" panose="02000000000000000000" pitchFamily="2" charset="0"/>
              </a:rPr>
              <a:t>50. What exactly does a &lt;meta&gt; tag signify?</a:t>
            </a:r>
          </a:p>
          <a:p>
            <a:pPr algn="just">
              <a:lnSpc>
                <a:spcPts val="2100"/>
              </a:lnSpc>
              <a:spcBef>
                <a:spcPts val="1650"/>
              </a:spcBef>
              <a:buNone/>
            </a:pPr>
            <a:r>
              <a:rPr lang="en-US" b="0" i="0" dirty="0">
                <a:solidFill>
                  <a:srgbClr val="3A3A3A"/>
                </a:solidFill>
                <a:effectLst/>
                <a:latin typeface="Roboto" panose="02000000000000000000" pitchFamily="2" charset="0"/>
              </a:rPr>
              <a:t>A &lt;meta&gt; tag is used to insert meta-information in HTML documents, such as page descriptions, keywords, authors, and character sets. With all the above info, search engines and browsers can accept services that will present a page.</a:t>
            </a:r>
          </a:p>
          <a:p>
            <a:pPr algn="l">
              <a:lnSpc>
                <a:spcPts val="2550"/>
              </a:lnSpc>
              <a:spcBef>
                <a:spcPts val="3000"/>
              </a:spcBef>
              <a:buNone/>
            </a:pPr>
            <a:r>
              <a:rPr lang="en-US" b="0" i="0" dirty="0">
                <a:solidFill>
                  <a:srgbClr val="272C37"/>
                </a:solidFill>
                <a:effectLst/>
                <a:latin typeface="Roboto" panose="02000000000000000000" pitchFamily="2" charset="0"/>
              </a:rPr>
              <a:t>Advanced HTML Interview Questions</a:t>
            </a:r>
          </a:p>
          <a:p>
            <a:pPr algn="l">
              <a:lnSpc>
                <a:spcPts val="2100"/>
              </a:lnSpc>
              <a:spcBef>
                <a:spcPts val="2400"/>
              </a:spcBef>
              <a:spcAft>
                <a:spcPts val="1800"/>
              </a:spcAft>
              <a:buNone/>
            </a:pPr>
            <a:r>
              <a:rPr lang="en-US" b="0" i="0" dirty="0">
                <a:solidFill>
                  <a:srgbClr val="272C37"/>
                </a:solidFill>
                <a:effectLst/>
                <a:latin typeface="Roboto" panose="02000000000000000000" pitchFamily="2" charset="0"/>
              </a:rPr>
              <a:t>51. What is a viewport? How do you set a viewport in an HTML document?</a:t>
            </a:r>
          </a:p>
          <a:p>
            <a:pPr algn="just">
              <a:lnSpc>
                <a:spcPts val="2100"/>
              </a:lnSpc>
              <a:spcBef>
                <a:spcPts val="1650"/>
              </a:spcBef>
              <a:buNone/>
            </a:pPr>
            <a:r>
              <a:rPr lang="en-US" b="0" i="0" dirty="0">
                <a:solidFill>
                  <a:srgbClr val="3A3A3A"/>
                </a:solidFill>
                <a:effectLst/>
                <a:latin typeface="Roboto" panose="02000000000000000000" pitchFamily="2" charset="0"/>
              </a:rPr>
              <a:t>The viewport is that area of the web page that is actually visible on the screen of a particular device. It specifies the location along with the area that is going to display a page’s content and its corresponding size. </a:t>
            </a:r>
          </a:p>
          <a:p>
            <a:pPr algn="just">
              <a:lnSpc>
                <a:spcPts val="2100"/>
              </a:lnSpc>
              <a:spcBef>
                <a:spcPts val="750"/>
              </a:spcBef>
              <a:buNone/>
            </a:pPr>
            <a:r>
              <a:rPr lang="en-US" b="0" i="0" dirty="0">
                <a:solidFill>
                  <a:srgbClr val="3A3A3A"/>
                </a:solidFill>
                <a:effectLst/>
                <a:latin typeface="Roboto" panose="02000000000000000000" pitchFamily="2" charset="0"/>
              </a:rPr>
              <a:t>The viewport is set within the HTML document by placing the &lt;meta&gt; tag with the name=”viewport” attribute. This particular tag is situated within the head part of the HTML code of the document.</a:t>
            </a:r>
          </a:p>
        </p:txBody>
      </p:sp>
    </p:spTree>
    <p:extLst>
      <p:ext uri="{BB962C8B-B14F-4D97-AF65-F5344CB8AC3E}">
        <p14:creationId xmlns:p14="http://schemas.microsoft.com/office/powerpoint/2010/main" val="272648387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33E893-EB80-1190-5E28-1A084D7EEC17}"/>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E3701DB6-C8A6-B602-2C4C-1AF9D242AE0E}"/>
              </a:ext>
            </a:extLst>
          </p:cNvPr>
          <p:cNvSpPr txBox="1"/>
          <p:nvPr/>
        </p:nvSpPr>
        <p:spPr>
          <a:xfrm>
            <a:off x="2477069" y="-1398397"/>
            <a:ext cx="4954136" cy="9661619"/>
          </a:xfrm>
          <a:prstGeom prst="rect">
            <a:avLst/>
          </a:prstGeom>
          <a:noFill/>
        </p:spPr>
        <p:txBody>
          <a:bodyPr wrap="square">
            <a:spAutoFit/>
          </a:bodyPr>
          <a:lstStyle/>
          <a:p>
            <a:pPr algn="l">
              <a:lnSpc>
                <a:spcPts val="2100"/>
              </a:lnSpc>
              <a:spcBef>
                <a:spcPts val="2400"/>
              </a:spcBef>
              <a:spcAft>
                <a:spcPts val="1800"/>
              </a:spcAft>
              <a:buNone/>
            </a:pPr>
            <a:r>
              <a:rPr lang="en-US" b="0" i="0" dirty="0">
                <a:solidFill>
                  <a:srgbClr val="272C37"/>
                </a:solidFill>
                <a:effectLst/>
                <a:latin typeface="Roboto" panose="02000000000000000000" pitchFamily="2" charset="0"/>
              </a:rPr>
              <a:t>52. How to import a video or audio file in HTML?</a:t>
            </a:r>
          </a:p>
          <a:p>
            <a:pPr algn="just">
              <a:lnSpc>
                <a:spcPts val="2100"/>
              </a:lnSpc>
              <a:spcBef>
                <a:spcPts val="1650"/>
              </a:spcBef>
              <a:buNone/>
            </a:pPr>
            <a:r>
              <a:rPr lang="en-US" b="0" i="0" dirty="0">
                <a:solidFill>
                  <a:srgbClr val="3A3A3A"/>
                </a:solidFill>
                <a:effectLst/>
                <a:latin typeface="Roboto" panose="02000000000000000000" pitchFamily="2" charset="0"/>
              </a:rPr>
              <a:t>1. Embedding Video: A video file is embedded using the </a:t>
            </a:r>
            <a:r>
              <a:rPr lang="en-US" b="0" i="0" u="none" strike="noStrike" dirty="0">
                <a:solidFill>
                  <a:srgbClr val="0F5A9E"/>
                </a:solidFill>
                <a:effectLst/>
                <a:latin typeface="Roboto" panose="02000000000000000000" pitchFamily="2" charset="0"/>
                <a:hlinkClick r:id="rId2"/>
              </a:rPr>
              <a:t>&lt;video&gt; tag</a:t>
            </a:r>
            <a:r>
              <a:rPr lang="en-US" b="0" i="0" dirty="0">
                <a:solidFill>
                  <a:srgbClr val="3A3A3A"/>
                </a:solidFill>
                <a:effectLst/>
                <a:latin typeface="Roboto" panose="02000000000000000000" pitchFamily="2" charset="0"/>
              </a:rPr>
              <a:t>. To improve compatibility in different browsers, it is advisable to give a few video formats.</a:t>
            </a:r>
          </a:p>
          <a:p>
            <a:pPr algn="just">
              <a:lnSpc>
                <a:spcPts val="2100"/>
              </a:lnSpc>
              <a:spcBef>
                <a:spcPts val="750"/>
              </a:spcBef>
              <a:buNone/>
            </a:pPr>
            <a:r>
              <a:rPr lang="en-US" b="0" i="0" dirty="0">
                <a:solidFill>
                  <a:srgbClr val="3A3A3A"/>
                </a:solidFill>
                <a:effectLst/>
                <a:latin typeface="Roboto" panose="02000000000000000000" pitchFamily="2" charset="0"/>
              </a:rPr>
              <a:t>Example:</a:t>
            </a:r>
          </a:p>
          <a:p>
            <a:pPr algn="l">
              <a:spcBef>
                <a:spcPts val="1125"/>
              </a:spcBef>
              <a:spcAft>
                <a:spcPts val="375"/>
              </a:spcAft>
              <a:buNone/>
            </a:pPr>
            <a:r>
              <a:rPr lang="en-US" b="0" i="0" dirty="0">
                <a:solidFill>
                  <a:srgbClr val="212529"/>
                </a:solidFill>
                <a:effectLst/>
                <a:latin typeface="Courier New" panose="02070309020205020404" pitchFamily="49" charset="0"/>
              </a:rPr>
              <a:t>&lt;video controls&gt;</a:t>
            </a:r>
          </a:p>
          <a:p>
            <a:pPr algn="l">
              <a:spcBef>
                <a:spcPts val="1125"/>
              </a:spcBef>
              <a:spcAft>
                <a:spcPts val="375"/>
              </a:spcAft>
              <a:buNone/>
            </a:pPr>
            <a:endParaRPr lang="en-US" b="0" i="0" dirty="0">
              <a:solidFill>
                <a:srgbClr val="212529"/>
              </a:solidFill>
              <a:effectLst/>
              <a:latin typeface="Courier New" panose="02070309020205020404" pitchFamily="49" charset="0"/>
            </a:endParaRPr>
          </a:p>
          <a:p>
            <a:pPr algn="l">
              <a:spcBef>
                <a:spcPts val="1125"/>
              </a:spcBef>
              <a:spcAft>
                <a:spcPts val="375"/>
              </a:spcAft>
              <a:buNone/>
            </a:pPr>
            <a:r>
              <a:rPr lang="en-US" b="0" i="0" dirty="0">
                <a:solidFill>
                  <a:srgbClr val="212529"/>
                </a:solidFill>
                <a:effectLst/>
                <a:latin typeface="Courier New" panose="02070309020205020404" pitchFamily="49" charset="0"/>
              </a:rPr>
              <a:t>    &lt;source </a:t>
            </a:r>
            <a:r>
              <a:rPr lang="en-US" b="0" i="0" dirty="0" err="1">
                <a:solidFill>
                  <a:srgbClr val="212529"/>
                </a:solidFill>
                <a:effectLst/>
                <a:latin typeface="Courier New" panose="02070309020205020404" pitchFamily="49" charset="0"/>
              </a:rPr>
              <a:t>src</a:t>
            </a:r>
            <a:r>
              <a:rPr lang="en-US" b="0" i="0" dirty="0">
                <a:solidFill>
                  <a:srgbClr val="212529"/>
                </a:solidFill>
                <a:effectLst/>
                <a:latin typeface="Courier New" panose="02070309020205020404" pitchFamily="49" charset="0"/>
              </a:rPr>
              <a:t>="video.mp4" type="video/mp4"&gt;</a:t>
            </a:r>
          </a:p>
          <a:p>
            <a:pPr algn="l">
              <a:spcBef>
                <a:spcPts val="1125"/>
              </a:spcBef>
              <a:spcAft>
                <a:spcPts val="375"/>
              </a:spcAft>
              <a:buNone/>
            </a:pPr>
            <a:endParaRPr lang="en-US" b="0" i="0" dirty="0">
              <a:solidFill>
                <a:srgbClr val="212529"/>
              </a:solidFill>
              <a:effectLst/>
              <a:latin typeface="Courier New" panose="02070309020205020404" pitchFamily="49" charset="0"/>
            </a:endParaRPr>
          </a:p>
          <a:p>
            <a:pPr algn="l">
              <a:spcBef>
                <a:spcPts val="1125"/>
              </a:spcBef>
              <a:spcAft>
                <a:spcPts val="375"/>
              </a:spcAft>
              <a:buNone/>
            </a:pPr>
            <a:r>
              <a:rPr lang="en-US" b="0" i="0" dirty="0">
                <a:solidFill>
                  <a:srgbClr val="212529"/>
                </a:solidFill>
                <a:effectLst/>
                <a:latin typeface="Courier New" panose="02070309020205020404" pitchFamily="49" charset="0"/>
              </a:rPr>
              <a:t>&lt;/video&gt;</a:t>
            </a:r>
          </a:p>
          <a:p>
            <a:pPr algn="just">
              <a:lnSpc>
                <a:spcPts val="2100"/>
              </a:lnSpc>
              <a:spcBef>
                <a:spcPts val="1650"/>
              </a:spcBef>
              <a:buNone/>
            </a:pPr>
            <a:r>
              <a:rPr lang="en-US" b="0" i="0" dirty="0">
                <a:solidFill>
                  <a:srgbClr val="3A3A3A"/>
                </a:solidFill>
                <a:effectLst/>
                <a:latin typeface="Roboto" panose="02000000000000000000" pitchFamily="2" charset="0"/>
              </a:rPr>
              <a:t>2. Embedding Audio: Use the &lt;audio&gt; tag to embed an audio file.</a:t>
            </a:r>
          </a:p>
          <a:p>
            <a:pPr algn="just">
              <a:lnSpc>
                <a:spcPts val="2100"/>
              </a:lnSpc>
              <a:spcBef>
                <a:spcPts val="750"/>
              </a:spcBef>
              <a:buNone/>
            </a:pPr>
            <a:r>
              <a:rPr lang="en-US" b="0" i="0" dirty="0">
                <a:solidFill>
                  <a:srgbClr val="3A3A3A"/>
                </a:solidFill>
                <a:effectLst/>
                <a:latin typeface="Roboto" panose="02000000000000000000" pitchFamily="2" charset="0"/>
              </a:rPr>
              <a:t>Example:</a:t>
            </a:r>
          </a:p>
          <a:p>
            <a:pPr algn="l">
              <a:spcBef>
                <a:spcPts val="1125"/>
              </a:spcBef>
              <a:spcAft>
                <a:spcPts val="375"/>
              </a:spcAft>
              <a:buNone/>
            </a:pPr>
            <a:r>
              <a:rPr lang="en-US" b="0" i="0" dirty="0">
                <a:solidFill>
                  <a:srgbClr val="212529"/>
                </a:solidFill>
                <a:effectLst/>
                <a:latin typeface="Courier New" panose="02070309020205020404" pitchFamily="49" charset="0"/>
              </a:rPr>
              <a:t>&lt;audio controls&gt;</a:t>
            </a:r>
          </a:p>
          <a:p>
            <a:pPr algn="l">
              <a:spcBef>
                <a:spcPts val="1125"/>
              </a:spcBef>
              <a:spcAft>
                <a:spcPts val="375"/>
              </a:spcAft>
              <a:buNone/>
            </a:pPr>
            <a:endParaRPr lang="en-US" b="0" i="0" dirty="0">
              <a:solidFill>
                <a:srgbClr val="212529"/>
              </a:solidFill>
              <a:effectLst/>
              <a:latin typeface="Courier New" panose="02070309020205020404" pitchFamily="49" charset="0"/>
            </a:endParaRPr>
          </a:p>
          <a:p>
            <a:pPr algn="l">
              <a:spcBef>
                <a:spcPts val="1125"/>
              </a:spcBef>
              <a:spcAft>
                <a:spcPts val="375"/>
              </a:spcAft>
              <a:buNone/>
            </a:pPr>
            <a:r>
              <a:rPr lang="en-US" b="0" i="0" dirty="0">
                <a:solidFill>
                  <a:srgbClr val="212529"/>
                </a:solidFill>
                <a:effectLst/>
                <a:latin typeface="Courier New" panose="02070309020205020404" pitchFamily="49" charset="0"/>
              </a:rPr>
              <a:t>  &lt;source </a:t>
            </a:r>
            <a:r>
              <a:rPr lang="en-US" b="0" i="0" dirty="0" err="1">
                <a:solidFill>
                  <a:srgbClr val="212529"/>
                </a:solidFill>
                <a:effectLst/>
                <a:latin typeface="Courier New" panose="02070309020205020404" pitchFamily="49" charset="0"/>
              </a:rPr>
              <a:t>src</a:t>
            </a:r>
            <a:r>
              <a:rPr lang="en-US" b="0" i="0" dirty="0">
                <a:solidFill>
                  <a:srgbClr val="212529"/>
                </a:solidFill>
                <a:effectLst/>
                <a:latin typeface="Courier New" panose="02070309020205020404" pitchFamily="49" charset="0"/>
              </a:rPr>
              <a:t>="audio.mp3" type="audio/mp3"&gt;</a:t>
            </a:r>
          </a:p>
          <a:p>
            <a:pPr algn="l">
              <a:spcBef>
                <a:spcPts val="1125"/>
              </a:spcBef>
              <a:spcAft>
                <a:spcPts val="375"/>
              </a:spcAft>
              <a:buNone/>
            </a:pPr>
            <a:endParaRPr lang="en-US" b="0" i="0" dirty="0">
              <a:solidFill>
                <a:srgbClr val="212529"/>
              </a:solidFill>
              <a:effectLst/>
              <a:latin typeface="Courier New" panose="02070309020205020404" pitchFamily="49" charset="0"/>
            </a:endParaRPr>
          </a:p>
          <a:p>
            <a:pPr algn="l">
              <a:spcBef>
                <a:spcPts val="1125"/>
              </a:spcBef>
              <a:spcAft>
                <a:spcPts val="375"/>
              </a:spcAft>
              <a:buNone/>
            </a:pPr>
            <a:r>
              <a:rPr lang="en-US" b="0" i="0" dirty="0">
                <a:solidFill>
                  <a:srgbClr val="212529"/>
                </a:solidFill>
                <a:effectLst/>
                <a:latin typeface="Courier New" panose="02070309020205020404" pitchFamily="49" charset="0"/>
              </a:rPr>
              <a:t>&lt;/audio&gt;</a:t>
            </a:r>
          </a:p>
          <a:p>
            <a:pPr algn="just">
              <a:lnSpc>
                <a:spcPts val="2100"/>
              </a:lnSpc>
              <a:spcBef>
                <a:spcPts val="1650"/>
              </a:spcBef>
              <a:buNone/>
            </a:pPr>
            <a:r>
              <a:rPr lang="en-US" b="0" i="1" dirty="0">
                <a:solidFill>
                  <a:srgbClr val="3A3A3A"/>
                </a:solidFill>
                <a:effectLst/>
                <a:latin typeface="Roboto" panose="02000000000000000000" pitchFamily="2" charset="0"/>
              </a:rPr>
              <a:t>Note: Both tags use the controls attribute to add play, pause, and volume buttons.</a:t>
            </a:r>
            <a:endParaRPr lang="en-US" b="0" i="0" dirty="0">
              <a:solidFill>
                <a:srgbClr val="3A3A3A"/>
              </a:solidFill>
              <a:effectLst/>
              <a:latin typeface="Roboto" panose="02000000000000000000" pitchFamily="2" charset="0"/>
            </a:endParaRPr>
          </a:p>
        </p:txBody>
      </p:sp>
    </p:spTree>
    <p:extLst>
      <p:ext uri="{BB962C8B-B14F-4D97-AF65-F5344CB8AC3E}">
        <p14:creationId xmlns:p14="http://schemas.microsoft.com/office/powerpoint/2010/main" val="255161413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44B80D-341B-56C8-4F0C-D26AC95F9B09}"/>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EDCC8468-C55A-9425-FAE9-963884F162CB}"/>
              </a:ext>
            </a:extLst>
          </p:cNvPr>
          <p:cNvSpPr txBox="1"/>
          <p:nvPr/>
        </p:nvSpPr>
        <p:spPr>
          <a:xfrm>
            <a:off x="2477069" y="1539586"/>
            <a:ext cx="4954136" cy="3785652"/>
          </a:xfrm>
          <a:prstGeom prst="rect">
            <a:avLst/>
          </a:prstGeom>
          <a:noFill/>
        </p:spPr>
        <p:txBody>
          <a:bodyPr wrap="square">
            <a:spAutoFit/>
          </a:bodyPr>
          <a:lstStyle/>
          <a:p>
            <a:pPr algn="l">
              <a:lnSpc>
                <a:spcPts val="2100"/>
              </a:lnSpc>
              <a:spcBef>
                <a:spcPts val="2400"/>
              </a:spcBef>
              <a:spcAft>
                <a:spcPts val="1800"/>
              </a:spcAft>
              <a:buNone/>
            </a:pPr>
            <a:r>
              <a:rPr lang="en-US" b="0" i="0" dirty="0">
                <a:solidFill>
                  <a:srgbClr val="272C37"/>
                </a:solidFill>
                <a:effectLst/>
                <a:latin typeface="Roboto" panose="02000000000000000000" pitchFamily="2" charset="0"/>
              </a:rPr>
              <a:t>53. What is the difference between &lt;</a:t>
            </a:r>
            <a:r>
              <a:rPr lang="en-US" b="0" i="0" dirty="0" err="1">
                <a:solidFill>
                  <a:srgbClr val="272C37"/>
                </a:solidFill>
                <a:effectLst/>
                <a:latin typeface="Roboto" panose="02000000000000000000" pitchFamily="2" charset="0"/>
              </a:rPr>
              <a:t>iframe</a:t>
            </a:r>
            <a:r>
              <a:rPr lang="en-US" b="0" i="0" dirty="0">
                <a:solidFill>
                  <a:srgbClr val="272C37"/>
                </a:solidFill>
                <a:effectLst/>
                <a:latin typeface="Roboto" panose="02000000000000000000" pitchFamily="2" charset="0"/>
              </a:rPr>
              <a:t>&gt; and &lt;embed&gt;?</a:t>
            </a:r>
          </a:p>
          <a:p>
            <a:pPr algn="just">
              <a:lnSpc>
                <a:spcPts val="2100"/>
              </a:lnSpc>
              <a:spcBef>
                <a:spcPts val="1650"/>
              </a:spcBef>
              <a:buNone/>
            </a:pPr>
            <a:r>
              <a:rPr lang="en-US" b="0" i="0" dirty="0">
                <a:solidFill>
                  <a:srgbClr val="3A3A3A"/>
                </a:solidFill>
                <a:effectLst/>
                <a:latin typeface="Roboto" panose="02000000000000000000" pitchFamily="2" charset="0"/>
              </a:rPr>
              <a:t>Both the &lt;</a:t>
            </a:r>
            <a:r>
              <a:rPr lang="en-US" b="0" i="0" dirty="0" err="1">
                <a:solidFill>
                  <a:srgbClr val="3A3A3A"/>
                </a:solidFill>
                <a:effectLst/>
                <a:latin typeface="Roboto" panose="02000000000000000000" pitchFamily="2" charset="0"/>
              </a:rPr>
              <a:t>iframe</a:t>
            </a:r>
            <a:r>
              <a:rPr lang="en-US" b="0" i="0" dirty="0">
                <a:solidFill>
                  <a:srgbClr val="3A3A3A"/>
                </a:solidFill>
                <a:effectLst/>
                <a:latin typeface="Roboto" panose="02000000000000000000" pitchFamily="2" charset="0"/>
              </a:rPr>
              <a:t>&gt; tag and the &lt;embed&gt; tag are used to embed something in an HTML page, but they do so differently and for different purposes:</a:t>
            </a:r>
          </a:p>
          <a:p>
            <a:pPr algn="just">
              <a:lnSpc>
                <a:spcPts val="2100"/>
              </a:lnSpc>
              <a:spcBef>
                <a:spcPts val="750"/>
              </a:spcBef>
              <a:spcAft>
                <a:spcPts val="600"/>
              </a:spcAft>
              <a:buFont typeface="Arial" panose="020B0604020202020204" pitchFamily="34" charset="0"/>
              <a:buChar char="•"/>
            </a:pPr>
            <a:r>
              <a:rPr lang="en-US" b="0" i="0" dirty="0">
                <a:solidFill>
                  <a:srgbClr val="3A3A3A"/>
                </a:solidFill>
                <a:effectLst/>
                <a:latin typeface="Roboto" panose="02000000000000000000" pitchFamily="2" charset="0"/>
              </a:rPr>
              <a:t>&lt;</a:t>
            </a:r>
            <a:r>
              <a:rPr lang="en-US" b="0" i="0" dirty="0" err="1">
                <a:solidFill>
                  <a:srgbClr val="3A3A3A"/>
                </a:solidFill>
                <a:effectLst/>
                <a:latin typeface="Roboto" panose="02000000000000000000" pitchFamily="2" charset="0"/>
              </a:rPr>
              <a:t>iframe</a:t>
            </a:r>
            <a:r>
              <a:rPr lang="en-US" b="0" i="0" dirty="0">
                <a:solidFill>
                  <a:srgbClr val="3A3A3A"/>
                </a:solidFill>
                <a:effectLst/>
                <a:latin typeface="Roboto" panose="02000000000000000000" pitchFamily="2" charset="0"/>
              </a:rPr>
              <a:t>&gt;: Embeds another webpage inside your page.</a:t>
            </a:r>
          </a:p>
          <a:p>
            <a:pPr algn="just">
              <a:lnSpc>
                <a:spcPts val="2100"/>
              </a:lnSpc>
              <a:spcBef>
                <a:spcPts val="750"/>
              </a:spcBef>
              <a:spcAft>
                <a:spcPts val="600"/>
              </a:spcAft>
              <a:buFont typeface="Arial" panose="020B0604020202020204" pitchFamily="34" charset="0"/>
              <a:buChar char="•"/>
            </a:pPr>
            <a:r>
              <a:rPr lang="en-US" b="0" i="0" dirty="0">
                <a:solidFill>
                  <a:srgbClr val="3A3A3A"/>
                </a:solidFill>
                <a:effectLst/>
                <a:latin typeface="Roboto" panose="02000000000000000000" pitchFamily="2" charset="0"/>
              </a:rPr>
              <a:t>&lt;embed&gt;: Embeds multimedia content into the page, such as audio or video, or capabilities for a PDF to be part of that page.</a:t>
            </a:r>
          </a:p>
        </p:txBody>
      </p:sp>
    </p:spTree>
    <p:extLst>
      <p:ext uri="{BB962C8B-B14F-4D97-AF65-F5344CB8AC3E}">
        <p14:creationId xmlns:p14="http://schemas.microsoft.com/office/powerpoint/2010/main" val="175080494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5234C0-6502-085A-59CD-B3BA280ADDC1}"/>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6CDD95D1-F12E-B10E-B2F3-6F0C380B6314}"/>
              </a:ext>
            </a:extLst>
          </p:cNvPr>
          <p:cNvSpPr txBox="1"/>
          <p:nvPr/>
        </p:nvSpPr>
        <p:spPr>
          <a:xfrm>
            <a:off x="2477069" y="-1089338"/>
            <a:ext cx="4954136" cy="9043501"/>
          </a:xfrm>
          <a:prstGeom prst="rect">
            <a:avLst/>
          </a:prstGeom>
          <a:noFill/>
        </p:spPr>
        <p:txBody>
          <a:bodyPr wrap="square">
            <a:spAutoFit/>
          </a:bodyPr>
          <a:lstStyle/>
          <a:p>
            <a:pPr algn="l">
              <a:lnSpc>
                <a:spcPts val="2100"/>
              </a:lnSpc>
              <a:spcBef>
                <a:spcPts val="2400"/>
              </a:spcBef>
              <a:spcAft>
                <a:spcPts val="1800"/>
              </a:spcAft>
              <a:buNone/>
            </a:pPr>
            <a:r>
              <a:rPr lang="en-US" b="0" i="0" dirty="0">
                <a:solidFill>
                  <a:srgbClr val="272C37"/>
                </a:solidFill>
                <a:effectLst/>
                <a:latin typeface="Roboto" panose="02000000000000000000" pitchFamily="2" charset="0"/>
              </a:rPr>
              <a:t>54. What are some best practices for optimizing HTML for performance?</a:t>
            </a:r>
          </a:p>
          <a:p>
            <a:pPr algn="just">
              <a:lnSpc>
                <a:spcPts val="2100"/>
              </a:lnSpc>
              <a:spcBef>
                <a:spcPts val="1650"/>
              </a:spcBef>
              <a:spcAft>
                <a:spcPts val="600"/>
              </a:spcAft>
              <a:buFont typeface="Arial" panose="020B0604020202020204" pitchFamily="34" charset="0"/>
              <a:buChar char="•"/>
            </a:pPr>
            <a:r>
              <a:rPr lang="en-US" b="0" i="0" dirty="0">
                <a:solidFill>
                  <a:srgbClr val="3A3A3A"/>
                </a:solidFill>
                <a:effectLst/>
                <a:latin typeface="Roboto" panose="02000000000000000000" pitchFamily="2" charset="0"/>
              </a:rPr>
              <a:t>Minify HTML Files: Removing unnecessary blurbs and comments for file-size minimization.</a:t>
            </a:r>
          </a:p>
          <a:p>
            <a:pPr algn="just">
              <a:lnSpc>
                <a:spcPts val="2100"/>
              </a:lnSpc>
              <a:spcBef>
                <a:spcPts val="1650"/>
              </a:spcBef>
              <a:spcAft>
                <a:spcPts val="600"/>
              </a:spcAft>
              <a:buFont typeface="Arial" panose="020B0604020202020204" pitchFamily="34" charset="0"/>
              <a:buChar char="•"/>
            </a:pPr>
            <a:r>
              <a:rPr lang="en-US" b="0" i="0" dirty="0">
                <a:solidFill>
                  <a:srgbClr val="3A3A3A"/>
                </a:solidFill>
                <a:effectLst/>
                <a:latin typeface="Roboto" panose="02000000000000000000" pitchFamily="2" charset="0"/>
              </a:rPr>
              <a:t>Correct Structure of HTML: Organize headers and footers to enhance readability and improve its SEO performance through semantic elements such as &lt;header&gt;, &lt;footer&gt;, &lt;article&gt;, &lt;section&gt;, and others.</a:t>
            </a:r>
          </a:p>
          <a:p>
            <a:pPr algn="just">
              <a:lnSpc>
                <a:spcPts val="2100"/>
              </a:lnSpc>
              <a:spcBef>
                <a:spcPts val="1650"/>
              </a:spcBef>
              <a:spcAft>
                <a:spcPts val="600"/>
              </a:spcAft>
              <a:buFont typeface="Arial" panose="020B0604020202020204" pitchFamily="34" charset="0"/>
              <a:buChar char="•"/>
            </a:pPr>
            <a:r>
              <a:rPr lang="en-US" b="0" i="0" dirty="0">
                <a:solidFill>
                  <a:srgbClr val="3A3A3A"/>
                </a:solidFill>
                <a:effectLst/>
                <a:latin typeface="Roboto" panose="02000000000000000000" pitchFamily="2" charset="0"/>
              </a:rPr>
              <a:t>Optimizing Images: File formats and optimization synthesize accurate photography for size reduction.</a:t>
            </a:r>
          </a:p>
          <a:p>
            <a:pPr algn="just">
              <a:lnSpc>
                <a:spcPts val="2100"/>
              </a:lnSpc>
              <a:spcBef>
                <a:spcPts val="1650"/>
              </a:spcBef>
              <a:spcAft>
                <a:spcPts val="600"/>
              </a:spcAft>
              <a:buFont typeface="Arial" panose="020B0604020202020204" pitchFamily="34" charset="0"/>
              <a:buChar char="•"/>
            </a:pPr>
            <a:r>
              <a:rPr lang="en-US" b="0" i="0" dirty="0">
                <a:solidFill>
                  <a:srgbClr val="3A3A3A"/>
                </a:solidFill>
                <a:effectLst/>
                <a:latin typeface="Roboto" panose="02000000000000000000" pitchFamily="2" charset="0"/>
              </a:rPr>
              <a:t>Defer or Async JavaScript: Using defer or async loads scripts, but doesn’t stop the loading of the web page.</a:t>
            </a:r>
          </a:p>
          <a:p>
            <a:pPr algn="just">
              <a:lnSpc>
                <a:spcPts val="2100"/>
              </a:lnSpc>
              <a:spcBef>
                <a:spcPts val="1650"/>
              </a:spcBef>
              <a:spcAft>
                <a:spcPts val="600"/>
              </a:spcAft>
              <a:buFont typeface="Arial" panose="020B0604020202020204" pitchFamily="34" charset="0"/>
              <a:buChar char="•"/>
            </a:pPr>
            <a:r>
              <a:rPr lang="en-US" b="0" i="0" dirty="0">
                <a:solidFill>
                  <a:srgbClr val="3A3A3A"/>
                </a:solidFill>
                <a:effectLst/>
                <a:latin typeface="Roboto" panose="02000000000000000000" pitchFamily="2" charset="0"/>
              </a:rPr>
              <a:t>Use External CSS/JS: More efficient in using external CSS and JavaScript rather than linking them through the HTML tags.</a:t>
            </a:r>
          </a:p>
          <a:p>
            <a:pPr algn="just">
              <a:lnSpc>
                <a:spcPts val="2100"/>
              </a:lnSpc>
              <a:spcBef>
                <a:spcPts val="1650"/>
              </a:spcBef>
              <a:spcAft>
                <a:spcPts val="600"/>
              </a:spcAft>
              <a:buFont typeface="Arial" panose="020B0604020202020204" pitchFamily="34" charset="0"/>
              <a:buChar char="•"/>
            </a:pPr>
            <a:r>
              <a:rPr lang="en-US" b="0" i="0" dirty="0">
                <a:solidFill>
                  <a:srgbClr val="3A3A3A"/>
                </a:solidFill>
                <a:effectLst/>
                <a:latin typeface="Roboto" panose="02000000000000000000" pitchFamily="2" charset="0"/>
              </a:rPr>
              <a:t>Images and Videos Lazy Loading: Lazy load the images and videos so that they load only when scrolled to that part of the page or screen with lazy load.</a:t>
            </a:r>
          </a:p>
          <a:p>
            <a:pPr algn="just">
              <a:lnSpc>
                <a:spcPts val="2100"/>
              </a:lnSpc>
              <a:spcBef>
                <a:spcPts val="1650"/>
              </a:spcBef>
              <a:spcAft>
                <a:spcPts val="600"/>
              </a:spcAft>
              <a:buFont typeface="Arial" panose="020B0604020202020204" pitchFamily="34" charset="0"/>
              <a:buChar char="•"/>
            </a:pPr>
            <a:r>
              <a:rPr lang="en-US" b="0" i="0" dirty="0">
                <a:solidFill>
                  <a:srgbClr val="3A3A3A"/>
                </a:solidFill>
                <a:effectLst/>
                <a:latin typeface="Roboto" panose="02000000000000000000" pitchFamily="2" charset="0"/>
              </a:rPr>
              <a:t>Use CDN: Use a content delivery network for resource provision. Speed up the process. </a:t>
            </a:r>
          </a:p>
        </p:txBody>
      </p:sp>
    </p:spTree>
    <p:extLst>
      <p:ext uri="{BB962C8B-B14F-4D97-AF65-F5344CB8AC3E}">
        <p14:creationId xmlns:p14="http://schemas.microsoft.com/office/powerpoint/2010/main" val="413011743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051C90-DE80-B1CD-912A-A7A37C5C7530}"/>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220B1B30-5FB0-6453-DE23-E1A27E4AD8C6}"/>
              </a:ext>
            </a:extLst>
          </p:cNvPr>
          <p:cNvSpPr txBox="1"/>
          <p:nvPr/>
        </p:nvSpPr>
        <p:spPr>
          <a:xfrm>
            <a:off x="2477069" y="686789"/>
            <a:ext cx="4954136" cy="5491247"/>
          </a:xfrm>
          <a:prstGeom prst="rect">
            <a:avLst/>
          </a:prstGeom>
          <a:noFill/>
        </p:spPr>
        <p:txBody>
          <a:bodyPr wrap="square">
            <a:spAutoFit/>
          </a:bodyPr>
          <a:lstStyle/>
          <a:p>
            <a:pPr algn="l">
              <a:lnSpc>
                <a:spcPts val="2100"/>
              </a:lnSpc>
              <a:spcBef>
                <a:spcPts val="2400"/>
              </a:spcBef>
              <a:spcAft>
                <a:spcPts val="1800"/>
              </a:spcAft>
              <a:buNone/>
            </a:pPr>
            <a:r>
              <a:rPr lang="en-US" b="0" i="0" dirty="0">
                <a:solidFill>
                  <a:srgbClr val="272C37"/>
                </a:solidFill>
                <a:effectLst/>
                <a:latin typeface="Roboto" panose="02000000000000000000" pitchFamily="2" charset="0"/>
              </a:rPr>
              <a:t>55. How to add Scalable Vector Graphics (SVG) to your web page?</a:t>
            </a:r>
          </a:p>
          <a:p>
            <a:pPr algn="just">
              <a:lnSpc>
                <a:spcPts val="2100"/>
              </a:lnSpc>
              <a:spcBef>
                <a:spcPts val="1650"/>
              </a:spcBef>
              <a:buNone/>
            </a:pPr>
            <a:r>
              <a:rPr lang="en-US" b="0" i="0" dirty="0">
                <a:solidFill>
                  <a:srgbClr val="3A3A3A"/>
                </a:solidFill>
                <a:effectLst/>
                <a:latin typeface="Roboto" panose="02000000000000000000" pitchFamily="2" charset="0"/>
              </a:rPr>
              <a:t>To add SVG (Scalable Vector Graphics) to your web page, there are a few straightforward methods you can use:</a:t>
            </a:r>
          </a:p>
          <a:p>
            <a:pPr algn="just">
              <a:lnSpc>
                <a:spcPts val="2100"/>
              </a:lnSpc>
              <a:spcBef>
                <a:spcPts val="750"/>
              </a:spcBef>
              <a:spcAft>
                <a:spcPts val="600"/>
              </a:spcAft>
              <a:buFont typeface="Arial" panose="020B0604020202020204" pitchFamily="34" charset="0"/>
              <a:buChar char="•"/>
            </a:pPr>
            <a:r>
              <a:rPr lang="en-US" b="0" i="0" dirty="0">
                <a:solidFill>
                  <a:srgbClr val="3A3A3A"/>
                </a:solidFill>
                <a:effectLst/>
                <a:latin typeface="Roboto" panose="02000000000000000000" pitchFamily="2" charset="0"/>
              </a:rPr>
              <a:t>Using the &lt;</a:t>
            </a:r>
            <a:r>
              <a:rPr lang="en-US" b="0" i="0" dirty="0" err="1">
                <a:solidFill>
                  <a:srgbClr val="3A3A3A"/>
                </a:solidFill>
                <a:effectLst/>
                <a:latin typeface="Roboto" panose="02000000000000000000" pitchFamily="2" charset="0"/>
              </a:rPr>
              <a:t>img</a:t>
            </a:r>
            <a:r>
              <a:rPr lang="en-US" b="0" i="0" dirty="0">
                <a:solidFill>
                  <a:srgbClr val="3A3A3A"/>
                </a:solidFill>
                <a:effectLst/>
                <a:latin typeface="Roboto" panose="02000000000000000000" pitchFamily="2" charset="0"/>
              </a:rPr>
              <a:t>&gt; Tag: Similar to any other image, you can incorporate an SVG file with the &lt;</a:t>
            </a:r>
            <a:r>
              <a:rPr lang="en-US" b="0" i="0" dirty="0" err="1">
                <a:solidFill>
                  <a:srgbClr val="3A3A3A"/>
                </a:solidFill>
                <a:effectLst/>
                <a:latin typeface="Roboto" panose="02000000000000000000" pitchFamily="2" charset="0"/>
              </a:rPr>
              <a:t>img</a:t>
            </a:r>
            <a:r>
              <a:rPr lang="en-US" b="0" i="0" dirty="0">
                <a:solidFill>
                  <a:srgbClr val="3A3A3A"/>
                </a:solidFill>
                <a:effectLst/>
                <a:latin typeface="Roboto" panose="02000000000000000000" pitchFamily="2" charset="0"/>
              </a:rPr>
              <a:t>&gt; tag.</a:t>
            </a:r>
          </a:p>
          <a:p>
            <a:pPr algn="just">
              <a:lnSpc>
                <a:spcPts val="2100"/>
              </a:lnSpc>
              <a:spcBef>
                <a:spcPts val="750"/>
              </a:spcBef>
              <a:spcAft>
                <a:spcPts val="600"/>
              </a:spcAft>
              <a:buFont typeface="Arial" panose="020B0604020202020204" pitchFamily="34" charset="0"/>
              <a:buChar char="•"/>
            </a:pPr>
            <a:r>
              <a:rPr lang="en-US" b="0" i="0" dirty="0">
                <a:solidFill>
                  <a:srgbClr val="3A3A3A"/>
                </a:solidFill>
                <a:effectLst/>
                <a:latin typeface="Roboto" panose="02000000000000000000" pitchFamily="2" charset="0"/>
              </a:rPr>
              <a:t>Inline SVG: You can directly include the SVG code in your HTML, giving you greater control over its size and style.</a:t>
            </a:r>
          </a:p>
          <a:p>
            <a:pPr algn="just">
              <a:lnSpc>
                <a:spcPts val="2100"/>
              </a:lnSpc>
              <a:spcBef>
                <a:spcPts val="750"/>
              </a:spcBef>
              <a:spcAft>
                <a:spcPts val="600"/>
              </a:spcAft>
              <a:buFont typeface="Arial" panose="020B0604020202020204" pitchFamily="34" charset="0"/>
              <a:buChar char="•"/>
            </a:pPr>
            <a:r>
              <a:rPr lang="en-US" b="0" i="0" dirty="0">
                <a:solidFill>
                  <a:srgbClr val="3A3A3A"/>
                </a:solidFill>
                <a:effectLst/>
                <a:latin typeface="Roboto" panose="02000000000000000000" pitchFamily="2" charset="0"/>
              </a:rPr>
              <a:t>Using the &lt;object&gt; Tag: This method allows you to embed an SVG file as an object.</a:t>
            </a:r>
          </a:p>
          <a:p>
            <a:pPr algn="just">
              <a:lnSpc>
                <a:spcPts val="2100"/>
              </a:lnSpc>
              <a:spcBef>
                <a:spcPts val="750"/>
              </a:spcBef>
              <a:spcAft>
                <a:spcPts val="600"/>
              </a:spcAft>
              <a:buFont typeface="Arial" panose="020B0604020202020204" pitchFamily="34" charset="0"/>
              <a:buChar char="•"/>
            </a:pPr>
            <a:r>
              <a:rPr lang="en-US" b="0" i="0" dirty="0">
                <a:solidFill>
                  <a:srgbClr val="3A3A3A"/>
                </a:solidFill>
                <a:effectLst/>
                <a:latin typeface="Roboto" panose="02000000000000000000" pitchFamily="2" charset="0"/>
              </a:rPr>
              <a:t>Using the &lt;</a:t>
            </a:r>
            <a:r>
              <a:rPr lang="en-US" b="0" i="0" dirty="0" err="1">
                <a:solidFill>
                  <a:srgbClr val="3A3A3A"/>
                </a:solidFill>
                <a:effectLst/>
                <a:latin typeface="Roboto" panose="02000000000000000000" pitchFamily="2" charset="0"/>
              </a:rPr>
              <a:t>iframe</a:t>
            </a:r>
            <a:r>
              <a:rPr lang="en-US" b="0" i="0" dirty="0">
                <a:solidFill>
                  <a:srgbClr val="3A3A3A"/>
                </a:solidFill>
                <a:effectLst/>
                <a:latin typeface="Roboto" panose="02000000000000000000" pitchFamily="2" charset="0"/>
              </a:rPr>
              <a:t>&gt; Tag: You can also utilize an &lt;</a:t>
            </a:r>
            <a:r>
              <a:rPr lang="en-US" b="0" i="0" dirty="0" err="1">
                <a:solidFill>
                  <a:srgbClr val="3A3A3A"/>
                </a:solidFill>
                <a:effectLst/>
                <a:latin typeface="Roboto" panose="02000000000000000000" pitchFamily="2" charset="0"/>
              </a:rPr>
              <a:t>iframe</a:t>
            </a:r>
            <a:r>
              <a:rPr lang="en-US" b="0" i="0" dirty="0">
                <a:solidFill>
                  <a:srgbClr val="3A3A3A"/>
                </a:solidFill>
                <a:effectLst/>
                <a:latin typeface="Roboto" panose="02000000000000000000" pitchFamily="2" charset="0"/>
              </a:rPr>
              <a:t>&gt; to display the SVG file in a separate frame.</a:t>
            </a:r>
          </a:p>
        </p:txBody>
      </p:sp>
    </p:spTree>
    <p:extLst>
      <p:ext uri="{BB962C8B-B14F-4D97-AF65-F5344CB8AC3E}">
        <p14:creationId xmlns:p14="http://schemas.microsoft.com/office/powerpoint/2010/main" val="152319547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857C93-02CB-83DE-E1F8-98A3723CEC10}"/>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A436D774-4EE2-3C85-A3F0-AF6156539B9B}"/>
              </a:ext>
            </a:extLst>
          </p:cNvPr>
          <p:cNvSpPr txBox="1"/>
          <p:nvPr/>
        </p:nvSpPr>
        <p:spPr>
          <a:xfrm>
            <a:off x="2477069" y="-416077"/>
            <a:ext cx="4954136" cy="7696979"/>
          </a:xfrm>
          <a:prstGeom prst="rect">
            <a:avLst/>
          </a:prstGeom>
          <a:noFill/>
        </p:spPr>
        <p:txBody>
          <a:bodyPr wrap="square">
            <a:spAutoFit/>
          </a:bodyPr>
          <a:lstStyle/>
          <a:p>
            <a:pPr algn="l">
              <a:lnSpc>
                <a:spcPts val="2100"/>
              </a:lnSpc>
              <a:spcBef>
                <a:spcPts val="2400"/>
              </a:spcBef>
              <a:spcAft>
                <a:spcPts val="1800"/>
              </a:spcAft>
              <a:buNone/>
            </a:pPr>
            <a:r>
              <a:rPr lang="en-US" b="0" i="0" dirty="0">
                <a:solidFill>
                  <a:srgbClr val="272C37"/>
                </a:solidFill>
                <a:effectLst/>
                <a:latin typeface="Roboto" panose="02000000000000000000" pitchFamily="2" charset="0"/>
              </a:rPr>
              <a:t>56. What is the role of the action attribute in HTML forms?</a:t>
            </a:r>
          </a:p>
          <a:p>
            <a:pPr algn="just">
              <a:lnSpc>
                <a:spcPts val="2100"/>
              </a:lnSpc>
              <a:spcBef>
                <a:spcPts val="1650"/>
              </a:spcBef>
              <a:buNone/>
            </a:pPr>
            <a:r>
              <a:rPr lang="en-US" b="0" i="0" dirty="0">
                <a:solidFill>
                  <a:srgbClr val="3A3A3A"/>
                </a:solidFill>
                <a:effectLst/>
                <a:latin typeface="Roboto" panose="02000000000000000000" pitchFamily="2" charset="0"/>
              </a:rPr>
              <a:t>The action attribute in an HTML form indicates the URL to which the form data will be sent upon submission. It specifies the endpoint that will handle the form data, such as a server-side script or a specific page.</a:t>
            </a:r>
          </a:p>
          <a:p>
            <a:pPr algn="l">
              <a:lnSpc>
                <a:spcPts val="2100"/>
              </a:lnSpc>
              <a:spcBef>
                <a:spcPts val="2400"/>
              </a:spcBef>
              <a:spcAft>
                <a:spcPts val="1800"/>
              </a:spcAft>
              <a:buNone/>
            </a:pPr>
            <a:r>
              <a:rPr lang="en-US" b="0" i="0" dirty="0">
                <a:solidFill>
                  <a:srgbClr val="272C37"/>
                </a:solidFill>
                <a:effectLst/>
                <a:latin typeface="Roboto" panose="02000000000000000000" pitchFamily="2" charset="0"/>
              </a:rPr>
              <a:t>57. How to handle JavaScript events in HTML?</a:t>
            </a:r>
          </a:p>
          <a:p>
            <a:pPr algn="just">
              <a:lnSpc>
                <a:spcPts val="2100"/>
              </a:lnSpc>
              <a:spcBef>
                <a:spcPts val="1650"/>
              </a:spcBef>
              <a:buNone/>
            </a:pPr>
            <a:r>
              <a:rPr lang="en-US" b="0" i="0" dirty="0">
                <a:solidFill>
                  <a:srgbClr val="3A3A3A"/>
                </a:solidFill>
                <a:effectLst/>
                <a:latin typeface="Roboto" panose="02000000000000000000" pitchFamily="2" charset="0"/>
              </a:rPr>
              <a:t>Data can be displayed in a tabular format with the help of the &lt;table&gt; tag. It can also be used to manage the layout of the web page. For example, the header section, the navigation bar, the content of the body, and the footer section.</a:t>
            </a:r>
          </a:p>
          <a:p>
            <a:pPr algn="just">
              <a:lnSpc>
                <a:spcPts val="2100"/>
              </a:lnSpc>
              <a:spcBef>
                <a:spcPts val="750"/>
              </a:spcBef>
              <a:buNone/>
            </a:pPr>
            <a:r>
              <a:rPr lang="en-US" b="0" i="0" dirty="0">
                <a:solidFill>
                  <a:srgbClr val="3A3A3A"/>
                </a:solidFill>
                <a:effectLst/>
                <a:latin typeface="Roboto" panose="02000000000000000000" pitchFamily="2" charset="0"/>
              </a:rPr>
              <a:t>The following HTML tags are used when building a table on an HTML webpage:</a:t>
            </a:r>
          </a:p>
          <a:p>
            <a:pPr algn="just">
              <a:lnSpc>
                <a:spcPts val="2100"/>
              </a:lnSpc>
              <a:spcBef>
                <a:spcPts val="750"/>
              </a:spcBef>
              <a:buNone/>
            </a:pPr>
            <a:r>
              <a:rPr lang="en-US" b="0" i="0" u="none" strike="noStrike" dirty="0">
                <a:solidFill>
                  <a:srgbClr val="0F5A9E"/>
                </a:solidFill>
                <a:effectLst/>
                <a:latin typeface="Roboto" panose="02000000000000000000" pitchFamily="2" charset="0"/>
                <a:hlinkClick r:id="rId2"/>
              </a:rPr>
              <a:t>JavaScript events</a:t>
            </a:r>
            <a:r>
              <a:rPr lang="en-US" b="0" i="0" dirty="0">
                <a:solidFill>
                  <a:srgbClr val="3A3A3A"/>
                </a:solidFill>
                <a:effectLst/>
                <a:latin typeface="Roboto" panose="02000000000000000000" pitchFamily="2" charset="0"/>
              </a:rPr>
              <a:t> can be managed in an HTML document using the &lt;script&gt; tag. Script events can be registered on HTML elements using the </a:t>
            </a:r>
            <a:r>
              <a:rPr lang="en-US" b="0" i="0" dirty="0" err="1">
                <a:solidFill>
                  <a:srgbClr val="3A3A3A"/>
                </a:solidFill>
                <a:effectLst/>
                <a:latin typeface="Roboto" panose="02000000000000000000" pitchFamily="2" charset="0"/>
              </a:rPr>
              <a:t>addEventListener</a:t>
            </a:r>
            <a:r>
              <a:rPr lang="en-US" b="0" i="0" dirty="0">
                <a:solidFill>
                  <a:srgbClr val="3A3A3A"/>
                </a:solidFill>
                <a:effectLst/>
                <a:latin typeface="Roboto" panose="02000000000000000000" pitchFamily="2" charset="0"/>
              </a:rPr>
              <a:t>() method. This way, certain functions are called when there is a user action (like a click or keystroke), creating interactive behavior in the webpage.</a:t>
            </a:r>
          </a:p>
        </p:txBody>
      </p:sp>
    </p:spTree>
    <p:extLst>
      <p:ext uri="{BB962C8B-B14F-4D97-AF65-F5344CB8AC3E}">
        <p14:creationId xmlns:p14="http://schemas.microsoft.com/office/powerpoint/2010/main" val="395858857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5CB1A1-0DEC-6A82-7852-7AC16BEECE90}"/>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41BC6E66-51C2-6872-A22D-A3FB685F7A0B}"/>
              </a:ext>
            </a:extLst>
          </p:cNvPr>
          <p:cNvSpPr txBox="1"/>
          <p:nvPr/>
        </p:nvSpPr>
        <p:spPr>
          <a:xfrm>
            <a:off x="2477069" y="1949955"/>
            <a:ext cx="4954136" cy="2964914"/>
          </a:xfrm>
          <a:prstGeom prst="rect">
            <a:avLst/>
          </a:prstGeom>
          <a:noFill/>
        </p:spPr>
        <p:txBody>
          <a:bodyPr wrap="square">
            <a:spAutoFit/>
          </a:bodyPr>
          <a:lstStyle/>
          <a:p>
            <a:pPr algn="l">
              <a:lnSpc>
                <a:spcPts val="2100"/>
              </a:lnSpc>
              <a:spcBef>
                <a:spcPts val="2400"/>
              </a:spcBef>
              <a:spcAft>
                <a:spcPts val="1800"/>
              </a:spcAft>
              <a:buNone/>
            </a:pPr>
            <a:r>
              <a:rPr lang="en-US" b="0" i="0" dirty="0">
                <a:solidFill>
                  <a:srgbClr val="272C37"/>
                </a:solidFill>
                <a:effectLst/>
                <a:latin typeface="Roboto" panose="02000000000000000000" pitchFamily="2" charset="0"/>
              </a:rPr>
              <a:t>58. What are HTML Web Workers?</a:t>
            </a:r>
          </a:p>
          <a:p>
            <a:pPr algn="just">
              <a:lnSpc>
                <a:spcPts val="2100"/>
              </a:lnSpc>
              <a:spcBef>
                <a:spcPts val="1650"/>
              </a:spcBef>
              <a:buNone/>
            </a:pPr>
            <a:r>
              <a:rPr lang="en-US" b="0" i="0" dirty="0">
                <a:solidFill>
                  <a:srgbClr val="3A3A3A"/>
                </a:solidFill>
                <a:effectLst/>
                <a:latin typeface="Roboto" panose="02000000000000000000" pitchFamily="2" charset="0"/>
              </a:rPr>
              <a:t>HTML Web Workers are JavaScript scripts that work behind the main page. They allow users to do calculations without the interface “freezing” or “slowing down.” Web Workers communicate with the main page through message passing – a much easier way for handling heavy-duty tasks without putting a dent in performance.</a:t>
            </a:r>
          </a:p>
        </p:txBody>
      </p:sp>
    </p:spTree>
    <p:extLst>
      <p:ext uri="{BB962C8B-B14F-4D97-AF65-F5344CB8AC3E}">
        <p14:creationId xmlns:p14="http://schemas.microsoft.com/office/powerpoint/2010/main" val="313393178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F61950-3DA7-C568-07AB-C3FB6F741BC1}"/>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14018601-5A74-81B4-2D5F-4CEA52D30565}"/>
              </a:ext>
            </a:extLst>
          </p:cNvPr>
          <p:cNvSpPr txBox="1"/>
          <p:nvPr/>
        </p:nvSpPr>
        <p:spPr>
          <a:xfrm>
            <a:off x="2477069" y="-2151168"/>
            <a:ext cx="4954136" cy="11167160"/>
          </a:xfrm>
          <a:prstGeom prst="rect">
            <a:avLst/>
          </a:prstGeom>
          <a:noFill/>
        </p:spPr>
        <p:txBody>
          <a:bodyPr wrap="square">
            <a:spAutoFit/>
          </a:bodyPr>
          <a:lstStyle/>
          <a:p>
            <a:pPr algn="l">
              <a:lnSpc>
                <a:spcPts val="2100"/>
              </a:lnSpc>
              <a:spcBef>
                <a:spcPts val="2400"/>
              </a:spcBef>
              <a:spcAft>
                <a:spcPts val="1800"/>
              </a:spcAft>
              <a:buNone/>
            </a:pPr>
            <a:r>
              <a:rPr lang="en-US" b="0" i="0" dirty="0">
                <a:solidFill>
                  <a:srgbClr val="272C37"/>
                </a:solidFill>
                <a:effectLst/>
                <a:latin typeface="Roboto" panose="02000000000000000000" pitchFamily="2" charset="0"/>
              </a:rPr>
              <a:t>59. Describe HTML layout structure.</a:t>
            </a:r>
          </a:p>
          <a:p>
            <a:pPr algn="just">
              <a:lnSpc>
                <a:spcPts val="2100"/>
              </a:lnSpc>
              <a:spcBef>
                <a:spcPts val="1650"/>
              </a:spcBef>
              <a:buNone/>
            </a:pPr>
            <a:r>
              <a:rPr lang="en-US" b="0" i="0" dirty="0">
                <a:solidFill>
                  <a:srgbClr val="3A3A3A"/>
                </a:solidFill>
                <a:effectLst/>
                <a:latin typeface="Roboto" panose="02000000000000000000" pitchFamily="2" charset="0"/>
              </a:rPr>
              <a:t>The layout structure of an HTML page defines how different parts of the page are arranged. Common layout elements include:</a:t>
            </a:r>
          </a:p>
          <a:p>
            <a:pPr algn="just">
              <a:lnSpc>
                <a:spcPts val="2100"/>
              </a:lnSpc>
              <a:spcBef>
                <a:spcPts val="750"/>
              </a:spcBef>
              <a:spcAft>
                <a:spcPts val="600"/>
              </a:spcAft>
              <a:buFont typeface="Arial" panose="020B0604020202020204" pitchFamily="34" charset="0"/>
              <a:buChar char="•"/>
            </a:pPr>
            <a:r>
              <a:rPr lang="en-US" b="0" i="0" dirty="0">
                <a:solidFill>
                  <a:srgbClr val="3A3A3A"/>
                </a:solidFill>
                <a:effectLst/>
                <a:latin typeface="Roboto" panose="02000000000000000000" pitchFamily="2" charset="0"/>
              </a:rPr>
              <a:t>&lt;header&gt; – top section (usually for logo and navigation)</a:t>
            </a:r>
          </a:p>
          <a:p>
            <a:pPr algn="just">
              <a:lnSpc>
                <a:spcPts val="2100"/>
              </a:lnSpc>
              <a:spcBef>
                <a:spcPts val="750"/>
              </a:spcBef>
              <a:spcAft>
                <a:spcPts val="600"/>
              </a:spcAft>
              <a:buFont typeface="Arial" panose="020B0604020202020204" pitchFamily="34" charset="0"/>
              <a:buChar char="•"/>
            </a:pPr>
            <a:r>
              <a:rPr lang="en-US" b="0" i="0" dirty="0">
                <a:solidFill>
                  <a:srgbClr val="3A3A3A"/>
                </a:solidFill>
                <a:effectLst/>
                <a:latin typeface="Roboto" panose="02000000000000000000" pitchFamily="2" charset="0"/>
              </a:rPr>
              <a:t>&lt;nav&gt; – navigation menu</a:t>
            </a:r>
          </a:p>
          <a:p>
            <a:pPr algn="just">
              <a:lnSpc>
                <a:spcPts val="2100"/>
              </a:lnSpc>
              <a:spcBef>
                <a:spcPts val="750"/>
              </a:spcBef>
              <a:spcAft>
                <a:spcPts val="600"/>
              </a:spcAft>
              <a:buFont typeface="Arial" panose="020B0604020202020204" pitchFamily="34" charset="0"/>
              <a:buChar char="•"/>
            </a:pPr>
            <a:r>
              <a:rPr lang="en-US" b="0" i="0" dirty="0">
                <a:solidFill>
                  <a:srgbClr val="3A3A3A"/>
                </a:solidFill>
                <a:effectLst/>
                <a:latin typeface="Roboto" panose="02000000000000000000" pitchFamily="2" charset="0"/>
              </a:rPr>
              <a:t>&lt;main&gt; – main content of the page</a:t>
            </a:r>
          </a:p>
          <a:p>
            <a:pPr algn="just">
              <a:lnSpc>
                <a:spcPts val="2100"/>
              </a:lnSpc>
              <a:spcBef>
                <a:spcPts val="750"/>
              </a:spcBef>
              <a:spcAft>
                <a:spcPts val="600"/>
              </a:spcAft>
              <a:buFont typeface="Arial" panose="020B0604020202020204" pitchFamily="34" charset="0"/>
              <a:buChar char="•"/>
            </a:pPr>
            <a:r>
              <a:rPr lang="en-US" b="0" i="0" dirty="0">
                <a:solidFill>
                  <a:srgbClr val="3A3A3A"/>
                </a:solidFill>
                <a:effectLst/>
                <a:latin typeface="Roboto" panose="02000000000000000000" pitchFamily="2" charset="0"/>
              </a:rPr>
              <a:t>&lt;section&gt; – a group of related content</a:t>
            </a:r>
          </a:p>
          <a:p>
            <a:pPr algn="just">
              <a:lnSpc>
                <a:spcPts val="2100"/>
              </a:lnSpc>
              <a:spcBef>
                <a:spcPts val="750"/>
              </a:spcBef>
              <a:spcAft>
                <a:spcPts val="600"/>
              </a:spcAft>
              <a:buFont typeface="Arial" panose="020B0604020202020204" pitchFamily="34" charset="0"/>
              <a:buChar char="•"/>
            </a:pPr>
            <a:r>
              <a:rPr lang="en-US" b="0" i="0" dirty="0">
                <a:solidFill>
                  <a:srgbClr val="3A3A3A"/>
                </a:solidFill>
                <a:effectLst/>
                <a:latin typeface="Roboto" panose="02000000000000000000" pitchFamily="2" charset="0"/>
              </a:rPr>
              <a:t>&lt;article&gt; – self-contained content (like a blog post)</a:t>
            </a:r>
          </a:p>
          <a:p>
            <a:pPr algn="just">
              <a:lnSpc>
                <a:spcPts val="2100"/>
              </a:lnSpc>
              <a:spcBef>
                <a:spcPts val="750"/>
              </a:spcBef>
              <a:spcAft>
                <a:spcPts val="600"/>
              </a:spcAft>
              <a:buFont typeface="Arial" panose="020B0604020202020204" pitchFamily="34" charset="0"/>
              <a:buChar char="•"/>
            </a:pPr>
            <a:r>
              <a:rPr lang="en-US" b="0" i="0" dirty="0">
                <a:solidFill>
                  <a:srgbClr val="3A3A3A"/>
                </a:solidFill>
                <a:effectLst/>
                <a:latin typeface="Roboto" panose="02000000000000000000" pitchFamily="2" charset="0"/>
              </a:rPr>
              <a:t>&lt;aside&gt; – side content (like ads or extra info)</a:t>
            </a:r>
          </a:p>
          <a:p>
            <a:pPr algn="just">
              <a:lnSpc>
                <a:spcPts val="2100"/>
              </a:lnSpc>
              <a:spcBef>
                <a:spcPts val="750"/>
              </a:spcBef>
              <a:spcAft>
                <a:spcPts val="600"/>
              </a:spcAft>
              <a:buFont typeface="Arial" panose="020B0604020202020204" pitchFamily="34" charset="0"/>
              <a:buChar char="•"/>
            </a:pPr>
            <a:r>
              <a:rPr lang="en-US" b="0" i="0" dirty="0">
                <a:solidFill>
                  <a:srgbClr val="3A3A3A"/>
                </a:solidFill>
                <a:effectLst/>
                <a:latin typeface="Roboto" panose="02000000000000000000" pitchFamily="2" charset="0"/>
              </a:rPr>
              <a:t>&lt;footer&gt; – bottom of the page (like copyright info)</a:t>
            </a:r>
          </a:p>
          <a:p>
            <a:pPr algn="just">
              <a:lnSpc>
                <a:spcPts val="2100"/>
              </a:lnSpc>
              <a:spcBef>
                <a:spcPts val="1650"/>
              </a:spcBef>
              <a:buNone/>
            </a:pPr>
            <a:r>
              <a:rPr lang="en-US" b="0" i="0" dirty="0">
                <a:solidFill>
                  <a:srgbClr val="3A3A3A"/>
                </a:solidFill>
                <a:effectLst/>
                <a:latin typeface="Roboto" panose="02000000000000000000" pitchFamily="2" charset="0"/>
              </a:rPr>
              <a:t>Example:</a:t>
            </a:r>
          </a:p>
          <a:p>
            <a:pPr algn="l">
              <a:spcBef>
                <a:spcPts val="1125"/>
              </a:spcBef>
              <a:spcAft>
                <a:spcPts val="375"/>
              </a:spcAft>
              <a:buNone/>
            </a:pPr>
            <a:r>
              <a:rPr lang="en-US" b="0" i="0" dirty="0">
                <a:solidFill>
                  <a:srgbClr val="212529"/>
                </a:solidFill>
                <a:effectLst/>
                <a:latin typeface="Courier New" panose="02070309020205020404" pitchFamily="49" charset="0"/>
              </a:rPr>
              <a:t>&lt;header&gt;My Website&lt;/header&gt;</a:t>
            </a:r>
          </a:p>
          <a:p>
            <a:pPr algn="l">
              <a:spcBef>
                <a:spcPts val="1125"/>
              </a:spcBef>
              <a:spcAft>
                <a:spcPts val="375"/>
              </a:spcAft>
              <a:buNone/>
            </a:pPr>
            <a:endParaRPr lang="en-US" b="0" i="0" dirty="0">
              <a:solidFill>
                <a:srgbClr val="212529"/>
              </a:solidFill>
              <a:effectLst/>
              <a:latin typeface="Courier New" panose="02070309020205020404" pitchFamily="49" charset="0"/>
            </a:endParaRPr>
          </a:p>
          <a:p>
            <a:pPr algn="l">
              <a:spcBef>
                <a:spcPts val="1125"/>
              </a:spcBef>
              <a:spcAft>
                <a:spcPts val="375"/>
              </a:spcAft>
              <a:buNone/>
            </a:pPr>
            <a:r>
              <a:rPr lang="en-US" b="0" i="0" dirty="0">
                <a:solidFill>
                  <a:srgbClr val="212529"/>
                </a:solidFill>
                <a:effectLst/>
                <a:latin typeface="Courier New" panose="02070309020205020404" pitchFamily="49" charset="0"/>
              </a:rPr>
              <a:t>&lt;nav&gt;Menu&lt;/nav&gt;</a:t>
            </a:r>
          </a:p>
          <a:p>
            <a:pPr algn="l">
              <a:spcBef>
                <a:spcPts val="1125"/>
              </a:spcBef>
              <a:spcAft>
                <a:spcPts val="375"/>
              </a:spcAft>
              <a:buNone/>
            </a:pPr>
            <a:endParaRPr lang="en-US" b="0" i="0" dirty="0">
              <a:solidFill>
                <a:srgbClr val="212529"/>
              </a:solidFill>
              <a:effectLst/>
              <a:latin typeface="Courier New" panose="02070309020205020404" pitchFamily="49" charset="0"/>
            </a:endParaRPr>
          </a:p>
          <a:p>
            <a:pPr algn="l">
              <a:spcBef>
                <a:spcPts val="1125"/>
              </a:spcBef>
              <a:spcAft>
                <a:spcPts val="375"/>
              </a:spcAft>
              <a:buNone/>
            </a:pPr>
            <a:r>
              <a:rPr lang="en-US" b="0" i="0" dirty="0">
                <a:solidFill>
                  <a:srgbClr val="212529"/>
                </a:solidFill>
                <a:effectLst/>
                <a:latin typeface="Courier New" panose="02070309020205020404" pitchFamily="49" charset="0"/>
              </a:rPr>
              <a:t>&lt;main&gt;</a:t>
            </a:r>
          </a:p>
          <a:p>
            <a:pPr algn="l">
              <a:spcBef>
                <a:spcPts val="1125"/>
              </a:spcBef>
              <a:spcAft>
                <a:spcPts val="375"/>
              </a:spcAft>
              <a:buNone/>
            </a:pPr>
            <a:endParaRPr lang="en-US" b="0" i="0" dirty="0">
              <a:solidFill>
                <a:srgbClr val="212529"/>
              </a:solidFill>
              <a:effectLst/>
              <a:latin typeface="Courier New" panose="02070309020205020404" pitchFamily="49" charset="0"/>
            </a:endParaRPr>
          </a:p>
          <a:p>
            <a:pPr algn="l">
              <a:spcBef>
                <a:spcPts val="1125"/>
              </a:spcBef>
              <a:spcAft>
                <a:spcPts val="375"/>
              </a:spcAft>
              <a:buNone/>
            </a:pPr>
            <a:r>
              <a:rPr lang="en-US" b="0" i="0" dirty="0">
                <a:solidFill>
                  <a:srgbClr val="212529"/>
                </a:solidFill>
                <a:effectLst/>
                <a:latin typeface="Courier New" panose="02070309020205020404" pitchFamily="49" charset="0"/>
              </a:rPr>
              <a:t>  &lt;section&gt;Welcome!&lt;/section&gt;</a:t>
            </a:r>
          </a:p>
          <a:p>
            <a:pPr algn="l">
              <a:spcBef>
                <a:spcPts val="1125"/>
              </a:spcBef>
              <a:spcAft>
                <a:spcPts val="375"/>
              </a:spcAft>
              <a:buNone/>
            </a:pPr>
            <a:endParaRPr lang="en-US" b="0" i="0" dirty="0">
              <a:solidFill>
                <a:srgbClr val="212529"/>
              </a:solidFill>
              <a:effectLst/>
              <a:latin typeface="Courier New" panose="02070309020205020404" pitchFamily="49" charset="0"/>
            </a:endParaRPr>
          </a:p>
          <a:p>
            <a:pPr algn="l">
              <a:spcBef>
                <a:spcPts val="1125"/>
              </a:spcBef>
              <a:spcAft>
                <a:spcPts val="375"/>
              </a:spcAft>
              <a:buNone/>
            </a:pPr>
            <a:r>
              <a:rPr lang="en-US" b="0" i="0" dirty="0">
                <a:solidFill>
                  <a:srgbClr val="212529"/>
                </a:solidFill>
                <a:effectLst/>
                <a:latin typeface="Courier New" panose="02070309020205020404" pitchFamily="49" charset="0"/>
              </a:rPr>
              <a:t>&lt;/main&gt;</a:t>
            </a:r>
          </a:p>
          <a:p>
            <a:pPr algn="l">
              <a:spcBef>
                <a:spcPts val="1125"/>
              </a:spcBef>
              <a:spcAft>
                <a:spcPts val="375"/>
              </a:spcAft>
              <a:buNone/>
            </a:pPr>
            <a:endParaRPr lang="en-US" b="0" i="0" dirty="0">
              <a:solidFill>
                <a:srgbClr val="212529"/>
              </a:solidFill>
              <a:effectLst/>
              <a:latin typeface="Courier New" panose="02070309020205020404" pitchFamily="49" charset="0"/>
            </a:endParaRPr>
          </a:p>
          <a:p>
            <a:pPr algn="l">
              <a:spcBef>
                <a:spcPts val="1125"/>
              </a:spcBef>
              <a:spcAft>
                <a:spcPts val="375"/>
              </a:spcAft>
              <a:buNone/>
            </a:pPr>
            <a:r>
              <a:rPr lang="en-US" b="0" i="0" dirty="0">
                <a:solidFill>
                  <a:srgbClr val="212529"/>
                </a:solidFill>
                <a:effectLst/>
                <a:latin typeface="Courier New" panose="02070309020205020404" pitchFamily="49" charset="0"/>
              </a:rPr>
              <a:t>&lt;footer&gt;© 2025&lt;/footer&gt;</a:t>
            </a:r>
          </a:p>
        </p:txBody>
      </p:sp>
    </p:spTree>
    <p:extLst>
      <p:ext uri="{BB962C8B-B14F-4D97-AF65-F5344CB8AC3E}">
        <p14:creationId xmlns:p14="http://schemas.microsoft.com/office/powerpoint/2010/main" val="284807900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4B8FA2-6EE9-149C-BAA5-4FFE22C58CCF}"/>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188A7D77-707C-5C68-F4E6-6F2573B99329}"/>
              </a:ext>
            </a:extLst>
          </p:cNvPr>
          <p:cNvSpPr txBox="1"/>
          <p:nvPr/>
        </p:nvSpPr>
        <p:spPr>
          <a:xfrm>
            <a:off x="2477069" y="417484"/>
            <a:ext cx="4954136" cy="6029856"/>
          </a:xfrm>
          <a:prstGeom prst="rect">
            <a:avLst/>
          </a:prstGeom>
          <a:noFill/>
        </p:spPr>
        <p:txBody>
          <a:bodyPr wrap="square">
            <a:spAutoFit/>
          </a:bodyPr>
          <a:lstStyle/>
          <a:p>
            <a:pPr algn="l">
              <a:lnSpc>
                <a:spcPts val="2100"/>
              </a:lnSpc>
              <a:spcBef>
                <a:spcPts val="2400"/>
              </a:spcBef>
              <a:spcAft>
                <a:spcPts val="1800"/>
              </a:spcAft>
              <a:buNone/>
            </a:pPr>
            <a:r>
              <a:rPr lang="en-US" b="0" i="0" dirty="0">
                <a:solidFill>
                  <a:srgbClr val="272C37"/>
                </a:solidFill>
                <a:effectLst/>
                <a:latin typeface="Roboto" panose="02000000000000000000" pitchFamily="2" charset="0"/>
              </a:rPr>
              <a:t>60. What are the various formatting tags in HTML?</a:t>
            </a:r>
          </a:p>
          <a:p>
            <a:pPr algn="just">
              <a:lnSpc>
                <a:spcPts val="2100"/>
              </a:lnSpc>
              <a:spcBef>
                <a:spcPts val="1650"/>
              </a:spcBef>
              <a:buNone/>
            </a:pPr>
            <a:r>
              <a:rPr lang="en-US" b="0" i="0" dirty="0">
                <a:solidFill>
                  <a:srgbClr val="3A3A3A"/>
                </a:solidFill>
                <a:effectLst/>
                <a:latin typeface="Roboto" panose="02000000000000000000" pitchFamily="2" charset="0"/>
              </a:rPr>
              <a:t>Formatting tags change the appearance of text:</a:t>
            </a:r>
          </a:p>
          <a:p>
            <a:pPr algn="just">
              <a:lnSpc>
                <a:spcPts val="2100"/>
              </a:lnSpc>
              <a:spcBef>
                <a:spcPts val="750"/>
              </a:spcBef>
              <a:spcAft>
                <a:spcPts val="600"/>
              </a:spcAft>
              <a:buFont typeface="Arial" panose="020B0604020202020204" pitchFamily="34" charset="0"/>
              <a:buChar char="•"/>
            </a:pPr>
            <a:r>
              <a:rPr lang="en-US" b="0" i="0" dirty="0">
                <a:solidFill>
                  <a:srgbClr val="3A3A3A"/>
                </a:solidFill>
                <a:effectLst/>
                <a:latin typeface="Roboto" panose="02000000000000000000" pitchFamily="2" charset="0"/>
              </a:rPr>
              <a:t>&lt;b&gt; – Bold</a:t>
            </a:r>
          </a:p>
          <a:p>
            <a:pPr algn="just">
              <a:lnSpc>
                <a:spcPts val="2100"/>
              </a:lnSpc>
              <a:spcBef>
                <a:spcPts val="750"/>
              </a:spcBef>
              <a:spcAft>
                <a:spcPts val="600"/>
              </a:spcAft>
              <a:buFont typeface="Arial" panose="020B0604020202020204" pitchFamily="34" charset="0"/>
              <a:buChar char="•"/>
            </a:pPr>
            <a:r>
              <a:rPr lang="en-US" b="0" i="0" dirty="0">
                <a:solidFill>
                  <a:srgbClr val="3A3A3A"/>
                </a:solidFill>
                <a:effectLst/>
                <a:latin typeface="Roboto" panose="02000000000000000000" pitchFamily="2" charset="0"/>
              </a:rPr>
              <a:t>&lt;strong&gt; – Strong importance (also bold)</a:t>
            </a:r>
          </a:p>
          <a:p>
            <a:pPr algn="just">
              <a:lnSpc>
                <a:spcPts val="2100"/>
              </a:lnSpc>
              <a:spcBef>
                <a:spcPts val="750"/>
              </a:spcBef>
              <a:spcAft>
                <a:spcPts val="600"/>
              </a:spcAft>
              <a:buFont typeface="Arial" panose="020B0604020202020204" pitchFamily="34" charset="0"/>
              <a:buChar char="•"/>
            </a:pPr>
            <a:r>
              <a:rPr lang="en-US" b="0" i="0" dirty="0">
                <a:solidFill>
                  <a:srgbClr val="3A3A3A"/>
                </a:solidFill>
                <a:effectLst/>
                <a:latin typeface="Roboto" panose="02000000000000000000" pitchFamily="2" charset="0"/>
              </a:rPr>
              <a:t>&lt;</a:t>
            </a:r>
            <a:r>
              <a:rPr lang="en-US" b="0" i="0" dirty="0" err="1">
                <a:solidFill>
                  <a:srgbClr val="3A3A3A"/>
                </a:solidFill>
                <a:effectLst/>
                <a:latin typeface="Roboto" panose="02000000000000000000" pitchFamily="2" charset="0"/>
              </a:rPr>
              <a:t>i</a:t>
            </a:r>
            <a:r>
              <a:rPr lang="en-US" b="0" i="0" dirty="0">
                <a:solidFill>
                  <a:srgbClr val="3A3A3A"/>
                </a:solidFill>
                <a:effectLst/>
                <a:latin typeface="Roboto" panose="02000000000000000000" pitchFamily="2" charset="0"/>
              </a:rPr>
              <a:t>&gt; –</a:t>
            </a:r>
            <a:r>
              <a:rPr lang="en-US" b="0" i="1" dirty="0">
                <a:solidFill>
                  <a:srgbClr val="3A3A3A"/>
                </a:solidFill>
                <a:effectLst/>
                <a:latin typeface="Roboto" panose="02000000000000000000" pitchFamily="2" charset="0"/>
              </a:rPr>
              <a:t> Italic</a:t>
            </a:r>
            <a:endParaRPr lang="en-US" b="0" i="0" dirty="0">
              <a:solidFill>
                <a:srgbClr val="3A3A3A"/>
              </a:solidFill>
              <a:effectLst/>
              <a:latin typeface="Roboto" panose="02000000000000000000" pitchFamily="2" charset="0"/>
            </a:endParaRPr>
          </a:p>
          <a:p>
            <a:pPr algn="just">
              <a:lnSpc>
                <a:spcPts val="2100"/>
              </a:lnSpc>
              <a:spcBef>
                <a:spcPts val="750"/>
              </a:spcBef>
              <a:spcAft>
                <a:spcPts val="600"/>
              </a:spcAft>
              <a:buFont typeface="Arial" panose="020B0604020202020204" pitchFamily="34" charset="0"/>
              <a:buChar char="•"/>
            </a:pPr>
            <a:r>
              <a:rPr lang="en-US" b="0" i="0" dirty="0">
                <a:solidFill>
                  <a:srgbClr val="3A3A3A"/>
                </a:solidFill>
                <a:effectLst/>
                <a:latin typeface="Roboto" panose="02000000000000000000" pitchFamily="2" charset="0"/>
              </a:rPr>
              <a:t>&lt;</a:t>
            </a:r>
            <a:r>
              <a:rPr lang="en-US" b="0" i="0" dirty="0" err="1">
                <a:solidFill>
                  <a:srgbClr val="3A3A3A"/>
                </a:solidFill>
                <a:effectLst/>
                <a:latin typeface="Roboto" panose="02000000000000000000" pitchFamily="2" charset="0"/>
              </a:rPr>
              <a:t>em</a:t>
            </a:r>
            <a:r>
              <a:rPr lang="en-US" b="0" i="0" dirty="0">
                <a:solidFill>
                  <a:srgbClr val="3A3A3A"/>
                </a:solidFill>
                <a:effectLst/>
                <a:latin typeface="Roboto" panose="02000000000000000000" pitchFamily="2" charset="0"/>
              </a:rPr>
              <a:t>&gt; – Emphasized text (also italic)</a:t>
            </a:r>
          </a:p>
          <a:p>
            <a:pPr algn="just">
              <a:lnSpc>
                <a:spcPts val="2100"/>
              </a:lnSpc>
              <a:spcBef>
                <a:spcPts val="750"/>
              </a:spcBef>
              <a:spcAft>
                <a:spcPts val="600"/>
              </a:spcAft>
              <a:buFont typeface="Arial" panose="020B0604020202020204" pitchFamily="34" charset="0"/>
              <a:buChar char="•"/>
            </a:pPr>
            <a:r>
              <a:rPr lang="en-US" b="0" i="0" dirty="0">
                <a:solidFill>
                  <a:srgbClr val="3A3A3A"/>
                </a:solidFill>
                <a:effectLst/>
                <a:latin typeface="Roboto" panose="02000000000000000000" pitchFamily="2" charset="0"/>
              </a:rPr>
              <a:t>&lt;mark&gt; – Highlighted text</a:t>
            </a:r>
          </a:p>
          <a:p>
            <a:pPr algn="just">
              <a:lnSpc>
                <a:spcPts val="2100"/>
              </a:lnSpc>
              <a:spcBef>
                <a:spcPts val="750"/>
              </a:spcBef>
              <a:spcAft>
                <a:spcPts val="600"/>
              </a:spcAft>
              <a:buFont typeface="Arial" panose="020B0604020202020204" pitchFamily="34" charset="0"/>
              <a:buChar char="•"/>
            </a:pPr>
            <a:r>
              <a:rPr lang="en-US" b="0" i="0" dirty="0">
                <a:solidFill>
                  <a:srgbClr val="3A3A3A"/>
                </a:solidFill>
                <a:effectLst/>
                <a:latin typeface="Roboto" panose="02000000000000000000" pitchFamily="2" charset="0"/>
              </a:rPr>
              <a:t>&lt;u&gt; – Underlined text</a:t>
            </a:r>
          </a:p>
          <a:p>
            <a:pPr algn="just">
              <a:lnSpc>
                <a:spcPts val="2100"/>
              </a:lnSpc>
              <a:spcBef>
                <a:spcPts val="750"/>
              </a:spcBef>
              <a:spcAft>
                <a:spcPts val="600"/>
              </a:spcAft>
              <a:buFont typeface="Arial" panose="020B0604020202020204" pitchFamily="34" charset="0"/>
              <a:buChar char="•"/>
            </a:pPr>
            <a:r>
              <a:rPr lang="en-US" b="0" i="0" dirty="0">
                <a:solidFill>
                  <a:srgbClr val="3A3A3A"/>
                </a:solidFill>
                <a:effectLst/>
                <a:latin typeface="Roboto" panose="02000000000000000000" pitchFamily="2" charset="0"/>
              </a:rPr>
              <a:t>&lt;sup&gt; – Superscript (e.g., x²)</a:t>
            </a:r>
          </a:p>
          <a:p>
            <a:pPr algn="just">
              <a:lnSpc>
                <a:spcPts val="2100"/>
              </a:lnSpc>
              <a:spcBef>
                <a:spcPts val="750"/>
              </a:spcBef>
              <a:spcAft>
                <a:spcPts val="600"/>
              </a:spcAft>
              <a:buFont typeface="Arial" panose="020B0604020202020204" pitchFamily="34" charset="0"/>
              <a:buChar char="•"/>
            </a:pPr>
            <a:r>
              <a:rPr lang="en-US" b="0" i="0" dirty="0">
                <a:solidFill>
                  <a:srgbClr val="3A3A3A"/>
                </a:solidFill>
                <a:effectLst/>
                <a:latin typeface="Roboto" panose="02000000000000000000" pitchFamily="2" charset="0"/>
              </a:rPr>
              <a:t>&lt;sub&gt; – Subscript (e.g., H₂O)</a:t>
            </a:r>
          </a:p>
          <a:p>
            <a:pPr algn="just">
              <a:lnSpc>
                <a:spcPts val="2100"/>
              </a:lnSpc>
              <a:spcBef>
                <a:spcPts val="750"/>
              </a:spcBef>
              <a:spcAft>
                <a:spcPts val="600"/>
              </a:spcAft>
              <a:buFont typeface="Arial" panose="020B0604020202020204" pitchFamily="34" charset="0"/>
              <a:buChar char="•"/>
            </a:pPr>
            <a:r>
              <a:rPr lang="en-US" b="0" i="0" dirty="0">
                <a:solidFill>
                  <a:srgbClr val="3A3A3A"/>
                </a:solidFill>
                <a:effectLst/>
                <a:latin typeface="Roboto" panose="02000000000000000000" pitchFamily="2" charset="0"/>
              </a:rPr>
              <a:t>&lt;del&gt; – Deleted text</a:t>
            </a:r>
          </a:p>
          <a:p>
            <a:pPr algn="just">
              <a:lnSpc>
                <a:spcPts val="2100"/>
              </a:lnSpc>
              <a:spcBef>
                <a:spcPts val="750"/>
              </a:spcBef>
              <a:spcAft>
                <a:spcPts val="600"/>
              </a:spcAft>
              <a:buFont typeface="Arial" panose="020B0604020202020204" pitchFamily="34" charset="0"/>
              <a:buChar char="•"/>
            </a:pPr>
            <a:r>
              <a:rPr lang="en-US" b="0" i="0" dirty="0">
                <a:solidFill>
                  <a:srgbClr val="3A3A3A"/>
                </a:solidFill>
                <a:effectLst/>
                <a:latin typeface="Roboto" panose="02000000000000000000" pitchFamily="2" charset="0"/>
              </a:rPr>
              <a:t>&lt;ins&gt; – Inserted text</a:t>
            </a:r>
          </a:p>
        </p:txBody>
      </p:sp>
    </p:spTree>
    <p:extLst>
      <p:ext uri="{BB962C8B-B14F-4D97-AF65-F5344CB8AC3E}">
        <p14:creationId xmlns:p14="http://schemas.microsoft.com/office/powerpoint/2010/main" val="236670297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A697DF-8BB5-DE2D-7CE6-B2DAADF3E5C4}"/>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C4960560-9B82-0EE4-961D-761930838BD7}"/>
              </a:ext>
            </a:extLst>
          </p:cNvPr>
          <p:cNvSpPr txBox="1"/>
          <p:nvPr/>
        </p:nvSpPr>
        <p:spPr>
          <a:xfrm>
            <a:off x="2477069" y="412355"/>
            <a:ext cx="4954136" cy="6040115"/>
          </a:xfrm>
          <a:prstGeom prst="rect">
            <a:avLst/>
          </a:prstGeom>
          <a:noFill/>
        </p:spPr>
        <p:txBody>
          <a:bodyPr wrap="square">
            <a:spAutoFit/>
          </a:bodyPr>
          <a:lstStyle/>
          <a:p>
            <a:pPr algn="l">
              <a:lnSpc>
                <a:spcPts val="2100"/>
              </a:lnSpc>
              <a:spcBef>
                <a:spcPts val="2400"/>
              </a:spcBef>
              <a:spcAft>
                <a:spcPts val="1800"/>
              </a:spcAft>
              <a:buNone/>
            </a:pPr>
            <a:r>
              <a:rPr lang="en-US" b="0" i="0" dirty="0">
                <a:solidFill>
                  <a:srgbClr val="272C37"/>
                </a:solidFill>
                <a:effectLst/>
                <a:latin typeface="Roboto" panose="02000000000000000000" pitchFamily="2" charset="0"/>
              </a:rPr>
              <a:t>61. What is the role of the &lt;legend&gt; tag in a form?</a:t>
            </a:r>
          </a:p>
          <a:p>
            <a:pPr algn="just">
              <a:lnSpc>
                <a:spcPts val="2100"/>
              </a:lnSpc>
              <a:spcBef>
                <a:spcPts val="1650"/>
              </a:spcBef>
              <a:buNone/>
            </a:pPr>
            <a:r>
              <a:rPr lang="en-US" b="0" i="0" dirty="0">
                <a:solidFill>
                  <a:srgbClr val="3A3A3A"/>
                </a:solidFill>
                <a:effectLst/>
                <a:latin typeface="Roboto" panose="02000000000000000000" pitchFamily="2" charset="0"/>
              </a:rPr>
              <a:t>The &lt;legend&gt; tag is used inside a &lt;</a:t>
            </a:r>
            <a:r>
              <a:rPr lang="en-US" b="0" i="0" dirty="0" err="1">
                <a:solidFill>
                  <a:srgbClr val="3A3A3A"/>
                </a:solidFill>
                <a:effectLst/>
                <a:latin typeface="Roboto" panose="02000000000000000000" pitchFamily="2" charset="0"/>
              </a:rPr>
              <a:t>fieldset</a:t>
            </a:r>
            <a:r>
              <a:rPr lang="en-US" b="0" i="0" dirty="0">
                <a:solidFill>
                  <a:srgbClr val="3A3A3A"/>
                </a:solidFill>
                <a:effectLst/>
                <a:latin typeface="Roboto" panose="02000000000000000000" pitchFamily="2" charset="0"/>
              </a:rPr>
              <a:t>&gt; to give a title or label to grouped form elements. It helps users understand what the group is about.</a:t>
            </a:r>
          </a:p>
          <a:p>
            <a:pPr algn="just">
              <a:lnSpc>
                <a:spcPts val="2100"/>
              </a:lnSpc>
              <a:spcBef>
                <a:spcPts val="750"/>
              </a:spcBef>
              <a:buNone/>
            </a:pPr>
            <a:r>
              <a:rPr lang="en-US" b="0" i="0" dirty="0">
                <a:solidFill>
                  <a:srgbClr val="3A3A3A"/>
                </a:solidFill>
                <a:effectLst/>
                <a:latin typeface="Roboto" panose="02000000000000000000" pitchFamily="2" charset="0"/>
              </a:rPr>
              <a:t>Example:</a:t>
            </a:r>
          </a:p>
          <a:p>
            <a:pPr algn="l">
              <a:spcBef>
                <a:spcPts val="1125"/>
              </a:spcBef>
              <a:spcAft>
                <a:spcPts val="375"/>
              </a:spcAft>
              <a:buNone/>
            </a:pPr>
            <a:r>
              <a:rPr lang="en-US" b="0" i="0" dirty="0">
                <a:solidFill>
                  <a:srgbClr val="212529"/>
                </a:solidFill>
                <a:effectLst/>
                <a:latin typeface="Courier New" panose="02070309020205020404" pitchFamily="49" charset="0"/>
              </a:rPr>
              <a:t>&lt;</a:t>
            </a:r>
            <a:r>
              <a:rPr lang="en-US" b="0" i="0" dirty="0" err="1">
                <a:solidFill>
                  <a:srgbClr val="212529"/>
                </a:solidFill>
                <a:effectLst/>
                <a:latin typeface="Courier New" panose="02070309020205020404" pitchFamily="49" charset="0"/>
              </a:rPr>
              <a:t>fieldset</a:t>
            </a:r>
            <a:r>
              <a:rPr lang="en-US" b="0" i="0" dirty="0">
                <a:solidFill>
                  <a:srgbClr val="212529"/>
                </a:solidFill>
                <a:effectLst/>
                <a:latin typeface="Courier New" panose="02070309020205020404" pitchFamily="49" charset="0"/>
              </a:rPr>
              <a:t>&gt;</a:t>
            </a:r>
          </a:p>
          <a:p>
            <a:pPr algn="l">
              <a:spcBef>
                <a:spcPts val="1125"/>
              </a:spcBef>
              <a:spcAft>
                <a:spcPts val="375"/>
              </a:spcAft>
              <a:buNone/>
            </a:pPr>
            <a:endParaRPr lang="en-US" b="0" i="0" dirty="0">
              <a:solidFill>
                <a:srgbClr val="212529"/>
              </a:solidFill>
              <a:effectLst/>
              <a:latin typeface="Courier New" panose="02070309020205020404" pitchFamily="49" charset="0"/>
            </a:endParaRPr>
          </a:p>
          <a:p>
            <a:pPr algn="l">
              <a:spcBef>
                <a:spcPts val="1125"/>
              </a:spcBef>
              <a:spcAft>
                <a:spcPts val="375"/>
              </a:spcAft>
              <a:buNone/>
            </a:pPr>
            <a:r>
              <a:rPr lang="en-US" b="0" i="0" dirty="0">
                <a:solidFill>
                  <a:srgbClr val="212529"/>
                </a:solidFill>
                <a:effectLst/>
                <a:latin typeface="Courier New" panose="02070309020205020404" pitchFamily="49" charset="0"/>
              </a:rPr>
              <a:t>  &lt;legend&gt;Contact Info&lt;/legend&gt;</a:t>
            </a:r>
          </a:p>
          <a:p>
            <a:pPr algn="l">
              <a:spcBef>
                <a:spcPts val="1125"/>
              </a:spcBef>
              <a:spcAft>
                <a:spcPts val="375"/>
              </a:spcAft>
              <a:buNone/>
            </a:pPr>
            <a:endParaRPr lang="en-US" b="0" i="0" dirty="0">
              <a:solidFill>
                <a:srgbClr val="212529"/>
              </a:solidFill>
              <a:effectLst/>
              <a:latin typeface="Courier New" panose="02070309020205020404" pitchFamily="49" charset="0"/>
            </a:endParaRPr>
          </a:p>
          <a:p>
            <a:pPr algn="l">
              <a:spcBef>
                <a:spcPts val="1125"/>
              </a:spcBef>
              <a:spcAft>
                <a:spcPts val="375"/>
              </a:spcAft>
              <a:buNone/>
            </a:pPr>
            <a:r>
              <a:rPr lang="en-US" b="0" i="0" dirty="0">
                <a:solidFill>
                  <a:srgbClr val="212529"/>
                </a:solidFill>
                <a:effectLst/>
                <a:latin typeface="Courier New" panose="02070309020205020404" pitchFamily="49" charset="0"/>
              </a:rPr>
              <a:t>  &lt;input type="text" placeholder="Your Name"&gt;</a:t>
            </a:r>
          </a:p>
          <a:p>
            <a:pPr algn="l">
              <a:spcBef>
                <a:spcPts val="1125"/>
              </a:spcBef>
              <a:spcAft>
                <a:spcPts val="375"/>
              </a:spcAft>
              <a:buNone/>
            </a:pPr>
            <a:endParaRPr lang="en-US" b="0" i="0" dirty="0">
              <a:solidFill>
                <a:srgbClr val="212529"/>
              </a:solidFill>
              <a:effectLst/>
              <a:latin typeface="Courier New" panose="02070309020205020404" pitchFamily="49" charset="0"/>
            </a:endParaRPr>
          </a:p>
          <a:p>
            <a:pPr algn="l">
              <a:spcBef>
                <a:spcPts val="1125"/>
              </a:spcBef>
              <a:spcAft>
                <a:spcPts val="375"/>
              </a:spcAft>
              <a:buNone/>
            </a:pPr>
            <a:r>
              <a:rPr lang="en-US" b="0" i="0" dirty="0">
                <a:solidFill>
                  <a:srgbClr val="212529"/>
                </a:solidFill>
                <a:effectLst/>
                <a:latin typeface="Courier New" panose="02070309020205020404" pitchFamily="49" charset="0"/>
              </a:rPr>
              <a:t>&lt;/</a:t>
            </a:r>
            <a:r>
              <a:rPr lang="en-US" b="0" i="0" dirty="0" err="1">
                <a:solidFill>
                  <a:srgbClr val="212529"/>
                </a:solidFill>
                <a:effectLst/>
                <a:latin typeface="Courier New" panose="02070309020205020404" pitchFamily="49" charset="0"/>
              </a:rPr>
              <a:t>fieldset</a:t>
            </a:r>
            <a:r>
              <a:rPr lang="en-US" b="0" i="0" dirty="0">
                <a:solidFill>
                  <a:srgbClr val="212529"/>
                </a:solidFill>
                <a:effectLst/>
                <a:latin typeface="Courier New" panose="02070309020205020404" pitchFamily="49" charset="0"/>
              </a:rPr>
              <a:t>&gt;</a:t>
            </a:r>
          </a:p>
        </p:txBody>
      </p:sp>
    </p:spTree>
    <p:extLst>
      <p:ext uri="{BB962C8B-B14F-4D97-AF65-F5344CB8AC3E}">
        <p14:creationId xmlns:p14="http://schemas.microsoft.com/office/powerpoint/2010/main" val="244055994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224DFC-0410-FAEF-2FD3-2EFE4E34CF5B}"/>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C9D0ECCC-BE3F-6C80-321F-A4B93EE6C139}"/>
              </a:ext>
            </a:extLst>
          </p:cNvPr>
          <p:cNvSpPr txBox="1"/>
          <p:nvPr/>
        </p:nvSpPr>
        <p:spPr>
          <a:xfrm>
            <a:off x="2477069" y="-1063690"/>
            <a:ext cx="4954136" cy="8992205"/>
          </a:xfrm>
          <a:prstGeom prst="rect">
            <a:avLst/>
          </a:prstGeom>
          <a:noFill/>
        </p:spPr>
        <p:txBody>
          <a:bodyPr wrap="square">
            <a:spAutoFit/>
          </a:bodyPr>
          <a:lstStyle/>
          <a:p>
            <a:pPr algn="l">
              <a:lnSpc>
                <a:spcPts val="2100"/>
              </a:lnSpc>
              <a:spcBef>
                <a:spcPts val="2400"/>
              </a:spcBef>
              <a:spcAft>
                <a:spcPts val="1800"/>
              </a:spcAft>
              <a:buNone/>
            </a:pPr>
            <a:r>
              <a:rPr lang="en-US" b="0" i="0" dirty="0">
                <a:solidFill>
                  <a:srgbClr val="272C37"/>
                </a:solidFill>
                <a:effectLst/>
                <a:latin typeface="Roboto" panose="02000000000000000000" pitchFamily="2" charset="0"/>
              </a:rPr>
              <a:t>62. What is the difference between &lt;sup&gt; and &lt;sub&gt; tags in HTML?</a:t>
            </a:r>
          </a:p>
          <a:p>
            <a:pPr algn="just">
              <a:lnSpc>
                <a:spcPts val="2100"/>
              </a:lnSpc>
              <a:spcBef>
                <a:spcPts val="1650"/>
              </a:spcBef>
              <a:spcAft>
                <a:spcPts val="600"/>
              </a:spcAft>
              <a:buFont typeface="Arial" panose="020B0604020202020204" pitchFamily="34" charset="0"/>
              <a:buChar char="•"/>
            </a:pPr>
            <a:r>
              <a:rPr lang="en-US" b="0" i="0" dirty="0">
                <a:solidFill>
                  <a:srgbClr val="3A3A3A"/>
                </a:solidFill>
                <a:effectLst/>
                <a:latin typeface="Roboto" panose="02000000000000000000" pitchFamily="2" charset="0"/>
              </a:rPr>
              <a:t>&lt;sup&gt;: Superscript – text appears above the line (e.g., x²)</a:t>
            </a:r>
          </a:p>
          <a:p>
            <a:pPr algn="just">
              <a:lnSpc>
                <a:spcPts val="2100"/>
              </a:lnSpc>
              <a:spcBef>
                <a:spcPts val="1650"/>
              </a:spcBef>
              <a:spcAft>
                <a:spcPts val="600"/>
              </a:spcAft>
              <a:buFont typeface="Arial" panose="020B0604020202020204" pitchFamily="34" charset="0"/>
              <a:buChar char="•"/>
            </a:pPr>
            <a:r>
              <a:rPr lang="en-US" b="0" i="0" dirty="0">
                <a:solidFill>
                  <a:srgbClr val="3A3A3A"/>
                </a:solidFill>
                <a:effectLst/>
                <a:latin typeface="Roboto" panose="02000000000000000000" pitchFamily="2" charset="0"/>
              </a:rPr>
              <a:t>&lt;sub&gt;: Subscript – text appears below the line (e.g., H₂O)</a:t>
            </a:r>
          </a:p>
          <a:p>
            <a:pPr algn="just">
              <a:lnSpc>
                <a:spcPts val="2100"/>
              </a:lnSpc>
              <a:spcBef>
                <a:spcPts val="1650"/>
              </a:spcBef>
              <a:buNone/>
            </a:pPr>
            <a:r>
              <a:rPr lang="en-US" b="0" i="0" dirty="0">
                <a:solidFill>
                  <a:srgbClr val="3A3A3A"/>
                </a:solidFill>
                <a:effectLst/>
                <a:latin typeface="Roboto" panose="02000000000000000000" pitchFamily="2" charset="0"/>
              </a:rPr>
              <a:t>Example:</a:t>
            </a:r>
          </a:p>
          <a:p>
            <a:pPr algn="l">
              <a:spcBef>
                <a:spcPts val="1125"/>
              </a:spcBef>
              <a:spcAft>
                <a:spcPts val="375"/>
              </a:spcAft>
              <a:buNone/>
            </a:pPr>
            <a:r>
              <a:rPr lang="en-US" b="0" i="0" dirty="0">
                <a:solidFill>
                  <a:srgbClr val="212529"/>
                </a:solidFill>
                <a:effectLst/>
                <a:latin typeface="Courier New" panose="02070309020205020404" pitchFamily="49" charset="0"/>
              </a:rPr>
              <a:t>E = mc&lt;sup&gt;2&lt;/sup&gt;  &lt;!-- Superscript --&gt;</a:t>
            </a:r>
          </a:p>
          <a:p>
            <a:pPr algn="l">
              <a:spcBef>
                <a:spcPts val="1125"/>
              </a:spcBef>
              <a:spcAft>
                <a:spcPts val="375"/>
              </a:spcAft>
              <a:buNone/>
            </a:pPr>
            <a:endParaRPr lang="en-US" b="0" i="0" dirty="0">
              <a:solidFill>
                <a:srgbClr val="212529"/>
              </a:solidFill>
              <a:effectLst/>
              <a:latin typeface="Courier New" panose="02070309020205020404" pitchFamily="49" charset="0"/>
            </a:endParaRPr>
          </a:p>
          <a:p>
            <a:pPr algn="l">
              <a:spcBef>
                <a:spcPts val="1125"/>
              </a:spcBef>
              <a:spcAft>
                <a:spcPts val="375"/>
              </a:spcAft>
              <a:buNone/>
            </a:pPr>
            <a:r>
              <a:rPr lang="en-US" b="0" i="0" dirty="0">
                <a:solidFill>
                  <a:srgbClr val="212529"/>
                </a:solidFill>
                <a:effectLst/>
                <a:latin typeface="Courier New" panose="02070309020205020404" pitchFamily="49" charset="0"/>
              </a:rPr>
              <a:t>H&lt;sub&gt;2&lt;/sub&gt;O     &lt;!-- Subscript --&gt;</a:t>
            </a:r>
          </a:p>
          <a:p>
            <a:pPr algn="l">
              <a:lnSpc>
                <a:spcPts val="2100"/>
              </a:lnSpc>
              <a:spcBef>
                <a:spcPts val="2400"/>
              </a:spcBef>
              <a:spcAft>
                <a:spcPts val="1800"/>
              </a:spcAft>
              <a:buNone/>
            </a:pPr>
            <a:r>
              <a:rPr lang="en-US" b="0" i="0" dirty="0">
                <a:solidFill>
                  <a:srgbClr val="272C37"/>
                </a:solidFill>
                <a:effectLst/>
                <a:latin typeface="Roboto" panose="02000000000000000000" pitchFamily="2" charset="0"/>
              </a:rPr>
              <a:t>63. What are deprecated tags in HTML?</a:t>
            </a:r>
          </a:p>
          <a:p>
            <a:pPr algn="just">
              <a:lnSpc>
                <a:spcPts val="2100"/>
              </a:lnSpc>
              <a:spcBef>
                <a:spcPts val="1650"/>
              </a:spcBef>
              <a:buNone/>
            </a:pPr>
            <a:r>
              <a:rPr lang="en-US" b="0" i="0" dirty="0">
                <a:solidFill>
                  <a:srgbClr val="3A3A3A"/>
                </a:solidFill>
                <a:effectLst/>
                <a:latin typeface="Roboto" panose="02000000000000000000" pitchFamily="2" charset="0"/>
              </a:rPr>
              <a:t>Deprecated tags are old HTML tags that should not be used anymore because better options (like CSS) now exist. They still might work in some browsers but are not recommended.</a:t>
            </a:r>
          </a:p>
          <a:p>
            <a:pPr algn="just">
              <a:lnSpc>
                <a:spcPts val="2100"/>
              </a:lnSpc>
              <a:spcBef>
                <a:spcPts val="750"/>
              </a:spcBef>
              <a:buNone/>
            </a:pPr>
            <a:r>
              <a:rPr lang="en-US" b="0" i="0" dirty="0">
                <a:solidFill>
                  <a:srgbClr val="3A3A3A"/>
                </a:solidFill>
                <a:effectLst/>
                <a:latin typeface="Roboto" panose="02000000000000000000" pitchFamily="2" charset="0"/>
              </a:rPr>
              <a:t>Examples:</a:t>
            </a:r>
          </a:p>
          <a:p>
            <a:pPr algn="just">
              <a:lnSpc>
                <a:spcPts val="2100"/>
              </a:lnSpc>
              <a:spcBef>
                <a:spcPts val="750"/>
              </a:spcBef>
              <a:spcAft>
                <a:spcPts val="600"/>
              </a:spcAft>
              <a:buFont typeface="Arial" panose="020B0604020202020204" pitchFamily="34" charset="0"/>
              <a:buChar char="•"/>
            </a:pPr>
            <a:r>
              <a:rPr lang="en-US" b="0" i="0" dirty="0">
                <a:solidFill>
                  <a:srgbClr val="3A3A3A"/>
                </a:solidFill>
                <a:effectLst/>
                <a:latin typeface="Roboto" panose="02000000000000000000" pitchFamily="2" charset="0"/>
              </a:rPr>
              <a:t>&lt;font&gt; – use CSS for font styling</a:t>
            </a:r>
          </a:p>
          <a:p>
            <a:pPr algn="just">
              <a:lnSpc>
                <a:spcPts val="2100"/>
              </a:lnSpc>
              <a:spcBef>
                <a:spcPts val="750"/>
              </a:spcBef>
              <a:spcAft>
                <a:spcPts val="600"/>
              </a:spcAft>
              <a:buFont typeface="Arial" panose="020B0604020202020204" pitchFamily="34" charset="0"/>
              <a:buChar char="•"/>
            </a:pPr>
            <a:r>
              <a:rPr lang="en-US" b="0" i="0" dirty="0">
                <a:solidFill>
                  <a:srgbClr val="3A3A3A"/>
                </a:solidFill>
                <a:effectLst/>
                <a:latin typeface="Roboto" panose="02000000000000000000" pitchFamily="2" charset="0"/>
              </a:rPr>
              <a:t>&lt;center&gt; – use CSS text-align</a:t>
            </a:r>
          </a:p>
          <a:p>
            <a:pPr algn="just">
              <a:lnSpc>
                <a:spcPts val="2100"/>
              </a:lnSpc>
              <a:spcBef>
                <a:spcPts val="750"/>
              </a:spcBef>
              <a:spcAft>
                <a:spcPts val="600"/>
              </a:spcAft>
              <a:buFont typeface="Arial" panose="020B0604020202020204" pitchFamily="34" charset="0"/>
              <a:buChar char="•"/>
            </a:pPr>
            <a:r>
              <a:rPr lang="en-US" b="0" i="0" dirty="0">
                <a:solidFill>
                  <a:srgbClr val="3A3A3A"/>
                </a:solidFill>
                <a:effectLst/>
                <a:latin typeface="Roboto" panose="02000000000000000000" pitchFamily="2" charset="0"/>
              </a:rPr>
              <a:t>&lt;u&gt; – use CSS text-decoration</a:t>
            </a:r>
          </a:p>
        </p:txBody>
      </p:sp>
    </p:spTree>
    <p:extLst>
      <p:ext uri="{BB962C8B-B14F-4D97-AF65-F5344CB8AC3E}">
        <p14:creationId xmlns:p14="http://schemas.microsoft.com/office/powerpoint/2010/main" val="47014388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23DD83-FC48-35DC-EE12-F4F024213B44}"/>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729A57BA-A2AC-B93A-2871-EF4A905A5C0C}"/>
              </a:ext>
            </a:extLst>
          </p:cNvPr>
          <p:cNvSpPr txBox="1"/>
          <p:nvPr/>
        </p:nvSpPr>
        <p:spPr>
          <a:xfrm>
            <a:off x="2477069" y="-1733104"/>
            <a:ext cx="4954136" cy="10331033"/>
          </a:xfrm>
          <a:prstGeom prst="rect">
            <a:avLst/>
          </a:prstGeom>
          <a:noFill/>
        </p:spPr>
        <p:txBody>
          <a:bodyPr wrap="square">
            <a:spAutoFit/>
          </a:bodyPr>
          <a:lstStyle/>
          <a:p>
            <a:pPr algn="l">
              <a:lnSpc>
                <a:spcPts val="2100"/>
              </a:lnSpc>
              <a:spcBef>
                <a:spcPts val="2400"/>
              </a:spcBef>
              <a:spcAft>
                <a:spcPts val="1800"/>
              </a:spcAft>
              <a:buNone/>
            </a:pPr>
            <a:r>
              <a:rPr lang="en-US" b="0" i="0" dirty="0">
                <a:solidFill>
                  <a:srgbClr val="272C37"/>
                </a:solidFill>
                <a:effectLst/>
                <a:latin typeface="Roboto" panose="02000000000000000000" pitchFamily="2" charset="0"/>
              </a:rPr>
              <a:t>64. How can you make an image clickable in HTML?</a:t>
            </a:r>
          </a:p>
          <a:p>
            <a:pPr algn="just">
              <a:lnSpc>
                <a:spcPts val="2100"/>
              </a:lnSpc>
              <a:spcBef>
                <a:spcPts val="1650"/>
              </a:spcBef>
              <a:buNone/>
            </a:pPr>
            <a:r>
              <a:rPr lang="en-US" b="0" i="0" dirty="0">
                <a:solidFill>
                  <a:srgbClr val="3A3A3A"/>
                </a:solidFill>
                <a:effectLst/>
                <a:latin typeface="Roboto" panose="02000000000000000000" pitchFamily="2" charset="0"/>
              </a:rPr>
              <a:t>Wrap the &lt;</a:t>
            </a:r>
            <a:r>
              <a:rPr lang="en-US" b="0" i="0" dirty="0" err="1">
                <a:solidFill>
                  <a:srgbClr val="3A3A3A"/>
                </a:solidFill>
                <a:effectLst/>
                <a:latin typeface="Roboto" panose="02000000000000000000" pitchFamily="2" charset="0"/>
              </a:rPr>
              <a:t>img</a:t>
            </a:r>
            <a:r>
              <a:rPr lang="en-US" b="0" i="0" dirty="0">
                <a:solidFill>
                  <a:srgbClr val="3A3A3A"/>
                </a:solidFill>
                <a:effectLst/>
                <a:latin typeface="Roboto" panose="02000000000000000000" pitchFamily="2" charset="0"/>
              </a:rPr>
              <a:t>&gt; tag inside an &lt;a&gt; tag.</a:t>
            </a:r>
          </a:p>
          <a:p>
            <a:pPr algn="just">
              <a:lnSpc>
                <a:spcPts val="2100"/>
              </a:lnSpc>
              <a:spcBef>
                <a:spcPts val="750"/>
              </a:spcBef>
              <a:buNone/>
            </a:pPr>
            <a:r>
              <a:rPr lang="en-US" b="0" i="0" dirty="0">
                <a:solidFill>
                  <a:srgbClr val="3A3A3A"/>
                </a:solidFill>
                <a:effectLst/>
                <a:latin typeface="Roboto" panose="02000000000000000000" pitchFamily="2" charset="0"/>
              </a:rPr>
              <a:t>Example:</a:t>
            </a:r>
          </a:p>
          <a:p>
            <a:pPr algn="l">
              <a:spcBef>
                <a:spcPts val="1125"/>
              </a:spcBef>
              <a:spcAft>
                <a:spcPts val="375"/>
              </a:spcAft>
              <a:buNone/>
            </a:pPr>
            <a:r>
              <a:rPr lang="en-US" b="0" i="0" dirty="0">
                <a:solidFill>
                  <a:srgbClr val="212529"/>
                </a:solidFill>
                <a:effectLst/>
                <a:latin typeface="Courier New" panose="02070309020205020404" pitchFamily="49" charset="0"/>
              </a:rPr>
              <a:t>&lt;a </a:t>
            </a:r>
            <a:r>
              <a:rPr lang="en-US" b="0" i="0" dirty="0" err="1">
                <a:solidFill>
                  <a:srgbClr val="212529"/>
                </a:solidFill>
                <a:effectLst/>
                <a:latin typeface="Courier New" panose="02070309020205020404" pitchFamily="49" charset="0"/>
              </a:rPr>
              <a:t>href</a:t>
            </a:r>
            <a:r>
              <a:rPr lang="en-US" b="0" i="0" dirty="0">
                <a:solidFill>
                  <a:srgbClr val="212529"/>
                </a:solidFill>
                <a:effectLst/>
                <a:latin typeface="Courier New" panose="02070309020205020404" pitchFamily="49" charset="0"/>
              </a:rPr>
              <a:t>="https://example.com"&gt;</a:t>
            </a:r>
          </a:p>
          <a:p>
            <a:pPr algn="l">
              <a:spcBef>
                <a:spcPts val="1125"/>
              </a:spcBef>
              <a:spcAft>
                <a:spcPts val="375"/>
              </a:spcAft>
              <a:buNone/>
            </a:pPr>
            <a:endParaRPr lang="en-US" b="0" i="0" dirty="0">
              <a:solidFill>
                <a:srgbClr val="212529"/>
              </a:solidFill>
              <a:effectLst/>
              <a:latin typeface="Courier New" panose="02070309020205020404" pitchFamily="49" charset="0"/>
            </a:endParaRPr>
          </a:p>
          <a:p>
            <a:pPr algn="l">
              <a:spcBef>
                <a:spcPts val="1125"/>
              </a:spcBef>
              <a:spcAft>
                <a:spcPts val="375"/>
              </a:spcAft>
              <a:buNone/>
            </a:pPr>
            <a:r>
              <a:rPr lang="en-US" b="0" i="0" dirty="0">
                <a:solidFill>
                  <a:srgbClr val="212529"/>
                </a:solidFill>
                <a:effectLst/>
                <a:latin typeface="Courier New" panose="02070309020205020404" pitchFamily="49" charset="0"/>
              </a:rPr>
              <a:t>  &lt;</a:t>
            </a:r>
            <a:r>
              <a:rPr lang="en-US" b="0" i="0" dirty="0" err="1">
                <a:solidFill>
                  <a:srgbClr val="212529"/>
                </a:solidFill>
                <a:effectLst/>
                <a:latin typeface="Courier New" panose="02070309020205020404" pitchFamily="49" charset="0"/>
              </a:rPr>
              <a:t>img</a:t>
            </a:r>
            <a:r>
              <a:rPr lang="en-US" b="0" i="0" dirty="0">
                <a:solidFill>
                  <a:srgbClr val="212529"/>
                </a:solidFill>
                <a:effectLst/>
                <a:latin typeface="Courier New" panose="02070309020205020404" pitchFamily="49" charset="0"/>
              </a:rPr>
              <a:t> </a:t>
            </a:r>
            <a:r>
              <a:rPr lang="en-US" b="0" i="0" dirty="0" err="1">
                <a:solidFill>
                  <a:srgbClr val="212529"/>
                </a:solidFill>
                <a:effectLst/>
                <a:latin typeface="Courier New" panose="02070309020205020404" pitchFamily="49" charset="0"/>
              </a:rPr>
              <a:t>src</a:t>
            </a:r>
            <a:r>
              <a:rPr lang="en-US" b="0" i="0" dirty="0">
                <a:solidFill>
                  <a:srgbClr val="212529"/>
                </a:solidFill>
                <a:effectLst/>
                <a:latin typeface="Courier New" panose="02070309020205020404" pitchFamily="49" charset="0"/>
              </a:rPr>
              <a:t>="image.jpg" alt="Clickable Image"&gt;</a:t>
            </a:r>
          </a:p>
          <a:p>
            <a:pPr algn="l">
              <a:spcBef>
                <a:spcPts val="1125"/>
              </a:spcBef>
              <a:spcAft>
                <a:spcPts val="375"/>
              </a:spcAft>
              <a:buNone/>
            </a:pPr>
            <a:endParaRPr lang="en-US" b="0" i="0" dirty="0">
              <a:solidFill>
                <a:srgbClr val="212529"/>
              </a:solidFill>
              <a:effectLst/>
              <a:latin typeface="Courier New" panose="02070309020205020404" pitchFamily="49" charset="0"/>
            </a:endParaRPr>
          </a:p>
          <a:p>
            <a:pPr algn="l">
              <a:spcBef>
                <a:spcPts val="1125"/>
              </a:spcBef>
              <a:spcAft>
                <a:spcPts val="375"/>
              </a:spcAft>
              <a:buNone/>
            </a:pPr>
            <a:r>
              <a:rPr lang="en-US" b="0" i="0" dirty="0">
                <a:solidFill>
                  <a:srgbClr val="212529"/>
                </a:solidFill>
                <a:effectLst/>
                <a:latin typeface="Courier New" panose="02070309020205020404" pitchFamily="49" charset="0"/>
              </a:rPr>
              <a:t>&lt;/a&gt;</a:t>
            </a:r>
          </a:p>
          <a:p>
            <a:pPr algn="l">
              <a:lnSpc>
                <a:spcPts val="2100"/>
              </a:lnSpc>
              <a:spcBef>
                <a:spcPts val="2400"/>
              </a:spcBef>
              <a:spcAft>
                <a:spcPts val="1800"/>
              </a:spcAft>
              <a:buNone/>
            </a:pPr>
            <a:r>
              <a:rPr lang="en-US" b="0" i="0" dirty="0">
                <a:solidFill>
                  <a:srgbClr val="272C37"/>
                </a:solidFill>
                <a:effectLst/>
                <a:latin typeface="Roboto" panose="02000000000000000000" pitchFamily="2" charset="0"/>
              </a:rPr>
              <a:t>65. What is the &lt;details&gt; tag and how is it used?</a:t>
            </a:r>
          </a:p>
          <a:p>
            <a:pPr algn="just">
              <a:lnSpc>
                <a:spcPts val="2100"/>
              </a:lnSpc>
              <a:spcBef>
                <a:spcPts val="1650"/>
              </a:spcBef>
              <a:buNone/>
            </a:pPr>
            <a:r>
              <a:rPr lang="en-US" b="0" i="0" dirty="0">
                <a:solidFill>
                  <a:srgbClr val="3A3A3A"/>
                </a:solidFill>
                <a:effectLst/>
                <a:latin typeface="Roboto" panose="02000000000000000000" pitchFamily="2" charset="0"/>
              </a:rPr>
              <a:t>The &lt;details&gt; tag is used to create a section that can be expanded or collapsed by the user. It’s often used for FAQs or extra information.</a:t>
            </a:r>
          </a:p>
          <a:p>
            <a:pPr algn="just">
              <a:lnSpc>
                <a:spcPts val="2100"/>
              </a:lnSpc>
              <a:spcBef>
                <a:spcPts val="750"/>
              </a:spcBef>
              <a:buNone/>
            </a:pPr>
            <a:r>
              <a:rPr lang="en-US" b="0" i="0" dirty="0">
                <a:solidFill>
                  <a:srgbClr val="3A3A3A"/>
                </a:solidFill>
                <a:effectLst/>
                <a:latin typeface="Roboto" panose="02000000000000000000" pitchFamily="2" charset="0"/>
              </a:rPr>
              <a:t>Example:</a:t>
            </a:r>
          </a:p>
          <a:p>
            <a:pPr algn="l">
              <a:spcBef>
                <a:spcPts val="1125"/>
              </a:spcBef>
              <a:spcAft>
                <a:spcPts val="375"/>
              </a:spcAft>
              <a:buNone/>
            </a:pPr>
            <a:r>
              <a:rPr lang="en-US" b="0" i="0" dirty="0">
                <a:solidFill>
                  <a:srgbClr val="212529"/>
                </a:solidFill>
                <a:effectLst/>
                <a:latin typeface="Courier New" panose="02070309020205020404" pitchFamily="49" charset="0"/>
              </a:rPr>
              <a:t>&lt;details&gt;</a:t>
            </a:r>
          </a:p>
          <a:p>
            <a:pPr algn="l">
              <a:spcBef>
                <a:spcPts val="1125"/>
              </a:spcBef>
              <a:spcAft>
                <a:spcPts val="375"/>
              </a:spcAft>
              <a:buNone/>
            </a:pPr>
            <a:endParaRPr lang="en-US" b="0" i="0" dirty="0">
              <a:solidFill>
                <a:srgbClr val="212529"/>
              </a:solidFill>
              <a:effectLst/>
              <a:latin typeface="Courier New" panose="02070309020205020404" pitchFamily="49" charset="0"/>
            </a:endParaRPr>
          </a:p>
          <a:p>
            <a:pPr algn="l">
              <a:spcBef>
                <a:spcPts val="1125"/>
              </a:spcBef>
              <a:spcAft>
                <a:spcPts val="375"/>
              </a:spcAft>
              <a:buNone/>
            </a:pPr>
            <a:r>
              <a:rPr lang="en-US" b="0" i="0" dirty="0">
                <a:solidFill>
                  <a:srgbClr val="212529"/>
                </a:solidFill>
                <a:effectLst/>
                <a:latin typeface="Courier New" panose="02070309020205020404" pitchFamily="49" charset="0"/>
              </a:rPr>
              <a:t>  &lt;summary&gt;More Info&lt;/summary&gt;</a:t>
            </a:r>
          </a:p>
          <a:p>
            <a:pPr algn="l">
              <a:spcBef>
                <a:spcPts val="1125"/>
              </a:spcBef>
              <a:spcAft>
                <a:spcPts val="375"/>
              </a:spcAft>
              <a:buNone/>
            </a:pPr>
            <a:endParaRPr lang="en-US" b="0" i="0" dirty="0">
              <a:solidFill>
                <a:srgbClr val="212529"/>
              </a:solidFill>
              <a:effectLst/>
              <a:latin typeface="Courier New" panose="02070309020205020404" pitchFamily="49" charset="0"/>
            </a:endParaRPr>
          </a:p>
          <a:p>
            <a:pPr algn="l">
              <a:spcBef>
                <a:spcPts val="1125"/>
              </a:spcBef>
              <a:spcAft>
                <a:spcPts val="375"/>
              </a:spcAft>
              <a:buNone/>
            </a:pPr>
            <a:r>
              <a:rPr lang="en-US" b="0" i="0" dirty="0">
                <a:solidFill>
                  <a:srgbClr val="212529"/>
                </a:solidFill>
                <a:effectLst/>
                <a:latin typeface="Courier New" panose="02070309020205020404" pitchFamily="49" charset="0"/>
              </a:rPr>
              <a:t>  &lt;p&gt;This is hidden until clicked.&lt;/p&gt;</a:t>
            </a:r>
          </a:p>
          <a:p>
            <a:pPr algn="l">
              <a:spcBef>
                <a:spcPts val="1125"/>
              </a:spcBef>
              <a:spcAft>
                <a:spcPts val="375"/>
              </a:spcAft>
              <a:buNone/>
            </a:pPr>
            <a:endParaRPr lang="en-US" b="0" i="0" dirty="0">
              <a:solidFill>
                <a:srgbClr val="212529"/>
              </a:solidFill>
              <a:effectLst/>
              <a:latin typeface="Courier New" panose="02070309020205020404" pitchFamily="49" charset="0"/>
            </a:endParaRPr>
          </a:p>
          <a:p>
            <a:pPr algn="l">
              <a:spcBef>
                <a:spcPts val="1125"/>
              </a:spcBef>
              <a:spcAft>
                <a:spcPts val="375"/>
              </a:spcAft>
              <a:buNone/>
            </a:pPr>
            <a:r>
              <a:rPr lang="en-US" b="0" i="0" dirty="0">
                <a:solidFill>
                  <a:srgbClr val="212529"/>
                </a:solidFill>
                <a:effectLst/>
                <a:latin typeface="Courier New" panose="02070309020205020404" pitchFamily="49" charset="0"/>
              </a:rPr>
              <a:t>&lt;/details&gt;</a:t>
            </a:r>
          </a:p>
        </p:txBody>
      </p:sp>
    </p:spTree>
    <p:extLst>
      <p:ext uri="{BB962C8B-B14F-4D97-AF65-F5344CB8AC3E}">
        <p14:creationId xmlns:p14="http://schemas.microsoft.com/office/powerpoint/2010/main" val="410366206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25D96C-C62F-EB3B-7E8E-E40D8A48B135}"/>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DF11DC32-2CDE-87CD-8DD0-650958BC54A1}"/>
              </a:ext>
            </a:extLst>
          </p:cNvPr>
          <p:cNvSpPr txBox="1"/>
          <p:nvPr/>
        </p:nvSpPr>
        <p:spPr>
          <a:xfrm>
            <a:off x="2477069" y="-1406092"/>
            <a:ext cx="4954136" cy="9677008"/>
          </a:xfrm>
          <a:prstGeom prst="rect">
            <a:avLst/>
          </a:prstGeom>
          <a:noFill/>
        </p:spPr>
        <p:txBody>
          <a:bodyPr wrap="square">
            <a:spAutoFit/>
          </a:bodyPr>
          <a:lstStyle/>
          <a:p>
            <a:pPr algn="l">
              <a:lnSpc>
                <a:spcPts val="2100"/>
              </a:lnSpc>
              <a:spcBef>
                <a:spcPts val="2400"/>
              </a:spcBef>
              <a:spcAft>
                <a:spcPts val="1800"/>
              </a:spcAft>
              <a:buNone/>
            </a:pPr>
            <a:r>
              <a:rPr lang="en-US" b="0" i="0" dirty="0">
                <a:solidFill>
                  <a:srgbClr val="272C37"/>
                </a:solidFill>
                <a:effectLst/>
                <a:latin typeface="Roboto" panose="02000000000000000000" pitchFamily="2" charset="0"/>
              </a:rPr>
              <a:t>66. How can you create a tooltip in HTML?</a:t>
            </a:r>
          </a:p>
          <a:p>
            <a:pPr algn="just">
              <a:lnSpc>
                <a:spcPts val="2100"/>
              </a:lnSpc>
              <a:spcBef>
                <a:spcPts val="1650"/>
              </a:spcBef>
              <a:buNone/>
            </a:pPr>
            <a:r>
              <a:rPr lang="en-US" b="0" i="0" dirty="0">
                <a:solidFill>
                  <a:srgbClr val="3A3A3A"/>
                </a:solidFill>
                <a:effectLst/>
                <a:latin typeface="Roboto" panose="02000000000000000000" pitchFamily="2" charset="0"/>
              </a:rPr>
              <a:t>Use the title attribute. When the user hovers over the element, the tooltip appears.</a:t>
            </a:r>
          </a:p>
          <a:p>
            <a:pPr algn="just">
              <a:lnSpc>
                <a:spcPts val="2100"/>
              </a:lnSpc>
              <a:spcBef>
                <a:spcPts val="750"/>
              </a:spcBef>
              <a:buNone/>
            </a:pPr>
            <a:r>
              <a:rPr lang="en-US" b="0" i="0" dirty="0">
                <a:solidFill>
                  <a:srgbClr val="3A3A3A"/>
                </a:solidFill>
                <a:effectLst/>
                <a:latin typeface="Roboto" panose="02000000000000000000" pitchFamily="2" charset="0"/>
              </a:rPr>
              <a:t>Example:</a:t>
            </a:r>
          </a:p>
          <a:p>
            <a:pPr algn="l">
              <a:spcBef>
                <a:spcPts val="1125"/>
              </a:spcBef>
              <a:spcAft>
                <a:spcPts val="375"/>
              </a:spcAft>
              <a:buNone/>
            </a:pPr>
            <a:r>
              <a:rPr lang="en-US" b="0" i="0" dirty="0">
                <a:solidFill>
                  <a:srgbClr val="212529"/>
                </a:solidFill>
                <a:effectLst/>
                <a:latin typeface="Courier New" panose="02070309020205020404" pitchFamily="49" charset="0"/>
              </a:rPr>
              <a:t>&lt;p title="This is a tooltip!"&gt;Hover over this text.&lt;/p&gt;</a:t>
            </a:r>
          </a:p>
          <a:p>
            <a:pPr algn="l">
              <a:lnSpc>
                <a:spcPts val="2100"/>
              </a:lnSpc>
              <a:spcBef>
                <a:spcPts val="2400"/>
              </a:spcBef>
              <a:spcAft>
                <a:spcPts val="1800"/>
              </a:spcAft>
              <a:buNone/>
            </a:pPr>
            <a:r>
              <a:rPr lang="en-US" b="0" i="0" dirty="0">
                <a:solidFill>
                  <a:srgbClr val="272C37"/>
                </a:solidFill>
                <a:effectLst/>
                <a:latin typeface="Roboto" panose="02000000000000000000" pitchFamily="2" charset="0"/>
              </a:rPr>
              <a:t>67. What is the &lt;output&gt; tag used for in HTML5 forms?</a:t>
            </a:r>
          </a:p>
          <a:p>
            <a:pPr algn="just">
              <a:lnSpc>
                <a:spcPts val="2100"/>
              </a:lnSpc>
              <a:spcBef>
                <a:spcPts val="1650"/>
              </a:spcBef>
              <a:buNone/>
            </a:pPr>
            <a:r>
              <a:rPr lang="en-US" b="0" i="0" dirty="0">
                <a:solidFill>
                  <a:srgbClr val="3A3A3A"/>
                </a:solidFill>
                <a:effectLst/>
                <a:latin typeface="Roboto" panose="02000000000000000000" pitchFamily="2" charset="0"/>
              </a:rPr>
              <a:t>The &lt;output&gt; tag is used to display the result of a calculation or script in a form.</a:t>
            </a:r>
          </a:p>
          <a:p>
            <a:pPr algn="just">
              <a:lnSpc>
                <a:spcPts val="2100"/>
              </a:lnSpc>
              <a:spcBef>
                <a:spcPts val="750"/>
              </a:spcBef>
              <a:buNone/>
            </a:pPr>
            <a:r>
              <a:rPr lang="en-US" b="0" i="0" dirty="0">
                <a:solidFill>
                  <a:srgbClr val="3A3A3A"/>
                </a:solidFill>
                <a:effectLst/>
                <a:latin typeface="Roboto" panose="02000000000000000000" pitchFamily="2" charset="0"/>
              </a:rPr>
              <a:t>Example:</a:t>
            </a:r>
          </a:p>
          <a:p>
            <a:pPr algn="l">
              <a:spcBef>
                <a:spcPts val="1125"/>
              </a:spcBef>
              <a:spcAft>
                <a:spcPts val="375"/>
              </a:spcAft>
              <a:buNone/>
            </a:pPr>
            <a:r>
              <a:rPr lang="en-US" b="0" i="0" dirty="0">
                <a:solidFill>
                  <a:srgbClr val="212529"/>
                </a:solidFill>
                <a:effectLst/>
                <a:latin typeface="Courier New" panose="02070309020205020404" pitchFamily="49" charset="0"/>
              </a:rPr>
              <a:t>&lt;form </a:t>
            </a:r>
            <a:r>
              <a:rPr lang="en-US" b="0" i="0" dirty="0" err="1">
                <a:solidFill>
                  <a:srgbClr val="212529"/>
                </a:solidFill>
                <a:effectLst/>
                <a:latin typeface="Courier New" panose="02070309020205020404" pitchFamily="49" charset="0"/>
              </a:rPr>
              <a:t>oninput</a:t>
            </a:r>
            <a:r>
              <a:rPr lang="en-US" b="0" i="0" dirty="0">
                <a:solidFill>
                  <a:srgbClr val="212529"/>
                </a:solidFill>
                <a:effectLst/>
                <a:latin typeface="Courier New" panose="02070309020205020404" pitchFamily="49" charset="0"/>
              </a:rPr>
              <a:t>="</a:t>
            </a:r>
            <a:r>
              <a:rPr lang="en-US" b="0" i="0" dirty="0" err="1">
                <a:solidFill>
                  <a:srgbClr val="212529"/>
                </a:solidFill>
                <a:effectLst/>
                <a:latin typeface="Courier New" panose="02070309020205020404" pitchFamily="49" charset="0"/>
              </a:rPr>
              <a:t>result.value</a:t>
            </a:r>
            <a:r>
              <a:rPr lang="en-US" b="0" i="0" dirty="0">
                <a:solidFill>
                  <a:srgbClr val="212529"/>
                </a:solidFill>
                <a:effectLst/>
                <a:latin typeface="Courier New" panose="02070309020205020404" pitchFamily="49" charset="0"/>
              </a:rPr>
              <a:t> = </a:t>
            </a:r>
            <a:r>
              <a:rPr lang="en-US" b="0" i="0" dirty="0" err="1">
                <a:solidFill>
                  <a:srgbClr val="212529"/>
                </a:solidFill>
                <a:effectLst/>
                <a:latin typeface="Courier New" panose="02070309020205020404" pitchFamily="49" charset="0"/>
              </a:rPr>
              <a:t>parseInt</a:t>
            </a:r>
            <a:r>
              <a:rPr lang="en-US" b="0" i="0" dirty="0">
                <a:solidFill>
                  <a:srgbClr val="212529"/>
                </a:solidFill>
                <a:effectLst/>
                <a:latin typeface="Courier New" panose="02070309020205020404" pitchFamily="49" charset="0"/>
              </a:rPr>
              <a:t>(</a:t>
            </a:r>
            <a:r>
              <a:rPr lang="en-US" b="0" i="0" dirty="0" err="1">
                <a:solidFill>
                  <a:srgbClr val="212529"/>
                </a:solidFill>
                <a:effectLst/>
                <a:latin typeface="Courier New" panose="02070309020205020404" pitchFamily="49" charset="0"/>
              </a:rPr>
              <a:t>a.value</a:t>
            </a:r>
            <a:r>
              <a:rPr lang="en-US" b="0" i="0" dirty="0">
                <a:solidFill>
                  <a:srgbClr val="212529"/>
                </a:solidFill>
                <a:effectLst/>
                <a:latin typeface="Courier New" panose="02070309020205020404" pitchFamily="49" charset="0"/>
              </a:rPr>
              <a:t>) + </a:t>
            </a:r>
            <a:r>
              <a:rPr lang="en-US" b="0" i="0" dirty="0" err="1">
                <a:solidFill>
                  <a:srgbClr val="212529"/>
                </a:solidFill>
                <a:effectLst/>
                <a:latin typeface="Courier New" panose="02070309020205020404" pitchFamily="49" charset="0"/>
              </a:rPr>
              <a:t>parseInt</a:t>
            </a:r>
            <a:r>
              <a:rPr lang="en-US" b="0" i="0" dirty="0">
                <a:solidFill>
                  <a:srgbClr val="212529"/>
                </a:solidFill>
                <a:effectLst/>
                <a:latin typeface="Courier New" panose="02070309020205020404" pitchFamily="49" charset="0"/>
              </a:rPr>
              <a:t>(</a:t>
            </a:r>
            <a:r>
              <a:rPr lang="en-US" b="0" i="0" dirty="0" err="1">
                <a:solidFill>
                  <a:srgbClr val="212529"/>
                </a:solidFill>
                <a:effectLst/>
                <a:latin typeface="Courier New" panose="02070309020205020404" pitchFamily="49" charset="0"/>
              </a:rPr>
              <a:t>b.value</a:t>
            </a:r>
            <a:r>
              <a:rPr lang="en-US" b="0" i="0" dirty="0">
                <a:solidFill>
                  <a:srgbClr val="212529"/>
                </a:solidFill>
                <a:effectLst/>
                <a:latin typeface="Courier New" panose="02070309020205020404" pitchFamily="49" charset="0"/>
              </a:rPr>
              <a:t>)"&gt;</a:t>
            </a:r>
          </a:p>
          <a:p>
            <a:pPr algn="l">
              <a:spcBef>
                <a:spcPts val="1125"/>
              </a:spcBef>
              <a:spcAft>
                <a:spcPts val="375"/>
              </a:spcAft>
              <a:buNone/>
            </a:pPr>
            <a:endParaRPr lang="en-US" b="0" i="0" dirty="0">
              <a:solidFill>
                <a:srgbClr val="212529"/>
              </a:solidFill>
              <a:effectLst/>
              <a:latin typeface="Courier New" panose="02070309020205020404" pitchFamily="49" charset="0"/>
            </a:endParaRPr>
          </a:p>
          <a:p>
            <a:pPr algn="l">
              <a:spcBef>
                <a:spcPts val="1125"/>
              </a:spcBef>
              <a:spcAft>
                <a:spcPts val="375"/>
              </a:spcAft>
              <a:buNone/>
            </a:pPr>
            <a:r>
              <a:rPr lang="en-US" b="0" i="0" dirty="0">
                <a:solidFill>
                  <a:srgbClr val="212529"/>
                </a:solidFill>
                <a:effectLst/>
                <a:latin typeface="Courier New" panose="02070309020205020404" pitchFamily="49" charset="0"/>
              </a:rPr>
              <a:t>  &lt;input type="number" id="a"&gt; + </a:t>
            </a:r>
          </a:p>
          <a:p>
            <a:pPr algn="l">
              <a:spcBef>
                <a:spcPts val="1125"/>
              </a:spcBef>
              <a:spcAft>
                <a:spcPts val="375"/>
              </a:spcAft>
              <a:buNone/>
            </a:pPr>
            <a:endParaRPr lang="en-US" b="0" i="0" dirty="0">
              <a:solidFill>
                <a:srgbClr val="212529"/>
              </a:solidFill>
              <a:effectLst/>
              <a:latin typeface="Courier New" panose="02070309020205020404" pitchFamily="49" charset="0"/>
            </a:endParaRPr>
          </a:p>
          <a:p>
            <a:pPr algn="l">
              <a:spcBef>
                <a:spcPts val="1125"/>
              </a:spcBef>
              <a:spcAft>
                <a:spcPts val="375"/>
              </a:spcAft>
              <a:buNone/>
            </a:pPr>
            <a:r>
              <a:rPr lang="en-US" b="0" i="0" dirty="0">
                <a:solidFill>
                  <a:srgbClr val="212529"/>
                </a:solidFill>
                <a:effectLst/>
                <a:latin typeface="Courier New" panose="02070309020205020404" pitchFamily="49" charset="0"/>
              </a:rPr>
              <a:t>  &lt;input type="number" id="b"&gt; =</a:t>
            </a:r>
          </a:p>
          <a:p>
            <a:pPr algn="l">
              <a:spcBef>
                <a:spcPts val="1125"/>
              </a:spcBef>
              <a:spcAft>
                <a:spcPts val="375"/>
              </a:spcAft>
              <a:buNone/>
            </a:pPr>
            <a:endParaRPr lang="en-US" b="0" i="0" dirty="0">
              <a:solidFill>
                <a:srgbClr val="212529"/>
              </a:solidFill>
              <a:effectLst/>
              <a:latin typeface="Courier New" panose="02070309020205020404" pitchFamily="49" charset="0"/>
            </a:endParaRPr>
          </a:p>
          <a:p>
            <a:pPr algn="l">
              <a:spcBef>
                <a:spcPts val="1125"/>
              </a:spcBef>
              <a:spcAft>
                <a:spcPts val="375"/>
              </a:spcAft>
              <a:buNone/>
            </a:pPr>
            <a:r>
              <a:rPr lang="en-US" b="0" i="0" dirty="0">
                <a:solidFill>
                  <a:srgbClr val="212529"/>
                </a:solidFill>
                <a:effectLst/>
                <a:latin typeface="Courier New" panose="02070309020205020404" pitchFamily="49" charset="0"/>
              </a:rPr>
              <a:t>  &lt;output name="result"&gt;&lt;/output&gt;</a:t>
            </a:r>
          </a:p>
          <a:p>
            <a:pPr algn="l">
              <a:spcBef>
                <a:spcPts val="1125"/>
              </a:spcBef>
              <a:spcAft>
                <a:spcPts val="375"/>
              </a:spcAft>
              <a:buNone/>
            </a:pPr>
            <a:endParaRPr lang="en-US" b="0" i="0" dirty="0">
              <a:solidFill>
                <a:srgbClr val="212529"/>
              </a:solidFill>
              <a:effectLst/>
              <a:latin typeface="Courier New" panose="02070309020205020404" pitchFamily="49" charset="0"/>
            </a:endParaRPr>
          </a:p>
          <a:p>
            <a:pPr algn="l">
              <a:spcBef>
                <a:spcPts val="1125"/>
              </a:spcBef>
              <a:spcAft>
                <a:spcPts val="375"/>
              </a:spcAft>
              <a:buNone/>
            </a:pPr>
            <a:r>
              <a:rPr lang="en-US" b="0" i="0" dirty="0">
                <a:solidFill>
                  <a:srgbClr val="212529"/>
                </a:solidFill>
                <a:effectLst/>
                <a:latin typeface="Courier New" panose="02070309020205020404" pitchFamily="49" charset="0"/>
              </a:rPr>
              <a:t>&lt;/form&gt;</a:t>
            </a:r>
          </a:p>
        </p:txBody>
      </p:sp>
    </p:spTree>
    <p:extLst>
      <p:ext uri="{BB962C8B-B14F-4D97-AF65-F5344CB8AC3E}">
        <p14:creationId xmlns:p14="http://schemas.microsoft.com/office/powerpoint/2010/main" val="239315309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F7EA5B-5860-8236-5200-570E159930BD}"/>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1CBC578C-0ECC-5F48-8265-CFDC06D887A9}"/>
              </a:ext>
            </a:extLst>
          </p:cNvPr>
          <p:cNvSpPr txBox="1"/>
          <p:nvPr/>
        </p:nvSpPr>
        <p:spPr>
          <a:xfrm>
            <a:off x="2477069" y="-507128"/>
            <a:ext cx="4954136" cy="7879080"/>
          </a:xfrm>
          <a:prstGeom prst="rect">
            <a:avLst/>
          </a:prstGeom>
          <a:noFill/>
        </p:spPr>
        <p:txBody>
          <a:bodyPr wrap="square">
            <a:spAutoFit/>
          </a:bodyPr>
          <a:lstStyle/>
          <a:p>
            <a:pPr algn="l">
              <a:lnSpc>
                <a:spcPts val="2100"/>
              </a:lnSpc>
              <a:spcBef>
                <a:spcPts val="2400"/>
              </a:spcBef>
              <a:spcAft>
                <a:spcPts val="1800"/>
              </a:spcAft>
              <a:buNone/>
            </a:pPr>
            <a:r>
              <a:rPr lang="en-US" b="0" i="0" dirty="0">
                <a:solidFill>
                  <a:srgbClr val="272C37"/>
                </a:solidFill>
                <a:effectLst/>
                <a:latin typeface="Roboto" panose="02000000000000000000" pitchFamily="2" charset="0"/>
              </a:rPr>
              <a:t>68. What is the purpose of the &lt;</a:t>
            </a:r>
            <a:r>
              <a:rPr lang="en-US" b="0" i="0" dirty="0" err="1">
                <a:solidFill>
                  <a:srgbClr val="272C37"/>
                </a:solidFill>
                <a:effectLst/>
                <a:latin typeface="Roboto" panose="02000000000000000000" pitchFamily="2" charset="0"/>
              </a:rPr>
              <a:t>noscript</a:t>
            </a:r>
            <a:r>
              <a:rPr lang="en-US" b="0" i="0" dirty="0">
                <a:solidFill>
                  <a:srgbClr val="272C37"/>
                </a:solidFill>
                <a:effectLst/>
                <a:latin typeface="Roboto" panose="02000000000000000000" pitchFamily="2" charset="0"/>
              </a:rPr>
              <a:t>&gt; tag?</a:t>
            </a:r>
          </a:p>
          <a:p>
            <a:pPr algn="just">
              <a:lnSpc>
                <a:spcPts val="2100"/>
              </a:lnSpc>
              <a:spcBef>
                <a:spcPts val="1650"/>
              </a:spcBef>
              <a:buNone/>
            </a:pPr>
            <a:r>
              <a:rPr lang="en-US" b="0" i="0" dirty="0">
                <a:solidFill>
                  <a:srgbClr val="3A3A3A"/>
                </a:solidFill>
                <a:effectLst/>
                <a:latin typeface="Roboto" panose="02000000000000000000" pitchFamily="2" charset="0"/>
              </a:rPr>
              <a:t>The &lt;</a:t>
            </a:r>
            <a:r>
              <a:rPr lang="en-US" b="0" i="0" dirty="0" err="1">
                <a:solidFill>
                  <a:srgbClr val="3A3A3A"/>
                </a:solidFill>
                <a:effectLst/>
                <a:latin typeface="Roboto" panose="02000000000000000000" pitchFamily="2" charset="0"/>
              </a:rPr>
              <a:t>noscript</a:t>
            </a:r>
            <a:r>
              <a:rPr lang="en-US" b="0" i="0" dirty="0">
                <a:solidFill>
                  <a:srgbClr val="3A3A3A"/>
                </a:solidFill>
                <a:effectLst/>
                <a:latin typeface="Roboto" panose="02000000000000000000" pitchFamily="2" charset="0"/>
              </a:rPr>
              <a:t>&gt; tag shows alternative content if the browser doesn’t support JavaScript or if JavaScript is turned off.</a:t>
            </a:r>
          </a:p>
          <a:p>
            <a:pPr algn="just">
              <a:lnSpc>
                <a:spcPts val="2100"/>
              </a:lnSpc>
              <a:spcBef>
                <a:spcPts val="750"/>
              </a:spcBef>
              <a:buNone/>
            </a:pPr>
            <a:r>
              <a:rPr lang="en-US" b="0" i="0" dirty="0">
                <a:solidFill>
                  <a:srgbClr val="3A3A3A"/>
                </a:solidFill>
                <a:effectLst/>
                <a:latin typeface="Roboto" panose="02000000000000000000" pitchFamily="2" charset="0"/>
              </a:rPr>
              <a:t>Example:</a:t>
            </a:r>
          </a:p>
          <a:p>
            <a:pPr algn="l">
              <a:spcBef>
                <a:spcPts val="1125"/>
              </a:spcBef>
              <a:spcAft>
                <a:spcPts val="375"/>
              </a:spcAft>
              <a:buNone/>
            </a:pPr>
            <a:r>
              <a:rPr lang="en-US" b="0" i="0" dirty="0">
                <a:solidFill>
                  <a:srgbClr val="212529"/>
                </a:solidFill>
                <a:effectLst/>
                <a:latin typeface="Courier New" panose="02070309020205020404" pitchFamily="49" charset="0"/>
              </a:rPr>
              <a:t>&lt;</a:t>
            </a:r>
            <a:r>
              <a:rPr lang="en-US" b="0" i="0" dirty="0" err="1">
                <a:solidFill>
                  <a:srgbClr val="212529"/>
                </a:solidFill>
                <a:effectLst/>
                <a:latin typeface="Courier New" panose="02070309020205020404" pitchFamily="49" charset="0"/>
              </a:rPr>
              <a:t>noscript</a:t>
            </a:r>
            <a:r>
              <a:rPr lang="en-US" b="0" i="0" dirty="0">
                <a:solidFill>
                  <a:srgbClr val="212529"/>
                </a:solidFill>
                <a:effectLst/>
                <a:latin typeface="Courier New" panose="02070309020205020404" pitchFamily="49" charset="0"/>
              </a:rPr>
              <a:t>&gt;Your browser does not support JavaScript.&lt;/</a:t>
            </a:r>
            <a:r>
              <a:rPr lang="en-US" b="0" i="0" dirty="0" err="1">
                <a:solidFill>
                  <a:srgbClr val="212529"/>
                </a:solidFill>
                <a:effectLst/>
                <a:latin typeface="Courier New" panose="02070309020205020404" pitchFamily="49" charset="0"/>
              </a:rPr>
              <a:t>noscript</a:t>
            </a:r>
            <a:r>
              <a:rPr lang="en-US" b="0" i="0" dirty="0">
                <a:solidFill>
                  <a:srgbClr val="212529"/>
                </a:solidFill>
                <a:effectLst/>
                <a:latin typeface="Courier New" panose="02070309020205020404" pitchFamily="49" charset="0"/>
              </a:rPr>
              <a:t>&gt;</a:t>
            </a:r>
          </a:p>
          <a:p>
            <a:pPr algn="l">
              <a:lnSpc>
                <a:spcPts val="2100"/>
              </a:lnSpc>
              <a:spcBef>
                <a:spcPts val="2400"/>
              </a:spcBef>
              <a:spcAft>
                <a:spcPts val="1800"/>
              </a:spcAft>
              <a:buNone/>
            </a:pPr>
            <a:r>
              <a:rPr lang="en-US" b="0" i="0" dirty="0">
                <a:solidFill>
                  <a:srgbClr val="272C37"/>
                </a:solidFill>
                <a:effectLst/>
                <a:latin typeface="Roboto" panose="02000000000000000000" pitchFamily="2" charset="0"/>
              </a:rPr>
              <a:t>69. What is the difference between </a:t>
            </a:r>
            <a:r>
              <a:rPr lang="en-US" b="0" i="0" dirty="0" err="1">
                <a:solidFill>
                  <a:srgbClr val="272C37"/>
                </a:solidFill>
                <a:effectLst/>
                <a:latin typeface="Roboto" panose="02000000000000000000" pitchFamily="2" charset="0"/>
              </a:rPr>
              <a:t>readonly</a:t>
            </a:r>
            <a:r>
              <a:rPr lang="en-US" b="0" i="0" dirty="0">
                <a:solidFill>
                  <a:srgbClr val="272C37"/>
                </a:solidFill>
                <a:effectLst/>
                <a:latin typeface="Roboto" panose="02000000000000000000" pitchFamily="2" charset="0"/>
              </a:rPr>
              <a:t> and disabled attributes in form inputs?</a:t>
            </a:r>
          </a:p>
          <a:p>
            <a:pPr algn="just">
              <a:lnSpc>
                <a:spcPts val="2100"/>
              </a:lnSpc>
              <a:spcBef>
                <a:spcPts val="1650"/>
              </a:spcBef>
              <a:spcAft>
                <a:spcPts val="600"/>
              </a:spcAft>
              <a:buFont typeface="Arial" panose="020B0604020202020204" pitchFamily="34" charset="0"/>
              <a:buChar char="•"/>
            </a:pPr>
            <a:r>
              <a:rPr lang="en-US" b="0" i="0" dirty="0" err="1">
                <a:solidFill>
                  <a:srgbClr val="3A3A3A"/>
                </a:solidFill>
                <a:effectLst/>
                <a:latin typeface="Roboto" panose="02000000000000000000" pitchFamily="2" charset="0"/>
              </a:rPr>
              <a:t>readonly</a:t>
            </a:r>
            <a:r>
              <a:rPr lang="en-US" b="0" i="0" dirty="0">
                <a:solidFill>
                  <a:srgbClr val="3A3A3A"/>
                </a:solidFill>
                <a:effectLst/>
                <a:latin typeface="Roboto" panose="02000000000000000000" pitchFamily="2" charset="0"/>
              </a:rPr>
              <a:t>: User can’t change the value, but it’s sent with the form.</a:t>
            </a:r>
          </a:p>
          <a:p>
            <a:pPr algn="just">
              <a:lnSpc>
                <a:spcPts val="2100"/>
              </a:lnSpc>
              <a:spcBef>
                <a:spcPts val="1650"/>
              </a:spcBef>
              <a:spcAft>
                <a:spcPts val="600"/>
              </a:spcAft>
              <a:buFont typeface="Arial" panose="020B0604020202020204" pitchFamily="34" charset="0"/>
              <a:buChar char="•"/>
            </a:pPr>
            <a:r>
              <a:rPr lang="en-US" b="0" i="0" dirty="0">
                <a:solidFill>
                  <a:srgbClr val="3A3A3A"/>
                </a:solidFill>
                <a:effectLst/>
                <a:latin typeface="Roboto" panose="02000000000000000000" pitchFamily="2" charset="0"/>
              </a:rPr>
              <a:t>disabled: User can’t change or focus it, and it’s not sent with the form.</a:t>
            </a:r>
          </a:p>
          <a:p>
            <a:pPr algn="just">
              <a:lnSpc>
                <a:spcPts val="2100"/>
              </a:lnSpc>
              <a:spcBef>
                <a:spcPts val="1650"/>
              </a:spcBef>
              <a:buNone/>
            </a:pPr>
            <a:r>
              <a:rPr lang="en-US" b="0" i="0" dirty="0">
                <a:solidFill>
                  <a:srgbClr val="3A3A3A"/>
                </a:solidFill>
                <a:effectLst/>
                <a:latin typeface="Roboto" panose="02000000000000000000" pitchFamily="2" charset="0"/>
              </a:rPr>
              <a:t>Example:</a:t>
            </a:r>
          </a:p>
          <a:p>
            <a:pPr algn="l">
              <a:spcBef>
                <a:spcPts val="1125"/>
              </a:spcBef>
              <a:spcAft>
                <a:spcPts val="375"/>
              </a:spcAft>
              <a:buNone/>
            </a:pPr>
            <a:r>
              <a:rPr lang="en-US" b="0" i="0" dirty="0">
                <a:solidFill>
                  <a:srgbClr val="212529"/>
                </a:solidFill>
                <a:effectLst/>
                <a:latin typeface="Courier New" panose="02070309020205020404" pitchFamily="49" charset="0"/>
              </a:rPr>
              <a:t>&lt;input type="text" value="Can't edit" </a:t>
            </a:r>
            <a:r>
              <a:rPr lang="en-US" b="0" i="0" dirty="0" err="1">
                <a:solidFill>
                  <a:srgbClr val="212529"/>
                </a:solidFill>
                <a:effectLst/>
                <a:latin typeface="Courier New" panose="02070309020205020404" pitchFamily="49" charset="0"/>
              </a:rPr>
              <a:t>readonly</a:t>
            </a:r>
            <a:r>
              <a:rPr lang="en-US" b="0" i="0" dirty="0">
                <a:solidFill>
                  <a:srgbClr val="212529"/>
                </a:solidFill>
                <a:effectLst/>
                <a:latin typeface="Courier New" panose="02070309020205020404" pitchFamily="49" charset="0"/>
              </a:rPr>
              <a:t>&gt;</a:t>
            </a:r>
          </a:p>
          <a:p>
            <a:pPr algn="l">
              <a:spcBef>
                <a:spcPts val="1125"/>
              </a:spcBef>
              <a:spcAft>
                <a:spcPts val="375"/>
              </a:spcAft>
              <a:buNone/>
            </a:pPr>
            <a:endParaRPr lang="en-US" b="0" i="0" dirty="0">
              <a:solidFill>
                <a:srgbClr val="212529"/>
              </a:solidFill>
              <a:effectLst/>
              <a:latin typeface="Courier New" panose="02070309020205020404" pitchFamily="49" charset="0"/>
            </a:endParaRPr>
          </a:p>
          <a:p>
            <a:pPr algn="l">
              <a:spcBef>
                <a:spcPts val="1125"/>
              </a:spcBef>
              <a:spcAft>
                <a:spcPts val="375"/>
              </a:spcAft>
              <a:buNone/>
            </a:pPr>
            <a:r>
              <a:rPr lang="en-US" b="0" i="0" dirty="0">
                <a:solidFill>
                  <a:srgbClr val="212529"/>
                </a:solidFill>
                <a:effectLst/>
                <a:latin typeface="Courier New" panose="02070309020205020404" pitchFamily="49" charset="0"/>
              </a:rPr>
              <a:t>&lt;input type="text" value="Disabled" disabled&gt;</a:t>
            </a:r>
          </a:p>
        </p:txBody>
      </p:sp>
    </p:spTree>
    <p:extLst>
      <p:ext uri="{BB962C8B-B14F-4D97-AF65-F5344CB8AC3E}">
        <p14:creationId xmlns:p14="http://schemas.microsoft.com/office/powerpoint/2010/main" val="207968224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787591-80CB-26EA-34F3-73F841B64F47}"/>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A834660B-D596-D152-0D71-425D5C969306}"/>
              </a:ext>
            </a:extLst>
          </p:cNvPr>
          <p:cNvSpPr txBox="1"/>
          <p:nvPr/>
        </p:nvSpPr>
        <p:spPr>
          <a:xfrm>
            <a:off x="2477069" y="2085890"/>
            <a:ext cx="4954136" cy="2693045"/>
          </a:xfrm>
          <a:prstGeom prst="rect">
            <a:avLst/>
          </a:prstGeom>
          <a:noFill/>
        </p:spPr>
        <p:txBody>
          <a:bodyPr wrap="square">
            <a:spAutoFit/>
          </a:bodyPr>
          <a:lstStyle/>
          <a:p>
            <a:pPr algn="l">
              <a:lnSpc>
                <a:spcPts val="2100"/>
              </a:lnSpc>
              <a:spcBef>
                <a:spcPts val="2400"/>
              </a:spcBef>
              <a:spcAft>
                <a:spcPts val="1800"/>
              </a:spcAft>
              <a:buNone/>
            </a:pPr>
            <a:r>
              <a:rPr lang="en-US" b="0" i="0" dirty="0">
                <a:solidFill>
                  <a:srgbClr val="272C37"/>
                </a:solidFill>
                <a:effectLst/>
                <a:latin typeface="Roboto" panose="02000000000000000000" pitchFamily="2" charset="0"/>
              </a:rPr>
              <a:t>70. How do you open a link in a new browser tab or window in HTML?</a:t>
            </a:r>
          </a:p>
          <a:p>
            <a:pPr algn="just">
              <a:lnSpc>
                <a:spcPts val="2100"/>
              </a:lnSpc>
              <a:spcBef>
                <a:spcPts val="1650"/>
              </a:spcBef>
              <a:buNone/>
            </a:pPr>
            <a:r>
              <a:rPr lang="en-US" b="0" i="0" dirty="0">
                <a:solidFill>
                  <a:srgbClr val="3A3A3A"/>
                </a:solidFill>
                <a:effectLst/>
                <a:latin typeface="Roboto" panose="02000000000000000000" pitchFamily="2" charset="0"/>
              </a:rPr>
              <a:t>Use the target=”_blank” attribute in the &lt;a&gt; tag.</a:t>
            </a:r>
          </a:p>
          <a:p>
            <a:pPr algn="just">
              <a:lnSpc>
                <a:spcPts val="2100"/>
              </a:lnSpc>
              <a:spcBef>
                <a:spcPts val="750"/>
              </a:spcBef>
              <a:buNone/>
            </a:pPr>
            <a:r>
              <a:rPr lang="en-US" b="0" i="0" dirty="0">
                <a:solidFill>
                  <a:srgbClr val="3A3A3A"/>
                </a:solidFill>
                <a:effectLst/>
                <a:latin typeface="Roboto" panose="02000000000000000000" pitchFamily="2" charset="0"/>
              </a:rPr>
              <a:t>Example:</a:t>
            </a:r>
          </a:p>
          <a:p>
            <a:pPr algn="l">
              <a:spcBef>
                <a:spcPts val="1125"/>
              </a:spcBef>
              <a:spcAft>
                <a:spcPts val="375"/>
              </a:spcAft>
              <a:buNone/>
            </a:pPr>
            <a:r>
              <a:rPr lang="en-US" b="0" i="0" dirty="0">
                <a:solidFill>
                  <a:srgbClr val="212529"/>
                </a:solidFill>
                <a:effectLst/>
                <a:latin typeface="Courier New" panose="02070309020205020404" pitchFamily="49" charset="0"/>
              </a:rPr>
              <a:t>&lt;a </a:t>
            </a:r>
            <a:r>
              <a:rPr lang="en-US" b="0" i="0" dirty="0" err="1">
                <a:solidFill>
                  <a:srgbClr val="212529"/>
                </a:solidFill>
                <a:effectLst/>
                <a:latin typeface="Courier New" panose="02070309020205020404" pitchFamily="49" charset="0"/>
              </a:rPr>
              <a:t>href</a:t>
            </a:r>
            <a:r>
              <a:rPr lang="en-US" b="0" i="0" dirty="0">
                <a:solidFill>
                  <a:srgbClr val="212529"/>
                </a:solidFill>
                <a:effectLst/>
                <a:latin typeface="Courier New" panose="02070309020205020404" pitchFamily="49" charset="0"/>
              </a:rPr>
              <a:t>="https://example.com" target="_blank"&gt;Open in new tab&lt;/a&gt;</a:t>
            </a:r>
          </a:p>
        </p:txBody>
      </p:sp>
    </p:spTree>
    <p:extLst>
      <p:ext uri="{BB962C8B-B14F-4D97-AF65-F5344CB8AC3E}">
        <p14:creationId xmlns:p14="http://schemas.microsoft.com/office/powerpoint/2010/main" val="12919321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329448-9945-8A2D-3E98-C1980A160BE0}"/>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E7C3E476-0260-06B9-88EF-6A798AE89DC4}"/>
              </a:ext>
            </a:extLst>
          </p:cNvPr>
          <p:cNvSpPr txBox="1"/>
          <p:nvPr/>
        </p:nvSpPr>
        <p:spPr>
          <a:xfrm>
            <a:off x="2477069" y="-1657443"/>
            <a:ext cx="4954136" cy="10179710"/>
          </a:xfrm>
          <a:prstGeom prst="rect">
            <a:avLst/>
          </a:prstGeom>
          <a:noFill/>
        </p:spPr>
        <p:txBody>
          <a:bodyPr wrap="square">
            <a:spAutoFit/>
          </a:bodyPr>
          <a:lstStyle/>
          <a:p>
            <a:pPr algn="l">
              <a:lnSpc>
                <a:spcPts val="2100"/>
              </a:lnSpc>
              <a:spcBef>
                <a:spcPts val="2400"/>
              </a:spcBef>
              <a:spcAft>
                <a:spcPts val="1800"/>
              </a:spcAft>
              <a:buNone/>
            </a:pPr>
            <a:r>
              <a:rPr lang="en-US" b="0" i="0" dirty="0">
                <a:solidFill>
                  <a:srgbClr val="272C37"/>
                </a:solidFill>
                <a:effectLst/>
                <a:latin typeface="Roboto" panose="02000000000000000000" pitchFamily="2" charset="0"/>
              </a:rPr>
              <a:t>71. What are the different values for the target attribute in anchor tags?</a:t>
            </a:r>
          </a:p>
          <a:p>
            <a:pPr algn="just">
              <a:lnSpc>
                <a:spcPts val="2100"/>
              </a:lnSpc>
              <a:spcBef>
                <a:spcPts val="1650"/>
              </a:spcBef>
              <a:spcAft>
                <a:spcPts val="600"/>
              </a:spcAft>
              <a:buFont typeface="Arial" panose="020B0604020202020204" pitchFamily="34" charset="0"/>
              <a:buChar char="•"/>
            </a:pPr>
            <a:r>
              <a:rPr lang="en-US" b="0" i="0" dirty="0">
                <a:solidFill>
                  <a:srgbClr val="3A3A3A"/>
                </a:solidFill>
                <a:effectLst/>
                <a:latin typeface="Roboto" panose="02000000000000000000" pitchFamily="2" charset="0"/>
              </a:rPr>
              <a:t>_self: Opens in the same tab (default)</a:t>
            </a:r>
          </a:p>
          <a:p>
            <a:pPr algn="just">
              <a:lnSpc>
                <a:spcPts val="2100"/>
              </a:lnSpc>
              <a:spcBef>
                <a:spcPts val="1650"/>
              </a:spcBef>
              <a:spcAft>
                <a:spcPts val="600"/>
              </a:spcAft>
              <a:buFont typeface="Arial" panose="020B0604020202020204" pitchFamily="34" charset="0"/>
              <a:buChar char="•"/>
            </a:pPr>
            <a:r>
              <a:rPr lang="en-US" b="0" i="0" dirty="0">
                <a:solidFill>
                  <a:srgbClr val="3A3A3A"/>
                </a:solidFill>
                <a:effectLst/>
                <a:latin typeface="Roboto" panose="02000000000000000000" pitchFamily="2" charset="0"/>
              </a:rPr>
              <a:t>_blank: Opens in a new tab/window</a:t>
            </a:r>
          </a:p>
          <a:p>
            <a:pPr algn="just">
              <a:lnSpc>
                <a:spcPts val="2100"/>
              </a:lnSpc>
              <a:spcBef>
                <a:spcPts val="1650"/>
              </a:spcBef>
              <a:spcAft>
                <a:spcPts val="600"/>
              </a:spcAft>
              <a:buFont typeface="Arial" panose="020B0604020202020204" pitchFamily="34" charset="0"/>
              <a:buChar char="•"/>
            </a:pPr>
            <a:r>
              <a:rPr lang="en-US" b="0" i="0" dirty="0">
                <a:solidFill>
                  <a:srgbClr val="3A3A3A"/>
                </a:solidFill>
                <a:effectLst/>
                <a:latin typeface="Roboto" panose="02000000000000000000" pitchFamily="2" charset="0"/>
              </a:rPr>
              <a:t>_parent: Opens in the parent frame</a:t>
            </a:r>
          </a:p>
          <a:p>
            <a:pPr algn="just">
              <a:lnSpc>
                <a:spcPts val="2100"/>
              </a:lnSpc>
              <a:spcBef>
                <a:spcPts val="1650"/>
              </a:spcBef>
              <a:spcAft>
                <a:spcPts val="600"/>
              </a:spcAft>
              <a:buFont typeface="Arial" panose="020B0604020202020204" pitchFamily="34" charset="0"/>
              <a:buChar char="•"/>
            </a:pPr>
            <a:r>
              <a:rPr lang="en-US" b="0" i="0" dirty="0">
                <a:solidFill>
                  <a:srgbClr val="3A3A3A"/>
                </a:solidFill>
                <a:effectLst/>
                <a:latin typeface="Roboto" panose="02000000000000000000" pitchFamily="2" charset="0"/>
              </a:rPr>
              <a:t>_top: Opens in the full window (removes </a:t>
            </a:r>
            <a:r>
              <a:rPr lang="en-US" b="0" i="0" u="none" strike="noStrike" dirty="0">
                <a:solidFill>
                  <a:srgbClr val="0F5A9E"/>
                </a:solidFill>
                <a:effectLst/>
                <a:latin typeface="Roboto" panose="02000000000000000000" pitchFamily="2" charset="0"/>
                <a:hlinkClick r:id="rId2"/>
              </a:rPr>
              <a:t>frames</a:t>
            </a:r>
            <a:r>
              <a:rPr lang="en-US" b="0" i="0" dirty="0">
                <a:solidFill>
                  <a:srgbClr val="3A3A3A"/>
                </a:solidFill>
                <a:effectLst/>
                <a:latin typeface="Roboto" panose="02000000000000000000" pitchFamily="2" charset="0"/>
              </a:rPr>
              <a:t>)</a:t>
            </a:r>
          </a:p>
          <a:p>
            <a:pPr algn="l">
              <a:lnSpc>
                <a:spcPts val="2100"/>
              </a:lnSpc>
              <a:spcBef>
                <a:spcPts val="2400"/>
              </a:spcBef>
              <a:spcAft>
                <a:spcPts val="1800"/>
              </a:spcAft>
              <a:buNone/>
            </a:pPr>
            <a:r>
              <a:rPr lang="en-US" b="0" i="0" dirty="0">
                <a:solidFill>
                  <a:srgbClr val="272C37"/>
                </a:solidFill>
                <a:effectLst/>
                <a:latin typeface="Roboto" panose="02000000000000000000" pitchFamily="2" charset="0"/>
              </a:rPr>
              <a:t>72. What is the role of the &lt;base&gt; tag in HTML?</a:t>
            </a:r>
          </a:p>
          <a:p>
            <a:pPr algn="just">
              <a:lnSpc>
                <a:spcPts val="2100"/>
              </a:lnSpc>
              <a:spcBef>
                <a:spcPts val="1650"/>
              </a:spcBef>
              <a:buNone/>
            </a:pPr>
            <a:r>
              <a:rPr lang="en-US" b="0" i="0" dirty="0">
                <a:solidFill>
                  <a:srgbClr val="3A3A3A"/>
                </a:solidFill>
                <a:effectLst/>
                <a:latin typeface="Roboto" panose="02000000000000000000" pitchFamily="2" charset="0"/>
              </a:rPr>
              <a:t>The &lt;base&gt; tag sets a base URL for all relative links in the page. It goes inside the &lt;head&gt; tag.</a:t>
            </a:r>
          </a:p>
          <a:p>
            <a:pPr algn="just">
              <a:lnSpc>
                <a:spcPts val="2100"/>
              </a:lnSpc>
              <a:spcBef>
                <a:spcPts val="750"/>
              </a:spcBef>
              <a:buNone/>
            </a:pPr>
            <a:r>
              <a:rPr lang="en-US" b="0" i="0" dirty="0">
                <a:solidFill>
                  <a:srgbClr val="3A3A3A"/>
                </a:solidFill>
                <a:effectLst/>
                <a:latin typeface="Roboto" panose="02000000000000000000" pitchFamily="2" charset="0"/>
              </a:rPr>
              <a:t>Example:</a:t>
            </a:r>
          </a:p>
          <a:p>
            <a:pPr algn="l">
              <a:spcBef>
                <a:spcPts val="1125"/>
              </a:spcBef>
              <a:spcAft>
                <a:spcPts val="375"/>
              </a:spcAft>
              <a:buNone/>
            </a:pPr>
            <a:r>
              <a:rPr lang="en-US" b="0" i="0" dirty="0">
                <a:solidFill>
                  <a:srgbClr val="212529"/>
                </a:solidFill>
                <a:effectLst/>
                <a:latin typeface="Courier New" panose="02070309020205020404" pitchFamily="49" charset="0"/>
              </a:rPr>
              <a:t>&lt;base </a:t>
            </a:r>
            <a:r>
              <a:rPr lang="en-US" b="0" i="0" dirty="0" err="1">
                <a:solidFill>
                  <a:srgbClr val="212529"/>
                </a:solidFill>
                <a:effectLst/>
                <a:latin typeface="Courier New" panose="02070309020205020404" pitchFamily="49" charset="0"/>
              </a:rPr>
              <a:t>href</a:t>
            </a:r>
            <a:r>
              <a:rPr lang="en-US" b="0" i="0" dirty="0">
                <a:solidFill>
                  <a:srgbClr val="212529"/>
                </a:solidFill>
                <a:effectLst/>
                <a:latin typeface="Courier New" panose="02070309020205020404" pitchFamily="49" charset="0"/>
              </a:rPr>
              <a:t>="https://example.com/"&gt;</a:t>
            </a:r>
          </a:p>
          <a:p>
            <a:pPr algn="l">
              <a:spcBef>
                <a:spcPts val="1125"/>
              </a:spcBef>
              <a:spcAft>
                <a:spcPts val="375"/>
              </a:spcAft>
              <a:buNone/>
            </a:pPr>
            <a:endParaRPr lang="en-US" b="0" i="0" dirty="0">
              <a:solidFill>
                <a:srgbClr val="212529"/>
              </a:solidFill>
              <a:effectLst/>
              <a:latin typeface="Courier New" panose="02070309020205020404" pitchFamily="49" charset="0"/>
            </a:endParaRPr>
          </a:p>
          <a:p>
            <a:pPr algn="l">
              <a:spcBef>
                <a:spcPts val="1125"/>
              </a:spcBef>
              <a:spcAft>
                <a:spcPts val="375"/>
              </a:spcAft>
              <a:buNone/>
            </a:pPr>
            <a:r>
              <a:rPr lang="en-US" b="0" i="0" dirty="0">
                <a:solidFill>
                  <a:srgbClr val="212529"/>
                </a:solidFill>
                <a:effectLst/>
                <a:latin typeface="Courier New" panose="02070309020205020404" pitchFamily="49" charset="0"/>
              </a:rPr>
              <a:t>&lt;a </a:t>
            </a:r>
            <a:r>
              <a:rPr lang="en-US" b="0" i="0" dirty="0" err="1">
                <a:solidFill>
                  <a:srgbClr val="212529"/>
                </a:solidFill>
                <a:effectLst/>
                <a:latin typeface="Courier New" panose="02070309020205020404" pitchFamily="49" charset="0"/>
              </a:rPr>
              <a:t>href</a:t>
            </a:r>
            <a:r>
              <a:rPr lang="en-US" b="0" i="0" dirty="0">
                <a:solidFill>
                  <a:srgbClr val="212529"/>
                </a:solidFill>
                <a:effectLst/>
                <a:latin typeface="Courier New" panose="02070309020205020404" pitchFamily="49" charset="0"/>
              </a:rPr>
              <a:t>="page.html"&gt;Goes to https://example.com/page.html&lt;/a&gt;</a:t>
            </a:r>
          </a:p>
          <a:p>
            <a:pPr algn="l">
              <a:lnSpc>
                <a:spcPts val="2100"/>
              </a:lnSpc>
              <a:spcBef>
                <a:spcPts val="2400"/>
              </a:spcBef>
              <a:spcAft>
                <a:spcPts val="1800"/>
              </a:spcAft>
              <a:buNone/>
            </a:pPr>
            <a:r>
              <a:rPr lang="en-US" b="0" i="0" dirty="0">
                <a:solidFill>
                  <a:srgbClr val="272C37"/>
                </a:solidFill>
                <a:effectLst/>
                <a:latin typeface="Roboto" panose="02000000000000000000" pitchFamily="2" charset="0"/>
              </a:rPr>
              <a:t>73. How can you auto-focus an input field in HTML?</a:t>
            </a:r>
          </a:p>
          <a:p>
            <a:pPr algn="just">
              <a:lnSpc>
                <a:spcPts val="2100"/>
              </a:lnSpc>
              <a:spcBef>
                <a:spcPts val="1650"/>
              </a:spcBef>
              <a:buNone/>
            </a:pPr>
            <a:r>
              <a:rPr lang="en-US" b="0" i="0" dirty="0">
                <a:solidFill>
                  <a:srgbClr val="3A3A3A"/>
                </a:solidFill>
                <a:effectLst/>
                <a:latin typeface="Roboto" panose="02000000000000000000" pitchFamily="2" charset="0"/>
              </a:rPr>
              <a:t>Use the autofocus attribute. It makes the input field automatically active when the page loads.</a:t>
            </a:r>
          </a:p>
          <a:p>
            <a:pPr algn="just">
              <a:lnSpc>
                <a:spcPts val="2100"/>
              </a:lnSpc>
              <a:spcBef>
                <a:spcPts val="750"/>
              </a:spcBef>
              <a:buNone/>
            </a:pPr>
            <a:r>
              <a:rPr lang="en-US" b="0" i="0" dirty="0">
                <a:solidFill>
                  <a:srgbClr val="3A3A3A"/>
                </a:solidFill>
                <a:effectLst/>
                <a:latin typeface="Roboto" panose="02000000000000000000" pitchFamily="2" charset="0"/>
              </a:rPr>
              <a:t>Example:</a:t>
            </a:r>
          </a:p>
          <a:p>
            <a:pPr algn="l">
              <a:spcBef>
                <a:spcPts val="1125"/>
              </a:spcBef>
              <a:spcAft>
                <a:spcPts val="375"/>
              </a:spcAft>
              <a:buNone/>
            </a:pPr>
            <a:r>
              <a:rPr lang="en-US" b="0" i="0" dirty="0">
                <a:solidFill>
                  <a:srgbClr val="212529"/>
                </a:solidFill>
                <a:effectLst/>
                <a:latin typeface="Courier New" panose="02070309020205020404" pitchFamily="49" charset="0"/>
              </a:rPr>
              <a:t>&lt;input type="text" name="name" autofocus&gt;</a:t>
            </a:r>
          </a:p>
        </p:txBody>
      </p:sp>
    </p:spTree>
    <p:extLst>
      <p:ext uri="{BB962C8B-B14F-4D97-AF65-F5344CB8AC3E}">
        <p14:creationId xmlns:p14="http://schemas.microsoft.com/office/powerpoint/2010/main" val="87078075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7925CC-42D1-6EEB-DB87-1B280C3ED41D}"/>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9587B5A7-A9B5-CD61-DEE2-9F02A7292571}"/>
              </a:ext>
            </a:extLst>
          </p:cNvPr>
          <p:cNvSpPr txBox="1"/>
          <p:nvPr/>
        </p:nvSpPr>
        <p:spPr>
          <a:xfrm>
            <a:off x="2477069" y="277702"/>
            <a:ext cx="4954136" cy="6309420"/>
          </a:xfrm>
          <a:prstGeom prst="rect">
            <a:avLst/>
          </a:prstGeom>
          <a:noFill/>
        </p:spPr>
        <p:txBody>
          <a:bodyPr wrap="square">
            <a:spAutoFit/>
          </a:bodyPr>
          <a:lstStyle/>
          <a:p>
            <a:pPr algn="l">
              <a:lnSpc>
                <a:spcPts val="2100"/>
              </a:lnSpc>
              <a:spcBef>
                <a:spcPts val="2400"/>
              </a:spcBef>
              <a:spcAft>
                <a:spcPts val="1800"/>
              </a:spcAft>
              <a:buNone/>
            </a:pPr>
            <a:r>
              <a:rPr lang="en-US" b="0" i="0" dirty="0">
                <a:solidFill>
                  <a:srgbClr val="272C37"/>
                </a:solidFill>
                <a:effectLst/>
                <a:latin typeface="Roboto" panose="02000000000000000000" pitchFamily="2" charset="0"/>
              </a:rPr>
              <a:t>74. What are the different types of button tags in HTML?</a:t>
            </a:r>
          </a:p>
          <a:p>
            <a:pPr algn="just">
              <a:lnSpc>
                <a:spcPts val="2100"/>
              </a:lnSpc>
              <a:spcBef>
                <a:spcPts val="1650"/>
              </a:spcBef>
              <a:buNone/>
            </a:pPr>
            <a:r>
              <a:rPr lang="en-US" b="0" i="0" dirty="0">
                <a:solidFill>
                  <a:srgbClr val="3A3A3A"/>
                </a:solidFill>
                <a:effectLst/>
                <a:latin typeface="Roboto" panose="02000000000000000000" pitchFamily="2" charset="0"/>
              </a:rPr>
              <a:t>There are 3 main types of &lt;button&gt;:</a:t>
            </a:r>
          </a:p>
          <a:p>
            <a:pPr algn="just">
              <a:lnSpc>
                <a:spcPts val="2100"/>
              </a:lnSpc>
              <a:spcBef>
                <a:spcPts val="750"/>
              </a:spcBef>
              <a:spcAft>
                <a:spcPts val="600"/>
              </a:spcAft>
              <a:buFont typeface="Arial" panose="020B0604020202020204" pitchFamily="34" charset="0"/>
              <a:buChar char="•"/>
            </a:pPr>
            <a:r>
              <a:rPr lang="en-US" b="0" i="0" dirty="0">
                <a:solidFill>
                  <a:srgbClr val="3A3A3A"/>
                </a:solidFill>
                <a:effectLst/>
                <a:latin typeface="Roboto" panose="02000000000000000000" pitchFamily="2" charset="0"/>
              </a:rPr>
              <a:t>type=”button” – regular button</a:t>
            </a:r>
          </a:p>
          <a:p>
            <a:pPr algn="just">
              <a:lnSpc>
                <a:spcPts val="2100"/>
              </a:lnSpc>
              <a:spcBef>
                <a:spcPts val="750"/>
              </a:spcBef>
              <a:spcAft>
                <a:spcPts val="600"/>
              </a:spcAft>
              <a:buFont typeface="Arial" panose="020B0604020202020204" pitchFamily="34" charset="0"/>
              <a:buChar char="•"/>
            </a:pPr>
            <a:r>
              <a:rPr lang="en-US" b="0" i="0" dirty="0">
                <a:solidFill>
                  <a:srgbClr val="3A3A3A"/>
                </a:solidFill>
                <a:effectLst/>
                <a:latin typeface="Roboto" panose="02000000000000000000" pitchFamily="2" charset="0"/>
              </a:rPr>
              <a:t>type=”submit” – submits the form</a:t>
            </a:r>
          </a:p>
          <a:p>
            <a:pPr algn="just">
              <a:lnSpc>
                <a:spcPts val="2100"/>
              </a:lnSpc>
              <a:spcBef>
                <a:spcPts val="750"/>
              </a:spcBef>
              <a:spcAft>
                <a:spcPts val="600"/>
              </a:spcAft>
              <a:buFont typeface="Arial" panose="020B0604020202020204" pitchFamily="34" charset="0"/>
              <a:buChar char="•"/>
            </a:pPr>
            <a:r>
              <a:rPr lang="en-US" b="0" i="0" dirty="0">
                <a:solidFill>
                  <a:srgbClr val="3A3A3A"/>
                </a:solidFill>
                <a:effectLst/>
                <a:latin typeface="Roboto" panose="02000000000000000000" pitchFamily="2" charset="0"/>
              </a:rPr>
              <a:t>type=”reset” – resets form fields</a:t>
            </a:r>
          </a:p>
          <a:p>
            <a:pPr algn="just">
              <a:lnSpc>
                <a:spcPts val="2100"/>
              </a:lnSpc>
              <a:spcBef>
                <a:spcPts val="1650"/>
              </a:spcBef>
              <a:buNone/>
            </a:pPr>
            <a:r>
              <a:rPr lang="en-US" b="0" i="0" dirty="0">
                <a:solidFill>
                  <a:srgbClr val="3A3A3A"/>
                </a:solidFill>
                <a:effectLst/>
                <a:latin typeface="Roboto" panose="02000000000000000000" pitchFamily="2" charset="0"/>
              </a:rPr>
              <a:t>Example:</a:t>
            </a:r>
          </a:p>
          <a:p>
            <a:pPr algn="l">
              <a:spcBef>
                <a:spcPts val="1125"/>
              </a:spcBef>
              <a:spcAft>
                <a:spcPts val="375"/>
              </a:spcAft>
              <a:buNone/>
            </a:pPr>
            <a:r>
              <a:rPr lang="en-US" b="0" i="0" dirty="0">
                <a:solidFill>
                  <a:srgbClr val="212529"/>
                </a:solidFill>
                <a:effectLst/>
                <a:latin typeface="Courier New" panose="02070309020205020404" pitchFamily="49" charset="0"/>
              </a:rPr>
              <a:t>&lt;button type="submit"&gt;Submit&lt;/button&gt;</a:t>
            </a:r>
          </a:p>
          <a:p>
            <a:pPr algn="l">
              <a:spcBef>
                <a:spcPts val="1125"/>
              </a:spcBef>
              <a:spcAft>
                <a:spcPts val="375"/>
              </a:spcAft>
              <a:buNone/>
            </a:pPr>
            <a:endParaRPr lang="en-US" b="0" i="0" dirty="0">
              <a:solidFill>
                <a:srgbClr val="212529"/>
              </a:solidFill>
              <a:effectLst/>
              <a:latin typeface="Courier New" panose="02070309020205020404" pitchFamily="49" charset="0"/>
            </a:endParaRPr>
          </a:p>
          <a:p>
            <a:pPr algn="l">
              <a:spcBef>
                <a:spcPts val="1125"/>
              </a:spcBef>
              <a:spcAft>
                <a:spcPts val="375"/>
              </a:spcAft>
              <a:buNone/>
            </a:pPr>
            <a:r>
              <a:rPr lang="en-US" b="0" i="0" dirty="0">
                <a:solidFill>
                  <a:srgbClr val="212529"/>
                </a:solidFill>
                <a:effectLst/>
                <a:latin typeface="Courier New" panose="02070309020205020404" pitchFamily="49" charset="0"/>
              </a:rPr>
              <a:t>&lt;button type="reset"&gt;Reset&lt;/button&gt;</a:t>
            </a:r>
          </a:p>
          <a:p>
            <a:pPr algn="l">
              <a:spcBef>
                <a:spcPts val="1125"/>
              </a:spcBef>
              <a:spcAft>
                <a:spcPts val="375"/>
              </a:spcAft>
              <a:buNone/>
            </a:pPr>
            <a:endParaRPr lang="en-US" b="0" i="0" dirty="0">
              <a:solidFill>
                <a:srgbClr val="212529"/>
              </a:solidFill>
              <a:effectLst/>
              <a:latin typeface="Courier New" panose="02070309020205020404" pitchFamily="49" charset="0"/>
            </a:endParaRPr>
          </a:p>
          <a:p>
            <a:pPr algn="l">
              <a:spcBef>
                <a:spcPts val="1125"/>
              </a:spcBef>
              <a:spcAft>
                <a:spcPts val="375"/>
              </a:spcAft>
              <a:buNone/>
            </a:pPr>
            <a:r>
              <a:rPr lang="en-US" b="0" i="0" dirty="0">
                <a:solidFill>
                  <a:srgbClr val="212529"/>
                </a:solidFill>
                <a:effectLst/>
                <a:latin typeface="Courier New" panose="02070309020205020404" pitchFamily="49" charset="0"/>
              </a:rPr>
              <a:t>&lt;button type="button"&gt;Click Me&lt;/button&gt;</a:t>
            </a:r>
          </a:p>
        </p:txBody>
      </p:sp>
    </p:spTree>
    <p:extLst>
      <p:ext uri="{BB962C8B-B14F-4D97-AF65-F5344CB8AC3E}">
        <p14:creationId xmlns:p14="http://schemas.microsoft.com/office/powerpoint/2010/main" val="3954880339"/>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830842-FD4D-9C8C-D56A-B4C3542A74B6}"/>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A6060964-E3D3-30A0-45C3-177DC7218421}"/>
              </a:ext>
            </a:extLst>
          </p:cNvPr>
          <p:cNvSpPr txBox="1"/>
          <p:nvPr/>
        </p:nvSpPr>
        <p:spPr>
          <a:xfrm>
            <a:off x="2477069" y="891973"/>
            <a:ext cx="4954136" cy="5080878"/>
          </a:xfrm>
          <a:prstGeom prst="rect">
            <a:avLst/>
          </a:prstGeom>
          <a:noFill/>
        </p:spPr>
        <p:txBody>
          <a:bodyPr wrap="square">
            <a:spAutoFit/>
          </a:bodyPr>
          <a:lstStyle/>
          <a:p>
            <a:pPr algn="l">
              <a:lnSpc>
                <a:spcPts val="2100"/>
              </a:lnSpc>
              <a:spcBef>
                <a:spcPts val="2400"/>
              </a:spcBef>
              <a:spcAft>
                <a:spcPts val="1800"/>
              </a:spcAft>
              <a:buNone/>
            </a:pPr>
            <a:r>
              <a:rPr lang="en-US" b="0" i="0" dirty="0">
                <a:solidFill>
                  <a:srgbClr val="272C37"/>
                </a:solidFill>
                <a:effectLst/>
                <a:latin typeface="Roboto" panose="02000000000000000000" pitchFamily="2" charset="0"/>
              </a:rPr>
              <a:t>75. What is the difference between HTML and HTML5?</a:t>
            </a:r>
          </a:p>
          <a:p>
            <a:pPr algn="just">
              <a:lnSpc>
                <a:spcPts val="2100"/>
              </a:lnSpc>
              <a:spcBef>
                <a:spcPts val="1650"/>
              </a:spcBef>
              <a:buNone/>
            </a:pPr>
            <a:r>
              <a:rPr lang="en-US" b="0" i="0" dirty="0">
                <a:solidFill>
                  <a:srgbClr val="3A3A3A"/>
                </a:solidFill>
                <a:effectLst/>
                <a:latin typeface="Roboto" panose="02000000000000000000" pitchFamily="2" charset="0"/>
              </a:rPr>
              <a:t>HTML is the older version of the language used to build web pages.</a:t>
            </a:r>
          </a:p>
          <a:p>
            <a:pPr algn="just">
              <a:lnSpc>
                <a:spcPts val="2100"/>
              </a:lnSpc>
              <a:spcBef>
                <a:spcPts val="750"/>
              </a:spcBef>
              <a:buNone/>
            </a:pPr>
            <a:r>
              <a:rPr lang="en-US" b="0" i="0" dirty="0">
                <a:solidFill>
                  <a:srgbClr val="3A3A3A"/>
                </a:solidFill>
                <a:effectLst/>
                <a:latin typeface="Roboto" panose="02000000000000000000" pitchFamily="2" charset="0"/>
              </a:rPr>
              <a:t>HTML5 is the latest version with more features, such as:</a:t>
            </a:r>
          </a:p>
          <a:p>
            <a:pPr algn="just">
              <a:lnSpc>
                <a:spcPts val="2100"/>
              </a:lnSpc>
              <a:spcBef>
                <a:spcPts val="750"/>
              </a:spcBef>
              <a:spcAft>
                <a:spcPts val="600"/>
              </a:spcAft>
              <a:buFont typeface="Arial" panose="020B0604020202020204" pitchFamily="34" charset="0"/>
              <a:buChar char="•"/>
            </a:pPr>
            <a:r>
              <a:rPr lang="en-US" b="0" i="0" dirty="0">
                <a:solidFill>
                  <a:srgbClr val="3A3A3A"/>
                </a:solidFill>
                <a:effectLst/>
                <a:latin typeface="Roboto" panose="02000000000000000000" pitchFamily="2" charset="0"/>
              </a:rPr>
              <a:t>New tags: &lt;video&gt;, &lt;audio&gt;, &lt;article&gt;, &lt;section&gt;</a:t>
            </a:r>
          </a:p>
          <a:p>
            <a:pPr algn="just">
              <a:lnSpc>
                <a:spcPts val="2100"/>
              </a:lnSpc>
              <a:spcBef>
                <a:spcPts val="750"/>
              </a:spcBef>
              <a:spcAft>
                <a:spcPts val="600"/>
              </a:spcAft>
              <a:buFont typeface="Arial" panose="020B0604020202020204" pitchFamily="34" charset="0"/>
              <a:buChar char="•"/>
            </a:pPr>
            <a:r>
              <a:rPr lang="en-US" b="0" i="0" dirty="0">
                <a:solidFill>
                  <a:srgbClr val="3A3A3A"/>
                </a:solidFill>
                <a:effectLst/>
                <a:latin typeface="Roboto" panose="02000000000000000000" pitchFamily="2" charset="0"/>
              </a:rPr>
              <a:t>Better support for multimedia</a:t>
            </a:r>
          </a:p>
          <a:p>
            <a:pPr algn="just">
              <a:lnSpc>
                <a:spcPts val="2100"/>
              </a:lnSpc>
              <a:spcBef>
                <a:spcPts val="750"/>
              </a:spcBef>
              <a:spcAft>
                <a:spcPts val="600"/>
              </a:spcAft>
              <a:buFont typeface="Arial" panose="020B0604020202020204" pitchFamily="34" charset="0"/>
              <a:buChar char="•"/>
            </a:pPr>
            <a:r>
              <a:rPr lang="en-US" b="0" i="0" dirty="0">
                <a:solidFill>
                  <a:srgbClr val="3A3A3A"/>
                </a:solidFill>
                <a:effectLst/>
                <a:latin typeface="Roboto" panose="02000000000000000000" pitchFamily="2" charset="0"/>
              </a:rPr>
              <a:t>Form enhancements (like date, email, range)</a:t>
            </a:r>
          </a:p>
          <a:p>
            <a:pPr algn="just">
              <a:lnSpc>
                <a:spcPts val="2100"/>
              </a:lnSpc>
              <a:spcBef>
                <a:spcPts val="750"/>
              </a:spcBef>
              <a:spcAft>
                <a:spcPts val="600"/>
              </a:spcAft>
              <a:buFont typeface="Arial" panose="020B0604020202020204" pitchFamily="34" charset="0"/>
              <a:buChar char="•"/>
            </a:pPr>
            <a:r>
              <a:rPr lang="en-US" b="0" i="0" dirty="0">
                <a:solidFill>
                  <a:srgbClr val="3A3A3A"/>
                </a:solidFill>
                <a:effectLst/>
                <a:latin typeface="Roboto" panose="02000000000000000000" pitchFamily="2" charset="0"/>
              </a:rPr>
              <a:t>Mobile-friendly and faster loading</a:t>
            </a:r>
          </a:p>
          <a:p>
            <a:pPr algn="just">
              <a:lnSpc>
                <a:spcPts val="2100"/>
              </a:lnSpc>
              <a:spcBef>
                <a:spcPts val="1650"/>
              </a:spcBef>
              <a:buNone/>
            </a:pPr>
            <a:r>
              <a:rPr lang="en-US" b="0" i="0" dirty="0">
                <a:solidFill>
                  <a:srgbClr val="3A3A3A"/>
                </a:solidFill>
                <a:effectLst/>
                <a:latin typeface="Roboto" panose="02000000000000000000" pitchFamily="2" charset="0"/>
              </a:rPr>
              <a:t>In short: HTML5 is a more powerful and modern version of HTML.</a:t>
            </a:r>
          </a:p>
        </p:txBody>
      </p:sp>
    </p:spTree>
    <p:extLst>
      <p:ext uri="{BB962C8B-B14F-4D97-AF65-F5344CB8AC3E}">
        <p14:creationId xmlns:p14="http://schemas.microsoft.com/office/powerpoint/2010/main" val="1435237009"/>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01AC70-F469-28D6-0E0E-BA1071CB9FDC}"/>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BBE9F2F8-FB6A-6244-0B09-5CA68F2A5D48}"/>
              </a:ext>
            </a:extLst>
          </p:cNvPr>
          <p:cNvSpPr txBox="1"/>
          <p:nvPr/>
        </p:nvSpPr>
        <p:spPr>
          <a:xfrm>
            <a:off x="2477069" y="-608438"/>
            <a:ext cx="4954136" cy="8081700"/>
          </a:xfrm>
          <a:prstGeom prst="rect">
            <a:avLst/>
          </a:prstGeom>
          <a:noFill/>
        </p:spPr>
        <p:txBody>
          <a:bodyPr wrap="square">
            <a:spAutoFit/>
          </a:bodyPr>
          <a:lstStyle/>
          <a:p>
            <a:pPr algn="l">
              <a:lnSpc>
                <a:spcPts val="2550"/>
              </a:lnSpc>
              <a:spcBef>
                <a:spcPts val="3000"/>
              </a:spcBef>
              <a:buNone/>
            </a:pPr>
            <a:r>
              <a:rPr lang="en-US" b="0" i="0" dirty="0">
                <a:solidFill>
                  <a:srgbClr val="272C37"/>
                </a:solidFill>
                <a:effectLst/>
                <a:latin typeface="Roboto" panose="02000000000000000000" pitchFamily="2" charset="0"/>
              </a:rPr>
              <a:t>HTML5 Interview Questions and Answers</a:t>
            </a:r>
          </a:p>
          <a:p>
            <a:pPr algn="l">
              <a:lnSpc>
                <a:spcPts val="2100"/>
              </a:lnSpc>
              <a:spcBef>
                <a:spcPts val="2400"/>
              </a:spcBef>
              <a:spcAft>
                <a:spcPts val="1800"/>
              </a:spcAft>
              <a:buNone/>
            </a:pPr>
            <a:r>
              <a:rPr lang="en-US" b="0" i="0" dirty="0">
                <a:solidFill>
                  <a:srgbClr val="272C37"/>
                </a:solidFill>
                <a:effectLst/>
                <a:latin typeface="Roboto" panose="02000000000000000000" pitchFamily="2" charset="0"/>
              </a:rPr>
              <a:t>1. What is the difference between </a:t>
            </a:r>
            <a:r>
              <a:rPr lang="en-US" b="0" i="0" dirty="0" err="1">
                <a:solidFill>
                  <a:srgbClr val="272C37"/>
                </a:solidFill>
                <a:effectLst/>
                <a:latin typeface="Roboto" panose="02000000000000000000" pitchFamily="2" charset="0"/>
              </a:rPr>
              <a:t>localStorage</a:t>
            </a:r>
            <a:r>
              <a:rPr lang="en-US" b="0" i="0" dirty="0">
                <a:solidFill>
                  <a:srgbClr val="272C37"/>
                </a:solidFill>
                <a:effectLst/>
                <a:latin typeface="Roboto" panose="02000000000000000000" pitchFamily="2" charset="0"/>
              </a:rPr>
              <a:t> and </a:t>
            </a:r>
            <a:r>
              <a:rPr lang="en-US" b="0" i="0" dirty="0" err="1">
                <a:solidFill>
                  <a:srgbClr val="272C37"/>
                </a:solidFill>
                <a:effectLst/>
                <a:latin typeface="Roboto" panose="02000000000000000000" pitchFamily="2" charset="0"/>
              </a:rPr>
              <a:t>sessionStorage</a:t>
            </a:r>
            <a:r>
              <a:rPr lang="en-US" b="0" i="0" dirty="0">
                <a:solidFill>
                  <a:srgbClr val="272C37"/>
                </a:solidFill>
                <a:effectLst/>
                <a:latin typeface="Roboto" panose="02000000000000000000" pitchFamily="2" charset="0"/>
              </a:rPr>
              <a:t> in HTML5?</a:t>
            </a:r>
          </a:p>
          <a:p>
            <a:pPr algn="just">
              <a:lnSpc>
                <a:spcPts val="2100"/>
              </a:lnSpc>
              <a:spcBef>
                <a:spcPts val="1650"/>
              </a:spcBef>
              <a:buNone/>
            </a:pPr>
            <a:r>
              <a:rPr lang="en-US" b="0" i="0" dirty="0">
                <a:solidFill>
                  <a:srgbClr val="3A3A3A"/>
                </a:solidFill>
                <a:effectLst/>
                <a:latin typeface="Roboto" panose="02000000000000000000" pitchFamily="2" charset="0"/>
              </a:rPr>
              <a:t>Both </a:t>
            </a:r>
            <a:r>
              <a:rPr lang="en-US" b="0" i="0" dirty="0" err="1">
                <a:solidFill>
                  <a:srgbClr val="3A3A3A"/>
                </a:solidFill>
                <a:effectLst/>
                <a:latin typeface="Roboto" panose="02000000000000000000" pitchFamily="2" charset="0"/>
              </a:rPr>
              <a:t>localStorage</a:t>
            </a:r>
            <a:r>
              <a:rPr lang="en-US" b="0" i="0" dirty="0">
                <a:solidFill>
                  <a:srgbClr val="3A3A3A"/>
                </a:solidFill>
                <a:effectLst/>
                <a:latin typeface="Roboto" panose="02000000000000000000" pitchFamily="2" charset="0"/>
              </a:rPr>
              <a:t> and </a:t>
            </a:r>
            <a:r>
              <a:rPr lang="en-US" b="0" i="0" dirty="0" err="1">
                <a:solidFill>
                  <a:srgbClr val="3A3A3A"/>
                </a:solidFill>
                <a:effectLst/>
                <a:latin typeface="Roboto" panose="02000000000000000000" pitchFamily="2" charset="0"/>
              </a:rPr>
              <a:t>sessionStorage</a:t>
            </a:r>
            <a:r>
              <a:rPr lang="en-US" b="0" i="0" dirty="0">
                <a:solidFill>
                  <a:srgbClr val="3A3A3A"/>
                </a:solidFill>
                <a:effectLst/>
                <a:latin typeface="Roboto" panose="02000000000000000000" pitchFamily="2" charset="0"/>
              </a:rPr>
              <a:t> are used to store data in the browser. The key difference is that </a:t>
            </a:r>
            <a:r>
              <a:rPr lang="en-US" b="0" i="0" dirty="0" err="1">
                <a:solidFill>
                  <a:srgbClr val="3A3A3A"/>
                </a:solidFill>
                <a:effectLst/>
                <a:latin typeface="Roboto" panose="02000000000000000000" pitchFamily="2" charset="0"/>
              </a:rPr>
              <a:t>localStorage</a:t>
            </a:r>
            <a:r>
              <a:rPr lang="en-US" b="0" i="0" dirty="0">
                <a:solidFill>
                  <a:srgbClr val="3A3A3A"/>
                </a:solidFill>
                <a:effectLst/>
                <a:latin typeface="Roboto" panose="02000000000000000000" pitchFamily="2" charset="0"/>
              </a:rPr>
              <a:t> persists data even after the browser is closed, while </a:t>
            </a:r>
            <a:r>
              <a:rPr lang="en-US" b="0" i="0" dirty="0" err="1">
                <a:solidFill>
                  <a:srgbClr val="3A3A3A"/>
                </a:solidFill>
                <a:effectLst/>
                <a:latin typeface="Roboto" panose="02000000000000000000" pitchFamily="2" charset="0"/>
              </a:rPr>
              <a:t>sessionStorage</a:t>
            </a:r>
            <a:r>
              <a:rPr lang="en-US" b="0" i="0" dirty="0">
                <a:solidFill>
                  <a:srgbClr val="3A3A3A"/>
                </a:solidFill>
                <a:effectLst/>
                <a:latin typeface="Roboto" panose="02000000000000000000" pitchFamily="2" charset="0"/>
              </a:rPr>
              <a:t> only persists data for the duration of the page session.</a:t>
            </a:r>
          </a:p>
          <a:p>
            <a:pPr algn="l">
              <a:lnSpc>
                <a:spcPts val="2100"/>
              </a:lnSpc>
              <a:spcBef>
                <a:spcPts val="2400"/>
              </a:spcBef>
              <a:spcAft>
                <a:spcPts val="1800"/>
              </a:spcAft>
              <a:buNone/>
            </a:pPr>
            <a:r>
              <a:rPr lang="en-US" b="0" i="0" dirty="0">
                <a:solidFill>
                  <a:srgbClr val="272C37"/>
                </a:solidFill>
                <a:effectLst/>
                <a:latin typeface="Roboto" panose="02000000000000000000" pitchFamily="2" charset="0"/>
              </a:rPr>
              <a:t>2. What are Web Workers in HTML5?</a:t>
            </a:r>
          </a:p>
          <a:p>
            <a:pPr algn="just">
              <a:lnSpc>
                <a:spcPts val="2100"/>
              </a:lnSpc>
              <a:spcBef>
                <a:spcPts val="1650"/>
              </a:spcBef>
              <a:buNone/>
            </a:pPr>
            <a:r>
              <a:rPr lang="en-US" b="0" i="0" dirty="0">
                <a:solidFill>
                  <a:srgbClr val="3A3A3A"/>
                </a:solidFill>
                <a:effectLst/>
                <a:latin typeface="Roboto" panose="02000000000000000000" pitchFamily="2" charset="0"/>
              </a:rPr>
              <a:t>Web Workers allow scripts to run in the background, independent of the user interface, making web applications more responsive by offloading tasks like data processing to separate threads.</a:t>
            </a:r>
          </a:p>
          <a:p>
            <a:pPr algn="l">
              <a:lnSpc>
                <a:spcPts val="2100"/>
              </a:lnSpc>
              <a:spcBef>
                <a:spcPts val="2400"/>
              </a:spcBef>
              <a:spcAft>
                <a:spcPts val="1800"/>
              </a:spcAft>
              <a:buNone/>
            </a:pPr>
            <a:r>
              <a:rPr lang="en-US" b="0" i="0" dirty="0">
                <a:solidFill>
                  <a:srgbClr val="272C37"/>
                </a:solidFill>
                <a:effectLst/>
                <a:latin typeface="Roboto" panose="02000000000000000000" pitchFamily="2" charset="0"/>
              </a:rPr>
              <a:t>3. What are HTML5 Semantic Elements?</a:t>
            </a:r>
          </a:p>
          <a:p>
            <a:pPr algn="just">
              <a:lnSpc>
                <a:spcPts val="2100"/>
              </a:lnSpc>
              <a:spcBef>
                <a:spcPts val="1650"/>
              </a:spcBef>
              <a:buNone/>
            </a:pPr>
            <a:r>
              <a:rPr lang="en-US" b="0" i="0" dirty="0">
                <a:solidFill>
                  <a:srgbClr val="3A3A3A"/>
                </a:solidFill>
                <a:effectLst/>
                <a:latin typeface="Roboto" panose="02000000000000000000" pitchFamily="2" charset="0"/>
              </a:rPr>
              <a:t>HTML5 introduced semantic elements like &lt;header&gt;, &lt;footer&gt;, &lt;article&gt;, &lt;section&gt;, &lt;nav&gt;, and &lt;aside&gt;, which improve the structure of web pages and make the code more readable and accessible.</a:t>
            </a:r>
          </a:p>
        </p:txBody>
      </p:sp>
    </p:spTree>
    <p:extLst>
      <p:ext uri="{BB962C8B-B14F-4D97-AF65-F5344CB8AC3E}">
        <p14:creationId xmlns:p14="http://schemas.microsoft.com/office/powerpoint/2010/main" val="24352797"/>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206E0F-50CD-3B11-1DFD-FC72990330F6}"/>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1FCE6881-6ED4-5A69-BBD8-D600FA13360F}"/>
              </a:ext>
            </a:extLst>
          </p:cNvPr>
          <p:cNvSpPr txBox="1"/>
          <p:nvPr/>
        </p:nvSpPr>
        <p:spPr>
          <a:xfrm>
            <a:off x="2477069" y="-217305"/>
            <a:ext cx="4954136" cy="7299434"/>
          </a:xfrm>
          <a:prstGeom prst="rect">
            <a:avLst/>
          </a:prstGeom>
          <a:noFill/>
        </p:spPr>
        <p:txBody>
          <a:bodyPr wrap="square">
            <a:spAutoFit/>
          </a:bodyPr>
          <a:lstStyle/>
          <a:p>
            <a:pPr algn="l">
              <a:lnSpc>
                <a:spcPts val="2100"/>
              </a:lnSpc>
              <a:spcBef>
                <a:spcPts val="2400"/>
              </a:spcBef>
              <a:spcAft>
                <a:spcPts val="1800"/>
              </a:spcAft>
              <a:buNone/>
            </a:pPr>
            <a:r>
              <a:rPr lang="en-US" b="0" i="0" dirty="0">
                <a:solidFill>
                  <a:srgbClr val="272C37"/>
                </a:solidFill>
                <a:effectLst/>
                <a:latin typeface="Roboto" panose="02000000000000000000" pitchFamily="2" charset="0"/>
              </a:rPr>
              <a:t>4. Explain what HTML5 means and its various features.</a:t>
            </a:r>
          </a:p>
          <a:p>
            <a:pPr algn="just">
              <a:lnSpc>
                <a:spcPts val="2100"/>
              </a:lnSpc>
              <a:spcBef>
                <a:spcPts val="1650"/>
              </a:spcBef>
              <a:buNone/>
            </a:pPr>
            <a:r>
              <a:rPr lang="en-US" b="0" i="0" dirty="0">
                <a:solidFill>
                  <a:srgbClr val="3A3A3A"/>
                </a:solidFill>
                <a:effectLst/>
                <a:latin typeface="Roboto" panose="02000000000000000000" pitchFamily="2" charset="0"/>
              </a:rPr>
              <a:t>HTML5 is the latest advancement in HTML and is capable of rendering web pages dynamically, modern, and easy to build. </a:t>
            </a:r>
          </a:p>
          <a:p>
            <a:pPr algn="just">
              <a:lnSpc>
                <a:spcPts val="2100"/>
              </a:lnSpc>
              <a:spcBef>
                <a:spcPts val="750"/>
              </a:spcBef>
              <a:buNone/>
            </a:pPr>
            <a:r>
              <a:rPr lang="en-US" b="0" i="0" dirty="0">
                <a:solidFill>
                  <a:srgbClr val="3A3A3A"/>
                </a:solidFill>
                <a:effectLst/>
                <a:latin typeface="Roboto" panose="02000000000000000000" pitchFamily="2" charset="0"/>
              </a:rPr>
              <a:t>Important Features of HTML5: </a:t>
            </a:r>
          </a:p>
          <a:p>
            <a:pPr algn="just">
              <a:lnSpc>
                <a:spcPts val="2100"/>
              </a:lnSpc>
              <a:spcBef>
                <a:spcPts val="750"/>
              </a:spcBef>
              <a:spcAft>
                <a:spcPts val="600"/>
              </a:spcAft>
              <a:buFont typeface="Arial" panose="020B0604020202020204" pitchFamily="34" charset="0"/>
              <a:buChar char="•"/>
            </a:pPr>
            <a:r>
              <a:rPr lang="en-US" b="0" i="0" dirty="0">
                <a:solidFill>
                  <a:srgbClr val="3A3A3A"/>
                </a:solidFill>
                <a:effectLst/>
                <a:latin typeface="Roboto" panose="02000000000000000000" pitchFamily="2" charset="0"/>
              </a:rPr>
              <a:t>Recently added Tags: for example, &lt;header&gt;, &lt;footer&gt;, etc., and &lt;section&gt;, which have been created to organize content better. </a:t>
            </a:r>
          </a:p>
          <a:p>
            <a:pPr algn="just">
              <a:lnSpc>
                <a:spcPts val="2100"/>
              </a:lnSpc>
              <a:spcBef>
                <a:spcPts val="750"/>
              </a:spcBef>
              <a:spcAft>
                <a:spcPts val="600"/>
              </a:spcAft>
              <a:buFont typeface="Arial" panose="020B0604020202020204" pitchFamily="34" charset="0"/>
              <a:buChar char="•"/>
            </a:pPr>
            <a:r>
              <a:rPr lang="en-US" b="0" i="0" dirty="0">
                <a:solidFill>
                  <a:srgbClr val="3A3A3A"/>
                </a:solidFill>
                <a:effectLst/>
                <a:latin typeface="Roboto" panose="02000000000000000000" pitchFamily="2" charset="0"/>
              </a:rPr>
              <a:t>Multimedia: The new &lt;video&gt; and &lt;audio&gt; tags are available for embedding audio or video.</a:t>
            </a:r>
          </a:p>
          <a:p>
            <a:pPr algn="just">
              <a:lnSpc>
                <a:spcPts val="2100"/>
              </a:lnSpc>
              <a:spcBef>
                <a:spcPts val="750"/>
              </a:spcBef>
              <a:spcAft>
                <a:spcPts val="600"/>
              </a:spcAft>
              <a:buFont typeface="Arial" panose="020B0604020202020204" pitchFamily="34" charset="0"/>
              <a:buChar char="•"/>
            </a:pPr>
            <a:r>
              <a:rPr lang="en-US" b="0" i="0" dirty="0">
                <a:solidFill>
                  <a:srgbClr val="3A3A3A"/>
                </a:solidFill>
                <a:effectLst/>
                <a:latin typeface="Roboto" panose="02000000000000000000" pitchFamily="2" charset="0"/>
              </a:rPr>
              <a:t>Canvas: You draw graphics and animations within a browser using the &lt;canvas&gt; tag.</a:t>
            </a:r>
          </a:p>
          <a:p>
            <a:pPr algn="just">
              <a:lnSpc>
                <a:spcPts val="2100"/>
              </a:lnSpc>
              <a:spcBef>
                <a:spcPts val="750"/>
              </a:spcBef>
              <a:spcAft>
                <a:spcPts val="600"/>
              </a:spcAft>
              <a:buFont typeface="Arial" panose="020B0604020202020204" pitchFamily="34" charset="0"/>
              <a:buChar char="•"/>
            </a:pPr>
            <a:r>
              <a:rPr lang="en-US" b="0" i="0" dirty="0">
                <a:solidFill>
                  <a:srgbClr val="3A3A3A"/>
                </a:solidFill>
                <a:effectLst/>
                <a:latin typeface="Roboto" panose="02000000000000000000" pitchFamily="2" charset="0"/>
              </a:rPr>
              <a:t>Improved Forms: With new input such as email, date, and range incorporated, forms will be easier to work with.</a:t>
            </a:r>
          </a:p>
          <a:p>
            <a:pPr algn="just">
              <a:lnSpc>
                <a:spcPts val="2100"/>
              </a:lnSpc>
              <a:spcBef>
                <a:spcPts val="750"/>
              </a:spcBef>
              <a:spcAft>
                <a:spcPts val="600"/>
              </a:spcAft>
              <a:buFont typeface="Arial" panose="020B0604020202020204" pitchFamily="34" charset="0"/>
              <a:buChar char="•"/>
            </a:pPr>
            <a:r>
              <a:rPr lang="en-US" b="0" i="0" dirty="0">
                <a:solidFill>
                  <a:srgbClr val="3A3A3A"/>
                </a:solidFill>
                <a:effectLst/>
                <a:latin typeface="Roboto" panose="02000000000000000000" pitchFamily="2" charset="0"/>
              </a:rPr>
              <a:t>Local Storage: It stores data directly for offline usage in the browser.</a:t>
            </a:r>
          </a:p>
          <a:p>
            <a:pPr algn="just">
              <a:lnSpc>
                <a:spcPts val="2100"/>
              </a:lnSpc>
              <a:spcBef>
                <a:spcPts val="750"/>
              </a:spcBef>
              <a:spcAft>
                <a:spcPts val="600"/>
              </a:spcAft>
              <a:buFont typeface="Arial" panose="020B0604020202020204" pitchFamily="34" charset="0"/>
              <a:buChar char="•"/>
            </a:pPr>
            <a:r>
              <a:rPr lang="en-US" b="0" i="0" dirty="0">
                <a:solidFill>
                  <a:srgbClr val="3A3A3A"/>
                </a:solidFill>
                <a:effectLst/>
                <a:latin typeface="Roboto" panose="02000000000000000000" pitchFamily="2" charset="0"/>
              </a:rPr>
              <a:t>Geolocation: Websites can access your location.</a:t>
            </a:r>
          </a:p>
        </p:txBody>
      </p:sp>
    </p:spTree>
    <p:extLst>
      <p:ext uri="{BB962C8B-B14F-4D97-AF65-F5344CB8AC3E}">
        <p14:creationId xmlns:p14="http://schemas.microsoft.com/office/powerpoint/2010/main" val="2623084763"/>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F11B39-F064-775A-9411-E73929C1D279}"/>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472B24FE-E514-0190-15D7-F61FAC5997D4}"/>
              </a:ext>
            </a:extLst>
          </p:cNvPr>
          <p:cNvSpPr txBox="1"/>
          <p:nvPr/>
        </p:nvSpPr>
        <p:spPr>
          <a:xfrm>
            <a:off x="2477069" y="667553"/>
            <a:ext cx="4954136" cy="5529719"/>
          </a:xfrm>
          <a:prstGeom prst="rect">
            <a:avLst/>
          </a:prstGeom>
          <a:noFill/>
        </p:spPr>
        <p:txBody>
          <a:bodyPr wrap="square">
            <a:spAutoFit/>
          </a:bodyPr>
          <a:lstStyle/>
          <a:p>
            <a:pPr algn="l">
              <a:lnSpc>
                <a:spcPts val="2100"/>
              </a:lnSpc>
              <a:spcBef>
                <a:spcPts val="2400"/>
              </a:spcBef>
              <a:spcAft>
                <a:spcPts val="1800"/>
              </a:spcAft>
              <a:buNone/>
            </a:pPr>
            <a:r>
              <a:rPr lang="en-US" b="0" i="0" dirty="0">
                <a:solidFill>
                  <a:srgbClr val="272C37"/>
                </a:solidFill>
                <a:effectLst/>
                <a:latin typeface="Roboto" panose="02000000000000000000" pitchFamily="2" charset="0"/>
              </a:rPr>
              <a:t>5. Define &lt;canvas&gt; element in HTML5?</a:t>
            </a:r>
          </a:p>
          <a:p>
            <a:pPr algn="just">
              <a:lnSpc>
                <a:spcPts val="2100"/>
              </a:lnSpc>
              <a:spcBef>
                <a:spcPts val="1650"/>
              </a:spcBef>
              <a:buNone/>
            </a:pPr>
            <a:r>
              <a:rPr lang="en-US" b="0" i="0" dirty="0">
                <a:solidFill>
                  <a:srgbClr val="3A3A3A"/>
                </a:solidFill>
                <a:effectLst/>
                <a:latin typeface="Roboto" panose="02000000000000000000" pitchFamily="2" charset="0"/>
              </a:rPr>
              <a:t>The &lt;canvas&gt; element in HTML5 allows you to draw graphics and animations on a web page using JavaScript.</a:t>
            </a:r>
          </a:p>
          <a:p>
            <a:pPr algn="just">
              <a:lnSpc>
                <a:spcPts val="2100"/>
              </a:lnSpc>
              <a:spcBef>
                <a:spcPts val="750"/>
              </a:spcBef>
              <a:buNone/>
            </a:pPr>
            <a:r>
              <a:rPr lang="en-US" b="0" i="0" dirty="0">
                <a:solidFill>
                  <a:srgbClr val="3A3A3A"/>
                </a:solidFill>
                <a:effectLst/>
                <a:latin typeface="Roboto" panose="02000000000000000000" pitchFamily="2" charset="0"/>
              </a:rPr>
              <a:t>Key Functions:</a:t>
            </a:r>
          </a:p>
          <a:p>
            <a:pPr algn="just">
              <a:lnSpc>
                <a:spcPts val="2100"/>
              </a:lnSpc>
              <a:spcBef>
                <a:spcPts val="750"/>
              </a:spcBef>
              <a:spcAft>
                <a:spcPts val="600"/>
              </a:spcAft>
              <a:buFont typeface="Arial" panose="020B0604020202020204" pitchFamily="34" charset="0"/>
              <a:buChar char="•"/>
            </a:pPr>
            <a:r>
              <a:rPr lang="en-US" b="0" i="0" dirty="0" err="1">
                <a:solidFill>
                  <a:srgbClr val="3A3A3A"/>
                </a:solidFill>
                <a:effectLst/>
                <a:latin typeface="Roboto" panose="02000000000000000000" pitchFamily="2" charset="0"/>
              </a:rPr>
              <a:t>fillRect</a:t>
            </a:r>
            <a:r>
              <a:rPr lang="en-US" b="0" i="0" dirty="0">
                <a:solidFill>
                  <a:srgbClr val="3A3A3A"/>
                </a:solidFill>
                <a:effectLst/>
                <a:latin typeface="Roboto" panose="02000000000000000000" pitchFamily="2" charset="0"/>
              </a:rPr>
              <a:t>(): Draws a rectangle.</a:t>
            </a:r>
          </a:p>
          <a:p>
            <a:pPr algn="just">
              <a:lnSpc>
                <a:spcPts val="2100"/>
              </a:lnSpc>
              <a:spcBef>
                <a:spcPts val="750"/>
              </a:spcBef>
              <a:spcAft>
                <a:spcPts val="600"/>
              </a:spcAft>
              <a:buFont typeface="Arial" panose="020B0604020202020204" pitchFamily="34" charset="0"/>
              <a:buChar char="•"/>
            </a:pPr>
            <a:r>
              <a:rPr lang="en-US" b="0" i="0" dirty="0">
                <a:solidFill>
                  <a:srgbClr val="3A3A3A"/>
                </a:solidFill>
                <a:effectLst/>
                <a:latin typeface="Roboto" panose="02000000000000000000" pitchFamily="2" charset="0"/>
              </a:rPr>
              <a:t>arc(): Draws a circle or arc.</a:t>
            </a:r>
          </a:p>
          <a:p>
            <a:pPr algn="l">
              <a:lnSpc>
                <a:spcPts val="2100"/>
              </a:lnSpc>
              <a:spcBef>
                <a:spcPts val="2400"/>
              </a:spcBef>
              <a:spcAft>
                <a:spcPts val="1800"/>
              </a:spcAft>
              <a:buNone/>
            </a:pPr>
            <a:r>
              <a:rPr lang="en-US" b="0" i="0" dirty="0">
                <a:solidFill>
                  <a:srgbClr val="272C37"/>
                </a:solidFill>
                <a:effectLst/>
                <a:latin typeface="Roboto" panose="02000000000000000000" pitchFamily="2" charset="0"/>
              </a:rPr>
              <a:t>6. Give a description of a template element within HTML5.</a:t>
            </a:r>
          </a:p>
          <a:p>
            <a:pPr algn="just">
              <a:lnSpc>
                <a:spcPts val="2100"/>
              </a:lnSpc>
              <a:spcBef>
                <a:spcPts val="1650"/>
              </a:spcBef>
              <a:buNone/>
            </a:pPr>
            <a:r>
              <a:rPr lang="en-US" b="0" i="0" dirty="0">
                <a:solidFill>
                  <a:srgbClr val="3A3A3A"/>
                </a:solidFill>
                <a:effectLst/>
                <a:latin typeface="Roboto" panose="02000000000000000000" pitchFamily="2" charset="0"/>
              </a:rPr>
              <a:t>The &lt;template&gt; element becomes a part of</a:t>
            </a:r>
            <a:r>
              <a:rPr lang="en-US" b="0" i="0" u="none" strike="noStrike" dirty="0">
                <a:solidFill>
                  <a:srgbClr val="0F5A9E"/>
                </a:solidFill>
                <a:effectLst/>
                <a:latin typeface="Roboto" panose="02000000000000000000" pitchFamily="2" charset="0"/>
                <a:hlinkClick r:id="rId2"/>
              </a:rPr>
              <a:t> HTML5 that is used to mold HTML</a:t>
            </a:r>
            <a:r>
              <a:rPr lang="en-US" b="0" i="0" dirty="0">
                <a:solidFill>
                  <a:srgbClr val="3A3A3A"/>
                </a:solidFill>
                <a:effectLst/>
                <a:latin typeface="Roboto" panose="02000000000000000000" pitchFamily="2" charset="0"/>
              </a:rPr>
              <a:t> contents during the loading of the page, and later on, such contents would be referred to or dynamically aggregated through JavaScript.</a:t>
            </a:r>
          </a:p>
        </p:txBody>
      </p:sp>
    </p:spTree>
    <p:extLst>
      <p:ext uri="{BB962C8B-B14F-4D97-AF65-F5344CB8AC3E}">
        <p14:creationId xmlns:p14="http://schemas.microsoft.com/office/powerpoint/2010/main" val="28136030"/>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265BB2-BFB1-CCC2-B55F-CF392C3DE129}"/>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0A70A85B-9359-A0BE-9891-B4D6470B4830}"/>
              </a:ext>
            </a:extLst>
          </p:cNvPr>
          <p:cNvSpPr txBox="1"/>
          <p:nvPr/>
        </p:nvSpPr>
        <p:spPr>
          <a:xfrm>
            <a:off x="2477069" y="-69829"/>
            <a:ext cx="4954136" cy="7004482"/>
          </a:xfrm>
          <a:prstGeom prst="rect">
            <a:avLst/>
          </a:prstGeom>
          <a:noFill/>
        </p:spPr>
        <p:txBody>
          <a:bodyPr wrap="square">
            <a:spAutoFit/>
          </a:bodyPr>
          <a:lstStyle/>
          <a:p>
            <a:pPr algn="l">
              <a:lnSpc>
                <a:spcPts val="2100"/>
              </a:lnSpc>
              <a:spcBef>
                <a:spcPts val="2400"/>
              </a:spcBef>
              <a:spcAft>
                <a:spcPts val="1800"/>
              </a:spcAft>
              <a:buNone/>
            </a:pPr>
            <a:r>
              <a:rPr lang="en-US" b="0" i="0" dirty="0">
                <a:solidFill>
                  <a:srgbClr val="272C37"/>
                </a:solidFill>
                <a:effectLst/>
                <a:latin typeface="Roboto" panose="02000000000000000000" pitchFamily="2" charset="0"/>
              </a:rPr>
              <a:t>7. What is MathML in HTML 5?</a:t>
            </a:r>
          </a:p>
          <a:p>
            <a:pPr algn="just">
              <a:lnSpc>
                <a:spcPts val="2100"/>
              </a:lnSpc>
              <a:spcBef>
                <a:spcPts val="1650"/>
              </a:spcBef>
              <a:buNone/>
            </a:pPr>
            <a:r>
              <a:rPr lang="en-US" b="0" i="0" dirty="0">
                <a:solidFill>
                  <a:srgbClr val="3A3A3A"/>
                </a:solidFill>
                <a:effectLst/>
                <a:latin typeface="Roboto" panose="02000000000000000000" pitchFamily="2" charset="0"/>
              </a:rPr>
              <a:t>MathML is a markup language that is used in HTML5 to represent mathematical expressions and equations. This allows the representation of complex mathematical symbols, equations, and notations as they appear on web pages, making them accessible and formatted well.</a:t>
            </a:r>
          </a:p>
          <a:p>
            <a:pPr algn="l">
              <a:lnSpc>
                <a:spcPts val="2100"/>
              </a:lnSpc>
              <a:spcBef>
                <a:spcPts val="2400"/>
              </a:spcBef>
              <a:spcAft>
                <a:spcPts val="1800"/>
              </a:spcAft>
              <a:buNone/>
            </a:pPr>
            <a:r>
              <a:rPr lang="en-US" b="0" i="0" dirty="0">
                <a:solidFill>
                  <a:srgbClr val="272C37"/>
                </a:solidFill>
                <a:effectLst/>
                <a:latin typeface="Roboto" panose="02000000000000000000" pitchFamily="2" charset="0"/>
              </a:rPr>
              <a:t>8. What are inline and block elements in HTML5?</a:t>
            </a:r>
          </a:p>
          <a:p>
            <a:pPr algn="just">
              <a:lnSpc>
                <a:spcPts val="2100"/>
              </a:lnSpc>
              <a:spcBef>
                <a:spcPts val="1650"/>
              </a:spcBef>
              <a:spcAft>
                <a:spcPts val="600"/>
              </a:spcAft>
              <a:buFont typeface="Arial" panose="020B0604020202020204" pitchFamily="34" charset="0"/>
              <a:buChar char="•"/>
            </a:pPr>
            <a:r>
              <a:rPr lang="en-US" b="0" i="0" dirty="0">
                <a:solidFill>
                  <a:srgbClr val="3A3A3A"/>
                </a:solidFill>
                <a:effectLst/>
                <a:latin typeface="Roboto" panose="02000000000000000000" pitchFamily="2" charset="0"/>
              </a:rPr>
              <a:t>Block elements take up the full width and start on a new line.</a:t>
            </a:r>
            <a:br>
              <a:rPr lang="en-US" b="0" i="0" dirty="0">
                <a:solidFill>
                  <a:srgbClr val="3A3A3A"/>
                </a:solidFill>
                <a:effectLst/>
                <a:latin typeface="Roboto" panose="02000000000000000000" pitchFamily="2" charset="0"/>
              </a:rPr>
            </a:br>
            <a:r>
              <a:rPr lang="en-US" b="0" i="0" dirty="0">
                <a:solidFill>
                  <a:srgbClr val="3A3A3A"/>
                </a:solidFill>
                <a:effectLst/>
                <a:latin typeface="Roboto" panose="02000000000000000000" pitchFamily="2" charset="0"/>
              </a:rPr>
              <a:t>Examples: &lt;div&gt;, &lt;p&gt;, &lt;h1&gt;, &lt;section&gt;</a:t>
            </a:r>
          </a:p>
          <a:p>
            <a:pPr algn="just">
              <a:lnSpc>
                <a:spcPts val="2100"/>
              </a:lnSpc>
              <a:spcBef>
                <a:spcPts val="1650"/>
              </a:spcBef>
              <a:spcAft>
                <a:spcPts val="600"/>
              </a:spcAft>
              <a:buFont typeface="Arial" panose="020B0604020202020204" pitchFamily="34" charset="0"/>
              <a:buChar char="•"/>
            </a:pPr>
            <a:r>
              <a:rPr lang="en-US" b="0" i="0" dirty="0">
                <a:solidFill>
                  <a:srgbClr val="3A3A3A"/>
                </a:solidFill>
                <a:effectLst/>
                <a:latin typeface="Roboto" panose="02000000000000000000" pitchFamily="2" charset="0"/>
              </a:rPr>
              <a:t>Inline elements stay within the same line and only take as much width as needed.</a:t>
            </a:r>
            <a:br>
              <a:rPr lang="en-US" b="0" i="0" dirty="0">
                <a:solidFill>
                  <a:srgbClr val="3A3A3A"/>
                </a:solidFill>
                <a:effectLst/>
                <a:latin typeface="Roboto" panose="02000000000000000000" pitchFamily="2" charset="0"/>
              </a:rPr>
            </a:br>
            <a:r>
              <a:rPr lang="en-US" b="0" i="0" dirty="0">
                <a:solidFill>
                  <a:srgbClr val="3A3A3A"/>
                </a:solidFill>
                <a:effectLst/>
                <a:latin typeface="Roboto" panose="02000000000000000000" pitchFamily="2" charset="0"/>
              </a:rPr>
              <a:t>Examples: &lt;span&gt;, &lt;a&gt;, &lt;</a:t>
            </a:r>
            <a:r>
              <a:rPr lang="en-US" b="0" i="0" dirty="0" err="1">
                <a:solidFill>
                  <a:srgbClr val="3A3A3A"/>
                </a:solidFill>
                <a:effectLst/>
                <a:latin typeface="Roboto" panose="02000000000000000000" pitchFamily="2" charset="0"/>
              </a:rPr>
              <a:t>img</a:t>
            </a:r>
            <a:r>
              <a:rPr lang="en-US" b="0" i="0" dirty="0">
                <a:solidFill>
                  <a:srgbClr val="3A3A3A"/>
                </a:solidFill>
                <a:effectLst/>
                <a:latin typeface="Roboto" panose="02000000000000000000" pitchFamily="2" charset="0"/>
              </a:rPr>
              <a:t>&gt;, &lt;strong&gt;</a:t>
            </a:r>
          </a:p>
          <a:p>
            <a:pPr algn="just">
              <a:lnSpc>
                <a:spcPts val="2100"/>
              </a:lnSpc>
              <a:spcBef>
                <a:spcPts val="1650"/>
              </a:spcBef>
              <a:buNone/>
            </a:pPr>
            <a:r>
              <a:rPr lang="en-US" b="0" i="0" dirty="0">
                <a:solidFill>
                  <a:srgbClr val="3A3A3A"/>
                </a:solidFill>
                <a:effectLst/>
                <a:latin typeface="Roboto" panose="02000000000000000000" pitchFamily="2" charset="0"/>
              </a:rPr>
              <a:t>Think of it like:</a:t>
            </a:r>
            <a:br>
              <a:rPr lang="en-US" b="0" i="0" dirty="0">
                <a:solidFill>
                  <a:srgbClr val="3A3A3A"/>
                </a:solidFill>
                <a:effectLst/>
                <a:latin typeface="Roboto" panose="02000000000000000000" pitchFamily="2" charset="0"/>
              </a:rPr>
            </a:br>
            <a:r>
              <a:rPr lang="en-US" b="0" i="0" dirty="0">
                <a:solidFill>
                  <a:srgbClr val="3A3A3A"/>
                </a:solidFill>
                <a:effectLst/>
                <a:latin typeface="Roboto" panose="02000000000000000000" pitchFamily="2" charset="0"/>
              </a:rPr>
              <a:t>Block = Big boxes</a:t>
            </a:r>
            <a:br>
              <a:rPr lang="en-US" b="0" i="0" dirty="0">
                <a:solidFill>
                  <a:srgbClr val="3A3A3A"/>
                </a:solidFill>
                <a:effectLst/>
                <a:latin typeface="Roboto" panose="02000000000000000000" pitchFamily="2" charset="0"/>
              </a:rPr>
            </a:br>
            <a:r>
              <a:rPr lang="en-US" b="0" i="0" dirty="0">
                <a:solidFill>
                  <a:srgbClr val="3A3A3A"/>
                </a:solidFill>
                <a:effectLst/>
                <a:latin typeface="Roboto" panose="02000000000000000000" pitchFamily="2" charset="0"/>
              </a:rPr>
              <a:t>Inline = Small items inside a line</a:t>
            </a:r>
          </a:p>
        </p:txBody>
      </p:sp>
    </p:spTree>
    <p:extLst>
      <p:ext uri="{BB962C8B-B14F-4D97-AF65-F5344CB8AC3E}">
        <p14:creationId xmlns:p14="http://schemas.microsoft.com/office/powerpoint/2010/main" val="3254852623"/>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3386E9-3127-3EDA-6557-CEF76A86D7F9}"/>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51A84AB8-F4D5-6265-5E47-C747ADF64AC7}"/>
              </a:ext>
            </a:extLst>
          </p:cNvPr>
          <p:cNvSpPr txBox="1"/>
          <p:nvPr/>
        </p:nvSpPr>
        <p:spPr>
          <a:xfrm>
            <a:off x="2477069" y="30199"/>
            <a:ext cx="4954136" cy="6804427"/>
          </a:xfrm>
          <a:prstGeom prst="rect">
            <a:avLst/>
          </a:prstGeom>
          <a:noFill/>
        </p:spPr>
        <p:txBody>
          <a:bodyPr wrap="square">
            <a:spAutoFit/>
          </a:bodyPr>
          <a:lstStyle/>
          <a:p>
            <a:pPr algn="l">
              <a:lnSpc>
                <a:spcPts val="2100"/>
              </a:lnSpc>
              <a:spcBef>
                <a:spcPts val="2400"/>
              </a:spcBef>
              <a:spcAft>
                <a:spcPts val="1800"/>
              </a:spcAft>
              <a:buNone/>
            </a:pPr>
            <a:r>
              <a:rPr lang="en-US" b="0" i="0" dirty="0">
                <a:solidFill>
                  <a:srgbClr val="272C37"/>
                </a:solidFill>
                <a:effectLst/>
                <a:latin typeface="Roboto" panose="02000000000000000000" pitchFamily="2" charset="0"/>
              </a:rPr>
              <a:t>9. What is the difference between the &lt;figure&gt; tag and the &lt;</a:t>
            </a:r>
            <a:r>
              <a:rPr lang="en-US" b="0" i="0" dirty="0" err="1">
                <a:solidFill>
                  <a:srgbClr val="272C37"/>
                </a:solidFill>
                <a:effectLst/>
                <a:latin typeface="Roboto" panose="02000000000000000000" pitchFamily="2" charset="0"/>
              </a:rPr>
              <a:t>img</a:t>
            </a:r>
            <a:r>
              <a:rPr lang="en-US" b="0" i="0" dirty="0">
                <a:solidFill>
                  <a:srgbClr val="272C37"/>
                </a:solidFill>
                <a:effectLst/>
                <a:latin typeface="Roboto" panose="02000000000000000000" pitchFamily="2" charset="0"/>
              </a:rPr>
              <a:t>&gt; tag?</a:t>
            </a:r>
          </a:p>
          <a:p>
            <a:pPr algn="just">
              <a:lnSpc>
                <a:spcPts val="2100"/>
              </a:lnSpc>
              <a:spcBef>
                <a:spcPts val="1650"/>
              </a:spcBef>
              <a:spcAft>
                <a:spcPts val="600"/>
              </a:spcAft>
              <a:buFont typeface="Arial" panose="020B0604020202020204" pitchFamily="34" charset="0"/>
              <a:buChar char="•"/>
            </a:pPr>
            <a:r>
              <a:rPr lang="en-US" b="0" i="0" dirty="0">
                <a:solidFill>
                  <a:srgbClr val="3A3A3A"/>
                </a:solidFill>
                <a:effectLst/>
                <a:latin typeface="Roboto" panose="02000000000000000000" pitchFamily="2" charset="0"/>
              </a:rPr>
              <a:t>&lt;</a:t>
            </a:r>
            <a:r>
              <a:rPr lang="en-US" b="0" i="0" dirty="0" err="1">
                <a:solidFill>
                  <a:srgbClr val="3A3A3A"/>
                </a:solidFill>
                <a:effectLst/>
                <a:latin typeface="Roboto" panose="02000000000000000000" pitchFamily="2" charset="0"/>
              </a:rPr>
              <a:t>img</a:t>
            </a:r>
            <a:r>
              <a:rPr lang="en-US" b="0" i="0" dirty="0">
                <a:solidFill>
                  <a:srgbClr val="3A3A3A"/>
                </a:solidFill>
                <a:effectLst/>
                <a:latin typeface="Roboto" panose="02000000000000000000" pitchFamily="2" charset="0"/>
              </a:rPr>
              <a:t>&gt; is used to display an image.</a:t>
            </a:r>
          </a:p>
          <a:p>
            <a:pPr algn="just">
              <a:lnSpc>
                <a:spcPts val="2100"/>
              </a:lnSpc>
              <a:spcBef>
                <a:spcPts val="1650"/>
              </a:spcBef>
              <a:spcAft>
                <a:spcPts val="600"/>
              </a:spcAft>
              <a:buFont typeface="Arial" panose="020B0604020202020204" pitchFamily="34" charset="0"/>
              <a:buChar char="•"/>
            </a:pPr>
            <a:r>
              <a:rPr lang="en-US" b="0" i="0" dirty="0">
                <a:solidFill>
                  <a:srgbClr val="3A3A3A"/>
                </a:solidFill>
                <a:effectLst/>
                <a:latin typeface="Roboto" panose="02000000000000000000" pitchFamily="2" charset="0"/>
              </a:rPr>
              <a:t>&lt;figure&gt; is a container used to group media content (like &lt;</a:t>
            </a:r>
            <a:r>
              <a:rPr lang="en-US" b="0" i="0" dirty="0" err="1">
                <a:solidFill>
                  <a:srgbClr val="3A3A3A"/>
                </a:solidFill>
                <a:effectLst/>
                <a:latin typeface="Roboto" panose="02000000000000000000" pitchFamily="2" charset="0"/>
              </a:rPr>
              <a:t>img</a:t>
            </a:r>
            <a:r>
              <a:rPr lang="en-US" b="0" i="0" dirty="0">
                <a:solidFill>
                  <a:srgbClr val="3A3A3A"/>
                </a:solidFill>
                <a:effectLst/>
                <a:latin typeface="Roboto" panose="02000000000000000000" pitchFamily="2" charset="0"/>
              </a:rPr>
              <a:t>&gt;) with a caption (&lt;</a:t>
            </a:r>
            <a:r>
              <a:rPr lang="en-US" b="0" i="0" dirty="0" err="1">
                <a:solidFill>
                  <a:srgbClr val="3A3A3A"/>
                </a:solidFill>
                <a:effectLst/>
                <a:latin typeface="Roboto" panose="02000000000000000000" pitchFamily="2" charset="0"/>
              </a:rPr>
              <a:t>figcaption</a:t>
            </a:r>
            <a:r>
              <a:rPr lang="en-US" b="0" i="0" dirty="0">
                <a:solidFill>
                  <a:srgbClr val="3A3A3A"/>
                </a:solidFill>
                <a:effectLst/>
                <a:latin typeface="Roboto" panose="02000000000000000000" pitchFamily="2" charset="0"/>
              </a:rPr>
              <a:t>&gt;).</a:t>
            </a:r>
          </a:p>
          <a:p>
            <a:pPr algn="just">
              <a:lnSpc>
                <a:spcPts val="2100"/>
              </a:lnSpc>
              <a:spcBef>
                <a:spcPts val="1650"/>
              </a:spcBef>
              <a:buNone/>
            </a:pPr>
            <a:r>
              <a:rPr lang="en-US" b="0" i="0" dirty="0">
                <a:solidFill>
                  <a:srgbClr val="3A3A3A"/>
                </a:solidFill>
                <a:effectLst/>
                <a:latin typeface="Roboto" panose="02000000000000000000" pitchFamily="2" charset="0"/>
              </a:rPr>
              <a:t>Example:</a:t>
            </a:r>
          </a:p>
          <a:p>
            <a:pPr algn="l">
              <a:spcBef>
                <a:spcPts val="1125"/>
              </a:spcBef>
              <a:spcAft>
                <a:spcPts val="375"/>
              </a:spcAft>
              <a:buNone/>
            </a:pPr>
            <a:r>
              <a:rPr lang="en-US" b="0" i="0" dirty="0">
                <a:solidFill>
                  <a:srgbClr val="212529"/>
                </a:solidFill>
                <a:effectLst/>
                <a:latin typeface="Courier New" panose="02070309020205020404" pitchFamily="49" charset="0"/>
              </a:rPr>
              <a:t>&lt;figure&gt;</a:t>
            </a:r>
          </a:p>
          <a:p>
            <a:pPr algn="l">
              <a:spcBef>
                <a:spcPts val="1125"/>
              </a:spcBef>
              <a:spcAft>
                <a:spcPts val="375"/>
              </a:spcAft>
              <a:buNone/>
            </a:pPr>
            <a:endParaRPr lang="en-US" b="0" i="0" dirty="0">
              <a:solidFill>
                <a:srgbClr val="212529"/>
              </a:solidFill>
              <a:effectLst/>
              <a:latin typeface="Courier New" panose="02070309020205020404" pitchFamily="49" charset="0"/>
            </a:endParaRPr>
          </a:p>
          <a:p>
            <a:pPr algn="l">
              <a:spcBef>
                <a:spcPts val="1125"/>
              </a:spcBef>
              <a:spcAft>
                <a:spcPts val="375"/>
              </a:spcAft>
              <a:buNone/>
            </a:pPr>
            <a:r>
              <a:rPr lang="en-US" b="0" i="0" dirty="0">
                <a:solidFill>
                  <a:srgbClr val="212529"/>
                </a:solidFill>
                <a:effectLst/>
                <a:latin typeface="Courier New" panose="02070309020205020404" pitchFamily="49" charset="0"/>
              </a:rPr>
              <a:t>  &lt;</a:t>
            </a:r>
            <a:r>
              <a:rPr lang="en-US" b="0" i="0" dirty="0" err="1">
                <a:solidFill>
                  <a:srgbClr val="212529"/>
                </a:solidFill>
                <a:effectLst/>
                <a:latin typeface="Courier New" panose="02070309020205020404" pitchFamily="49" charset="0"/>
              </a:rPr>
              <a:t>img</a:t>
            </a:r>
            <a:r>
              <a:rPr lang="en-US" b="0" i="0" dirty="0">
                <a:solidFill>
                  <a:srgbClr val="212529"/>
                </a:solidFill>
                <a:effectLst/>
                <a:latin typeface="Courier New" panose="02070309020205020404" pitchFamily="49" charset="0"/>
              </a:rPr>
              <a:t> </a:t>
            </a:r>
            <a:r>
              <a:rPr lang="en-US" b="0" i="0" dirty="0" err="1">
                <a:solidFill>
                  <a:srgbClr val="212529"/>
                </a:solidFill>
                <a:effectLst/>
                <a:latin typeface="Courier New" panose="02070309020205020404" pitchFamily="49" charset="0"/>
              </a:rPr>
              <a:t>src</a:t>
            </a:r>
            <a:r>
              <a:rPr lang="en-US" b="0" i="0" dirty="0">
                <a:solidFill>
                  <a:srgbClr val="212529"/>
                </a:solidFill>
                <a:effectLst/>
                <a:latin typeface="Courier New" panose="02070309020205020404" pitchFamily="49" charset="0"/>
              </a:rPr>
              <a:t>="photo.jpg" alt="A photo"&gt;</a:t>
            </a:r>
          </a:p>
          <a:p>
            <a:pPr algn="l">
              <a:spcBef>
                <a:spcPts val="1125"/>
              </a:spcBef>
              <a:spcAft>
                <a:spcPts val="375"/>
              </a:spcAft>
              <a:buNone/>
            </a:pPr>
            <a:endParaRPr lang="en-US" b="0" i="0" dirty="0">
              <a:solidFill>
                <a:srgbClr val="212529"/>
              </a:solidFill>
              <a:effectLst/>
              <a:latin typeface="Courier New" panose="02070309020205020404" pitchFamily="49" charset="0"/>
            </a:endParaRPr>
          </a:p>
          <a:p>
            <a:pPr algn="l">
              <a:spcBef>
                <a:spcPts val="1125"/>
              </a:spcBef>
              <a:spcAft>
                <a:spcPts val="375"/>
              </a:spcAft>
              <a:buNone/>
            </a:pPr>
            <a:r>
              <a:rPr lang="en-US" b="0" i="0" dirty="0">
                <a:solidFill>
                  <a:srgbClr val="212529"/>
                </a:solidFill>
                <a:effectLst/>
                <a:latin typeface="Courier New" panose="02070309020205020404" pitchFamily="49" charset="0"/>
              </a:rPr>
              <a:t>  &lt;</a:t>
            </a:r>
            <a:r>
              <a:rPr lang="en-US" b="0" i="0" dirty="0" err="1">
                <a:solidFill>
                  <a:srgbClr val="212529"/>
                </a:solidFill>
                <a:effectLst/>
                <a:latin typeface="Courier New" panose="02070309020205020404" pitchFamily="49" charset="0"/>
              </a:rPr>
              <a:t>figcaption</a:t>
            </a:r>
            <a:r>
              <a:rPr lang="en-US" b="0" i="0" dirty="0">
                <a:solidFill>
                  <a:srgbClr val="212529"/>
                </a:solidFill>
                <a:effectLst/>
                <a:latin typeface="Courier New" panose="02070309020205020404" pitchFamily="49" charset="0"/>
              </a:rPr>
              <a:t>&gt;This is a caption for the photo.&lt;/</a:t>
            </a:r>
            <a:r>
              <a:rPr lang="en-US" b="0" i="0" dirty="0" err="1">
                <a:solidFill>
                  <a:srgbClr val="212529"/>
                </a:solidFill>
                <a:effectLst/>
                <a:latin typeface="Courier New" panose="02070309020205020404" pitchFamily="49" charset="0"/>
              </a:rPr>
              <a:t>figcaption</a:t>
            </a:r>
            <a:r>
              <a:rPr lang="en-US" b="0" i="0" dirty="0">
                <a:solidFill>
                  <a:srgbClr val="212529"/>
                </a:solidFill>
                <a:effectLst/>
                <a:latin typeface="Courier New" panose="02070309020205020404" pitchFamily="49" charset="0"/>
              </a:rPr>
              <a:t>&gt;</a:t>
            </a:r>
          </a:p>
          <a:p>
            <a:pPr algn="l">
              <a:spcBef>
                <a:spcPts val="1125"/>
              </a:spcBef>
              <a:spcAft>
                <a:spcPts val="375"/>
              </a:spcAft>
              <a:buNone/>
            </a:pPr>
            <a:endParaRPr lang="en-US" b="0" i="0" dirty="0">
              <a:solidFill>
                <a:srgbClr val="212529"/>
              </a:solidFill>
              <a:effectLst/>
              <a:latin typeface="Courier New" panose="02070309020205020404" pitchFamily="49" charset="0"/>
            </a:endParaRPr>
          </a:p>
          <a:p>
            <a:pPr algn="l">
              <a:spcBef>
                <a:spcPts val="1125"/>
              </a:spcBef>
              <a:spcAft>
                <a:spcPts val="375"/>
              </a:spcAft>
              <a:buNone/>
            </a:pPr>
            <a:r>
              <a:rPr lang="en-US" b="0" i="0" dirty="0">
                <a:solidFill>
                  <a:srgbClr val="212529"/>
                </a:solidFill>
                <a:effectLst/>
                <a:latin typeface="Courier New" panose="02070309020205020404" pitchFamily="49" charset="0"/>
              </a:rPr>
              <a:t>&lt;/figure&gt;</a:t>
            </a:r>
          </a:p>
        </p:txBody>
      </p:sp>
    </p:spTree>
    <p:extLst>
      <p:ext uri="{BB962C8B-B14F-4D97-AF65-F5344CB8AC3E}">
        <p14:creationId xmlns:p14="http://schemas.microsoft.com/office/powerpoint/2010/main" val="741512862"/>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8B79DE-BA72-F671-6D57-9F372D222487}"/>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674DBAF2-BD49-5CAB-7382-FBADF2BE0CFB}"/>
              </a:ext>
            </a:extLst>
          </p:cNvPr>
          <p:cNvSpPr txBox="1"/>
          <p:nvPr/>
        </p:nvSpPr>
        <p:spPr>
          <a:xfrm>
            <a:off x="2477069" y="-534058"/>
            <a:ext cx="4954136" cy="7932941"/>
          </a:xfrm>
          <a:prstGeom prst="rect">
            <a:avLst/>
          </a:prstGeom>
          <a:noFill/>
        </p:spPr>
        <p:txBody>
          <a:bodyPr wrap="square">
            <a:spAutoFit/>
          </a:bodyPr>
          <a:lstStyle/>
          <a:p>
            <a:pPr algn="l">
              <a:lnSpc>
                <a:spcPts val="2100"/>
              </a:lnSpc>
              <a:spcBef>
                <a:spcPts val="2400"/>
              </a:spcBef>
              <a:spcAft>
                <a:spcPts val="1800"/>
              </a:spcAft>
              <a:buNone/>
            </a:pPr>
            <a:r>
              <a:rPr lang="en-US" b="0" i="0" dirty="0">
                <a:solidFill>
                  <a:srgbClr val="272C37"/>
                </a:solidFill>
                <a:effectLst/>
                <a:latin typeface="Roboto" panose="02000000000000000000" pitchFamily="2" charset="0"/>
              </a:rPr>
              <a:t>10. How to specify the metadata in HTML5?</a:t>
            </a:r>
          </a:p>
          <a:p>
            <a:pPr algn="just">
              <a:lnSpc>
                <a:spcPts val="2100"/>
              </a:lnSpc>
              <a:spcBef>
                <a:spcPts val="1650"/>
              </a:spcBef>
              <a:buNone/>
            </a:pPr>
            <a:r>
              <a:rPr lang="en-US" b="0" i="0" dirty="0">
                <a:solidFill>
                  <a:srgbClr val="3A3A3A"/>
                </a:solidFill>
                <a:effectLst/>
                <a:latin typeface="Roboto" panose="02000000000000000000" pitchFamily="2" charset="0"/>
              </a:rPr>
              <a:t>Metadata gives information about the web page (like title, character set, description) and is placed in the &lt;head&gt; section.</a:t>
            </a:r>
          </a:p>
          <a:p>
            <a:pPr algn="just">
              <a:lnSpc>
                <a:spcPts val="2100"/>
              </a:lnSpc>
              <a:spcBef>
                <a:spcPts val="750"/>
              </a:spcBef>
              <a:buNone/>
            </a:pPr>
            <a:r>
              <a:rPr lang="en-US" b="0" i="0" dirty="0">
                <a:solidFill>
                  <a:srgbClr val="3A3A3A"/>
                </a:solidFill>
                <a:effectLst/>
                <a:latin typeface="Roboto" panose="02000000000000000000" pitchFamily="2" charset="0"/>
              </a:rPr>
              <a:t>Example:</a:t>
            </a:r>
          </a:p>
          <a:p>
            <a:pPr algn="l">
              <a:spcBef>
                <a:spcPts val="1125"/>
              </a:spcBef>
              <a:spcAft>
                <a:spcPts val="375"/>
              </a:spcAft>
              <a:buNone/>
            </a:pPr>
            <a:r>
              <a:rPr lang="en-US" b="0" i="0" dirty="0">
                <a:solidFill>
                  <a:srgbClr val="212529"/>
                </a:solidFill>
                <a:effectLst/>
                <a:latin typeface="Courier New" panose="02070309020205020404" pitchFamily="49" charset="0"/>
              </a:rPr>
              <a:t>&lt;head&gt;</a:t>
            </a:r>
          </a:p>
          <a:p>
            <a:pPr algn="l">
              <a:spcBef>
                <a:spcPts val="1125"/>
              </a:spcBef>
              <a:spcAft>
                <a:spcPts val="375"/>
              </a:spcAft>
              <a:buNone/>
            </a:pPr>
            <a:endParaRPr lang="en-US" b="0" i="0" dirty="0">
              <a:solidFill>
                <a:srgbClr val="212529"/>
              </a:solidFill>
              <a:effectLst/>
              <a:latin typeface="Courier New" panose="02070309020205020404" pitchFamily="49" charset="0"/>
            </a:endParaRPr>
          </a:p>
          <a:p>
            <a:pPr algn="l">
              <a:spcBef>
                <a:spcPts val="1125"/>
              </a:spcBef>
              <a:spcAft>
                <a:spcPts val="375"/>
              </a:spcAft>
              <a:buNone/>
            </a:pPr>
            <a:r>
              <a:rPr lang="en-US" b="0" i="0" dirty="0">
                <a:solidFill>
                  <a:srgbClr val="212529"/>
                </a:solidFill>
                <a:effectLst/>
                <a:latin typeface="Courier New" panose="02070309020205020404" pitchFamily="49" charset="0"/>
              </a:rPr>
              <a:t>  &lt;meta charset="UTF-8"&gt;</a:t>
            </a:r>
          </a:p>
          <a:p>
            <a:pPr algn="l">
              <a:spcBef>
                <a:spcPts val="1125"/>
              </a:spcBef>
              <a:spcAft>
                <a:spcPts val="375"/>
              </a:spcAft>
              <a:buNone/>
            </a:pPr>
            <a:endParaRPr lang="en-US" b="0" i="0" dirty="0">
              <a:solidFill>
                <a:srgbClr val="212529"/>
              </a:solidFill>
              <a:effectLst/>
              <a:latin typeface="Courier New" panose="02070309020205020404" pitchFamily="49" charset="0"/>
            </a:endParaRPr>
          </a:p>
          <a:p>
            <a:pPr algn="l">
              <a:spcBef>
                <a:spcPts val="1125"/>
              </a:spcBef>
              <a:spcAft>
                <a:spcPts val="375"/>
              </a:spcAft>
              <a:buNone/>
            </a:pPr>
            <a:r>
              <a:rPr lang="en-US" b="0" i="0" dirty="0">
                <a:solidFill>
                  <a:srgbClr val="212529"/>
                </a:solidFill>
                <a:effectLst/>
                <a:latin typeface="Courier New" panose="02070309020205020404" pitchFamily="49" charset="0"/>
              </a:rPr>
              <a:t>  &lt;meta name="description" content="A beginner guide to HTML5"&gt;</a:t>
            </a:r>
          </a:p>
          <a:p>
            <a:pPr algn="l">
              <a:spcBef>
                <a:spcPts val="1125"/>
              </a:spcBef>
              <a:spcAft>
                <a:spcPts val="375"/>
              </a:spcAft>
              <a:buNone/>
            </a:pPr>
            <a:endParaRPr lang="en-US" b="0" i="0" dirty="0">
              <a:solidFill>
                <a:srgbClr val="212529"/>
              </a:solidFill>
              <a:effectLst/>
              <a:latin typeface="Courier New" panose="02070309020205020404" pitchFamily="49" charset="0"/>
            </a:endParaRPr>
          </a:p>
          <a:p>
            <a:pPr algn="l">
              <a:spcBef>
                <a:spcPts val="1125"/>
              </a:spcBef>
              <a:spcAft>
                <a:spcPts val="375"/>
              </a:spcAft>
              <a:buNone/>
            </a:pPr>
            <a:r>
              <a:rPr lang="en-US" b="0" i="0" dirty="0">
                <a:solidFill>
                  <a:srgbClr val="212529"/>
                </a:solidFill>
                <a:effectLst/>
                <a:latin typeface="Courier New" panose="02070309020205020404" pitchFamily="49" charset="0"/>
              </a:rPr>
              <a:t>  &lt;meta name="author" content="John Doe"&gt;</a:t>
            </a:r>
          </a:p>
          <a:p>
            <a:pPr algn="l">
              <a:spcBef>
                <a:spcPts val="1125"/>
              </a:spcBef>
              <a:spcAft>
                <a:spcPts val="375"/>
              </a:spcAft>
              <a:buNone/>
            </a:pPr>
            <a:endParaRPr lang="en-US" b="0" i="0" dirty="0">
              <a:solidFill>
                <a:srgbClr val="212529"/>
              </a:solidFill>
              <a:effectLst/>
              <a:latin typeface="Courier New" panose="02070309020205020404" pitchFamily="49" charset="0"/>
            </a:endParaRPr>
          </a:p>
          <a:p>
            <a:pPr algn="l">
              <a:spcBef>
                <a:spcPts val="1125"/>
              </a:spcBef>
              <a:spcAft>
                <a:spcPts val="375"/>
              </a:spcAft>
              <a:buNone/>
            </a:pPr>
            <a:r>
              <a:rPr lang="en-US" b="0" i="0" dirty="0">
                <a:solidFill>
                  <a:srgbClr val="212529"/>
                </a:solidFill>
                <a:effectLst/>
                <a:latin typeface="Courier New" panose="02070309020205020404" pitchFamily="49" charset="0"/>
              </a:rPr>
              <a:t>  &lt;title&gt;My HTML5 Page&lt;/title&gt;</a:t>
            </a:r>
          </a:p>
          <a:p>
            <a:pPr algn="l">
              <a:spcBef>
                <a:spcPts val="1125"/>
              </a:spcBef>
              <a:spcAft>
                <a:spcPts val="375"/>
              </a:spcAft>
              <a:buNone/>
            </a:pPr>
            <a:endParaRPr lang="en-US" b="0" i="0" dirty="0">
              <a:solidFill>
                <a:srgbClr val="212529"/>
              </a:solidFill>
              <a:effectLst/>
              <a:latin typeface="Courier New" panose="02070309020205020404" pitchFamily="49" charset="0"/>
            </a:endParaRPr>
          </a:p>
          <a:p>
            <a:pPr algn="l">
              <a:spcBef>
                <a:spcPts val="1125"/>
              </a:spcBef>
              <a:spcAft>
                <a:spcPts val="375"/>
              </a:spcAft>
              <a:buNone/>
            </a:pPr>
            <a:r>
              <a:rPr lang="en-US" b="0" i="0" dirty="0">
                <a:solidFill>
                  <a:srgbClr val="212529"/>
                </a:solidFill>
                <a:effectLst/>
                <a:latin typeface="Courier New" panose="02070309020205020404" pitchFamily="49" charset="0"/>
              </a:rPr>
              <a:t>&lt;/head&gt;</a:t>
            </a:r>
          </a:p>
        </p:txBody>
      </p:sp>
    </p:spTree>
    <p:extLst>
      <p:ext uri="{BB962C8B-B14F-4D97-AF65-F5344CB8AC3E}">
        <p14:creationId xmlns:p14="http://schemas.microsoft.com/office/powerpoint/2010/main" val="2619061237"/>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0C9F7E-9983-7851-B4B5-4B43F29EA470}"/>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47ED8F3A-1D41-E1C0-BCE5-66738A2075A8}"/>
              </a:ext>
            </a:extLst>
          </p:cNvPr>
          <p:cNvSpPr txBox="1"/>
          <p:nvPr/>
        </p:nvSpPr>
        <p:spPr>
          <a:xfrm>
            <a:off x="2477069" y="-162162"/>
            <a:ext cx="4954136" cy="7189148"/>
          </a:xfrm>
          <a:prstGeom prst="rect">
            <a:avLst/>
          </a:prstGeom>
          <a:noFill/>
        </p:spPr>
        <p:txBody>
          <a:bodyPr wrap="square">
            <a:spAutoFit/>
          </a:bodyPr>
          <a:lstStyle/>
          <a:p>
            <a:pPr algn="l">
              <a:lnSpc>
                <a:spcPts val="2100"/>
              </a:lnSpc>
              <a:spcBef>
                <a:spcPts val="2400"/>
              </a:spcBef>
              <a:spcAft>
                <a:spcPts val="1800"/>
              </a:spcAft>
              <a:buNone/>
            </a:pPr>
            <a:r>
              <a:rPr lang="en-US" b="0" i="0" dirty="0">
                <a:solidFill>
                  <a:srgbClr val="272C37"/>
                </a:solidFill>
                <a:effectLst/>
                <a:latin typeface="Roboto" panose="02000000000000000000" pitchFamily="2" charset="0"/>
              </a:rPr>
              <a:t>11. Are the &lt;</a:t>
            </a:r>
            <a:r>
              <a:rPr lang="en-US" b="0" i="0" dirty="0" err="1">
                <a:solidFill>
                  <a:srgbClr val="272C37"/>
                </a:solidFill>
                <a:effectLst/>
                <a:latin typeface="Roboto" panose="02000000000000000000" pitchFamily="2" charset="0"/>
              </a:rPr>
              <a:t>datalist</a:t>
            </a:r>
            <a:r>
              <a:rPr lang="en-US" b="0" i="0" dirty="0">
                <a:solidFill>
                  <a:srgbClr val="272C37"/>
                </a:solidFill>
                <a:effectLst/>
                <a:latin typeface="Roboto" panose="02000000000000000000" pitchFamily="2" charset="0"/>
              </a:rPr>
              <a:t>&gt; tag and &lt;select&gt; tag the same?</a:t>
            </a:r>
          </a:p>
          <a:p>
            <a:pPr algn="just">
              <a:lnSpc>
                <a:spcPts val="2100"/>
              </a:lnSpc>
              <a:spcBef>
                <a:spcPts val="1650"/>
              </a:spcBef>
              <a:spcAft>
                <a:spcPts val="600"/>
              </a:spcAft>
              <a:buFont typeface="Arial" panose="020B0604020202020204" pitchFamily="34" charset="0"/>
              <a:buChar char="•"/>
            </a:pPr>
            <a:r>
              <a:rPr lang="en-US" b="0" i="0" dirty="0">
                <a:solidFill>
                  <a:srgbClr val="3A3A3A"/>
                </a:solidFill>
                <a:effectLst/>
                <a:latin typeface="Roboto" panose="02000000000000000000" pitchFamily="2" charset="0"/>
              </a:rPr>
              <a:t>&lt;select&gt; shows a dropdown list of fixed options.</a:t>
            </a:r>
          </a:p>
          <a:p>
            <a:pPr algn="just">
              <a:lnSpc>
                <a:spcPts val="2100"/>
              </a:lnSpc>
              <a:spcBef>
                <a:spcPts val="1650"/>
              </a:spcBef>
              <a:spcAft>
                <a:spcPts val="600"/>
              </a:spcAft>
              <a:buFont typeface="Arial" panose="020B0604020202020204" pitchFamily="34" charset="0"/>
              <a:buChar char="•"/>
            </a:pPr>
            <a:r>
              <a:rPr lang="en-US" b="0" i="0" dirty="0">
                <a:solidFill>
                  <a:srgbClr val="3A3A3A"/>
                </a:solidFill>
                <a:effectLst/>
                <a:latin typeface="Roboto" panose="02000000000000000000" pitchFamily="2" charset="0"/>
              </a:rPr>
              <a:t>&lt;</a:t>
            </a:r>
            <a:r>
              <a:rPr lang="en-US" b="0" i="0" dirty="0" err="1">
                <a:solidFill>
                  <a:srgbClr val="3A3A3A"/>
                </a:solidFill>
                <a:effectLst/>
                <a:latin typeface="Roboto" panose="02000000000000000000" pitchFamily="2" charset="0"/>
              </a:rPr>
              <a:t>datalist</a:t>
            </a:r>
            <a:r>
              <a:rPr lang="en-US" b="0" i="0" dirty="0">
                <a:solidFill>
                  <a:srgbClr val="3A3A3A"/>
                </a:solidFill>
                <a:effectLst/>
                <a:latin typeface="Roboto" panose="02000000000000000000" pitchFamily="2" charset="0"/>
              </a:rPr>
              <a:t>&gt; gives suggested options as you type in an input field.</a:t>
            </a:r>
          </a:p>
          <a:p>
            <a:pPr algn="just">
              <a:lnSpc>
                <a:spcPts val="2100"/>
              </a:lnSpc>
              <a:spcBef>
                <a:spcPts val="1650"/>
              </a:spcBef>
              <a:buNone/>
            </a:pPr>
            <a:r>
              <a:rPr lang="en-US" b="0" i="0" dirty="0">
                <a:solidFill>
                  <a:srgbClr val="3A3A3A"/>
                </a:solidFill>
                <a:effectLst/>
                <a:latin typeface="Roboto" panose="02000000000000000000" pitchFamily="2" charset="0"/>
              </a:rPr>
              <a:t>Example:</a:t>
            </a:r>
          </a:p>
          <a:p>
            <a:pPr algn="l">
              <a:spcBef>
                <a:spcPts val="1125"/>
              </a:spcBef>
              <a:spcAft>
                <a:spcPts val="375"/>
              </a:spcAft>
              <a:buNone/>
            </a:pPr>
            <a:r>
              <a:rPr lang="en-US" b="0" i="0" dirty="0">
                <a:solidFill>
                  <a:srgbClr val="212529"/>
                </a:solidFill>
                <a:effectLst/>
                <a:latin typeface="Courier New" panose="02070309020205020404" pitchFamily="49" charset="0"/>
              </a:rPr>
              <a:t>&lt;input list="browsers"&gt;</a:t>
            </a:r>
          </a:p>
          <a:p>
            <a:pPr algn="l">
              <a:spcBef>
                <a:spcPts val="1125"/>
              </a:spcBef>
              <a:spcAft>
                <a:spcPts val="375"/>
              </a:spcAft>
              <a:buNone/>
            </a:pPr>
            <a:endParaRPr lang="en-US" b="0" i="0" dirty="0">
              <a:solidFill>
                <a:srgbClr val="212529"/>
              </a:solidFill>
              <a:effectLst/>
              <a:latin typeface="Courier New" panose="02070309020205020404" pitchFamily="49" charset="0"/>
            </a:endParaRPr>
          </a:p>
          <a:p>
            <a:pPr algn="l">
              <a:spcBef>
                <a:spcPts val="1125"/>
              </a:spcBef>
              <a:spcAft>
                <a:spcPts val="375"/>
              </a:spcAft>
              <a:buNone/>
            </a:pPr>
            <a:r>
              <a:rPr lang="en-US" b="0" i="0" dirty="0">
                <a:solidFill>
                  <a:srgbClr val="212529"/>
                </a:solidFill>
                <a:effectLst/>
                <a:latin typeface="Courier New" panose="02070309020205020404" pitchFamily="49" charset="0"/>
              </a:rPr>
              <a:t>&lt;</a:t>
            </a:r>
            <a:r>
              <a:rPr lang="en-US" b="0" i="0" dirty="0" err="1">
                <a:solidFill>
                  <a:srgbClr val="212529"/>
                </a:solidFill>
                <a:effectLst/>
                <a:latin typeface="Courier New" panose="02070309020205020404" pitchFamily="49" charset="0"/>
              </a:rPr>
              <a:t>datalist</a:t>
            </a:r>
            <a:r>
              <a:rPr lang="en-US" b="0" i="0" dirty="0">
                <a:solidFill>
                  <a:srgbClr val="212529"/>
                </a:solidFill>
                <a:effectLst/>
                <a:latin typeface="Courier New" panose="02070309020205020404" pitchFamily="49" charset="0"/>
              </a:rPr>
              <a:t> id="browsers"&gt;</a:t>
            </a:r>
          </a:p>
          <a:p>
            <a:pPr algn="l">
              <a:spcBef>
                <a:spcPts val="1125"/>
              </a:spcBef>
              <a:spcAft>
                <a:spcPts val="375"/>
              </a:spcAft>
              <a:buNone/>
            </a:pPr>
            <a:endParaRPr lang="en-US" b="0" i="0" dirty="0">
              <a:solidFill>
                <a:srgbClr val="212529"/>
              </a:solidFill>
              <a:effectLst/>
              <a:latin typeface="Courier New" panose="02070309020205020404" pitchFamily="49" charset="0"/>
            </a:endParaRPr>
          </a:p>
          <a:p>
            <a:pPr algn="l">
              <a:spcBef>
                <a:spcPts val="1125"/>
              </a:spcBef>
              <a:spcAft>
                <a:spcPts val="375"/>
              </a:spcAft>
              <a:buNone/>
            </a:pPr>
            <a:r>
              <a:rPr lang="en-US" b="0" i="0" dirty="0">
                <a:solidFill>
                  <a:srgbClr val="212529"/>
                </a:solidFill>
                <a:effectLst/>
                <a:latin typeface="Courier New" panose="02070309020205020404" pitchFamily="49" charset="0"/>
              </a:rPr>
              <a:t>  &lt;option value="Chrome"&gt;</a:t>
            </a:r>
          </a:p>
          <a:p>
            <a:pPr algn="l">
              <a:spcBef>
                <a:spcPts val="1125"/>
              </a:spcBef>
              <a:spcAft>
                <a:spcPts val="375"/>
              </a:spcAft>
              <a:buNone/>
            </a:pPr>
            <a:endParaRPr lang="en-US" b="0" i="0" dirty="0">
              <a:solidFill>
                <a:srgbClr val="212529"/>
              </a:solidFill>
              <a:effectLst/>
              <a:latin typeface="Courier New" panose="02070309020205020404" pitchFamily="49" charset="0"/>
            </a:endParaRPr>
          </a:p>
          <a:p>
            <a:pPr algn="l">
              <a:spcBef>
                <a:spcPts val="1125"/>
              </a:spcBef>
              <a:spcAft>
                <a:spcPts val="375"/>
              </a:spcAft>
              <a:buNone/>
            </a:pPr>
            <a:r>
              <a:rPr lang="en-US" b="0" i="0" dirty="0">
                <a:solidFill>
                  <a:srgbClr val="212529"/>
                </a:solidFill>
                <a:effectLst/>
                <a:latin typeface="Courier New" panose="02070309020205020404" pitchFamily="49" charset="0"/>
              </a:rPr>
              <a:t>  &lt;option value="Firefox"&gt;</a:t>
            </a:r>
          </a:p>
          <a:p>
            <a:pPr algn="l">
              <a:spcBef>
                <a:spcPts val="1125"/>
              </a:spcBef>
              <a:spcAft>
                <a:spcPts val="375"/>
              </a:spcAft>
              <a:buNone/>
            </a:pPr>
            <a:endParaRPr lang="en-US" b="0" i="0" dirty="0">
              <a:solidFill>
                <a:srgbClr val="212529"/>
              </a:solidFill>
              <a:effectLst/>
              <a:latin typeface="Courier New" panose="02070309020205020404" pitchFamily="49" charset="0"/>
            </a:endParaRPr>
          </a:p>
          <a:p>
            <a:pPr algn="l">
              <a:spcBef>
                <a:spcPts val="1125"/>
              </a:spcBef>
              <a:spcAft>
                <a:spcPts val="375"/>
              </a:spcAft>
              <a:buNone/>
            </a:pPr>
            <a:r>
              <a:rPr lang="en-US" b="0" i="0" dirty="0">
                <a:solidFill>
                  <a:srgbClr val="212529"/>
                </a:solidFill>
                <a:effectLst/>
                <a:latin typeface="Courier New" panose="02070309020205020404" pitchFamily="49" charset="0"/>
              </a:rPr>
              <a:t>&lt;/</a:t>
            </a:r>
            <a:r>
              <a:rPr lang="en-US" b="0" i="0" dirty="0" err="1">
                <a:solidFill>
                  <a:srgbClr val="212529"/>
                </a:solidFill>
                <a:effectLst/>
                <a:latin typeface="Courier New" panose="02070309020205020404" pitchFamily="49" charset="0"/>
              </a:rPr>
              <a:t>datalist</a:t>
            </a:r>
            <a:r>
              <a:rPr lang="en-US" b="0" i="0" dirty="0">
                <a:solidFill>
                  <a:srgbClr val="212529"/>
                </a:solidFill>
                <a:effectLst/>
                <a:latin typeface="Courier New" panose="02070309020205020404" pitchFamily="49" charset="0"/>
              </a:rPr>
              <a:t>&gt;</a:t>
            </a:r>
          </a:p>
        </p:txBody>
      </p:sp>
    </p:spTree>
    <p:extLst>
      <p:ext uri="{BB962C8B-B14F-4D97-AF65-F5344CB8AC3E}">
        <p14:creationId xmlns:p14="http://schemas.microsoft.com/office/powerpoint/2010/main" val="2257858815"/>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CCDBD1-6A27-5F93-91B3-91C2B7F6AC20}"/>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CF9800F3-C6B0-50CA-8E2F-B33B8952513E}"/>
              </a:ext>
            </a:extLst>
          </p:cNvPr>
          <p:cNvSpPr txBox="1"/>
          <p:nvPr/>
        </p:nvSpPr>
        <p:spPr>
          <a:xfrm>
            <a:off x="2477069" y="968917"/>
            <a:ext cx="4954136" cy="4926990"/>
          </a:xfrm>
          <a:prstGeom prst="rect">
            <a:avLst/>
          </a:prstGeom>
          <a:noFill/>
        </p:spPr>
        <p:txBody>
          <a:bodyPr wrap="square">
            <a:spAutoFit/>
          </a:bodyPr>
          <a:lstStyle/>
          <a:p>
            <a:pPr algn="l">
              <a:lnSpc>
                <a:spcPts val="2100"/>
              </a:lnSpc>
              <a:spcBef>
                <a:spcPts val="2400"/>
              </a:spcBef>
              <a:spcAft>
                <a:spcPts val="1800"/>
              </a:spcAft>
              <a:buNone/>
            </a:pPr>
            <a:r>
              <a:rPr lang="en-US" b="0" i="0" dirty="0">
                <a:solidFill>
                  <a:srgbClr val="272C37"/>
                </a:solidFill>
                <a:effectLst/>
                <a:latin typeface="Roboto" panose="02000000000000000000" pitchFamily="2" charset="0"/>
              </a:rPr>
              <a:t>12. What is the difference between the &lt;meter&gt; tag and &lt;progress&gt; tag?</a:t>
            </a:r>
          </a:p>
          <a:p>
            <a:pPr algn="just">
              <a:lnSpc>
                <a:spcPts val="2100"/>
              </a:lnSpc>
              <a:spcBef>
                <a:spcPts val="1650"/>
              </a:spcBef>
              <a:spcAft>
                <a:spcPts val="600"/>
              </a:spcAft>
              <a:buFont typeface="Arial" panose="020B0604020202020204" pitchFamily="34" charset="0"/>
              <a:buChar char="•"/>
            </a:pPr>
            <a:r>
              <a:rPr lang="en-US" b="0" i="0" dirty="0">
                <a:solidFill>
                  <a:srgbClr val="3A3A3A"/>
                </a:solidFill>
                <a:effectLst/>
                <a:latin typeface="Roboto" panose="02000000000000000000" pitchFamily="2" charset="0"/>
              </a:rPr>
              <a:t>&lt;meter&gt; shows a specific value within a known range (like battery level).</a:t>
            </a:r>
          </a:p>
          <a:p>
            <a:pPr algn="just">
              <a:lnSpc>
                <a:spcPts val="2100"/>
              </a:lnSpc>
              <a:spcBef>
                <a:spcPts val="1650"/>
              </a:spcBef>
              <a:spcAft>
                <a:spcPts val="600"/>
              </a:spcAft>
              <a:buFont typeface="Arial" panose="020B0604020202020204" pitchFamily="34" charset="0"/>
              <a:buChar char="•"/>
            </a:pPr>
            <a:r>
              <a:rPr lang="en-US" b="0" i="0" dirty="0">
                <a:solidFill>
                  <a:srgbClr val="3A3A3A"/>
                </a:solidFill>
                <a:effectLst/>
                <a:latin typeface="Roboto" panose="02000000000000000000" pitchFamily="2" charset="0"/>
              </a:rPr>
              <a:t>&lt;progress&gt; shows how much of a task is done, like a loading bar.</a:t>
            </a:r>
          </a:p>
          <a:p>
            <a:pPr algn="just">
              <a:lnSpc>
                <a:spcPts val="2100"/>
              </a:lnSpc>
              <a:spcBef>
                <a:spcPts val="1650"/>
              </a:spcBef>
              <a:buNone/>
            </a:pPr>
            <a:r>
              <a:rPr lang="en-US" b="0" i="0" dirty="0">
                <a:solidFill>
                  <a:srgbClr val="3A3A3A"/>
                </a:solidFill>
                <a:effectLst/>
                <a:latin typeface="Roboto" panose="02000000000000000000" pitchFamily="2" charset="0"/>
              </a:rPr>
              <a:t>Example:</a:t>
            </a:r>
          </a:p>
          <a:p>
            <a:pPr algn="l">
              <a:spcBef>
                <a:spcPts val="1125"/>
              </a:spcBef>
              <a:spcAft>
                <a:spcPts val="375"/>
              </a:spcAft>
              <a:buNone/>
            </a:pPr>
            <a:r>
              <a:rPr lang="en-US" b="0" i="0" dirty="0">
                <a:solidFill>
                  <a:srgbClr val="212529"/>
                </a:solidFill>
                <a:effectLst/>
                <a:latin typeface="Courier New" panose="02070309020205020404" pitchFamily="49" charset="0"/>
              </a:rPr>
              <a:t>&lt;meter value="0.7" min="0" max="1"&gt;70%&lt;/meter&gt;</a:t>
            </a:r>
          </a:p>
          <a:p>
            <a:pPr algn="l">
              <a:spcBef>
                <a:spcPts val="1125"/>
              </a:spcBef>
              <a:spcAft>
                <a:spcPts val="375"/>
              </a:spcAft>
              <a:buNone/>
            </a:pPr>
            <a:endParaRPr lang="en-US" b="0" i="0" dirty="0">
              <a:solidFill>
                <a:srgbClr val="212529"/>
              </a:solidFill>
              <a:effectLst/>
              <a:latin typeface="Courier New" panose="02070309020205020404" pitchFamily="49" charset="0"/>
            </a:endParaRPr>
          </a:p>
          <a:p>
            <a:pPr algn="l">
              <a:spcBef>
                <a:spcPts val="1125"/>
              </a:spcBef>
              <a:spcAft>
                <a:spcPts val="375"/>
              </a:spcAft>
              <a:buNone/>
            </a:pPr>
            <a:r>
              <a:rPr lang="en-US" b="0" i="0" dirty="0">
                <a:solidFill>
                  <a:srgbClr val="212529"/>
                </a:solidFill>
                <a:effectLst/>
                <a:latin typeface="Courier New" panose="02070309020205020404" pitchFamily="49" charset="0"/>
              </a:rPr>
              <a:t>&lt;progress value="50" max="100"&gt;50%&lt;/progress&gt;</a:t>
            </a:r>
          </a:p>
        </p:txBody>
      </p:sp>
    </p:spTree>
    <p:extLst>
      <p:ext uri="{BB962C8B-B14F-4D97-AF65-F5344CB8AC3E}">
        <p14:creationId xmlns:p14="http://schemas.microsoft.com/office/powerpoint/2010/main" val="1551049609"/>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47AA9C-661F-B1F3-C775-9B8565CE5B90}"/>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DCABA395-BA2A-DC0E-86C2-A3BA879B2C27}"/>
              </a:ext>
            </a:extLst>
          </p:cNvPr>
          <p:cNvSpPr txBox="1"/>
          <p:nvPr/>
        </p:nvSpPr>
        <p:spPr>
          <a:xfrm>
            <a:off x="2477069" y="797075"/>
            <a:ext cx="4954136" cy="5270674"/>
          </a:xfrm>
          <a:prstGeom prst="rect">
            <a:avLst/>
          </a:prstGeom>
          <a:noFill/>
        </p:spPr>
        <p:txBody>
          <a:bodyPr wrap="square">
            <a:spAutoFit/>
          </a:bodyPr>
          <a:lstStyle/>
          <a:p>
            <a:pPr algn="l">
              <a:lnSpc>
                <a:spcPts val="2100"/>
              </a:lnSpc>
              <a:spcBef>
                <a:spcPts val="2400"/>
              </a:spcBef>
              <a:spcAft>
                <a:spcPts val="1800"/>
              </a:spcAft>
              <a:buNone/>
            </a:pPr>
            <a:r>
              <a:rPr lang="en-US" b="0" i="0" dirty="0">
                <a:solidFill>
                  <a:srgbClr val="272C37"/>
                </a:solidFill>
                <a:effectLst/>
                <a:latin typeface="Roboto" panose="02000000000000000000" pitchFamily="2" charset="0"/>
              </a:rPr>
              <a:t>13. How to do drag and drop in HTML5?</a:t>
            </a:r>
          </a:p>
          <a:p>
            <a:pPr algn="just">
              <a:lnSpc>
                <a:spcPts val="2100"/>
              </a:lnSpc>
              <a:spcBef>
                <a:spcPts val="1650"/>
              </a:spcBef>
              <a:buNone/>
            </a:pPr>
            <a:r>
              <a:rPr lang="en-US" b="0" i="0" dirty="0">
                <a:solidFill>
                  <a:srgbClr val="3A3A3A"/>
                </a:solidFill>
                <a:effectLst/>
                <a:latin typeface="Roboto" panose="02000000000000000000" pitchFamily="2" charset="0"/>
              </a:rPr>
              <a:t>HTML5 allows elements to be dragged using the draggable attribute and JavaScript events like </a:t>
            </a:r>
            <a:r>
              <a:rPr lang="en-US" b="0" i="0" dirty="0" err="1">
                <a:solidFill>
                  <a:srgbClr val="3A3A3A"/>
                </a:solidFill>
                <a:effectLst/>
                <a:latin typeface="Roboto" panose="02000000000000000000" pitchFamily="2" charset="0"/>
              </a:rPr>
              <a:t>dragstart</a:t>
            </a:r>
            <a:r>
              <a:rPr lang="en-US" b="0" i="0" dirty="0">
                <a:solidFill>
                  <a:srgbClr val="3A3A3A"/>
                </a:solidFill>
                <a:effectLst/>
                <a:latin typeface="Roboto" panose="02000000000000000000" pitchFamily="2" charset="0"/>
              </a:rPr>
              <a:t>, </a:t>
            </a:r>
            <a:r>
              <a:rPr lang="en-US" b="0" i="0" dirty="0" err="1">
                <a:solidFill>
                  <a:srgbClr val="3A3A3A"/>
                </a:solidFill>
                <a:effectLst/>
                <a:latin typeface="Roboto" panose="02000000000000000000" pitchFamily="2" charset="0"/>
              </a:rPr>
              <a:t>dragover</a:t>
            </a:r>
            <a:r>
              <a:rPr lang="en-US" b="0" i="0" dirty="0">
                <a:solidFill>
                  <a:srgbClr val="3A3A3A"/>
                </a:solidFill>
                <a:effectLst/>
                <a:latin typeface="Roboto" panose="02000000000000000000" pitchFamily="2" charset="0"/>
              </a:rPr>
              <a:t>, and drop.</a:t>
            </a:r>
          </a:p>
          <a:p>
            <a:pPr algn="just">
              <a:lnSpc>
                <a:spcPts val="2100"/>
              </a:lnSpc>
              <a:spcBef>
                <a:spcPts val="750"/>
              </a:spcBef>
              <a:buNone/>
            </a:pPr>
            <a:r>
              <a:rPr lang="en-US" b="0" i="0" dirty="0">
                <a:solidFill>
                  <a:srgbClr val="3A3A3A"/>
                </a:solidFill>
                <a:effectLst/>
                <a:latin typeface="Roboto" panose="02000000000000000000" pitchFamily="2" charset="0"/>
              </a:rPr>
              <a:t>Example:</a:t>
            </a:r>
          </a:p>
          <a:p>
            <a:pPr algn="l">
              <a:spcBef>
                <a:spcPts val="1125"/>
              </a:spcBef>
              <a:spcAft>
                <a:spcPts val="375"/>
              </a:spcAft>
              <a:buNone/>
            </a:pPr>
            <a:r>
              <a:rPr lang="en-US" b="0" i="0" dirty="0">
                <a:solidFill>
                  <a:srgbClr val="212529"/>
                </a:solidFill>
                <a:effectLst/>
                <a:latin typeface="Courier New" panose="02070309020205020404" pitchFamily="49" charset="0"/>
              </a:rPr>
              <a:t>&lt;div id="drag" draggable="true" </a:t>
            </a:r>
            <a:r>
              <a:rPr lang="en-US" b="0" i="0" dirty="0" err="1">
                <a:solidFill>
                  <a:srgbClr val="212529"/>
                </a:solidFill>
                <a:effectLst/>
                <a:latin typeface="Courier New" panose="02070309020205020404" pitchFamily="49" charset="0"/>
              </a:rPr>
              <a:t>ondragstart</a:t>
            </a:r>
            <a:r>
              <a:rPr lang="en-US" b="0" i="0" dirty="0">
                <a:solidFill>
                  <a:srgbClr val="212529"/>
                </a:solidFill>
                <a:effectLst/>
                <a:latin typeface="Courier New" panose="02070309020205020404" pitchFamily="49" charset="0"/>
              </a:rPr>
              <a:t>="drag(event)"&gt;Drag me&lt;/div&gt;</a:t>
            </a:r>
          </a:p>
          <a:p>
            <a:pPr algn="l">
              <a:spcBef>
                <a:spcPts val="1125"/>
              </a:spcBef>
              <a:spcAft>
                <a:spcPts val="375"/>
              </a:spcAft>
              <a:buNone/>
            </a:pPr>
            <a:endParaRPr lang="en-US" b="0" i="0" dirty="0">
              <a:solidFill>
                <a:srgbClr val="212529"/>
              </a:solidFill>
              <a:effectLst/>
              <a:latin typeface="Courier New" panose="02070309020205020404" pitchFamily="49" charset="0"/>
            </a:endParaRPr>
          </a:p>
          <a:p>
            <a:pPr algn="l">
              <a:spcBef>
                <a:spcPts val="1125"/>
              </a:spcBef>
              <a:spcAft>
                <a:spcPts val="375"/>
              </a:spcAft>
              <a:buNone/>
            </a:pPr>
            <a:r>
              <a:rPr lang="en-US" b="0" i="0" dirty="0">
                <a:solidFill>
                  <a:srgbClr val="212529"/>
                </a:solidFill>
                <a:effectLst/>
                <a:latin typeface="Courier New" panose="02070309020205020404" pitchFamily="49" charset="0"/>
              </a:rPr>
              <a:t>&lt;div id="</a:t>
            </a:r>
            <a:r>
              <a:rPr lang="en-US" b="0" i="0" dirty="0" err="1">
                <a:solidFill>
                  <a:srgbClr val="212529"/>
                </a:solidFill>
                <a:effectLst/>
                <a:latin typeface="Courier New" panose="02070309020205020404" pitchFamily="49" charset="0"/>
              </a:rPr>
              <a:t>dropzone</a:t>
            </a:r>
            <a:r>
              <a:rPr lang="en-US" b="0" i="0" dirty="0">
                <a:solidFill>
                  <a:srgbClr val="212529"/>
                </a:solidFill>
                <a:effectLst/>
                <a:latin typeface="Courier New" panose="02070309020205020404" pitchFamily="49" charset="0"/>
              </a:rPr>
              <a:t>" </a:t>
            </a:r>
            <a:r>
              <a:rPr lang="en-US" b="0" i="0" dirty="0" err="1">
                <a:solidFill>
                  <a:srgbClr val="212529"/>
                </a:solidFill>
                <a:effectLst/>
                <a:latin typeface="Courier New" panose="02070309020205020404" pitchFamily="49" charset="0"/>
              </a:rPr>
              <a:t>ondrop</a:t>
            </a:r>
            <a:r>
              <a:rPr lang="en-US" b="0" i="0" dirty="0">
                <a:solidFill>
                  <a:srgbClr val="212529"/>
                </a:solidFill>
                <a:effectLst/>
                <a:latin typeface="Courier New" panose="02070309020205020404" pitchFamily="49" charset="0"/>
              </a:rPr>
              <a:t>="drop(event)" </a:t>
            </a:r>
            <a:r>
              <a:rPr lang="en-US" b="0" i="0" dirty="0" err="1">
                <a:solidFill>
                  <a:srgbClr val="212529"/>
                </a:solidFill>
                <a:effectLst/>
                <a:latin typeface="Courier New" panose="02070309020205020404" pitchFamily="49" charset="0"/>
              </a:rPr>
              <a:t>ondragover</a:t>
            </a:r>
            <a:r>
              <a:rPr lang="en-US" b="0" i="0" dirty="0">
                <a:solidFill>
                  <a:srgbClr val="212529"/>
                </a:solidFill>
                <a:effectLst/>
                <a:latin typeface="Courier New" panose="02070309020205020404" pitchFamily="49" charset="0"/>
              </a:rPr>
              <a:t>="</a:t>
            </a:r>
            <a:r>
              <a:rPr lang="en-US" b="0" i="0" dirty="0" err="1">
                <a:solidFill>
                  <a:srgbClr val="212529"/>
                </a:solidFill>
                <a:effectLst/>
                <a:latin typeface="Courier New" panose="02070309020205020404" pitchFamily="49" charset="0"/>
              </a:rPr>
              <a:t>allowDrop</a:t>
            </a:r>
            <a:r>
              <a:rPr lang="en-US" b="0" i="0" dirty="0">
                <a:solidFill>
                  <a:srgbClr val="212529"/>
                </a:solidFill>
                <a:effectLst/>
                <a:latin typeface="Courier New" panose="02070309020205020404" pitchFamily="49" charset="0"/>
              </a:rPr>
              <a:t>(event)"&gt;Drop here&lt;/div&gt;</a:t>
            </a:r>
          </a:p>
          <a:p>
            <a:pPr algn="just">
              <a:lnSpc>
                <a:spcPts val="2100"/>
              </a:lnSpc>
              <a:spcBef>
                <a:spcPts val="1650"/>
              </a:spcBef>
              <a:buNone/>
            </a:pPr>
            <a:r>
              <a:rPr lang="en-US" b="0" i="0" dirty="0">
                <a:solidFill>
                  <a:srgbClr val="3A3A3A"/>
                </a:solidFill>
                <a:effectLst/>
                <a:latin typeface="Roboto" panose="02000000000000000000" pitchFamily="2" charset="0"/>
              </a:rPr>
              <a:t>You’ll also need JavaScript to handle the logic.</a:t>
            </a:r>
          </a:p>
        </p:txBody>
      </p:sp>
    </p:spTree>
    <p:extLst>
      <p:ext uri="{BB962C8B-B14F-4D97-AF65-F5344CB8AC3E}">
        <p14:creationId xmlns:p14="http://schemas.microsoft.com/office/powerpoint/2010/main" val="3071327927"/>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1CA5E3-BD05-87C9-6C1C-F7FAAF33BE18}"/>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3E0049B8-B7EC-1C50-7F50-C7C9CF3E05FB}"/>
              </a:ext>
            </a:extLst>
          </p:cNvPr>
          <p:cNvSpPr txBox="1"/>
          <p:nvPr/>
        </p:nvSpPr>
        <p:spPr>
          <a:xfrm>
            <a:off x="2477069" y="-1599735"/>
            <a:ext cx="4954136" cy="10064294"/>
          </a:xfrm>
          <a:prstGeom prst="rect">
            <a:avLst/>
          </a:prstGeom>
          <a:noFill/>
        </p:spPr>
        <p:txBody>
          <a:bodyPr wrap="square">
            <a:spAutoFit/>
          </a:bodyPr>
          <a:lstStyle/>
          <a:p>
            <a:pPr algn="l">
              <a:lnSpc>
                <a:spcPts val="2100"/>
              </a:lnSpc>
              <a:spcBef>
                <a:spcPts val="2400"/>
              </a:spcBef>
              <a:spcAft>
                <a:spcPts val="1800"/>
              </a:spcAft>
              <a:buNone/>
            </a:pPr>
            <a:r>
              <a:rPr lang="en-US" b="0" i="0" dirty="0">
                <a:solidFill>
                  <a:srgbClr val="272C37"/>
                </a:solidFill>
                <a:effectLst/>
                <a:latin typeface="Roboto" panose="02000000000000000000" pitchFamily="2" charset="0"/>
              </a:rPr>
              <a:t>14. What is the difference between SVG and Canvas in HTML5?</a:t>
            </a:r>
          </a:p>
          <a:p>
            <a:pPr algn="just">
              <a:lnSpc>
                <a:spcPts val="2100"/>
              </a:lnSpc>
              <a:spcBef>
                <a:spcPts val="1650"/>
              </a:spcBef>
              <a:spcAft>
                <a:spcPts val="600"/>
              </a:spcAft>
              <a:buFont typeface="Arial" panose="020B0604020202020204" pitchFamily="34" charset="0"/>
              <a:buChar char="•"/>
            </a:pPr>
            <a:r>
              <a:rPr lang="en-US" b="0" i="0" dirty="0">
                <a:solidFill>
                  <a:srgbClr val="3A3A3A"/>
                </a:solidFill>
                <a:effectLst/>
                <a:latin typeface="Roboto" panose="02000000000000000000" pitchFamily="2" charset="0"/>
              </a:rPr>
              <a:t>SVG (Scalable Vector Graphics): Uses XML-based tags, works well for static graphics, zoomable without losing quality.</a:t>
            </a:r>
          </a:p>
          <a:p>
            <a:pPr algn="just">
              <a:lnSpc>
                <a:spcPts val="2100"/>
              </a:lnSpc>
              <a:spcBef>
                <a:spcPts val="1650"/>
              </a:spcBef>
              <a:spcAft>
                <a:spcPts val="600"/>
              </a:spcAft>
              <a:buFont typeface="Arial" panose="020B0604020202020204" pitchFamily="34" charset="0"/>
              <a:buChar char="•"/>
            </a:pPr>
            <a:r>
              <a:rPr lang="en-US" b="0" i="0" dirty="0">
                <a:solidFill>
                  <a:srgbClr val="3A3A3A"/>
                </a:solidFill>
                <a:effectLst/>
                <a:latin typeface="Roboto" panose="02000000000000000000" pitchFamily="2" charset="0"/>
              </a:rPr>
              <a:t>Canvas: Used for drawing graphics with JavaScript, better for animations and games but not easily scalable.</a:t>
            </a:r>
          </a:p>
          <a:p>
            <a:pPr algn="just">
              <a:lnSpc>
                <a:spcPts val="2100"/>
              </a:lnSpc>
              <a:spcBef>
                <a:spcPts val="1650"/>
              </a:spcBef>
              <a:buNone/>
            </a:pPr>
            <a:r>
              <a:rPr lang="en-US" b="0" i="0" dirty="0">
                <a:solidFill>
                  <a:srgbClr val="3A3A3A"/>
                </a:solidFill>
                <a:effectLst/>
                <a:latin typeface="Roboto" panose="02000000000000000000" pitchFamily="2" charset="0"/>
              </a:rPr>
              <a:t>In short:</a:t>
            </a:r>
            <a:br>
              <a:rPr lang="en-US" b="0" i="0" dirty="0">
                <a:solidFill>
                  <a:srgbClr val="3A3A3A"/>
                </a:solidFill>
                <a:effectLst/>
                <a:latin typeface="Roboto" panose="02000000000000000000" pitchFamily="2" charset="0"/>
              </a:rPr>
            </a:br>
            <a:r>
              <a:rPr lang="en-US" b="0" i="0" dirty="0">
                <a:solidFill>
                  <a:srgbClr val="3A3A3A"/>
                </a:solidFill>
                <a:effectLst/>
                <a:latin typeface="Roboto" panose="02000000000000000000" pitchFamily="2" charset="0"/>
              </a:rPr>
              <a:t>SVG = shapes via code</a:t>
            </a:r>
            <a:br>
              <a:rPr lang="en-US" b="0" i="0" dirty="0">
                <a:solidFill>
                  <a:srgbClr val="3A3A3A"/>
                </a:solidFill>
                <a:effectLst/>
                <a:latin typeface="Roboto" panose="02000000000000000000" pitchFamily="2" charset="0"/>
              </a:rPr>
            </a:br>
            <a:r>
              <a:rPr lang="en-US" b="0" i="0" dirty="0">
                <a:solidFill>
                  <a:srgbClr val="3A3A3A"/>
                </a:solidFill>
                <a:effectLst/>
                <a:latin typeface="Roboto" panose="02000000000000000000" pitchFamily="2" charset="0"/>
              </a:rPr>
              <a:t>Canvas = pixels via script</a:t>
            </a:r>
          </a:p>
          <a:p>
            <a:pPr algn="l">
              <a:lnSpc>
                <a:spcPts val="2100"/>
              </a:lnSpc>
              <a:spcBef>
                <a:spcPts val="2400"/>
              </a:spcBef>
              <a:spcAft>
                <a:spcPts val="1800"/>
              </a:spcAft>
              <a:buNone/>
            </a:pPr>
            <a:r>
              <a:rPr lang="en-US" b="0" i="0" dirty="0">
                <a:solidFill>
                  <a:srgbClr val="272C37"/>
                </a:solidFill>
                <a:effectLst/>
                <a:latin typeface="Roboto" panose="02000000000000000000" pitchFamily="2" charset="0"/>
              </a:rPr>
              <a:t>15. What type of audio files can be played using HTML5?</a:t>
            </a:r>
          </a:p>
          <a:p>
            <a:pPr algn="just">
              <a:lnSpc>
                <a:spcPts val="2100"/>
              </a:lnSpc>
              <a:spcBef>
                <a:spcPts val="1650"/>
              </a:spcBef>
              <a:buNone/>
            </a:pPr>
            <a:r>
              <a:rPr lang="en-US" b="0" i="0" dirty="0">
                <a:solidFill>
                  <a:srgbClr val="3A3A3A"/>
                </a:solidFill>
                <a:effectLst/>
                <a:latin typeface="Roboto" panose="02000000000000000000" pitchFamily="2" charset="0"/>
              </a:rPr>
              <a:t>HTML5 supports audio formats like:</a:t>
            </a:r>
          </a:p>
          <a:p>
            <a:pPr algn="just">
              <a:lnSpc>
                <a:spcPts val="2100"/>
              </a:lnSpc>
              <a:spcBef>
                <a:spcPts val="750"/>
              </a:spcBef>
              <a:spcAft>
                <a:spcPts val="600"/>
              </a:spcAft>
              <a:buFont typeface="Arial" panose="020B0604020202020204" pitchFamily="34" charset="0"/>
              <a:buChar char="•"/>
            </a:pPr>
            <a:r>
              <a:rPr lang="en-US" b="0" i="0" dirty="0">
                <a:solidFill>
                  <a:srgbClr val="3A3A3A"/>
                </a:solidFill>
                <a:effectLst/>
                <a:latin typeface="Roboto" panose="02000000000000000000" pitchFamily="2" charset="0"/>
              </a:rPr>
              <a:t>MP3 (.mp3)</a:t>
            </a:r>
          </a:p>
          <a:p>
            <a:pPr algn="just">
              <a:lnSpc>
                <a:spcPts val="2100"/>
              </a:lnSpc>
              <a:spcBef>
                <a:spcPts val="750"/>
              </a:spcBef>
              <a:spcAft>
                <a:spcPts val="600"/>
              </a:spcAft>
              <a:buFont typeface="Arial" panose="020B0604020202020204" pitchFamily="34" charset="0"/>
              <a:buChar char="•"/>
            </a:pPr>
            <a:r>
              <a:rPr lang="en-US" b="0" i="0" dirty="0">
                <a:solidFill>
                  <a:srgbClr val="3A3A3A"/>
                </a:solidFill>
                <a:effectLst/>
                <a:latin typeface="Roboto" panose="02000000000000000000" pitchFamily="2" charset="0"/>
              </a:rPr>
              <a:t>WAV (.wav)</a:t>
            </a:r>
          </a:p>
          <a:p>
            <a:pPr algn="just">
              <a:lnSpc>
                <a:spcPts val="2100"/>
              </a:lnSpc>
              <a:spcBef>
                <a:spcPts val="750"/>
              </a:spcBef>
              <a:spcAft>
                <a:spcPts val="600"/>
              </a:spcAft>
              <a:buFont typeface="Arial" panose="020B0604020202020204" pitchFamily="34" charset="0"/>
              <a:buChar char="•"/>
            </a:pPr>
            <a:r>
              <a:rPr lang="en-US" b="0" i="0" dirty="0">
                <a:solidFill>
                  <a:srgbClr val="3A3A3A"/>
                </a:solidFill>
                <a:effectLst/>
                <a:latin typeface="Roboto" panose="02000000000000000000" pitchFamily="2" charset="0"/>
              </a:rPr>
              <a:t>Ogg (.</a:t>
            </a:r>
            <a:r>
              <a:rPr lang="en-US" b="0" i="0" dirty="0" err="1">
                <a:solidFill>
                  <a:srgbClr val="3A3A3A"/>
                </a:solidFill>
                <a:effectLst/>
                <a:latin typeface="Roboto" panose="02000000000000000000" pitchFamily="2" charset="0"/>
              </a:rPr>
              <a:t>ogg</a:t>
            </a:r>
            <a:r>
              <a:rPr lang="en-US" b="0" i="0" dirty="0">
                <a:solidFill>
                  <a:srgbClr val="3A3A3A"/>
                </a:solidFill>
                <a:effectLst/>
                <a:latin typeface="Roboto" panose="02000000000000000000" pitchFamily="2" charset="0"/>
              </a:rPr>
              <a:t>)</a:t>
            </a:r>
          </a:p>
          <a:p>
            <a:pPr algn="just">
              <a:lnSpc>
                <a:spcPts val="2100"/>
              </a:lnSpc>
              <a:spcBef>
                <a:spcPts val="1650"/>
              </a:spcBef>
              <a:buNone/>
            </a:pPr>
            <a:r>
              <a:rPr lang="en-US" b="0" i="0" dirty="0">
                <a:solidFill>
                  <a:srgbClr val="3A3A3A"/>
                </a:solidFill>
                <a:effectLst/>
                <a:latin typeface="Roboto" panose="02000000000000000000" pitchFamily="2" charset="0"/>
              </a:rPr>
              <a:t>Example:</a:t>
            </a:r>
          </a:p>
          <a:p>
            <a:pPr algn="l">
              <a:spcBef>
                <a:spcPts val="1125"/>
              </a:spcBef>
              <a:spcAft>
                <a:spcPts val="375"/>
              </a:spcAft>
              <a:buNone/>
            </a:pPr>
            <a:r>
              <a:rPr lang="en-US" b="0" i="0" dirty="0">
                <a:solidFill>
                  <a:srgbClr val="212529"/>
                </a:solidFill>
                <a:effectLst/>
                <a:latin typeface="Courier New" panose="02070309020205020404" pitchFamily="49" charset="0"/>
              </a:rPr>
              <a:t>&lt;audio controls&gt;</a:t>
            </a:r>
          </a:p>
          <a:p>
            <a:pPr algn="l">
              <a:spcBef>
                <a:spcPts val="1125"/>
              </a:spcBef>
              <a:spcAft>
                <a:spcPts val="375"/>
              </a:spcAft>
              <a:buNone/>
            </a:pPr>
            <a:endParaRPr lang="en-US" b="0" i="0" dirty="0">
              <a:solidFill>
                <a:srgbClr val="212529"/>
              </a:solidFill>
              <a:effectLst/>
              <a:latin typeface="Courier New" panose="02070309020205020404" pitchFamily="49" charset="0"/>
            </a:endParaRPr>
          </a:p>
          <a:p>
            <a:pPr algn="l">
              <a:spcBef>
                <a:spcPts val="1125"/>
              </a:spcBef>
              <a:spcAft>
                <a:spcPts val="375"/>
              </a:spcAft>
              <a:buNone/>
            </a:pPr>
            <a:r>
              <a:rPr lang="en-US" b="0" i="0" dirty="0">
                <a:solidFill>
                  <a:srgbClr val="212529"/>
                </a:solidFill>
                <a:effectLst/>
                <a:latin typeface="Courier New" panose="02070309020205020404" pitchFamily="49" charset="0"/>
              </a:rPr>
              <a:t>  &lt;source </a:t>
            </a:r>
            <a:r>
              <a:rPr lang="en-US" b="0" i="0" dirty="0" err="1">
                <a:solidFill>
                  <a:srgbClr val="212529"/>
                </a:solidFill>
                <a:effectLst/>
                <a:latin typeface="Courier New" panose="02070309020205020404" pitchFamily="49" charset="0"/>
              </a:rPr>
              <a:t>src</a:t>
            </a:r>
            <a:r>
              <a:rPr lang="en-US" b="0" i="0" dirty="0">
                <a:solidFill>
                  <a:srgbClr val="212529"/>
                </a:solidFill>
                <a:effectLst/>
                <a:latin typeface="Courier New" panose="02070309020205020404" pitchFamily="49" charset="0"/>
              </a:rPr>
              <a:t>="sound.mp3" type="audio/mpeg"&gt;</a:t>
            </a:r>
          </a:p>
          <a:p>
            <a:pPr algn="l">
              <a:spcBef>
                <a:spcPts val="1125"/>
              </a:spcBef>
              <a:spcAft>
                <a:spcPts val="375"/>
              </a:spcAft>
              <a:buNone/>
            </a:pPr>
            <a:endParaRPr lang="en-US" b="0" i="0" dirty="0">
              <a:solidFill>
                <a:srgbClr val="212529"/>
              </a:solidFill>
              <a:effectLst/>
              <a:latin typeface="Courier New" panose="02070309020205020404" pitchFamily="49" charset="0"/>
            </a:endParaRPr>
          </a:p>
          <a:p>
            <a:pPr algn="l">
              <a:spcBef>
                <a:spcPts val="1125"/>
              </a:spcBef>
              <a:spcAft>
                <a:spcPts val="375"/>
              </a:spcAft>
              <a:buNone/>
            </a:pPr>
            <a:r>
              <a:rPr lang="en-US" b="0" i="0" dirty="0">
                <a:solidFill>
                  <a:srgbClr val="212529"/>
                </a:solidFill>
                <a:effectLst/>
                <a:latin typeface="Courier New" panose="02070309020205020404" pitchFamily="49" charset="0"/>
              </a:rPr>
              <a:t>&lt;/audio&gt;</a:t>
            </a:r>
          </a:p>
        </p:txBody>
      </p:sp>
    </p:spTree>
    <p:extLst>
      <p:ext uri="{BB962C8B-B14F-4D97-AF65-F5344CB8AC3E}">
        <p14:creationId xmlns:p14="http://schemas.microsoft.com/office/powerpoint/2010/main" val="157045245"/>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769677-3E7F-9607-7299-044FAC57B403}"/>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F5CAEF11-75E6-CB56-7884-2C84A5B6B219}"/>
              </a:ext>
            </a:extLst>
          </p:cNvPr>
          <p:cNvSpPr txBox="1"/>
          <p:nvPr/>
        </p:nvSpPr>
        <p:spPr>
          <a:xfrm>
            <a:off x="2477069" y="-2120390"/>
            <a:ext cx="4954136" cy="11105604"/>
          </a:xfrm>
          <a:prstGeom prst="rect">
            <a:avLst/>
          </a:prstGeom>
          <a:noFill/>
        </p:spPr>
        <p:txBody>
          <a:bodyPr wrap="square">
            <a:spAutoFit/>
          </a:bodyPr>
          <a:lstStyle/>
          <a:p>
            <a:pPr algn="l">
              <a:lnSpc>
                <a:spcPts val="2100"/>
              </a:lnSpc>
              <a:spcBef>
                <a:spcPts val="2400"/>
              </a:spcBef>
              <a:spcAft>
                <a:spcPts val="1800"/>
              </a:spcAft>
              <a:buNone/>
            </a:pPr>
            <a:r>
              <a:rPr lang="en-US" b="0" i="0" dirty="0">
                <a:solidFill>
                  <a:srgbClr val="272C37"/>
                </a:solidFill>
                <a:effectLst/>
                <a:latin typeface="Roboto" panose="02000000000000000000" pitchFamily="2" charset="0"/>
              </a:rPr>
              <a:t>16. Explain the concept of web storage in HTML5.</a:t>
            </a:r>
          </a:p>
          <a:p>
            <a:pPr algn="just">
              <a:lnSpc>
                <a:spcPts val="2100"/>
              </a:lnSpc>
              <a:spcBef>
                <a:spcPts val="1650"/>
              </a:spcBef>
              <a:buNone/>
            </a:pPr>
            <a:r>
              <a:rPr lang="en-US" b="0" i="0" u="none" strike="noStrike" dirty="0">
                <a:solidFill>
                  <a:srgbClr val="0F5A9E"/>
                </a:solidFill>
                <a:effectLst/>
                <a:latin typeface="Roboto" panose="02000000000000000000" pitchFamily="2" charset="0"/>
                <a:hlinkClick r:id="rId2"/>
              </a:rPr>
              <a:t>Web storage in HTML5</a:t>
            </a:r>
            <a:r>
              <a:rPr lang="en-US" b="0" i="0" dirty="0">
                <a:solidFill>
                  <a:srgbClr val="3A3A3A"/>
                </a:solidFill>
                <a:effectLst/>
                <a:latin typeface="Roboto" panose="02000000000000000000" pitchFamily="2" charset="0"/>
              </a:rPr>
              <a:t> lets websites store data in the user’s browser:</a:t>
            </a:r>
          </a:p>
          <a:p>
            <a:pPr algn="just">
              <a:lnSpc>
                <a:spcPts val="2100"/>
              </a:lnSpc>
              <a:spcBef>
                <a:spcPts val="750"/>
              </a:spcBef>
              <a:spcAft>
                <a:spcPts val="600"/>
              </a:spcAft>
              <a:buFont typeface="Arial" panose="020B0604020202020204" pitchFamily="34" charset="0"/>
              <a:buChar char="•"/>
            </a:pPr>
            <a:r>
              <a:rPr lang="en-US" b="0" i="0" dirty="0" err="1">
                <a:solidFill>
                  <a:srgbClr val="3A3A3A"/>
                </a:solidFill>
                <a:effectLst/>
                <a:latin typeface="Roboto" panose="02000000000000000000" pitchFamily="2" charset="0"/>
              </a:rPr>
              <a:t>localStorage</a:t>
            </a:r>
            <a:r>
              <a:rPr lang="en-US" b="0" i="0" dirty="0">
                <a:solidFill>
                  <a:srgbClr val="3A3A3A"/>
                </a:solidFill>
                <a:effectLst/>
                <a:latin typeface="Roboto" panose="02000000000000000000" pitchFamily="2" charset="0"/>
              </a:rPr>
              <a:t> – stores data with no expiry (until manually cleared)</a:t>
            </a:r>
          </a:p>
          <a:p>
            <a:pPr algn="just">
              <a:lnSpc>
                <a:spcPts val="2100"/>
              </a:lnSpc>
              <a:spcBef>
                <a:spcPts val="750"/>
              </a:spcBef>
              <a:spcAft>
                <a:spcPts val="600"/>
              </a:spcAft>
              <a:buFont typeface="Arial" panose="020B0604020202020204" pitchFamily="34" charset="0"/>
              <a:buChar char="•"/>
            </a:pPr>
            <a:r>
              <a:rPr lang="en-US" b="0" i="0" dirty="0" err="1">
                <a:solidFill>
                  <a:srgbClr val="3A3A3A"/>
                </a:solidFill>
                <a:effectLst/>
                <a:latin typeface="Roboto" panose="02000000000000000000" pitchFamily="2" charset="0"/>
              </a:rPr>
              <a:t>sessionStorage</a:t>
            </a:r>
            <a:r>
              <a:rPr lang="en-US" b="0" i="0" dirty="0">
                <a:solidFill>
                  <a:srgbClr val="3A3A3A"/>
                </a:solidFill>
                <a:effectLst/>
                <a:latin typeface="Roboto" panose="02000000000000000000" pitchFamily="2" charset="0"/>
              </a:rPr>
              <a:t> – stores data until the tab is closed</a:t>
            </a:r>
          </a:p>
          <a:p>
            <a:pPr algn="just">
              <a:lnSpc>
                <a:spcPts val="2100"/>
              </a:lnSpc>
              <a:spcBef>
                <a:spcPts val="1650"/>
              </a:spcBef>
              <a:buNone/>
            </a:pPr>
            <a:r>
              <a:rPr lang="en-US" b="0" i="0" dirty="0">
                <a:solidFill>
                  <a:srgbClr val="3A3A3A"/>
                </a:solidFill>
                <a:effectLst/>
                <a:latin typeface="Roboto" panose="02000000000000000000" pitchFamily="2" charset="0"/>
              </a:rPr>
              <a:t>Example:</a:t>
            </a:r>
          </a:p>
          <a:p>
            <a:pPr algn="l">
              <a:spcBef>
                <a:spcPts val="1125"/>
              </a:spcBef>
              <a:spcAft>
                <a:spcPts val="375"/>
              </a:spcAft>
              <a:buNone/>
            </a:pPr>
            <a:r>
              <a:rPr lang="en-US" b="0" i="0" dirty="0" err="1">
                <a:solidFill>
                  <a:srgbClr val="212529"/>
                </a:solidFill>
                <a:effectLst/>
                <a:latin typeface="Courier New" panose="02070309020205020404" pitchFamily="49" charset="0"/>
              </a:rPr>
              <a:t>localStorage.setItem</a:t>
            </a:r>
            <a:r>
              <a:rPr lang="en-US" b="0" i="0" dirty="0">
                <a:solidFill>
                  <a:srgbClr val="212529"/>
                </a:solidFill>
                <a:effectLst/>
                <a:latin typeface="Courier New" panose="02070309020205020404" pitchFamily="49" charset="0"/>
              </a:rPr>
              <a:t>("name", "Alice");</a:t>
            </a:r>
          </a:p>
          <a:p>
            <a:pPr algn="l">
              <a:spcBef>
                <a:spcPts val="1125"/>
              </a:spcBef>
              <a:spcAft>
                <a:spcPts val="375"/>
              </a:spcAft>
              <a:buNone/>
            </a:pPr>
            <a:endParaRPr lang="en-US" b="0" i="0" dirty="0">
              <a:solidFill>
                <a:srgbClr val="212529"/>
              </a:solidFill>
              <a:effectLst/>
              <a:latin typeface="Courier New" panose="02070309020205020404" pitchFamily="49" charset="0"/>
            </a:endParaRPr>
          </a:p>
          <a:p>
            <a:pPr algn="l">
              <a:spcBef>
                <a:spcPts val="1125"/>
              </a:spcBef>
              <a:spcAft>
                <a:spcPts val="375"/>
              </a:spcAft>
              <a:buNone/>
            </a:pPr>
            <a:r>
              <a:rPr lang="en-US" b="0" i="0" dirty="0">
                <a:solidFill>
                  <a:srgbClr val="212529"/>
                </a:solidFill>
                <a:effectLst/>
                <a:latin typeface="Courier New" panose="02070309020205020404" pitchFamily="49" charset="0"/>
              </a:rPr>
              <a:t>let user = </a:t>
            </a:r>
            <a:r>
              <a:rPr lang="en-US" b="0" i="0" dirty="0" err="1">
                <a:solidFill>
                  <a:srgbClr val="212529"/>
                </a:solidFill>
                <a:effectLst/>
                <a:latin typeface="Courier New" panose="02070309020205020404" pitchFamily="49" charset="0"/>
              </a:rPr>
              <a:t>localStorage.getItem</a:t>
            </a:r>
            <a:r>
              <a:rPr lang="en-US" b="0" i="0" dirty="0">
                <a:solidFill>
                  <a:srgbClr val="212529"/>
                </a:solidFill>
                <a:effectLst/>
                <a:latin typeface="Courier New" panose="02070309020205020404" pitchFamily="49" charset="0"/>
              </a:rPr>
              <a:t>("name");</a:t>
            </a:r>
          </a:p>
          <a:p>
            <a:pPr algn="l">
              <a:lnSpc>
                <a:spcPts val="2100"/>
              </a:lnSpc>
              <a:spcBef>
                <a:spcPts val="2400"/>
              </a:spcBef>
              <a:spcAft>
                <a:spcPts val="1800"/>
              </a:spcAft>
              <a:buNone/>
            </a:pPr>
            <a:r>
              <a:rPr lang="en-US" b="0" i="0" dirty="0">
                <a:solidFill>
                  <a:srgbClr val="272C37"/>
                </a:solidFill>
                <a:effectLst/>
                <a:latin typeface="Roboto" panose="02000000000000000000" pitchFamily="2" charset="0"/>
              </a:rPr>
              <a:t>17. What is Microdata in HTML5?</a:t>
            </a:r>
          </a:p>
          <a:p>
            <a:pPr algn="just">
              <a:lnSpc>
                <a:spcPts val="2100"/>
              </a:lnSpc>
              <a:spcBef>
                <a:spcPts val="1650"/>
              </a:spcBef>
              <a:buNone/>
            </a:pPr>
            <a:r>
              <a:rPr lang="en-US" b="0" i="0" dirty="0">
                <a:solidFill>
                  <a:srgbClr val="3A3A3A"/>
                </a:solidFill>
                <a:effectLst/>
                <a:latin typeface="Roboto" panose="02000000000000000000" pitchFamily="2" charset="0"/>
              </a:rPr>
              <a:t>Microdata helps add semantic meaning to content using </a:t>
            </a:r>
            <a:r>
              <a:rPr lang="en-US" b="0" i="0" dirty="0" err="1">
                <a:solidFill>
                  <a:srgbClr val="3A3A3A"/>
                </a:solidFill>
                <a:effectLst/>
                <a:latin typeface="Roboto" panose="02000000000000000000" pitchFamily="2" charset="0"/>
              </a:rPr>
              <a:t>itemscope</a:t>
            </a:r>
            <a:r>
              <a:rPr lang="en-US" b="0" i="0" dirty="0">
                <a:solidFill>
                  <a:srgbClr val="3A3A3A"/>
                </a:solidFill>
                <a:effectLst/>
                <a:latin typeface="Roboto" panose="02000000000000000000" pitchFamily="2" charset="0"/>
              </a:rPr>
              <a:t>, </a:t>
            </a:r>
            <a:r>
              <a:rPr lang="en-US" b="0" i="0" dirty="0" err="1">
                <a:solidFill>
                  <a:srgbClr val="3A3A3A"/>
                </a:solidFill>
                <a:effectLst/>
                <a:latin typeface="Roboto" panose="02000000000000000000" pitchFamily="2" charset="0"/>
              </a:rPr>
              <a:t>itemtype</a:t>
            </a:r>
            <a:r>
              <a:rPr lang="en-US" b="0" i="0" dirty="0">
                <a:solidFill>
                  <a:srgbClr val="3A3A3A"/>
                </a:solidFill>
                <a:effectLst/>
                <a:latin typeface="Roboto" panose="02000000000000000000" pitchFamily="2" charset="0"/>
              </a:rPr>
              <a:t>, and itemprop. It’s used by search engines for better indexing.</a:t>
            </a:r>
          </a:p>
          <a:p>
            <a:pPr algn="just">
              <a:lnSpc>
                <a:spcPts val="2100"/>
              </a:lnSpc>
              <a:spcBef>
                <a:spcPts val="750"/>
              </a:spcBef>
              <a:buNone/>
            </a:pPr>
            <a:r>
              <a:rPr lang="en-US" b="0" i="0" dirty="0">
                <a:solidFill>
                  <a:srgbClr val="3A3A3A"/>
                </a:solidFill>
                <a:effectLst/>
                <a:latin typeface="Roboto" panose="02000000000000000000" pitchFamily="2" charset="0"/>
              </a:rPr>
              <a:t>Example:</a:t>
            </a:r>
          </a:p>
          <a:p>
            <a:pPr algn="l">
              <a:spcBef>
                <a:spcPts val="1125"/>
              </a:spcBef>
              <a:spcAft>
                <a:spcPts val="375"/>
              </a:spcAft>
              <a:buNone/>
            </a:pPr>
            <a:r>
              <a:rPr lang="en-US" b="0" i="0" dirty="0">
                <a:solidFill>
                  <a:srgbClr val="212529"/>
                </a:solidFill>
                <a:effectLst/>
                <a:latin typeface="Courier New" panose="02070309020205020404" pitchFamily="49" charset="0"/>
              </a:rPr>
              <a:t>&lt;div </a:t>
            </a:r>
            <a:r>
              <a:rPr lang="en-US" b="0" i="0" dirty="0" err="1">
                <a:solidFill>
                  <a:srgbClr val="212529"/>
                </a:solidFill>
                <a:effectLst/>
                <a:latin typeface="Courier New" panose="02070309020205020404" pitchFamily="49" charset="0"/>
              </a:rPr>
              <a:t>itemscope</a:t>
            </a:r>
            <a:r>
              <a:rPr lang="en-US" b="0" i="0" dirty="0">
                <a:solidFill>
                  <a:srgbClr val="212529"/>
                </a:solidFill>
                <a:effectLst/>
                <a:latin typeface="Courier New" panose="02070309020205020404" pitchFamily="49" charset="0"/>
              </a:rPr>
              <a:t> </a:t>
            </a:r>
            <a:r>
              <a:rPr lang="en-US" b="0" i="0" dirty="0" err="1">
                <a:solidFill>
                  <a:srgbClr val="212529"/>
                </a:solidFill>
                <a:effectLst/>
                <a:latin typeface="Courier New" panose="02070309020205020404" pitchFamily="49" charset="0"/>
              </a:rPr>
              <a:t>itemtype</a:t>
            </a:r>
            <a:r>
              <a:rPr lang="en-US" b="0" i="0" dirty="0">
                <a:solidFill>
                  <a:srgbClr val="212529"/>
                </a:solidFill>
                <a:effectLst/>
                <a:latin typeface="Courier New" panose="02070309020205020404" pitchFamily="49" charset="0"/>
              </a:rPr>
              <a:t>="http://schema.org/Person"&gt;</a:t>
            </a:r>
          </a:p>
          <a:p>
            <a:pPr algn="l">
              <a:spcBef>
                <a:spcPts val="1125"/>
              </a:spcBef>
              <a:spcAft>
                <a:spcPts val="375"/>
              </a:spcAft>
              <a:buNone/>
            </a:pPr>
            <a:endParaRPr lang="en-US" b="0" i="0" dirty="0">
              <a:solidFill>
                <a:srgbClr val="212529"/>
              </a:solidFill>
              <a:effectLst/>
              <a:latin typeface="Courier New" panose="02070309020205020404" pitchFamily="49" charset="0"/>
            </a:endParaRPr>
          </a:p>
          <a:p>
            <a:pPr algn="l">
              <a:spcBef>
                <a:spcPts val="1125"/>
              </a:spcBef>
              <a:spcAft>
                <a:spcPts val="375"/>
              </a:spcAft>
              <a:buNone/>
            </a:pPr>
            <a:r>
              <a:rPr lang="en-US" b="0" i="0" dirty="0">
                <a:solidFill>
                  <a:srgbClr val="212529"/>
                </a:solidFill>
                <a:effectLst/>
                <a:latin typeface="Courier New" panose="02070309020205020404" pitchFamily="49" charset="0"/>
              </a:rPr>
              <a:t>  &lt;span itemprop="name"&gt;John Doe&lt;/span&gt;</a:t>
            </a:r>
          </a:p>
          <a:p>
            <a:pPr algn="l">
              <a:spcBef>
                <a:spcPts val="1125"/>
              </a:spcBef>
              <a:spcAft>
                <a:spcPts val="375"/>
              </a:spcAft>
              <a:buNone/>
            </a:pPr>
            <a:endParaRPr lang="en-US" b="0" i="0" dirty="0">
              <a:solidFill>
                <a:srgbClr val="212529"/>
              </a:solidFill>
              <a:effectLst/>
              <a:latin typeface="Courier New" panose="02070309020205020404" pitchFamily="49" charset="0"/>
            </a:endParaRPr>
          </a:p>
          <a:p>
            <a:pPr algn="l">
              <a:spcBef>
                <a:spcPts val="1125"/>
              </a:spcBef>
              <a:spcAft>
                <a:spcPts val="375"/>
              </a:spcAft>
              <a:buNone/>
            </a:pPr>
            <a:r>
              <a:rPr lang="en-US" b="0" i="0" dirty="0">
                <a:solidFill>
                  <a:srgbClr val="212529"/>
                </a:solidFill>
                <a:effectLst/>
                <a:latin typeface="Courier New" panose="02070309020205020404" pitchFamily="49" charset="0"/>
              </a:rPr>
              <a:t>&lt;/div&gt;</a:t>
            </a:r>
          </a:p>
        </p:txBody>
      </p:sp>
    </p:spTree>
    <p:extLst>
      <p:ext uri="{BB962C8B-B14F-4D97-AF65-F5344CB8AC3E}">
        <p14:creationId xmlns:p14="http://schemas.microsoft.com/office/powerpoint/2010/main" val="1088424402"/>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8AF79C-90CB-21CE-4937-EB56E77B59F5}"/>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4A8BD4AC-6896-00C5-AB28-C02F68074A8B}"/>
              </a:ext>
            </a:extLst>
          </p:cNvPr>
          <p:cNvSpPr txBox="1"/>
          <p:nvPr/>
        </p:nvSpPr>
        <p:spPr>
          <a:xfrm>
            <a:off x="2477069" y="718849"/>
            <a:ext cx="4954136" cy="5427127"/>
          </a:xfrm>
          <a:prstGeom prst="rect">
            <a:avLst/>
          </a:prstGeom>
          <a:noFill/>
        </p:spPr>
        <p:txBody>
          <a:bodyPr wrap="square">
            <a:spAutoFit/>
          </a:bodyPr>
          <a:lstStyle/>
          <a:p>
            <a:pPr algn="l">
              <a:lnSpc>
                <a:spcPts val="2100"/>
              </a:lnSpc>
              <a:spcBef>
                <a:spcPts val="2400"/>
              </a:spcBef>
              <a:spcAft>
                <a:spcPts val="1800"/>
              </a:spcAft>
              <a:buNone/>
            </a:pPr>
            <a:r>
              <a:rPr lang="en-US" b="0" i="0" dirty="0">
                <a:solidFill>
                  <a:srgbClr val="272C37"/>
                </a:solidFill>
                <a:effectLst/>
                <a:latin typeface="Roboto" panose="02000000000000000000" pitchFamily="2" charset="0"/>
              </a:rPr>
              <a:t>18. What are the new input types provided by HTML5 for forms?</a:t>
            </a:r>
          </a:p>
          <a:p>
            <a:pPr algn="just">
              <a:lnSpc>
                <a:spcPts val="2100"/>
              </a:lnSpc>
              <a:spcBef>
                <a:spcPts val="1650"/>
              </a:spcBef>
              <a:buNone/>
            </a:pPr>
            <a:r>
              <a:rPr lang="en-US" b="0" i="0" dirty="0">
                <a:solidFill>
                  <a:srgbClr val="3A3A3A"/>
                </a:solidFill>
                <a:effectLst/>
                <a:latin typeface="Roboto" panose="02000000000000000000" pitchFamily="2" charset="0"/>
              </a:rPr>
              <a:t>HTML5 added new input types like:</a:t>
            </a:r>
          </a:p>
          <a:p>
            <a:pPr algn="just">
              <a:lnSpc>
                <a:spcPts val="2100"/>
              </a:lnSpc>
              <a:spcBef>
                <a:spcPts val="750"/>
              </a:spcBef>
              <a:spcAft>
                <a:spcPts val="600"/>
              </a:spcAft>
              <a:buFont typeface="Arial" panose="020B0604020202020204" pitchFamily="34" charset="0"/>
              <a:buChar char="•"/>
            </a:pPr>
            <a:r>
              <a:rPr lang="en-US" b="0" i="0" dirty="0">
                <a:solidFill>
                  <a:srgbClr val="3A3A3A"/>
                </a:solidFill>
                <a:effectLst/>
                <a:latin typeface="Roboto" panose="02000000000000000000" pitchFamily="2" charset="0"/>
              </a:rPr>
              <a:t>email</a:t>
            </a:r>
          </a:p>
          <a:p>
            <a:pPr algn="just">
              <a:lnSpc>
                <a:spcPts val="2100"/>
              </a:lnSpc>
              <a:spcBef>
                <a:spcPts val="750"/>
              </a:spcBef>
              <a:spcAft>
                <a:spcPts val="600"/>
              </a:spcAft>
              <a:buFont typeface="Arial" panose="020B0604020202020204" pitchFamily="34" charset="0"/>
              <a:buChar char="•"/>
            </a:pPr>
            <a:r>
              <a:rPr lang="en-US" b="0" i="0" dirty="0" err="1">
                <a:solidFill>
                  <a:srgbClr val="3A3A3A"/>
                </a:solidFill>
                <a:effectLst/>
                <a:latin typeface="Roboto" panose="02000000000000000000" pitchFamily="2" charset="0"/>
              </a:rPr>
              <a:t>url</a:t>
            </a:r>
            <a:endParaRPr lang="en-US" b="0" i="0" dirty="0">
              <a:solidFill>
                <a:srgbClr val="3A3A3A"/>
              </a:solidFill>
              <a:effectLst/>
              <a:latin typeface="Roboto" panose="02000000000000000000" pitchFamily="2" charset="0"/>
            </a:endParaRPr>
          </a:p>
          <a:p>
            <a:pPr algn="just">
              <a:lnSpc>
                <a:spcPts val="2100"/>
              </a:lnSpc>
              <a:spcBef>
                <a:spcPts val="750"/>
              </a:spcBef>
              <a:spcAft>
                <a:spcPts val="600"/>
              </a:spcAft>
              <a:buFont typeface="Arial" panose="020B0604020202020204" pitchFamily="34" charset="0"/>
              <a:buChar char="•"/>
            </a:pPr>
            <a:r>
              <a:rPr lang="en-US" b="0" i="0" dirty="0" err="1">
                <a:solidFill>
                  <a:srgbClr val="3A3A3A"/>
                </a:solidFill>
                <a:effectLst/>
                <a:latin typeface="Roboto" panose="02000000000000000000" pitchFamily="2" charset="0"/>
              </a:rPr>
              <a:t>tel</a:t>
            </a:r>
            <a:endParaRPr lang="en-US" b="0" i="0" dirty="0">
              <a:solidFill>
                <a:srgbClr val="3A3A3A"/>
              </a:solidFill>
              <a:effectLst/>
              <a:latin typeface="Roboto" panose="02000000000000000000" pitchFamily="2" charset="0"/>
            </a:endParaRPr>
          </a:p>
          <a:p>
            <a:pPr algn="just">
              <a:lnSpc>
                <a:spcPts val="2100"/>
              </a:lnSpc>
              <a:spcBef>
                <a:spcPts val="750"/>
              </a:spcBef>
              <a:spcAft>
                <a:spcPts val="600"/>
              </a:spcAft>
              <a:buFont typeface="Arial" panose="020B0604020202020204" pitchFamily="34" charset="0"/>
              <a:buChar char="•"/>
            </a:pPr>
            <a:r>
              <a:rPr lang="en-US" b="0" i="0" dirty="0">
                <a:solidFill>
                  <a:srgbClr val="3A3A3A"/>
                </a:solidFill>
                <a:effectLst/>
                <a:latin typeface="Roboto" panose="02000000000000000000" pitchFamily="2" charset="0"/>
              </a:rPr>
              <a:t>number</a:t>
            </a:r>
          </a:p>
          <a:p>
            <a:pPr algn="just">
              <a:lnSpc>
                <a:spcPts val="2100"/>
              </a:lnSpc>
              <a:spcBef>
                <a:spcPts val="750"/>
              </a:spcBef>
              <a:spcAft>
                <a:spcPts val="600"/>
              </a:spcAft>
              <a:buFont typeface="Arial" panose="020B0604020202020204" pitchFamily="34" charset="0"/>
              <a:buChar char="•"/>
            </a:pPr>
            <a:r>
              <a:rPr lang="en-US" b="0" i="0" dirty="0">
                <a:solidFill>
                  <a:srgbClr val="3A3A3A"/>
                </a:solidFill>
                <a:effectLst/>
                <a:latin typeface="Roboto" panose="02000000000000000000" pitchFamily="2" charset="0"/>
              </a:rPr>
              <a:t>range</a:t>
            </a:r>
          </a:p>
          <a:p>
            <a:pPr algn="just">
              <a:lnSpc>
                <a:spcPts val="2100"/>
              </a:lnSpc>
              <a:spcBef>
                <a:spcPts val="750"/>
              </a:spcBef>
              <a:spcAft>
                <a:spcPts val="600"/>
              </a:spcAft>
              <a:buFont typeface="Arial" panose="020B0604020202020204" pitchFamily="34" charset="0"/>
              <a:buChar char="•"/>
            </a:pPr>
            <a:r>
              <a:rPr lang="en-US" b="0" i="0" dirty="0">
                <a:solidFill>
                  <a:srgbClr val="3A3A3A"/>
                </a:solidFill>
                <a:effectLst/>
                <a:latin typeface="Roboto" panose="02000000000000000000" pitchFamily="2" charset="0"/>
              </a:rPr>
              <a:t>date, time, datetime-local</a:t>
            </a:r>
          </a:p>
          <a:p>
            <a:pPr algn="just">
              <a:lnSpc>
                <a:spcPts val="2100"/>
              </a:lnSpc>
              <a:spcBef>
                <a:spcPts val="750"/>
              </a:spcBef>
              <a:spcAft>
                <a:spcPts val="600"/>
              </a:spcAft>
              <a:buFont typeface="Arial" panose="020B0604020202020204" pitchFamily="34" charset="0"/>
              <a:buChar char="•"/>
            </a:pPr>
            <a:r>
              <a:rPr lang="en-US" b="0" i="0" dirty="0">
                <a:solidFill>
                  <a:srgbClr val="3A3A3A"/>
                </a:solidFill>
                <a:effectLst/>
                <a:latin typeface="Roboto" panose="02000000000000000000" pitchFamily="2" charset="0"/>
              </a:rPr>
              <a:t>color</a:t>
            </a:r>
          </a:p>
          <a:p>
            <a:pPr algn="just">
              <a:lnSpc>
                <a:spcPts val="2100"/>
              </a:lnSpc>
              <a:spcBef>
                <a:spcPts val="750"/>
              </a:spcBef>
              <a:spcAft>
                <a:spcPts val="600"/>
              </a:spcAft>
              <a:buFont typeface="Arial" panose="020B0604020202020204" pitchFamily="34" charset="0"/>
              <a:buChar char="•"/>
            </a:pPr>
            <a:r>
              <a:rPr lang="en-US" b="0" i="0" dirty="0">
                <a:solidFill>
                  <a:srgbClr val="3A3A3A"/>
                </a:solidFill>
                <a:effectLst/>
                <a:latin typeface="Roboto" panose="02000000000000000000" pitchFamily="2" charset="0"/>
              </a:rPr>
              <a:t>search</a:t>
            </a:r>
          </a:p>
          <a:p>
            <a:pPr algn="just">
              <a:lnSpc>
                <a:spcPts val="2100"/>
              </a:lnSpc>
              <a:spcBef>
                <a:spcPts val="1650"/>
              </a:spcBef>
              <a:buNone/>
            </a:pPr>
            <a:r>
              <a:rPr lang="en-US" b="0" i="0" dirty="0">
                <a:solidFill>
                  <a:srgbClr val="3A3A3A"/>
                </a:solidFill>
                <a:effectLst/>
                <a:latin typeface="Roboto" panose="02000000000000000000" pitchFamily="2" charset="0"/>
              </a:rPr>
              <a:t>These improve validation and user experience.</a:t>
            </a:r>
          </a:p>
        </p:txBody>
      </p:sp>
    </p:spTree>
    <p:extLst>
      <p:ext uri="{BB962C8B-B14F-4D97-AF65-F5344CB8AC3E}">
        <p14:creationId xmlns:p14="http://schemas.microsoft.com/office/powerpoint/2010/main" val="3977575123"/>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6DF3B4-10A3-F97C-DE8D-A21ED2B1B493}"/>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FE0ACBEF-FB7B-F440-A721-99BC4507CACA}"/>
              </a:ext>
            </a:extLst>
          </p:cNvPr>
          <p:cNvSpPr txBox="1"/>
          <p:nvPr/>
        </p:nvSpPr>
        <p:spPr>
          <a:xfrm>
            <a:off x="2477069" y="-53157"/>
            <a:ext cx="4954136" cy="6971139"/>
          </a:xfrm>
          <a:prstGeom prst="rect">
            <a:avLst/>
          </a:prstGeom>
          <a:noFill/>
        </p:spPr>
        <p:txBody>
          <a:bodyPr wrap="square">
            <a:spAutoFit/>
          </a:bodyPr>
          <a:lstStyle/>
          <a:p>
            <a:pPr algn="l">
              <a:lnSpc>
                <a:spcPts val="2100"/>
              </a:lnSpc>
              <a:spcBef>
                <a:spcPts val="2400"/>
              </a:spcBef>
              <a:spcAft>
                <a:spcPts val="1800"/>
              </a:spcAft>
              <a:buNone/>
            </a:pPr>
            <a:r>
              <a:rPr lang="en-US" b="0" i="0" dirty="0">
                <a:solidFill>
                  <a:srgbClr val="272C37"/>
                </a:solidFill>
                <a:effectLst/>
                <a:latin typeface="Roboto" panose="02000000000000000000" pitchFamily="2" charset="0"/>
              </a:rPr>
              <a:t>19. What are the New tags in Media Elements in HTML5?</a:t>
            </a:r>
          </a:p>
          <a:p>
            <a:pPr algn="just">
              <a:lnSpc>
                <a:spcPts val="2100"/>
              </a:lnSpc>
              <a:spcBef>
                <a:spcPts val="1650"/>
              </a:spcBef>
              <a:buNone/>
            </a:pPr>
            <a:r>
              <a:rPr lang="en-US" b="0" i="0" dirty="0">
                <a:solidFill>
                  <a:srgbClr val="3A3A3A"/>
                </a:solidFill>
                <a:effectLst/>
                <a:latin typeface="Roboto" panose="02000000000000000000" pitchFamily="2" charset="0"/>
              </a:rPr>
              <a:t>New tags for media handling include:</a:t>
            </a:r>
          </a:p>
          <a:p>
            <a:pPr algn="just">
              <a:lnSpc>
                <a:spcPts val="2100"/>
              </a:lnSpc>
              <a:spcBef>
                <a:spcPts val="750"/>
              </a:spcBef>
              <a:spcAft>
                <a:spcPts val="600"/>
              </a:spcAft>
              <a:buFont typeface="Arial" panose="020B0604020202020204" pitchFamily="34" charset="0"/>
              <a:buChar char="•"/>
            </a:pPr>
            <a:r>
              <a:rPr lang="en-US" b="0" i="0" dirty="0">
                <a:solidFill>
                  <a:srgbClr val="3A3A3A"/>
                </a:solidFill>
                <a:effectLst/>
                <a:latin typeface="Roboto" panose="02000000000000000000" pitchFamily="2" charset="0"/>
              </a:rPr>
              <a:t>&lt;audio&gt; – plays audio files</a:t>
            </a:r>
          </a:p>
          <a:p>
            <a:pPr algn="just">
              <a:lnSpc>
                <a:spcPts val="2100"/>
              </a:lnSpc>
              <a:spcBef>
                <a:spcPts val="750"/>
              </a:spcBef>
              <a:spcAft>
                <a:spcPts val="600"/>
              </a:spcAft>
              <a:buFont typeface="Arial" panose="020B0604020202020204" pitchFamily="34" charset="0"/>
              <a:buChar char="•"/>
            </a:pPr>
            <a:r>
              <a:rPr lang="en-US" b="0" i="0" dirty="0">
                <a:solidFill>
                  <a:srgbClr val="3A3A3A"/>
                </a:solidFill>
                <a:effectLst/>
                <a:latin typeface="Roboto" panose="02000000000000000000" pitchFamily="2" charset="0"/>
              </a:rPr>
              <a:t>&lt;video&gt; – plays video files</a:t>
            </a:r>
          </a:p>
          <a:p>
            <a:pPr algn="just">
              <a:lnSpc>
                <a:spcPts val="2100"/>
              </a:lnSpc>
              <a:spcBef>
                <a:spcPts val="750"/>
              </a:spcBef>
              <a:spcAft>
                <a:spcPts val="600"/>
              </a:spcAft>
              <a:buFont typeface="Arial" panose="020B0604020202020204" pitchFamily="34" charset="0"/>
              <a:buChar char="•"/>
            </a:pPr>
            <a:r>
              <a:rPr lang="en-US" b="0" i="0" dirty="0">
                <a:solidFill>
                  <a:srgbClr val="3A3A3A"/>
                </a:solidFill>
                <a:effectLst/>
                <a:latin typeface="Roboto" panose="02000000000000000000" pitchFamily="2" charset="0"/>
              </a:rPr>
              <a:t>&lt;track&gt; – adds subtitles or captions to videos</a:t>
            </a:r>
          </a:p>
          <a:p>
            <a:pPr algn="just">
              <a:lnSpc>
                <a:spcPts val="2100"/>
              </a:lnSpc>
              <a:spcBef>
                <a:spcPts val="1650"/>
              </a:spcBef>
              <a:buNone/>
            </a:pPr>
            <a:r>
              <a:rPr lang="en-US" b="0" i="0" dirty="0">
                <a:solidFill>
                  <a:srgbClr val="3A3A3A"/>
                </a:solidFill>
                <a:effectLst/>
                <a:latin typeface="Roboto" panose="02000000000000000000" pitchFamily="2" charset="0"/>
              </a:rPr>
              <a:t>Example:</a:t>
            </a:r>
          </a:p>
          <a:p>
            <a:pPr algn="l">
              <a:spcBef>
                <a:spcPts val="1125"/>
              </a:spcBef>
              <a:spcAft>
                <a:spcPts val="375"/>
              </a:spcAft>
              <a:buNone/>
            </a:pPr>
            <a:r>
              <a:rPr lang="en-US" b="0" i="0" dirty="0">
                <a:solidFill>
                  <a:srgbClr val="212529"/>
                </a:solidFill>
                <a:effectLst/>
                <a:latin typeface="Courier New" panose="02070309020205020404" pitchFamily="49" charset="0"/>
              </a:rPr>
              <a:t>&lt;video controls&gt;</a:t>
            </a:r>
          </a:p>
          <a:p>
            <a:pPr algn="l">
              <a:spcBef>
                <a:spcPts val="1125"/>
              </a:spcBef>
              <a:spcAft>
                <a:spcPts val="375"/>
              </a:spcAft>
              <a:buNone/>
            </a:pPr>
            <a:endParaRPr lang="en-US" b="0" i="0" dirty="0">
              <a:solidFill>
                <a:srgbClr val="212529"/>
              </a:solidFill>
              <a:effectLst/>
              <a:latin typeface="Courier New" panose="02070309020205020404" pitchFamily="49" charset="0"/>
            </a:endParaRPr>
          </a:p>
          <a:p>
            <a:pPr algn="l">
              <a:spcBef>
                <a:spcPts val="1125"/>
              </a:spcBef>
              <a:spcAft>
                <a:spcPts val="375"/>
              </a:spcAft>
              <a:buNone/>
            </a:pPr>
            <a:r>
              <a:rPr lang="en-US" b="0" i="0" dirty="0">
                <a:solidFill>
                  <a:srgbClr val="212529"/>
                </a:solidFill>
                <a:effectLst/>
                <a:latin typeface="Courier New" panose="02070309020205020404" pitchFamily="49" charset="0"/>
              </a:rPr>
              <a:t>  &lt;source </a:t>
            </a:r>
            <a:r>
              <a:rPr lang="en-US" b="0" i="0" dirty="0" err="1">
                <a:solidFill>
                  <a:srgbClr val="212529"/>
                </a:solidFill>
                <a:effectLst/>
                <a:latin typeface="Courier New" panose="02070309020205020404" pitchFamily="49" charset="0"/>
              </a:rPr>
              <a:t>src</a:t>
            </a:r>
            <a:r>
              <a:rPr lang="en-US" b="0" i="0" dirty="0">
                <a:solidFill>
                  <a:srgbClr val="212529"/>
                </a:solidFill>
                <a:effectLst/>
                <a:latin typeface="Courier New" panose="02070309020205020404" pitchFamily="49" charset="0"/>
              </a:rPr>
              <a:t>="movie.mp4" type="video/mp4"&gt;</a:t>
            </a:r>
          </a:p>
          <a:p>
            <a:pPr algn="l">
              <a:spcBef>
                <a:spcPts val="1125"/>
              </a:spcBef>
              <a:spcAft>
                <a:spcPts val="375"/>
              </a:spcAft>
              <a:buNone/>
            </a:pPr>
            <a:endParaRPr lang="en-US" b="0" i="0" dirty="0">
              <a:solidFill>
                <a:srgbClr val="212529"/>
              </a:solidFill>
              <a:effectLst/>
              <a:latin typeface="Courier New" panose="02070309020205020404" pitchFamily="49" charset="0"/>
            </a:endParaRPr>
          </a:p>
          <a:p>
            <a:pPr algn="l">
              <a:spcBef>
                <a:spcPts val="1125"/>
              </a:spcBef>
              <a:spcAft>
                <a:spcPts val="375"/>
              </a:spcAft>
              <a:buNone/>
            </a:pPr>
            <a:r>
              <a:rPr lang="en-US" b="0" i="0" dirty="0">
                <a:solidFill>
                  <a:srgbClr val="212529"/>
                </a:solidFill>
                <a:effectLst/>
                <a:latin typeface="Courier New" panose="02070309020205020404" pitchFamily="49" charset="0"/>
              </a:rPr>
              <a:t>  &lt;track </a:t>
            </a:r>
            <a:r>
              <a:rPr lang="en-US" b="0" i="0" dirty="0" err="1">
                <a:solidFill>
                  <a:srgbClr val="212529"/>
                </a:solidFill>
                <a:effectLst/>
                <a:latin typeface="Courier New" panose="02070309020205020404" pitchFamily="49" charset="0"/>
              </a:rPr>
              <a:t>src</a:t>
            </a:r>
            <a:r>
              <a:rPr lang="en-US" b="0" i="0" dirty="0">
                <a:solidFill>
                  <a:srgbClr val="212529"/>
                </a:solidFill>
                <a:effectLst/>
                <a:latin typeface="Courier New" panose="02070309020205020404" pitchFamily="49" charset="0"/>
              </a:rPr>
              <a:t>="</a:t>
            </a:r>
            <a:r>
              <a:rPr lang="en-US" b="0" i="0" dirty="0" err="1">
                <a:solidFill>
                  <a:srgbClr val="212529"/>
                </a:solidFill>
                <a:effectLst/>
                <a:latin typeface="Courier New" panose="02070309020205020404" pitchFamily="49" charset="0"/>
              </a:rPr>
              <a:t>captions.vtt</a:t>
            </a:r>
            <a:r>
              <a:rPr lang="en-US" b="0" i="0" dirty="0">
                <a:solidFill>
                  <a:srgbClr val="212529"/>
                </a:solidFill>
                <a:effectLst/>
                <a:latin typeface="Courier New" panose="02070309020205020404" pitchFamily="49" charset="0"/>
              </a:rPr>
              <a:t>" kind="subtitles"&gt;</a:t>
            </a:r>
          </a:p>
          <a:p>
            <a:pPr algn="l">
              <a:spcBef>
                <a:spcPts val="1125"/>
              </a:spcBef>
              <a:spcAft>
                <a:spcPts val="375"/>
              </a:spcAft>
              <a:buNone/>
            </a:pPr>
            <a:endParaRPr lang="en-US" b="0" i="0" dirty="0">
              <a:solidFill>
                <a:srgbClr val="212529"/>
              </a:solidFill>
              <a:effectLst/>
              <a:latin typeface="Courier New" panose="02070309020205020404" pitchFamily="49" charset="0"/>
            </a:endParaRPr>
          </a:p>
          <a:p>
            <a:pPr algn="l">
              <a:spcBef>
                <a:spcPts val="1125"/>
              </a:spcBef>
              <a:spcAft>
                <a:spcPts val="375"/>
              </a:spcAft>
              <a:buNone/>
            </a:pPr>
            <a:r>
              <a:rPr lang="en-US" b="0" i="0" dirty="0">
                <a:solidFill>
                  <a:srgbClr val="212529"/>
                </a:solidFill>
                <a:effectLst/>
                <a:latin typeface="Courier New" panose="02070309020205020404" pitchFamily="49" charset="0"/>
              </a:rPr>
              <a:t>&lt;/video&gt;</a:t>
            </a:r>
          </a:p>
        </p:txBody>
      </p:sp>
    </p:spTree>
    <p:extLst>
      <p:ext uri="{BB962C8B-B14F-4D97-AF65-F5344CB8AC3E}">
        <p14:creationId xmlns:p14="http://schemas.microsoft.com/office/powerpoint/2010/main" val="1862517779"/>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2B5A51-AA7F-ECAF-41AE-666585F46A71}"/>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D828FB4E-4D03-D363-F6C8-12E318897640}"/>
              </a:ext>
            </a:extLst>
          </p:cNvPr>
          <p:cNvSpPr txBox="1"/>
          <p:nvPr/>
        </p:nvSpPr>
        <p:spPr>
          <a:xfrm>
            <a:off x="2477069" y="139203"/>
            <a:ext cx="4954136" cy="6586418"/>
          </a:xfrm>
          <a:prstGeom prst="rect">
            <a:avLst/>
          </a:prstGeom>
          <a:noFill/>
        </p:spPr>
        <p:txBody>
          <a:bodyPr wrap="square">
            <a:spAutoFit/>
          </a:bodyPr>
          <a:lstStyle/>
          <a:p>
            <a:pPr algn="l">
              <a:lnSpc>
                <a:spcPts val="2100"/>
              </a:lnSpc>
              <a:spcBef>
                <a:spcPts val="2400"/>
              </a:spcBef>
              <a:spcAft>
                <a:spcPts val="1800"/>
              </a:spcAft>
              <a:buNone/>
            </a:pPr>
            <a:r>
              <a:rPr lang="en-US" b="0" i="0" dirty="0">
                <a:solidFill>
                  <a:srgbClr val="272C37"/>
                </a:solidFill>
                <a:effectLst/>
                <a:latin typeface="Roboto" panose="02000000000000000000" pitchFamily="2" charset="0"/>
              </a:rPr>
              <a:t>20. What are server-sent events in HTML5?</a:t>
            </a:r>
          </a:p>
          <a:p>
            <a:pPr algn="just">
              <a:lnSpc>
                <a:spcPts val="2100"/>
              </a:lnSpc>
              <a:spcBef>
                <a:spcPts val="1650"/>
              </a:spcBef>
              <a:buNone/>
            </a:pPr>
            <a:r>
              <a:rPr lang="en-US" b="0" i="0" dirty="0">
                <a:solidFill>
                  <a:srgbClr val="3A3A3A"/>
                </a:solidFill>
                <a:effectLst/>
                <a:latin typeface="Roboto" panose="02000000000000000000" pitchFamily="2" charset="0"/>
              </a:rPr>
              <a:t>Server-Sent Events (SSE) let servers send updates to the browser automatically using the </a:t>
            </a:r>
            <a:r>
              <a:rPr lang="en-US" b="0" i="0" dirty="0" err="1">
                <a:solidFill>
                  <a:srgbClr val="3A3A3A"/>
                </a:solidFill>
                <a:effectLst/>
                <a:latin typeface="Roboto" panose="02000000000000000000" pitchFamily="2" charset="0"/>
              </a:rPr>
              <a:t>EventSource</a:t>
            </a:r>
            <a:r>
              <a:rPr lang="en-US" b="0" i="0" dirty="0">
                <a:solidFill>
                  <a:srgbClr val="3A3A3A"/>
                </a:solidFill>
                <a:effectLst/>
                <a:latin typeface="Roboto" panose="02000000000000000000" pitchFamily="2" charset="0"/>
              </a:rPr>
              <a:t> API.</a:t>
            </a:r>
          </a:p>
          <a:p>
            <a:pPr algn="just">
              <a:lnSpc>
                <a:spcPts val="2100"/>
              </a:lnSpc>
              <a:spcBef>
                <a:spcPts val="750"/>
              </a:spcBef>
              <a:buNone/>
            </a:pPr>
            <a:r>
              <a:rPr lang="en-US" b="0" i="0" dirty="0">
                <a:solidFill>
                  <a:srgbClr val="3A3A3A"/>
                </a:solidFill>
                <a:effectLst/>
                <a:latin typeface="Roboto" panose="02000000000000000000" pitchFamily="2" charset="0"/>
              </a:rPr>
              <a:t>Example:</a:t>
            </a:r>
          </a:p>
          <a:p>
            <a:pPr algn="l">
              <a:spcBef>
                <a:spcPts val="1125"/>
              </a:spcBef>
              <a:spcAft>
                <a:spcPts val="375"/>
              </a:spcAft>
              <a:buNone/>
            </a:pPr>
            <a:r>
              <a:rPr lang="en-US" b="0" i="0" dirty="0">
                <a:solidFill>
                  <a:srgbClr val="212529"/>
                </a:solidFill>
                <a:effectLst/>
                <a:latin typeface="Courier New" panose="02070309020205020404" pitchFamily="49" charset="0"/>
              </a:rPr>
              <a:t>const source = new </a:t>
            </a:r>
            <a:r>
              <a:rPr lang="en-US" b="0" i="0" dirty="0" err="1">
                <a:solidFill>
                  <a:srgbClr val="212529"/>
                </a:solidFill>
                <a:effectLst/>
                <a:latin typeface="Courier New" panose="02070309020205020404" pitchFamily="49" charset="0"/>
              </a:rPr>
              <a:t>EventSource</a:t>
            </a:r>
            <a:r>
              <a:rPr lang="en-US" b="0" i="0" dirty="0">
                <a:solidFill>
                  <a:srgbClr val="212529"/>
                </a:solidFill>
                <a:effectLst/>
                <a:latin typeface="Courier New" panose="02070309020205020404" pitchFamily="49" charset="0"/>
              </a:rPr>
              <a:t>('</a:t>
            </a:r>
            <a:r>
              <a:rPr lang="en-US" b="0" i="0" dirty="0" err="1">
                <a:solidFill>
                  <a:srgbClr val="212529"/>
                </a:solidFill>
                <a:effectLst/>
                <a:latin typeface="Courier New" panose="02070309020205020404" pitchFamily="49" charset="0"/>
              </a:rPr>
              <a:t>server.php</a:t>
            </a:r>
            <a:r>
              <a:rPr lang="en-US" b="0" i="0" dirty="0">
                <a:solidFill>
                  <a:srgbClr val="212529"/>
                </a:solidFill>
                <a:effectLst/>
                <a:latin typeface="Courier New" panose="02070309020205020404" pitchFamily="49" charset="0"/>
              </a:rPr>
              <a:t>');</a:t>
            </a:r>
          </a:p>
          <a:p>
            <a:pPr algn="l">
              <a:spcBef>
                <a:spcPts val="1125"/>
              </a:spcBef>
              <a:spcAft>
                <a:spcPts val="375"/>
              </a:spcAft>
              <a:buNone/>
            </a:pPr>
            <a:endParaRPr lang="en-US" b="0" i="0" dirty="0">
              <a:solidFill>
                <a:srgbClr val="212529"/>
              </a:solidFill>
              <a:effectLst/>
              <a:latin typeface="Courier New" panose="02070309020205020404" pitchFamily="49" charset="0"/>
            </a:endParaRPr>
          </a:p>
          <a:p>
            <a:pPr algn="l">
              <a:spcBef>
                <a:spcPts val="1125"/>
              </a:spcBef>
              <a:spcAft>
                <a:spcPts val="375"/>
              </a:spcAft>
              <a:buNone/>
            </a:pPr>
            <a:r>
              <a:rPr lang="en-US" b="0" i="0" dirty="0" err="1">
                <a:solidFill>
                  <a:srgbClr val="212529"/>
                </a:solidFill>
                <a:effectLst/>
                <a:latin typeface="Courier New" panose="02070309020205020404" pitchFamily="49" charset="0"/>
              </a:rPr>
              <a:t>source.onmessage</a:t>
            </a:r>
            <a:r>
              <a:rPr lang="en-US" b="0" i="0" dirty="0">
                <a:solidFill>
                  <a:srgbClr val="212529"/>
                </a:solidFill>
                <a:effectLst/>
                <a:latin typeface="Courier New" panose="02070309020205020404" pitchFamily="49" charset="0"/>
              </a:rPr>
              <a:t> = function(event) {</a:t>
            </a:r>
          </a:p>
          <a:p>
            <a:pPr algn="l">
              <a:spcBef>
                <a:spcPts val="1125"/>
              </a:spcBef>
              <a:spcAft>
                <a:spcPts val="375"/>
              </a:spcAft>
              <a:buNone/>
            </a:pPr>
            <a:endParaRPr lang="en-US" b="0" i="0" dirty="0">
              <a:solidFill>
                <a:srgbClr val="212529"/>
              </a:solidFill>
              <a:effectLst/>
              <a:latin typeface="Courier New" panose="02070309020205020404" pitchFamily="49" charset="0"/>
            </a:endParaRPr>
          </a:p>
          <a:p>
            <a:pPr algn="l">
              <a:spcBef>
                <a:spcPts val="1125"/>
              </a:spcBef>
              <a:spcAft>
                <a:spcPts val="375"/>
              </a:spcAft>
              <a:buNone/>
            </a:pPr>
            <a:r>
              <a:rPr lang="en-US" b="0" i="0" dirty="0">
                <a:solidFill>
                  <a:srgbClr val="212529"/>
                </a:solidFill>
                <a:effectLst/>
                <a:latin typeface="Courier New" panose="02070309020205020404" pitchFamily="49" charset="0"/>
              </a:rPr>
              <a:t>  console.log(</a:t>
            </a:r>
            <a:r>
              <a:rPr lang="en-US" b="0" i="0" dirty="0" err="1">
                <a:solidFill>
                  <a:srgbClr val="212529"/>
                </a:solidFill>
                <a:effectLst/>
                <a:latin typeface="Courier New" panose="02070309020205020404" pitchFamily="49" charset="0"/>
              </a:rPr>
              <a:t>event.data</a:t>
            </a:r>
            <a:r>
              <a:rPr lang="en-US" b="0" i="0" dirty="0">
                <a:solidFill>
                  <a:srgbClr val="212529"/>
                </a:solidFill>
                <a:effectLst/>
                <a:latin typeface="Courier New" panose="02070309020205020404" pitchFamily="49" charset="0"/>
              </a:rPr>
              <a:t>);</a:t>
            </a:r>
          </a:p>
          <a:p>
            <a:pPr algn="l">
              <a:spcBef>
                <a:spcPts val="1125"/>
              </a:spcBef>
              <a:spcAft>
                <a:spcPts val="375"/>
              </a:spcAft>
              <a:buNone/>
            </a:pPr>
            <a:endParaRPr lang="en-US" b="0" i="0" dirty="0">
              <a:solidFill>
                <a:srgbClr val="212529"/>
              </a:solidFill>
              <a:effectLst/>
              <a:latin typeface="Courier New" panose="02070309020205020404" pitchFamily="49" charset="0"/>
            </a:endParaRPr>
          </a:p>
          <a:p>
            <a:pPr algn="l">
              <a:spcBef>
                <a:spcPts val="1125"/>
              </a:spcBef>
              <a:spcAft>
                <a:spcPts val="375"/>
              </a:spcAft>
              <a:buNone/>
            </a:pPr>
            <a:r>
              <a:rPr lang="en-US" b="0" i="0" dirty="0">
                <a:solidFill>
                  <a:srgbClr val="212529"/>
                </a:solidFill>
                <a:effectLst/>
                <a:latin typeface="Courier New" panose="02070309020205020404" pitchFamily="49" charset="0"/>
              </a:rPr>
              <a:t>};</a:t>
            </a:r>
          </a:p>
          <a:p>
            <a:pPr algn="just">
              <a:lnSpc>
                <a:spcPts val="2100"/>
              </a:lnSpc>
              <a:spcBef>
                <a:spcPts val="1650"/>
              </a:spcBef>
              <a:buNone/>
            </a:pPr>
            <a:r>
              <a:rPr lang="en-US" b="0" i="0" dirty="0">
                <a:solidFill>
                  <a:srgbClr val="3A3A3A"/>
                </a:solidFill>
                <a:effectLst/>
                <a:latin typeface="Roboto" panose="02000000000000000000" pitchFamily="2" charset="0"/>
              </a:rPr>
              <a:t>Used for real-time updates like notifications, news, or stock prices.</a:t>
            </a:r>
          </a:p>
        </p:txBody>
      </p:sp>
    </p:spTree>
    <p:extLst>
      <p:ext uri="{BB962C8B-B14F-4D97-AF65-F5344CB8AC3E}">
        <p14:creationId xmlns:p14="http://schemas.microsoft.com/office/powerpoint/2010/main" val="2019912776"/>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6408AB-3FEA-D9E8-2260-D0EB5D4029D6}"/>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A0ECE255-92B8-3CD0-3178-6EF0CB0A7833}"/>
              </a:ext>
            </a:extLst>
          </p:cNvPr>
          <p:cNvSpPr txBox="1"/>
          <p:nvPr/>
        </p:nvSpPr>
        <p:spPr>
          <a:xfrm>
            <a:off x="2477069" y="72518"/>
            <a:ext cx="4954136" cy="6719788"/>
          </a:xfrm>
          <a:prstGeom prst="rect">
            <a:avLst/>
          </a:prstGeom>
          <a:noFill/>
        </p:spPr>
        <p:txBody>
          <a:bodyPr wrap="square">
            <a:spAutoFit/>
          </a:bodyPr>
          <a:lstStyle/>
          <a:p>
            <a:pPr algn="l">
              <a:lnSpc>
                <a:spcPts val="2100"/>
              </a:lnSpc>
              <a:spcBef>
                <a:spcPts val="2400"/>
              </a:spcBef>
              <a:spcAft>
                <a:spcPts val="1800"/>
              </a:spcAft>
              <a:buNone/>
            </a:pPr>
            <a:r>
              <a:rPr lang="en-US" b="0" i="0" dirty="0">
                <a:solidFill>
                  <a:srgbClr val="272C37"/>
                </a:solidFill>
                <a:effectLst/>
                <a:latin typeface="Roboto" panose="02000000000000000000" pitchFamily="2" charset="0"/>
              </a:rPr>
              <a:t>21. What is a manifest file in HTML5?</a:t>
            </a:r>
          </a:p>
          <a:p>
            <a:pPr algn="just">
              <a:lnSpc>
                <a:spcPts val="2100"/>
              </a:lnSpc>
              <a:spcBef>
                <a:spcPts val="1650"/>
              </a:spcBef>
              <a:buNone/>
            </a:pPr>
            <a:r>
              <a:rPr lang="en-US" b="0" i="0" dirty="0">
                <a:solidFill>
                  <a:srgbClr val="3A3A3A"/>
                </a:solidFill>
                <a:effectLst/>
                <a:latin typeface="Roboto" panose="02000000000000000000" pitchFamily="2" charset="0"/>
              </a:rPr>
              <a:t>A manifest file allows a web app to work offline. It lists files the browser should cache.</a:t>
            </a:r>
          </a:p>
          <a:p>
            <a:pPr algn="just">
              <a:lnSpc>
                <a:spcPts val="2100"/>
              </a:lnSpc>
              <a:spcBef>
                <a:spcPts val="750"/>
              </a:spcBef>
              <a:buNone/>
            </a:pPr>
            <a:r>
              <a:rPr lang="en-US" b="0" i="0" dirty="0">
                <a:solidFill>
                  <a:srgbClr val="3A3A3A"/>
                </a:solidFill>
                <a:effectLst/>
                <a:latin typeface="Roboto" panose="02000000000000000000" pitchFamily="2" charset="0"/>
              </a:rPr>
              <a:t>Example in HTML:</a:t>
            </a:r>
          </a:p>
          <a:p>
            <a:pPr algn="l">
              <a:spcBef>
                <a:spcPts val="1125"/>
              </a:spcBef>
              <a:spcAft>
                <a:spcPts val="375"/>
              </a:spcAft>
              <a:buNone/>
            </a:pPr>
            <a:r>
              <a:rPr lang="en-US" b="0" i="0" dirty="0">
                <a:solidFill>
                  <a:srgbClr val="212529"/>
                </a:solidFill>
                <a:effectLst/>
                <a:latin typeface="Courier New" panose="02070309020205020404" pitchFamily="49" charset="0"/>
              </a:rPr>
              <a:t>&lt;html manifest="</a:t>
            </a:r>
            <a:r>
              <a:rPr lang="en-US" b="0" i="0" dirty="0" err="1">
                <a:solidFill>
                  <a:srgbClr val="212529"/>
                </a:solidFill>
                <a:effectLst/>
                <a:latin typeface="Courier New" panose="02070309020205020404" pitchFamily="49" charset="0"/>
              </a:rPr>
              <a:t>app.manifest</a:t>
            </a:r>
            <a:r>
              <a:rPr lang="en-US" b="0" i="0" dirty="0">
                <a:solidFill>
                  <a:srgbClr val="212529"/>
                </a:solidFill>
                <a:effectLst/>
                <a:latin typeface="Courier New" panose="02070309020205020404" pitchFamily="49" charset="0"/>
              </a:rPr>
              <a:t>"&gt;</a:t>
            </a:r>
          </a:p>
          <a:p>
            <a:pPr algn="just">
              <a:lnSpc>
                <a:spcPts val="2100"/>
              </a:lnSpc>
              <a:spcBef>
                <a:spcPts val="1650"/>
              </a:spcBef>
              <a:buNone/>
            </a:pPr>
            <a:r>
              <a:rPr lang="en-US" b="0" i="0" dirty="0">
                <a:solidFill>
                  <a:srgbClr val="3A3A3A"/>
                </a:solidFill>
                <a:effectLst/>
                <a:latin typeface="Roboto" panose="02000000000000000000" pitchFamily="2" charset="0"/>
              </a:rPr>
              <a:t>Example manifest file:</a:t>
            </a:r>
          </a:p>
          <a:p>
            <a:pPr algn="l">
              <a:spcBef>
                <a:spcPts val="1125"/>
              </a:spcBef>
              <a:spcAft>
                <a:spcPts val="375"/>
              </a:spcAft>
              <a:buNone/>
            </a:pPr>
            <a:r>
              <a:rPr lang="en-US" b="0" i="0" dirty="0">
                <a:solidFill>
                  <a:srgbClr val="212529"/>
                </a:solidFill>
                <a:effectLst/>
                <a:latin typeface="Courier New" panose="02070309020205020404" pitchFamily="49" charset="0"/>
              </a:rPr>
              <a:t>CACHE MANIFEST</a:t>
            </a:r>
          </a:p>
          <a:p>
            <a:pPr algn="l">
              <a:spcBef>
                <a:spcPts val="1125"/>
              </a:spcBef>
              <a:spcAft>
                <a:spcPts val="375"/>
              </a:spcAft>
              <a:buNone/>
            </a:pPr>
            <a:endParaRPr lang="en-US" b="0" i="0" dirty="0">
              <a:solidFill>
                <a:srgbClr val="212529"/>
              </a:solidFill>
              <a:effectLst/>
              <a:latin typeface="Courier New" panose="02070309020205020404" pitchFamily="49" charset="0"/>
            </a:endParaRPr>
          </a:p>
          <a:p>
            <a:pPr algn="l">
              <a:spcBef>
                <a:spcPts val="1125"/>
              </a:spcBef>
              <a:spcAft>
                <a:spcPts val="375"/>
              </a:spcAft>
              <a:buNone/>
            </a:pPr>
            <a:r>
              <a:rPr lang="en-US" b="0" i="0" dirty="0">
                <a:solidFill>
                  <a:srgbClr val="212529"/>
                </a:solidFill>
                <a:effectLst/>
                <a:latin typeface="Courier New" panose="02070309020205020404" pitchFamily="49" charset="0"/>
              </a:rPr>
              <a:t>/index.html</a:t>
            </a:r>
          </a:p>
          <a:p>
            <a:pPr algn="l">
              <a:spcBef>
                <a:spcPts val="1125"/>
              </a:spcBef>
              <a:spcAft>
                <a:spcPts val="375"/>
              </a:spcAft>
              <a:buNone/>
            </a:pPr>
            <a:endParaRPr lang="en-US" b="0" i="0" dirty="0">
              <a:solidFill>
                <a:srgbClr val="212529"/>
              </a:solidFill>
              <a:effectLst/>
              <a:latin typeface="Courier New" panose="02070309020205020404" pitchFamily="49" charset="0"/>
            </a:endParaRPr>
          </a:p>
          <a:p>
            <a:pPr algn="l">
              <a:spcBef>
                <a:spcPts val="1125"/>
              </a:spcBef>
              <a:spcAft>
                <a:spcPts val="375"/>
              </a:spcAft>
              <a:buNone/>
            </a:pPr>
            <a:r>
              <a:rPr lang="en-US" b="0" i="0" dirty="0">
                <a:solidFill>
                  <a:srgbClr val="212529"/>
                </a:solidFill>
                <a:effectLst/>
                <a:latin typeface="Courier New" panose="02070309020205020404" pitchFamily="49" charset="0"/>
              </a:rPr>
              <a:t>/style.css</a:t>
            </a:r>
          </a:p>
          <a:p>
            <a:pPr algn="l">
              <a:spcBef>
                <a:spcPts val="1125"/>
              </a:spcBef>
              <a:spcAft>
                <a:spcPts val="375"/>
              </a:spcAft>
              <a:buNone/>
            </a:pPr>
            <a:endParaRPr lang="en-US" b="0" i="0" dirty="0">
              <a:solidFill>
                <a:srgbClr val="212529"/>
              </a:solidFill>
              <a:effectLst/>
              <a:latin typeface="Courier New" panose="02070309020205020404" pitchFamily="49" charset="0"/>
            </a:endParaRPr>
          </a:p>
          <a:p>
            <a:pPr algn="l">
              <a:spcBef>
                <a:spcPts val="1125"/>
              </a:spcBef>
              <a:spcAft>
                <a:spcPts val="375"/>
              </a:spcAft>
              <a:buNone/>
            </a:pPr>
            <a:r>
              <a:rPr lang="en-US" b="0" i="0" dirty="0">
                <a:solidFill>
                  <a:srgbClr val="212529"/>
                </a:solidFill>
                <a:effectLst/>
                <a:latin typeface="Courier New" panose="02070309020205020404" pitchFamily="49" charset="0"/>
              </a:rPr>
              <a:t>/script.js</a:t>
            </a:r>
          </a:p>
          <a:p>
            <a:pPr algn="just">
              <a:lnSpc>
                <a:spcPts val="2100"/>
              </a:lnSpc>
              <a:spcBef>
                <a:spcPts val="1650"/>
              </a:spcBef>
              <a:buNone/>
            </a:pPr>
            <a:r>
              <a:rPr lang="en-US" b="0" i="0" dirty="0">
                <a:solidFill>
                  <a:srgbClr val="3A3A3A"/>
                </a:solidFill>
                <a:effectLst/>
                <a:latin typeface="Roboto" panose="02000000000000000000" pitchFamily="2" charset="0"/>
              </a:rPr>
              <a:t>Note: This feature is now deprecated; use service workers instead.</a:t>
            </a:r>
          </a:p>
        </p:txBody>
      </p:sp>
    </p:spTree>
    <p:extLst>
      <p:ext uri="{BB962C8B-B14F-4D97-AF65-F5344CB8AC3E}">
        <p14:creationId xmlns:p14="http://schemas.microsoft.com/office/powerpoint/2010/main" val="1677624876"/>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3D11B9-028C-5DD4-A32D-5F68742A9264}"/>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AD8C0237-2B6F-0935-54AB-1DA9761CDCBB}"/>
              </a:ext>
            </a:extLst>
          </p:cNvPr>
          <p:cNvSpPr txBox="1"/>
          <p:nvPr/>
        </p:nvSpPr>
        <p:spPr>
          <a:xfrm>
            <a:off x="2477069" y="1147171"/>
            <a:ext cx="4954136" cy="4570482"/>
          </a:xfrm>
          <a:prstGeom prst="rect">
            <a:avLst/>
          </a:prstGeom>
          <a:noFill/>
        </p:spPr>
        <p:txBody>
          <a:bodyPr wrap="square">
            <a:spAutoFit/>
          </a:bodyPr>
          <a:lstStyle/>
          <a:p>
            <a:pPr algn="l">
              <a:lnSpc>
                <a:spcPts val="2100"/>
              </a:lnSpc>
              <a:spcBef>
                <a:spcPts val="2400"/>
              </a:spcBef>
              <a:spcAft>
                <a:spcPts val="1800"/>
              </a:spcAft>
              <a:buNone/>
            </a:pPr>
            <a:r>
              <a:rPr lang="en-US" b="0" i="0" dirty="0">
                <a:solidFill>
                  <a:srgbClr val="272C37"/>
                </a:solidFill>
                <a:effectLst/>
                <a:latin typeface="Roboto" panose="02000000000000000000" pitchFamily="2" charset="0"/>
              </a:rPr>
              <a:t>22. What is the Geolocation API in HTML5?</a:t>
            </a:r>
          </a:p>
          <a:p>
            <a:pPr algn="just">
              <a:lnSpc>
                <a:spcPts val="2100"/>
              </a:lnSpc>
              <a:spcBef>
                <a:spcPts val="1650"/>
              </a:spcBef>
              <a:buNone/>
            </a:pPr>
            <a:r>
              <a:rPr lang="en-US" b="0" i="0" dirty="0">
                <a:solidFill>
                  <a:srgbClr val="3A3A3A"/>
                </a:solidFill>
                <a:effectLst/>
                <a:latin typeface="Roboto" panose="02000000000000000000" pitchFamily="2" charset="0"/>
              </a:rPr>
              <a:t>It allows websites to get the location (latitude, longitude) of the user with their permission.</a:t>
            </a:r>
          </a:p>
          <a:p>
            <a:pPr algn="just">
              <a:lnSpc>
                <a:spcPts val="2100"/>
              </a:lnSpc>
              <a:spcBef>
                <a:spcPts val="750"/>
              </a:spcBef>
              <a:buNone/>
            </a:pPr>
            <a:r>
              <a:rPr lang="en-US" b="0" i="0" dirty="0">
                <a:solidFill>
                  <a:srgbClr val="3A3A3A"/>
                </a:solidFill>
                <a:effectLst/>
                <a:latin typeface="Roboto" panose="02000000000000000000" pitchFamily="2" charset="0"/>
              </a:rPr>
              <a:t>Example:</a:t>
            </a:r>
          </a:p>
          <a:p>
            <a:pPr algn="l">
              <a:spcBef>
                <a:spcPts val="1125"/>
              </a:spcBef>
              <a:spcAft>
                <a:spcPts val="375"/>
              </a:spcAft>
              <a:buNone/>
            </a:pPr>
            <a:r>
              <a:rPr lang="en-US" b="0" i="0" dirty="0" err="1">
                <a:solidFill>
                  <a:srgbClr val="212529"/>
                </a:solidFill>
                <a:effectLst/>
                <a:latin typeface="Courier New" panose="02070309020205020404" pitchFamily="49" charset="0"/>
              </a:rPr>
              <a:t>navigator.geolocation.getCurrentPosition</a:t>
            </a:r>
            <a:r>
              <a:rPr lang="en-US" b="0" i="0" dirty="0">
                <a:solidFill>
                  <a:srgbClr val="212529"/>
                </a:solidFill>
                <a:effectLst/>
                <a:latin typeface="Courier New" panose="02070309020205020404" pitchFamily="49" charset="0"/>
              </a:rPr>
              <a:t>(function(position) {</a:t>
            </a:r>
          </a:p>
          <a:p>
            <a:pPr algn="l">
              <a:spcBef>
                <a:spcPts val="1125"/>
              </a:spcBef>
              <a:spcAft>
                <a:spcPts val="375"/>
              </a:spcAft>
              <a:buNone/>
            </a:pPr>
            <a:endParaRPr lang="en-US" b="0" i="0" dirty="0">
              <a:solidFill>
                <a:srgbClr val="212529"/>
              </a:solidFill>
              <a:effectLst/>
              <a:latin typeface="Courier New" panose="02070309020205020404" pitchFamily="49" charset="0"/>
            </a:endParaRPr>
          </a:p>
          <a:p>
            <a:pPr algn="l">
              <a:spcBef>
                <a:spcPts val="1125"/>
              </a:spcBef>
              <a:spcAft>
                <a:spcPts val="375"/>
              </a:spcAft>
              <a:buNone/>
            </a:pPr>
            <a:r>
              <a:rPr lang="en-US" b="0" i="0" dirty="0">
                <a:solidFill>
                  <a:srgbClr val="212529"/>
                </a:solidFill>
                <a:effectLst/>
                <a:latin typeface="Courier New" panose="02070309020205020404" pitchFamily="49" charset="0"/>
              </a:rPr>
              <a:t>  console.log(</a:t>
            </a:r>
            <a:r>
              <a:rPr lang="en-US" b="0" i="0" dirty="0" err="1">
                <a:solidFill>
                  <a:srgbClr val="212529"/>
                </a:solidFill>
                <a:effectLst/>
                <a:latin typeface="Courier New" panose="02070309020205020404" pitchFamily="49" charset="0"/>
              </a:rPr>
              <a:t>position.coords.latitude</a:t>
            </a:r>
            <a:r>
              <a:rPr lang="en-US" b="0" i="0" dirty="0">
                <a:solidFill>
                  <a:srgbClr val="212529"/>
                </a:solidFill>
                <a:effectLst/>
                <a:latin typeface="Courier New" panose="02070309020205020404" pitchFamily="49" charset="0"/>
              </a:rPr>
              <a:t>);</a:t>
            </a:r>
          </a:p>
          <a:p>
            <a:pPr algn="l">
              <a:spcBef>
                <a:spcPts val="1125"/>
              </a:spcBef>
              <a:spcAft>
                <a:spcPts val="375"/>
              </a:spcAft>
              <a:buNone/>
            </a:pPr>
            <a:endParaRPr lang="en-US" b="0" i="0" dirty="0">
              <a:solidFill>
                <a:srgbClr val="212529"/>
              </a:solidFill>
              <a:effectLst/>
              <a:latin typeface="Courier New" panose="02070309020205020404" pitchFamily="49" charset="0"/>
            </a:endParaRPr>
          </a:p>
          <a:p>
            <a:pPr algn="l">
              <a:spcBef>
                <a:spcPts val="1125"/>
              </a:spcBef>
              <a:spcAft>
                <a:spcPts val="375"/>
              </a:spcAft>
              <a:buNone/>
            </a:pPr>
            <a:r>
              <a:rPr lang="en-US" b="0" i="0" dirty="0">
                <a:solidFill>
                  <a:srgbClr val="212529"/>
                </a:solidFill>
                <a:effectLst/>
                <a:latin typeface="Courier New" panose="02070309020205020404" pitchFamily="49" charset="0"/>
              </a:rPr>
              <a:t>});</a:t>
            </a:r>
          </a:p>
        </p:txBody>
      </p:sp>
    </p:spTree>
    <p:extLst>
      <p:ext uri="{BB962C8B-B14F-4D97-AF65-F5344CB8AC3E}">
        <p14:creationId xmlns:p14="http://schemas.microsoft.com/office/powerpoint/2010/main" val="2996681962"/>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A433DC-6598-AE34-6561-657045E651C2}"/>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D9EB7F27-75B3-5B89-CAB6-BA6BBD49E344}"/>
              </a:ext>
            </a:extLst>
          </p:cNvPr>
          <p:cNvSpPr txBox="1"/>
          <p:nvPr/>
        </p:nvSpPr>
        <p:spPr>
          <a:xfrm>
            <a:off x="2477069" y="1347226"/>
            <a:ext cx="4954136" cy="4170372"/>
          </a:xfrm>
          <a:prstGeom prst="rect">
            <a:avLst/>
          </a:prstGeom>
          <a:noFill/>
        </p:spPr>
        <p:txBody>
          <a:bodyPr wrap="square">
            <a:spAutoFit/>
          </a:bodyPr>
          <a:lstStyle/>
          <a:p>
            <a:pPr algn="l">
              <a:lnSpc>
                <a:spcPts val="2100"/>
              </a:lnSpc>
              <a:spcBef>
                <a:spcPts val="2400"/>
              </a:spcBef>
              <a:spcAft>
                <a:spcPts val="1800"/>
              </a:spcAft>
              <a:buNone/>
            </a:pPr>
            <a:r>
              <a:rPr lang="en-US" b="0" i="0" dirty="0">
                <a:solidFill>
                  <a:srgbClr val="272C37"/>
                </a:solidFill>
                <a:effectLst/>
                <a:latin typeface="Roboto" panose="02000000000000000000" pitchFamily="2" charset="0"/>
              </a:rPr>
              <a:t>23. What are some advantages of HTML5 over its previous versions?</a:t>
            </a:r>
          </a:p>
          <a:p>
            <a:pPr algn="just">
              <a:lnSpc>
                <a:spcPts val="2100"/>
              </a:lnSpc>
              <a:spcBef>
                <a:spcPts val="1650"/>
              </a:spcBef>
              <a:spcAft>
                <a:spcPts val="600"/>
              </a:spcAft>
              <a:buFont typeface="Arial" panose="020B0604020202020204" pitchFamily="34" charset="0"/>
              <a:buChar char="•"/>
            </a:pPr>
            <a:r>
              <a:rPr lang="en-US" b="0" i="0" dirty="0">
                <a:solidFill>
                  <a:srgbClr val="3A3A3A"/>
                </a:solidFill>
                <a:effectLst/>
                <a:latin typeface="Roboto" panose="02000000000000000000" pitchFamily="2" charset="0"/>
              </a:rPr>
              <a:t>Better support for multimedia (audio, video)</a:t>
            </a:r>
          </a:p>
          <a:p>
            <a:pPr algn="just">
              <a:lnSpc>
                <a:spcPts val="2100"/>
              </a:lnSpc>
              <a:spcBef>
                <a:spcPts val="1650"/>
              </a:spcBef>
              <a:spcAft>
                <a:spcPts val="600"/>
              </a:spcAft>
              <a:buFont typeface="Arial" panose="020B0604020202020204" pitchFamily="34" charset="0"/>
              <a:buChar char="•"/>
            </a:pPr>
            <a:r>
              <a:rPr lang="en-US" b="0" i="0" dirty="0">
                <a:solidFill>
                  <a:srgbClr val="3A3A3A"/>
                </a:solidFill>
                <a:effectLst/>
                <a:latin typeface="Roboto" panose="02000000000000000000" pitchFamily="2" charset="0"/>
              </a:rPr>
              <a:t>New form controls (like date, range)</a:t>
            </a:r>
          </a:p>
          <a:p>
            <a:pPr algn="just">
              <a:lnSpc>
                <a:spcPts val="2100"/>
              </a:lnSpc>
              <a:spcBef>
                <a:spcPts val="1650"/>
              </a:spcBef>
              <a:spcAft>
                <a:spcPts val="600"/>
              </a:spcAft>
              <a:buFont typeface="Arial" panose="020B0604020202020204" pitchFamily="34" charset="0"/>
              <a:buChar char="•"/>
            </a:pPr>
            <a:r>
              <a:rPr lang="en-US" b="0" i="0" dirty="0">
                <a:solidFill>
                  <a:srgbClr val="3A3A3A"/>
                </a:solidFill>
                <a:effectLst/>
                <a:latin typeface="Roboto" panose="02000000000000000000" pitchFamily="2" charset="0"/>
              </a:rPr>
              <a:t>Semantic tags (&lt;article&gt;, &lt;section&gt;)</a:t>
            </a:r>
          </a:p>
          <a:p>
            <a:pPr algn="just">
              <a:lnSpc>
                <a:spcPts val="2100"/>
              </a:lnSpc>
              <a:spcBef>
                <a:spcPts val="1650"/>
              </a:spcBef>
              <a:spcAft>
                <a:spcPts val="600"/>
              </a:spcAft>
              <a:buFont typeface="Arial" panose="020B0604020202020204" pitchFamily="34" charset="0"/>
              <a:buChar char="•"/>
            </a:pPr>
            <a:r>
              <a:rPr lang="en-US" b="0" i="0" dirty="0">
                <a:solidFill>
                  <a:srgbClr val="3A3A3A"/>
                </a:solidFill>
                <a:effectLst/>
                <a:latin typeface="Roboto" panose="02000000000000000000" pitchFamily="2" charset="0"/>
              </a:rPr>
              <a:t>Local storage (no need for cookies)</a:t>
            </a:r>
          </a:p>
          <a:p>
            <a:pPr algn="just">
              <a:lnSpc>
                <a:spcPts val="2100"/>
              </a:lnSpc>
              <a:spcBef>
                <a:spcPts val="1650"/>
              </a:spcBef>
              <a:spcAft>
                <a:spcPts val="600"/>
              </a:spcAft>
              <a:buFont typeface="Arial" panose="020B0604020202020204" pitchFamily="34" charset="0"/>
              <a:buChar char="•"/>
            </a:pPr>
            <a:r>
              <a:rPr lang="en-US" b="0" i="0" dirty="0">
                <a:solidFill>
                  <a:srgbClr val="3A3A3A"/>
                </a:solidFill>
                <a:effectLst/>
                <a:latin typeface="Roboto" panose="02000000000000000000" pitchFamily="2" charset="0"/>
              </a:rPr>
              <a:t>Mobile-friendly and faster performance</a:t>
            </a:r>
          </a:p>
          <a:p>
            <a:pPr algn="just">
              <a:lnSpc>
                <a:spcPts val="2100"/>
              </a:lnSpc>
              <a:spcBef>
                <a:spcPts val="1650"/>
              </a:spcBef>
              <a:spcAft>
                <a:spcPts val="600"/>
              </a:spcAft>
              <a:buFont typeface="Arial" panose="020B0604020202020204" pitchFamily="34" charset="0"/>
              <a:buChar char="•"/>
            </a:pPr>
            <a:r>
              <a:rPr lang="en-US" b="0" i="0" dirty="0">
                <a:solidFill>
                  <a:srgbClr val="3A3A3A"/>
                </a:solidFill>
                <a:effectLst/>
                <a:latin typeface="Roboto" panose="02000000000000000000" pitchFamily="2" charset="0"/>
              </a:rPr>
              <a:t>APIs like Geolocation, Web Storage, Canvas</a:t>
            </a:r>
          </a:p>
        </p:txBody>
      </p:sp>
    </p:spTree>
    <p:extLst>
      <p:ext uri="{BB962C8B-B14F-4D97-AF65-F5344CB8AC3E}">
        <p14:creationId xmlns:p14="http://schemas.microsoft.com/office/powerpoint/2010/main" val="2906076028"/>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AA9814-5741-BF68-57BD-61191B08B0D3}"/>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2AEA46C1-05ED-2CA9-928A-02CACA0936A4}"/>
              </a:ext>
            </a:extLst>
          </p:cNvPr>
          <p:cNvSpPr txBox="1"/>
          <p:nvPr/>
        </p:nvSpPr>
        <p:spPr>
          <a:xfrm>
            <a:off x="2477069" y="344387"/>
            <a:ext cx="4954136" cy="6176050"/>
          </a:xfrm>
          <a:prstGeom prst="rect">
            <a:avLst/>
          </a:prstGeom>
          <a:noFill/>
        </p:spPr>
        <p:txBody>
          <a:bodyPr wrap="square">
            <a:spAutoFit/>
          </a:bodyPr>
          <a:lstStyle/>
          <a:p>
            <a:pPr algn="l">
              <a:lnSpc>
                <a:spcPts val="2100"/>
              </a:lnSpc>
              <a:spcBef>
                <a:spcPts val="2400"/>
              </a:spcBef>
              <a:spcAft>
                <a:spcPts val="1800"/>
              </a:spcAft>
              <a:buNone/>
            </a:pPr>
            <a:r>
              <a:rPr lang="en-US" b="0" i="0" dirty="0">
                <a:solidFill>
                  <a:srgbClr val="272C37"/>
                </a:solidFill>
                <a:effectLst/>
                <a:latin typeface="Roboto" panose="02000000000000000000" pitchFamily="2" charset="0"/>
              </a:rPr>
              <a:t>24. How is the &lt;mark&gt; tag used in HTML5?</a:t>
            </a:r>
          </a:p>
          <a:p>
            <a:pPr algn="just">
              <a:lnSpc>
                <a:spcPts val="2100"/>
              </a:lnSpc>
              <a:spcBef>
                <a:spcPts val="1650"/>
              </a:spcBef>
              <a:buNone/>
            </a:pPr>
            <a:r>
              <a:rPr lang="en-US" b="0" i="0" dirty="0">
                <a:solidFill>
                  <a:srgbClr val="3A3A3A"/>
                </a:solidFill>
                <a:effectLst/>
                <a:latin typeface="Roboto" panose="02000000000000000000" pitchFamily="2" charset="0"/>
              </a:rPr>
              <a:t>The &lt;mark&gt; tag is used to highlight or mark important text (like search keywords).</a:t>
            </a:r>
          </a:p>
          <a:p>
            <a:pPr algn="just">
              <a:lnSpc>
                <a:spcPts val="2100"/>
              </a:lnSpc>
              <a:spcBef>
                <a:spcPts val="750"/>
              </a:spcBef>
              <a:buNone/>
            </a:pPr>
            <a:r>
              <a:rPr lang="en-US" b="0" i="0" dirty="0">
                <a:solidFill>
                  <a:srgbClr val="3A3A3A"/>
                </a:solidFill>
                <a:effectLst/>
                <a:latin typeface="Roboto" panose="02000000000000000000" pitchFamily="2" charset="0"/>
              </a:rPr>
              <a:t>Example:</a:t>
            </a:r>
          </a:p>
          <a:p>
            <a:pPr algn="l">
              <a:spcBef>
                <a:spcPts val="1125"/>
              </a:spcBef>
              <a:spcAft>
                <a:spcPts val="375"/>
              </a:spcAft>
              <a:buNone/>
            </a:pPr>
            <a:r>
              <a:rPr lang="en-US" b="0" i="0" dirty="0">
                <a:solidFill>
                  <a:srgbClr val="212529"/>
                </a:solidFill>
                <a:effectLst/>
                <a:latin typeface="Courier New" panose="02070309020205020404" pitchFamily="49" charset="0"/>
              </a:rPr>
              <a:t>&lt;p&gt;Search result for &lt;mark&gt;HTML5&lt;/mark&gt;.&lt;/p&gt;</a:t>
            </a:r>
          </a:p>
          <a:p>
            <a:pPr algn="l">
              <a:lnSpc>
                <a:spcPts val="2100"/>
              </a:lnSpc>
              <a:spcBef>
                <a:spcPts val="2400"/>
              </a:spcBef>
              <a:spcAft>
                <a:spcPts val="1800"/>
              </a:spcAft>
              <a:buNone/>
            </a:pPr>
            <a:r>
              <a:rPr lang="en-US" b="0" i="0" dirty="0">
                <a:solidFill>
                  <a:srgbClr val="272C37"/>
                </a:solidFill>
                <a:effectLst/>
                <a:latin typeface="Roboto" panose="02000000000000000000" pitchFamily="2" charset="0"/>
              </a:rPr>
              <a:t>25. What is the purpose of the &lt;time&gt; element in HTML5?</a:t>
            </a:r>
          </a:p>
          <a:p>
            <a:pPr algn="just">
              <a:lnSpc>
                <a:spcPts val="2100"/>
              </a:lnSpc>
              <a:spcBef>
                <a:spcPts val="1650"/>
              </a:spcBef>
              <a:buNone/>
            </a:pPr>
            <a:r>
              <a:rPr lang="en-US" b="0" i="0" dirty="0">
                <a:solidFill>
                  <a:srgbClr val="3A3A3A"/>
                </a:solidFill>
                <a:effectLst/>
                <a:latin typeface="Roboto" panose="02000000000000000000" pitchFamily="2" charset="0"/>
              </a:rPr>
              <a:t>The &lt;time&gt; tag is used to represent a date, time, or duration. It can help search engines and browsers understand the time-related content.</a:t>
            </a:r>
          </a:p>
          <a:p>
            <a:pPr algn="just">
              <a:lnSpc>
                <a:spcPts val="2100"/>
              </a:lnSpc>
              <a:spcBef>
                <a:spcPts val="750"/>
              </a:spcBef>
              <a:buNone/>
            </a:pPr>
            <a:r>
              <a:rPr lang="en-US" b="0" i="0" dirty="0">
                <a:solidFill>
                  <a:srgbClr val="3A3A3A"/>
                </a:solidFill>
                <a:effectLst/>
                <a:latin typeface="Roboto" panose="02000000000000000000" pitchFamily="2" charset="0"/>
              </a:rPr>
              <a:t>Example:</a:t>
            </a:r>
          </a:p>
          <a:p>
            <a:pPr algn="l">
              <a:spcBef>
                <a:spcPts val="1125"/>
              </a:spcBef>
              <a:spcAft>
                <a:spcPts val="375"/>
              </a:spcAft>
              <a:buNone/>
            </a:pPr>
            <a:r>
              <a:rPr lang="en-US" b="0" i="0" dirty="0">
                <a:solidFill>
                  <a:srgbClr val="212529"/>
                </a:solidFill>
                <a:effectLst/>
                <a:latin typeface="Courier New" panose="02070309020205020404" pitchFamily="49" charset="0"/>
              </a:rPr>
              <a:t>&lt;time datetime="2025-05-26"&gt;May 26, 2025&lt;/time&gt;</a:t>
            </a:r>
          </a:p>
        </p:txBody>
      </p:sp>
    </p:spTree>
    <p:extLst>
      <p:ext uri="{BB962C8B-B14F-4D97-AF65-F5344CB8AC3E}">
        <p14:creationId xmlns:p14="http://schemas.microsoft.com/office/powerpoint/2010/main" val="4026452982"/>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6B12D9-7743-8E75-BF87-F74CE415798D}"/>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DC9197F6-CD60-1A91-969E-EEB07133AFCE}"/>
              </a:ext>
            </a:extLst>
          </p:cNvPr>
          <p:cNvSpPr txBox="1"/>
          <p:nvPr/>
        </p:nvSpPr>
        <p:spPr>
          <a:xfrm>
            <a:off x="2477069" y="-3506667"/>
            <a:ext cx="4954136" cy="13878158"/>
          </a:xfrm>
          <a:prstGeom prst="rect">
            <a:avLst/>
          </a:prstGeom>
          <a:noFill/>
        </p:spPr>
        <p:txBody>
          <a:bodyPr wrap="square">
            <a:spAutoFit/>
          </a:bodyPr>
          <a:lstStyle/>
          <a:p>
            <a:pPr algn="l">
              <a:lnSpc>
                <a:spcPts val="1800"/>
              </a:lnSpc>
              <a:spcAft>
                <a:spcPts val="1500"/>
              </a:spcAft>
              <a:buNone/>
            </a:pPr>
            <a:r>
              <a:rPr lang="en-US" b="0" i="0" dirty="0">
                <a:solidFill>
                  <a:srgbClr val="3A3A3A"/>
                </a:solidFill>
                <a:effectLst/>
                <a:latin typeface="Roboto" panose="02000000000000000000" pitchFamily="2" charset="0"/>
              </a:rPr>
              <a:t>Frequently Asked Questions</a:t>
            </a:r>
          </a:p>
          <a:p>
            <a:pPr algn="l">
              <a:lnSpc>
                <a:spcPts val="2100"/>
              </a:lnSpc>
              <a:spcBef>
                <a:spcPts val="1500"/>
              </a:spcBef>
              <a:spcAft>
                <a:spcPts val="750"/>
              </a:spcAft>
              <a:buNone/>
            </a:pPr>
            <a:r>
              <a:rPr lang="en-US" b="1" i="0" dirty="0">
                <a:solidFill>
                  <a:srgbClr val="3A3A3A"/>
                </a:solidFill>
                <a:effectLst/>
                <a:latin typeface="Roboto" panose="02000000000000000000" pitchFamily="2" charset="0"/>
              </a:rPr>
              <a:t>Q1. What is the difference between HTML elements and HTML tags?</a:t>
            </a:r>
          </a:p>
          <a:p>
            <a:pPr algn="just">
              <a:lnSpc>
                <a:spcPts val="2100"/>
              </a:lnSpc>
              <a:spcBef>
                <a:spcPts val="1650"/>
              </a:spcBef>
              <a:spcAft>
                <a:spcPts val="750"/>
              </a:spcAft>
              <a:buNone/>
            </a:pPr>
            <a:r>
              <a:rPr lang="en-US" b="0" i="0" dirty="0">
                <a:solidFill>
                  <a:srgbClr val="3A3A3A"/>
                </a:solidFill>
                <a:effectLst/>
                <a:latin typeface="Roboto" panose="02000000000000000000" pitchFamily="2" charset="0"/>
              </a:rPr>
              <a:t>HTML tags are the code syntax enclosed in angle brackets, while elements include the tags and the content inside them.</a:t>
            </a:r>
          </a:p>
          <a:p>
            <a:pPr algn="l">
              <a:lnSpc>
                <a:spcPts val="2100"/>
              </a:lnSpc>
              <a:spcBef>
                <a:spcPts val="1500"/>
              </a:spcBef>
              <a:spcAft>
                <a:spcPts val="750"/>
              </a:spcAft>
              <a:buNone/>
            </a:pPr>
            <a:r>
              <a:rPr lang="en-US" b="1" i="0" dirty="0">
                <a:solidFill>
                  <a:srgbClr val="3A3A3A"/>
                </a:solidFill>
                <a:effectLst/>
                <a:latin typeface="Roboto" panose="02000000000000000000" pitchFamily="2" charset="0"/>
              </a:rPr>
              <a:t>Q2.Why is the DOCTYPE declaration important in HTML?</a:t>
            </a:r>
          </a:p>
          <a:p>
            <a:pPr algn="just">
              <a:lnSpc>
                <a:spcPts val="2100"/>
              </a:lnSpc>
              <a:spcBef>
                <a:spcPts val="1650"/>
              </a:spcBef>
              <a:spcAft>
                <a:spcPts val="750"/>
              </a:spcAft>
              <a:buNone/>
            </a:pPr>
            <a:r>
              <a:rPr lang="en-US" b="0" i="0" dirty="0">
                <a:solidFill>
                  <a:srgbClr val="3A3A3A"/>
                </a:solidFill>
                <a:effectLst/>
                <a:latin typeface="Roboto" panose="02000000000000000000" pitchFamily="2" charset="0"/>
              </a:rPr>
              <a:t>The DOCTYPE declaration tells the browser which version of HTML the document is written in.</a:t>
            </a:r>
          </a:p>
          <a:p>
            <a:pPr algn="l">
              <a:lnSpc>
                <a:spcPts val="2100"/>
              </a:lnSpc>
              <a:spcBef>
                <a:spcPts val="1500"/>
              </a:spcBef>
              <a:spcAft>
                <a:spcPts val="750"/>
              </a:spcAft>
              <a:buNone/>
            </a:pPr>
            <a:r>
              <a:rPr lang="en-US" b="1" i="0" dirty="0">
                <a:solidFill>
                  <a:srgbClr val="3A3A3A"/>
                </a:solidFill>
                <a:effectLst/>
                <a:latin typeface="Roboto" panose="02000000000000000000" pitchFamily="2" charset="0"/>
              </a:rPr>
              <a:t>Q3. What is the difference between inline and block-level elements in HTML?</a:t>
            </a:r>
          </a:p>
          <a:p>
            <a:pPr algn="just">
              <a:lnSpc>
                <a:spcPts val="2100"/>
              </a:lnSpc>
              <a:spcBef>
                <a:spcPts val="1650"/>
              </a:spcBef>
              <a:spcAft>
                <a:spcPts val="750"/>
              </a:spcAft>
              <a:buNone/>
            </a:pPr>
            <a:r>
              <a:rPr lang="en-US" b="0" i="0" dirty="0">
                <a:solidFill>
                  <a:srgbClr val="3A3A3A"/>
                </a:solidFill>
                <a:effectLst/>
                <a:latin typeface="Roboto" panose="02000000000000000000" pitchFamily="2" charset="0"/>
              </a:rPr>
              <a:t>Inline elements don’t start on a new line, while block-level elements always start on a new line and take full width.</a:t>
            </a:r>
          </a:p>
          <a:p>
            <a:pPr algn="l">
              <a:lnSpc>
                <a:spcPts val="2100"/>
              </a:lnSpc>
              <a:spcBef>
                <a:spcPts val="1500"/>
              </a:spcBef>
              <a:spcAft>
                <a:spcPts val="750"/>
              </a:spcAft>
              <a:buNone/>
            </a:pPr>
            <a:r>
              <a:rPr lang="en-US" b="1" i="0" dirty="0">
                <a:solidFill>
                  <a:srgbClr val="3A3A3A"/>
                </a:solidFill>
                <a:effectLst/>
                <a:latin typeface="Roboto" panose="02000000000000000000" pitchFamily="2" charset="0"/>
              </a:rPr>
              <a:t>Q4. What is the purpose of the meta tag in HTML?</a:t>
            </a:r>
          </a:p>
          <a:p>
            <a:pPr algn="just">
              <a:lnSpc>
                <a:spcPts val="2100"/>
              </a:lnSpc>
              <a:spcBef>
                <a:spcPts val="1650"/>
              </a:spcBef>
              <a:spcAft>
                <a:spcPts val="750"/>
              </a:spcAft>
              <a:buNone/>
            </a:pPr>
            <a:r>
              <a:rPr lang="en-US" b="0" i="0" dirty="0">
                <a:solidFill>
                  <a:srgbClr val="3A3A3A"/>
                </a:solidFill>
                <a:effectLst/>
                <a:latin typeface="Roboto" panose="02000000000000000000" pitchFamily="2" charset="0"/>
              </a:rPr>
              <a:t>The meta tag provides metadata about the web page, like its description, keywords, and character encoding.</a:t>
            </a:r>
          </a:p>
          <a:p>
            <a:pPr algn="l">
              <a:lnSpc>
                <a:spcPts val="2100"/>
              </a:lnSpc>
              <a:spcBef>
                <a:spcPts val="1500"/>
              </a:spcBef>
              <a:spcAft>
                <a:spcPts val="750"/>
              </a:spcAft>
              <a:buNone/>
            </a:pPr>
            <a:r>
              <a:rPr lang="en-US" b="1" i="0" dirty="0">
                <a:solidFill>
                  <a:srgbClr val="3A3A3A"/>
                </a:solidFill>
                <a:effectLst/>
                <a:latin typeface="Roboto" panose="02000000000000000000" pitchFamily="2" charset="0"/>
              </a:rPr>
              <a:t>Q5. What is semantic HTML?</a:t>
            </a:r>
          </a:p>
          <a:p>
            <a:pPr algn="just">
              <a:lnSpc>
                <a:spcPts val="2100"/>
              </a:lnSpc>
              <a:spcBef>
                <a:spcPts val="1650"/>
              </a:spcBef>
              <a:spcAft>
                <a:spcPts val="750"/>
              </a:spcAft>
              <a:buNone/>
            </a:pPr>
            <a:r>
              <a:rPr lang="en-US" b="0" i="0" dirty="0">
                <a:solidFill>
                  <a:srgbClr val="3A3A3A"/>
                </a:solidFill>
                <a:effectLst/>
                <a:latin typeface="Roboto" panose="02000000000000000000" pitchFamily="2" charset="0"/>
              </a:rPr>
              <a:t>Semantic HTML is the use of HTML tags that clearly describe the meaning and purpose of the content, like &lt;header&gt;, &lt;article&gt;, or &lt;footer&gt;.</a:t>
            </a:r>
          </a:p>
          <a:p>
            <a:pPr algn="l">
              <a:lnSpc>
                <a:spcPts val="2100"/>
              </a:lnSpc>
              <a:spcBef>
                <a:spcPts val="1500"/>
              </a:spcBef>
              <a:spcAft>
                <a:spcPts val="750"/>
              </a:spcAft>
              <a:buNone/>
            </a:pPr>
            <a:r>
              <a:rPr lang="en-US" b="1" i="0" dirty="0">
                <a:solidFill>
                  <a:srgbClr val="3A3A3A"/>
                </a:solidFill>
                <a:effectLst/>
                <a:latin typeface="Roboto" panose="02000000000000000000" pitchFamily="2" charset="0"/>
              </a:rPr>
              <a:t>Q6. What is lazy loading in HTML?</a:t>
            </a:r>
          </a:p>
          <a:p>
            <a:pPr algn="just">
              <a:lnSpc>
                <a:spcPts val="2100"/>
              </a:lnSpc>
              <a:spcBef>
                <a:spcPts val="1650"/>
              </a:spcBef>
              <a:spcAft>
                <a:spcPts val="750"/>
              </a:spcAft>
              <a:buNone/>
            </a:pPr>
            <a:r>
              <a:rPr lang="en-US" b="0" i="0" dirty="0">
                <a:solidFill>
                  <a:srgbClr val="3A3A3A"/>
                </a:solidFill>
                <a:effectLst/>
                <a:latin typeface="Roboto" panose="02000000000000000000" pitchFamily="2" charset="0"/>
              </a:rPr>
              <a:t>Lazy loading delays the loading of images or </a:t>
            </a:r>
            <a:r>
              <a:rPr lang="en-US" b="0" i="0" dirty="0" err="1">
                <a:solidFill>
                  <a:srgbClr val="3A3A3A"/>
                </a:solidFill>
                <a:effectLst/>
                <a:latin typeface="Roboto" panose="02000000000000000000" pitchFamily="2" charset="0"/>
              </a:rPr>
              <a:t>iframes</a:t>
            </a:r>
            <a:r>
              <a:rPr lang="en-US" b="0" i="0" dirty="0">
                <a:solidFill>
                  <a:srgbClr val="3A3A3A"/>
                </a:solidFill>
                <a:effectLst/>
                <a:latin typeface="Roboto" panose="02000000000000000000" pitchFamily="2" charset="0"/>
              </a:rPr>
              <a:t> until they are about to appear on the user’s screen, improving performance.</a:t>
            </a:r>
          </a:p>
          <a:p>
            <a:pPr algn="l">
              <a:lnSpc>
                <a:spcPts val="2100"/>
              </a:lnSpc>
              <a:spcBef>
                <a:spcPts val="1500"/>
              </a:spcBef>
              <a:spcAft>
                <a:spcPts val="750"/>
              </a:spcAft>
              <a:buNone/>
            </a:pPr>
            <a:r>
              <a:rPr lang="en-US" b="1" i="0" dirty="0">
                <a:solidFill>
                  <a:srgbClr val="3A3A3A"/>
                </a:solidFill>
                <a:effectLst/>
                <a:latin typeface="Roboto" panose="02000000000000000000" pitchFamily="2" charset="0"/>
              </a:rPr>
              <a:t>Q7. What is the purpose of the data-* attribute in HTML5?</a:t>
            </a:r>
          </a:p>
          <a:p>
            <a:pPr algn="just">
              <a:lnSpc>
                <a:spcPts val="2100"/>
              </a:lnSpc>
              <a:spcBef>
                <a:spcPts val="1650"/>
              </a:spcBef>
              <a:spcAft>
                <a:spcPts val="750"/>
              </a:spcAft>
              <a:buNone/>
            </a:pPr>
            <a:r>
              <a:rPr lang="en-US" b="0" i="0" dirty="0">
                <a:solidFill>
                  <a:srgbClr val="3A3A3A"/>
                </a:solidFill>
                <a:effectLst/>
                <a:latin typeface="Roboto" panose="02000000000000000000" pitchFamily="2" charset="0"/>
              </a:rPr>
              <a:t>The data-* attribute is used to store custom data in HTML elements that can be accessed via JavaScript.</a:t>
            </a:r>
          </a:p>
        </p:txBody>
      </p:sp>
    </p:spTree>
    <p:extLst>
      <p:ext uri="{BB962C8B-B14F-4D97-AF65-F5344CB8AC3E}">
        <p14:creationId xmlns:p14="http://schemas.microsoft.com/office/powerpoint/2010/main" val="2317473069"/>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BC3C42-195E-1AA6-666E-9DDDDC7291C4}"/>
            </a:ext>
          </a:extLst>
        </p:cNvPr>
        <p:cNvGrpSpPr/>
        <p:nvPr/>
      </p:nvGrpSpPr>
      <p:grpSpPr>
        <a:xfrm>
          <a:off x="0" y="0"/>
          <a:ext cx="0" cy="0"/>
          <a:chOff x="0" y="0"/>
          <a:chExt cx="0" cy="0"/>
        </a:xfrm>
      </p:grpSpPr>
    </p:spTree>
    <p:extLst>
      <p:ext uri="{BB962C8B-B14F-4D97-AF65-F5344CB8AC3E}">
        <p14:creationId xmlns:p14="http://schemas.microsoft.com/office/powerpoint/2010/main" val="520146734"/>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FDCFC9-20DE-11FF-066F-212F321A7C1B}"/>
            </a:ext>
          </a:extLst>
        </p:cNvPr>
        <p:cNvGrpSpPr/>
        <p:nvPr/>
      </p:nvGrpSpPr>
      <p:grpSpPr>
        <a:xfrm>
          <a:off x="0" y="0"/>
          <a:ext cx="0" cy="0"/>
          <a:chOff x="0" y="0"/>
          <a:chExt cx="0" cy="0"/>
        </a:xfrm>
      </p:grpSpPr>
    </p:spTree>
    <p:extLst>
      <p:ext uri="{BB962C8B-B14F-4D97-AF65-F5344CB8AC3E}">
        <p14:creationId xmlns:p14="http://schemas.microsoft.com/office/powerpoint/2010/main" val="753765414"/>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73B9AB-DD08-57A9-3937-3178F40B8ABB}"/>
            </a:ext>
          </a:extLst>
        </p:cNvPr>
        <p:cNvGrpSpPr/>
        <p:nvPr/>
      </p:nvGrpSpPr>
      <p:grpSpPr>
        <a:xfrm>
          <a:off x="0" y="0"/>
          <a:ext cx="0" cy="0"/>
          <a:chOff x="0" y="0"/>
          <a:chExt cx="0" cy="0"/>
        </a:xfrm>
      </p:grpSpPr>
    </p:spTree>
    <p:extLst>
      <p:ext uri="{BB962C8B-B14F-4D97-AF65-F5344CB8AC3E}">
        <p14:creationId xmlns:p14="http://schemas.microsoft.com/office/powerpoint/2010/main" val="4082034084"/>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931B59-6FFA-DE4E-A87E-7C2F448F358F}"/>
            </a:ext>
          </a:extLst>
        </p:cNvPr>
        <p:cNvGrpSpPr/>
        <p:nvPr/>
      </p:nvGrpSpPr>
      <p:grpSpPr>
        <a:xfrm>
          <a:off x="0" y="0"/>
          <a:ext cx="0" cy="0"/>
          <a:chOff x="0" y="0"/>
          <a:chExt cx="0" cy="0"/>
        </a:xfrm>
      </p:grpSpPr>
    </p:spTree>
    <p:extLst>
      <p:ext uri="{BB962C8B-B14F-4D97-AF65-F5344CB8AC3E}">
        <p14:creationId xmlns:p14="http://schemas.microsoft.com/office/powerpoint/2010/main" val="1589381589"/>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2A4660-17B1-E4B5-CE8C-A6BA4F033429}"/>
            </a:ext>
          </a:extLst>
        </p:cNvPr>
        <p:cNvGrpSpPr/>
        <p:nvPr/>
      </p:nvGrpSpPr>
      <p:grpSpPr>
        <a:xfrm>
          <a:off x="0" y="0"/>
          <a:ext cx="0" cy="0"/>
          <a:chOff x="0" y="0"/>
          <a:chExt cx="0" cy="0"/>
        </a:xfrm>
      </p:grpSpPr>
    </p:spTree>
    <p:extLst>
      <p:ext uri="{BB962C8B-B14F-4D97-AF65-F5344CB8AC3E}">
        <p14:creationId xmlns:p14="http://schemas.microsoft.com/office/powerpoint/2010/main" val="2030845308"/>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0D92DC-5F54-1150-3E2B-D0217D6B462B}"/>
            </a:ext>
          </a:extLst>
        </p:cNvPr>
        <p:cNvGrpSpPr/>
        <p:nvPr/>
      </p:nvGrpSpPr>
      <p:grpSpPr>
        <a:xfrm>
          <a:off x="0" y="0"/>
          <a:ext cx="0" cy="0"/>
          <a:chOff x="0" y="0"/>
          <a:chExt cx="0" cy="0"/>
        </a:xfrm>
      </p:grpSpPr>
    </p:spTree>
    <p:extLst>
      <p:ext uri="{BB962C8B-B14F-4D97-AF65-F5344CB8AC3E}">
        <p14:creationId xmlns:p14="http://schemas.microsoft.com/office/powerpoint/2010/main" val="939417560"/>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E69C64-8DDE-13EF-04ED-E030FEAF9144}"/>
            </a:ext>
          </a:extLst>
        </p:cNvPr>
        <p:cNvGrpSpPr/>
        <p:nvPr/>
      </p:nvGrpSpPr>
      <p:grpSpPr>
        <a:xfrm>
          <a:off x="0" y="0"/>
          <a:ext cx="0" cy="0"/>
          <a:chOff x="0" y="0"/>
          <a:chExt cx="0" cy="0"/>
        </a:xfrm>
      </p:grpSpPr>
    </p:spTree>
    <p:extLst>
      <p:ext uri="{BB962C8B-B14F-4D97-AF65-F5344CB8AC3E}">
        <p14:creationId xmlns:p14="http://schemas.microsoft.com/office/powerpoint/2010/main" val="519649389"/>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E08D3A-A235-1877-D051-FCC3A9ADADB6}"/>
            </a:ext>
          </a:extLst>
        </p:cNvPr>
        <p:cNvGrpSpPr/>
        <p:nvPr/>
      </p:nvGrpSpPr>
      <p:grpSpPr>
        <a:xfrm>
          <a:off x="0" y="0"/>
          <a:ext cx="0" cy="0"/>
          <a:chOff x="0" y="0"/>
          <a:chExt cx="0" cy="0"/>
        </a:xfrm>
      </p:grpSpPr>
    </p:spTree>
    <p:extLst>
      <p:ext uri="{BB962C8B-B14F-4D97-AF65-F5344CB8AC3E}">
        <p14:creationId xmlns:p14="http://schemas.microsoft.com/office/powerpoint/2010/main" val="1897634299"/>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F26905-7CCD-FCB2-1A7E-E8BB36BCA071}"/>
            </a:ext>
          </a:extLst>
        </p:cNvPr>
        <p:cNvGrpSpPr/>
        <p:nvPr/>
      </p:nvGrpSpPr>
      <p:grpSpPr>
        <a:xfrm>
          <a:off x="0" y="0"/>
          <a:ext cx="0" cy="0"/>
          <a:chOff x="0" y="0"/>
          <a:chExt cx="0" cy="0"/>
        </a:xfrm>
      </p:grpSpPr>
    </p:spTree>
    <p:extLst>
      <p:ext uri="{BB962C8B-B14F-4D97-AF65-F5344CB8AC3E}">
        <p14:creationId xmlns:p14="http://schemas.microsoft.com/office/powerpoint/2010/main" val="1654257372"/>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56F266-AAFE-19DB-00DC-19E75491FCA9}"/>
            </a:ext>
          </a:extLst>
        </p:cNvPr>
        <p:cNvGrpSpPr/>
        <p:nvPr/>
      </p:nvGrpSpPr>
      <p:grpSpPr>
        <a:xfrm>
          <a:off x="0" y="0"/>
          <a:ext cx="0" cy="0"/>
          <a:chOff x="0" y="0"/>
          <a:chExt cx="0" cy="0"/>
        </a:xfrm>
      </p:grpSpPr>
    </p:spTree>
    <p:extLst>
      <p:ext uri="{BB962C8B-B14F-4D97-AF65-F5344CB8AC3E}">
        <p14:creationId xmlns:p14="http://schemas.microsoft.com/office/powerpoint/2010/main" val="793219724"/>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90D1BF-A172-3FF0-903F-2AD081E8C22D}"/>
            </a:ext>
          </a:extLst>
        </p:cNvPr>
        <p:cNvGrpSpPr/>
        <p:nvPr/>
      </p:nvGrpSpPr>
      <p:grpSpPr>
        <a:xfrm>
          <a:off x="0" y="0"/>
          <a:ext cx="0" cy="0"/>
          <a:chOff x="0" y="0"/>
          <a:chExt cx="0" cy="0"/>
        </a:xfrm>
      </p:grpSpPr>
    </p:spTree>
    <p:extLst>
      <p:ext uri="{BB962C8B-B14F-4D97-AF65-F5344CB8AC3E}">
        <p14:creationId xmlns:p14="http://schemas.microsoft.com/office/powerpoint/2010/main" val="345403714"/>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370E42-E71B-A766-657B-A4466062A4CE}"/>
            </a:ext>
          </a:extLst>
        </p:cNvPr>
        <p:cNvGrpSpPr/>
        <p:nvPr/>
      </p:nvGrpSpPr>
      <p:grpSpPr>
        <a:xfrm>
          <a:off x="0" y="0"/>
          <a:ext cx="0" cy="0"/>
          <a:chOff x="0" y="0"/>
          <a:chExt cx="0" cy="0"/>
        </a:xfrm>
      </p:grpSpPr>
    </p:spTree>
    <p:extLst>
      <p:ext uri="{BB962C8B-B14F-4D97-AF65-F5344CB8AC3E}">
        <p14:creationId xmlns:p14="http://schemas.microsoft.com/office/powerpoint/2010/main" val="1015820187"/>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AE7962-935A-C6CA-3B98-1DCA176402AB}"/>
            </a:ext>
          </a:extLst>
        </p:cNvPr>
        <p:cNvGrpSpPr/>
        <p:nvPr/>
      </p:nvGrpSpPr>
      <p:grpSpPr>
        <a:xfrm>
          <a:off x="0" y="0"/>
          <a:ext cx="0" cy="0"/>
          <a:chOff x="0" y="0"/>
          <a:chExt cx="0" cy="0"/>
        </a:xfrm>
      </p:grpSpPr>
    </p:spTree>
    <p:extLst>
      <p:ext uri="{BB962C8B-B14F-4D97-AF65-F5344CB8AC3E}">
        <p14:creationId xmlns:p14="http://schemas.microsoft.com/office/powerpoint/2010/main" val="1814818361"/>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DC3D3E-7A80-5937-D445-0BC611F6D275}"/>
            </a:ext>
          </a:extLst>
        </p:cNvPr>
        <p:cNvGrpSpPr/>
        <p:nvPr/>
      </p:nvGrpSpPr>
      <p:grpSpPr>
        <a:xfrm>
          <a:off x="0" y="0"/>
          <a:ext cx="0" cy="0"/>
          <a:chOff x="0" y="0"/>
          <a:chExt cx="0" cy="0"/>
        </a:xfrm>
      </p:grpSpPr>
    </p:spTree>
    <p:extLst>
      <p:ext uri="{BB962C8B-B14F-4D97-AF65-F5344CB8AC3E}">
        <p14:creationId xmlns:p14="http://schemas.microsoft.com/office/powerpoint/2010/main" val="2359052732"/>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C39288-3934-3EE8-8DA0-8B55FB44D752}"/>
            </a:ext>
          </a:extLst>
        </p:cNvPr>
        <p:cNvGrpSpPr/>
        <p:nvPr/>
      </p:nvGrpSpPr>
      <p:grpSpPr>
        <a:xfrm>
          <a:off x="0" y="0"/>
          <a:ext cx="0" cy="0"/>
          <a:chOff x="0" y="0"/>
          <a:chExt cx="0" cy="0"/>
        </a:xfrm>
      </p:grpSpPr>
    </p:spTree>
    <p:extLst>
      <p:ext uri="{BB962C8B-B14F-4D97-AF65-F5344CB8AC3E}">
        <p14:creationId xmlns:p14="http://schemas.microsoft.com/office/powerpoint/2010/main" val="2903561146"/>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444358-7458-9EBA-410C-00B1A20E7B47}"/>
            </a:ext>
          </a:extLst>
        </p:cNvPr>
        <p:cNvGrpSpPr/>
        <p:nvPr/>
      </p:nvGrpSpPr>
      <p:grpSpPr>
        <a:xfrm>
          <a:off x="0" y="0"/>
          <a:ext cx="0" cy="0"/>
          <a:chOff x="0" y="0"/>
          <a:chExt cx="0" cy="0"/>
        </a:xfrm>
      </p:grpSpPr>
    </p:spTree>
    <p:extLst>
      <p:ext uri="{BB962C8B-B14F-4D97-AF65-F5344CB8AC3E}">
        <p14:creationId xmlns:p14="http://schemas.microsoft.com/office/powerpoint/2010/main" val="1882760758"/>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3474C8-E1F0-54A0-7DB7-A4F186252A1E}"/>
            </a:ext>
          </a:extLst>
        </p:cNvPr>
        <p:cNvGrpSpPr/>
        <p:nvPr/>
      </p:nvGrpSpPr>
      <p:grpSpPr>
        <a:xfrm>
          <a:off x="0" y="0"/>
          <a:ext cx="0" cy="0"/>
          <a:chOff x="0" y="0"/>
          <a:chExt cx="0" cy="0"/>
        </a:xfrm>
      </p:grpSpPr>
    </p:spTree>
    <p:extLst>
      <p:ext uri="{BB962C8B-B14F-4D97-AF65-F5344CB8AC3E}">
        <p14:creationId xmlns:p14="http://schemas.microsoft.com/office/powerpoint/2010/main" val="2227413637"/>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08BA5F-0737-1C9E-B34A-C8D0C6CC18C7}"/>
            </a:ext>
          </a:extLst>
        </p:cNvPr>
        <p:cNvGrpSpPr/>
        <p:nvPr/>
      </p:nvGrpSpPr>
      <p:grpSpPr>
        <a:xfrm>
          <a:off x="0" y="0"/>
          <a:ext cx="0" cy="0"/>
          <a:chOff x="0" y="0"/>
          <a:chExt cx="0" cy="0"/>
        </a:xfrm>
      </p:grpSpPr>
    </p:spTree>
    <p:extLst>
      <p:ext uri="{BB962C8B-B14F-4D97-AF65-F5344CB8AC3E}">
        <p14:creationId xmlns:p14="http://schemas.microsoft.com/office/powerpoint/2010/main" val="753626091"/>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CD7587-E788-2173-9FCE-ABF5926BAC41}"/>
            </a:ext>
          </a:extLst>
        </p:cNvPr>
        <p:cNvGrpSpPr/>
        <p:nvPr/>
      </p:nvGrpSpPr>
      <p:grpSpPr>
        <a:xfrm>
          <a:off x="0" y="0"/>
          <a:ext cx="0" cy="0"/>
          <a:chOff x="0" y="0"/>
          <a:chExt cx="0" cy="0"/>
        </a:xfrm>
      </p:grpSpPr>
    </p:spTree>
    <p:extLst>
      <p:ext uri="{BB962C8B-B14F-4D97-AF65-F5344CB8AC3E}">
        <p14:creationId xmlns:p14="http://schemas.microsoft.com/office/powerpoint/2010/main" val="1728660153"/>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CC10DC-3F44-09D6-0EF4-E117C7AFB14D}"/>
            </a:ext>
          </a:extLst>
        </p:cNvPr>
        <p:cNvGrpSpPr/>
        <p:nvPr/>
      </p:nvGrpSpPr>
      <p:grpSpPr>
        <a:xfrm>
          <a:off x="0" y="0"/>
          <a:ext cx="0" cy="0"/>
          <a:chOff x="0" y="0"/>
          <a:chExt cx="0" cy="0"/>
        </a:xfrm>
      </p:grpSpPr>
    </p:spTree>
    <p:extLst>
      <p:ext uri="{BB962C8B-B14F-4D97-AF65-F5344CB8AC3E}">
        <p14:creationId xmlns:p14="http://schemas.microsoft.com/office/powerpoint/2010/main" val="2008223311"/>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C9AB0F-A5F4-4582-FC01-5E689CFFF87F}"/>
            </a:ext>
          </a:extLst>
        </p:cNvPr>
        <p:cNvGrpSpPr/>
        <p:nvPr/>
      </p:nvGrpSpPr>
      <p:grpSpPr>
        <a:xfrm>
          <a:off x="0" y="0"/>
          <a:ext cx="0" cy="0"/>
          <a:chOff x="0" y="0"/>
          <a:chExt cx="0" cy="0"/>
        </a:xfrm>
      </p:grpSpPr>
    </p:spTree>
    <p:extLst>
      <p:ext uri="{BB962C8B-B14F-4D97-AF65-F5344CB8AC3E}">
        <p14:creationId xmlns:p14="http://schemas.microsoft.com/office/powerpoint/2010/main" val="2529987184"/>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084FF4-E87B-CEE7-4340-4A8CF2BFB654}"/>
            </a:ext>
          </a:extLst>
        </p:cNvPr>
        <p:cNvGrpSpPr/>
        <p:nvPr/>
      </p:nvGrpSpPr>
      <p:grpSpPr>
        <a:xfrm>
          <a:off x="0" y="0"/>
          <a:ext cx="0" cy="0"/>
          <a:chOff x="0" y="0"/>
          <a:chExt cx="0" cy="0"/>
        </a:xfrm>
      </p:grpSpPr>
    </p:spTree>
    <p:extLst>
      <p:ext uri="{BB962C8B-B14F-4D97-AF65-F5344CB8AC3E}">
        <p14:creationId xmlns:p14="http://schemas.microsoft.com/office/powerpoint/2010/main" val="11912733"/>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5430E2-575B-DE05-1E7C-0285A3ECC8D1}"/>
            </a:ext>
          </a:extLst>
        </p:cNvPr>
        <p:cNvGrpSpPr/>
        <p:nvPr/>
      </p:nvGrpSpPr>
      <p:grpSpPr>
        <a:xfrm>
          <a:off x="0" y="0"/>
          <a:ext cx="0" cy="0"/>
          <a:chOff x="0" y="0"/>
          <a:chExt cx="0" cy="0"/>
        </a:xfrm>
      </p:grpSpPr>
    </p:spTree>
    <p:extLst>
      <p:ext uri="{BB962C8B-B14F-4D97-AF65-F5344CB8AC3E}">
        <p14:creationId xmlns:p14="http://schemas.microsoft.com/office/powerpoint/2010/main" val="2020373175"/>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6C7C7E-2D31-F5DA-2FCC-908AF031C200}"/>
            </a:ext>
          </a:extLst>
        </p:cNvPr>
        <p:cNvGrpSpPr/>
        <p:nvPr/>
      </p:nvGrpSpPr>
      <p:grpSpPr>
        <a:xfrm>
          <a:off x="0" y="0"/>
          <a:ext cx="0" cy="0"/>
          <a:chOff x="0" y="0"/>
          <a:chExt cx="0" cy="0"/>
        </a:xfrm>
      </p:grpSpPr>
    </p:spTree>
    <p:extLst>
      <p:ext uri="{BB962C8B-B14F-4D97-AF65-F5344CB8AC3E}">
        <p14:creationId xmlns:p14="http://schemas.microsoft.com/office/powerpoint/2010/main" val="4049098951"/>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4DCCDD-1A76-AF1A-CCB5-9A78AF6F8424}"/>
            </a:ext>
          </a:extLst>
        </p:cNvPr>
        <p:cNvGrpSpPr/>
        <p:nvPr/>
      </p:nvGrpSpPr>
      <p:grpSpPr>
        <a:xfrm>
          <a:off x="0" y="0"/>
          <a:ext cx="0" cy="0"/>
          <a:chOff x="0" y="0"/>
          <a:chExt cx="0" cy="0"/>
        </a:xfrm>
      </p:grpSpPr>
    </p:spTree>
    <p:extLst>
      <p:ext uri="{BB962C8B-B14F-4D97-AF65-F5344CB8AC3E}">
        <p14:creationId xmlns:p14="http://schemas.microsoft.com/office/powerpoint/2010/main" val="3909892506"/>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3D685A-5937-3C52-2F3B-74955B1FF06D}"/>
            </a:ext>
          </a:extLst>
        </p:cNvPr>
        <p:cNvGrpSpPr/>
        <p:nvPr/>
      </p:nvGrpSpPr>
      <p:grpSpPr>
        <a:xfrm>
          <a:off x="0" y="0"/>
          <a:ext cx="0" cy="0"/>
          <a:chOff x="0" y="0"/>
          <a:chExt cx="0" cy="0"/>
        </a:xfrm>
      </p:grpSpPr>
    </p:spTree>
    <p:extLst>
      <p:ext uri="{BB962C8B-B14F-4D97-AF65-F5344CB8AC3E}">
        <p14:creationId xmlns:p14="http://schemas.microsoft.com/office/powerpoint/2010/main" val="2945056232"/>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09A74E-5113-4DFD-160C-4238D2609F56}"/>
            </a:ext>
          </a:extLst>
        </p:cNvPr>
        <p:cNvGrpSpPr/>
        <p:nvPr/>
      </p:nvGrpSpPr>
      <p:grpSpPr>
        <a:xfrm>
          <a:off x="0" y="0"/>
          <a:ext cx="0" cy="0"/>
          <a:chOff x="0" y="0"/>
          <a:chExt cx="0" cy="0"/>
        </a:xfrm>
      </p:grpSpPr>
    </p:spTree>
    <p:extLst>
      <p:ext uri="{BB962C8B-B14F-4D97-AF65-F5344CB8AC3E}">
        <p14:creationId xmlns:p14="http://schemas.microsoft.com/office/powerpoint/2010/main" val="968861037"/>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F71383-6B34-E468-1316-F7BB6A02D075}"/>
            </a:ext>
          </a:extLst>
        </p:cNvPr>
        <p:cNvGrpSpPr/>
        <p:nvPr/>
      </p:nvGrpSpPr>
      <p:grpSpPr>
        <a:xfrm>
          <a:off x="0" y="0"/>
          <a:ext cx="0" cy="0"/>
          <a:chOff x="0" y="0"/>
          <a:chExt cx="0" cy="0"/>
        </a:xfrm>
      </p:grpSpPr>
    </p:spTree>
    <p:extLst>
      <p:ext uri="{BB962C8B-B14F-4D97-AF65-F5344CB8AC3E}">
        <p14:creationId xmlns:p14="http://schemas.microsoft.com/office/powerpoint/2010/main" val="1210075722"/>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32D463-FC14-8CA8-6D2C-26A46C3531EB}"/>
            </a:ext>
          </a:extLst>
        </p:cNvPr>
        <p:cNvGrpSpPr/>
        <p:nvPr/>
      </p:nvGrpSpPr>
      <p:grpSpPr>
        <a:xfrm>
          <a:off x="0" y="0"/>
          <a:ext cx="0" cy="0"/>
          <a:chOff x="0" y="0"/>
          <a:chExt cx="0" cy="0"/>
        </a:xfrm>
      </p:grpSpPr>
    </p:spTree>
    <p:extLst>
      <p:ext uri="{BB962C8B-B14F-4D97-AF65-F5344CB8AC3E}">
        <p14:creationId xmlns:p14="http://schemas.microsoft.com/office/powerpoint/2010/main" val="392684734"/>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7045A3-7F9A-3D1E-9952-CB829B42141B}"/>
            </a:ext>
          </a:extLst>
        </p:cNvPr>
        <p:cNvGrpSpPr/>
        <p:nvPr/>
      </p:nvGrpSpPr>
      <p:grpSpPr>
        <a:xfrm>
          <a:off x="0" y="0"/>
          <a:ext cx="0" cy="0"/>
          <a:chOff x="0" y="0"/>
          <a:chExt cx="0" cy="0"/>
        </a:xfrm>
      </p:grpSpPr>
    </p:spTree>
    <p:extLst>
      <p:ext uri="{BB962C8B-B14F-4D97-AF65-F5344CB8AC3E}">
        <p14:creationId xmlns:p14="http://schemas.microsoft.com/office/powerpoint/2010/main" val="1977706002"/>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ABD669-6DBE-F77D-D40F-7C6D96C5C19D}"/>
            </a:ext>
          </a:extLst>
        </p:cNvPr>
        <p:cNvGrpSpPr/>
        <p:nvPr/>
      </p:nvGrpSpPr>
      <p:grpSpPr>
        <a:xfrm>
          <a:off x="0" y="0"/>
          <a:ext cx="0" cy="0"/>
          <a:chOff x="0" y="0"/>
          <a:chExt cx="0" cy="0"/>
        </a:xfrm>
      </p:grpSpPr>
    </p:spTree>
    <p:extLst>
      <p:ext uri="{BB962C8B-B14F-4D97-AF65-F5344CB8AC3E}">
        <p14:creationId xmlns:p14="http://schemas.microsoft.com/office/powerpoint/2010/main" val="1736719689"/>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4E25A9-6E07-F074-80C0-B8D1E6741BC1}"/>
            </a:ext>
          </a:extLst>
        </p:cNvPr>
        <p:cNvGrpSpPr/>
        <p:nvPr/>
      </p:nvGrpSpPr>
      <p:grpSpPr>
        <a:xfrm>
          <a:off x="0" y="0"/>
          <a:ext cx="0" cy="0"/>
          <a:chOff x="0" y="0"/>
          <a:chExt cx="0" cy="0"/>
        </a:xfrm>
      </p:grpSpPr>
    </p:spTree>
    <p:extLst>
      <p:ext uri="{BB962C8B-B14F-4D97-AF65-F5344CB8AC3E}">
        <p14:creationId xmlns:p14="http://schemas.microsoft.com/office/powerpoint/2010/main" val="3873212897"/>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2965A7-8CF5-3E06-19C9-4886680E1B18}"/>
            </a:ext>
          </a:extLst>
        </p:cNvPr>
        <p:cNvGrpSpPr/>
        <p:nvPr/>
      </p:nvGrpSpPr>
      <p:grpSpPr>
        <a:xfrm>
          <a:off x="0" y="0"/>
          <a:ext cx="0" cy="0"/>
          <a:chOff x="0" y="0"/>
          <a:chExt cx="0" cy="0"/>
        </a:xfrm>
      </p:grpSpPr>
    </p:spTree>
    <p:extLst>
      <p:ext uri="{BB962C8B-B14F-4D97-AF65-F5344CB8AC3E}">
        <p14:creationId xmlns:p14="http://schemas.microsoft.com/office/powerpoint/2010/main" val="231316656"/>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85E8E8-9926-55CC-14D3-10A08BDEC077}"/>
            </a:ext>
          </a:extLst>
        </p:cNvPr>
        <p:cNvGrpSpPr/>
        <p:nvPr/>
      </p:nvGrpSpPr>
      <p:grpSpPr>
        <a:xfrm>
          <a:off x="0" y="0"/>
          <a:ext cx="0" cy="0"/>
          <a:chOff x="0" y="0"/>
          <a:chExt cx="0" cy="0"/>
        </a:xfrm>
      </p:grpSpPr>
    </p:spTree>
    <p:extLst>
      <p:ext uri="{BB962C8B-B14F-4D97-AF65-F5344CB8AC3E}">
        <p14:creationId xmlns:p14="http://schemas.microsoft.com/office/powerpoint/2010/main" val="1557951312"/>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438A96-9E7C-76A2-3967-042D834D1CF9}"/>
            </a:ext>
          </a:extLst>
        </p:cNvPr>
        <p:cNvGrpSpPr/>
        <p:nvPr/>
      </p:nvGrpSpPr>
      <p:grpSpPr>
        <a:xfrm>
          <a:off x="0" y="0"/>
          <a:ext cx="0" cy="0"/>
          <a:chOff x="0" y="0"/>
          <a:chExt cx="0" cy="0"/>
        </a:xfrm>
      </p:grpSpPr>
    </p:spTree>
    <p:extLst>
      <p:ext uri="{BB962C8B-B14F-4D97-AF65-F5344CB8AC3E}">
        <p14:creationId xmlns:p14="http://schemas.microsoft.com/office/powerpoint/2010/main" val="4030887478"/>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05AA9C-307F-F804-9057-56F9D987339A}"/>
            </a:ext>
          </a:extLst>
        </p:cNvPr>
        <p:cNvGrpSpPr/>
        <p:nvPr/>
      </p:nvGrpSpPr>
      <p:grpSpPr>
        <a:xfrm>
          <a:off x="0" y="0"/>
          <a:ext cx="0" cy="0"/>
          <a:chOff x="0" y="0"/>
          <a:chExt cx="0" cy="0"/>
        </a:xfrm>
      </p:grpSpPr>
    </p:spTree>
    <p:extLst>
      <p:ext uri="{BB962C8B-B14F-4D97-AF65-F5344CB8AC3E}">
        <p14:creationId xmlns:p14="http://schemas.microsoft.com/office/powerpoint/2010/main" val="311662646"/>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326</TotalTime>
  <Words>7714</Words>
  <Application>Microsoft Office PowerPoint</Application>
  <PresentationFormat>A4 Paper (210x297 mm)</PresentationFormat>
  <Paragraphs>728</Paragraphs>
  <Slides>104</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104</vt:i4>
      </vt:variant>
    </vt:vector>
  </HeadingPairs>
  <TitlesOfParts>
    <vt:vector size="110" baseType="lpstr">
      <vt:lpstr>Aptos</vt:lpstr>
      <vt:lpstr>Aptos Display</vt:lpstr>
      <vt:lpstr>Arial</vt:lpstr>
      <vt:lpstr>Courier New</vt:lpstr>
      <vt:lpstr>Roboto</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umalavanya7@gmail.com</dc:creator>
  <cp:lastModifiedBy>umalavanya7@gmail.com</cp:lastModifiedBy>
  <cp:revision>56</cp:revision>
  <dcterms:created xsi:type="dcterms:W3CDTF">2026-02-06T21:19:28Z</dcterms:created>
  <dcterms:modified xsi:type="dcterms:W3CDTF">2026-02-22T23:15:27Z</dcterms:modified>
</cp:coreProperties>
</file>