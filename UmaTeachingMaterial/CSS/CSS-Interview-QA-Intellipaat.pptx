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2/24/2026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ntellipaat.com/blog/what-is-html/"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intellipaat.com/blog/what-is-css/"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intellipaat.com/blog/css-selectors-and-specificity/"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intellipaat.com/blog/id-attribute-value-must-be-unique-in-html/"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intellipaat.com/blog/how-to-give-a-div-tag-100-height-of-the-browser-window-using-css/"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intellipaat.com/blog/css-flexbox/"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intellipaat.com/blog/what-is-data-structure/"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https://intellipaat.com/blog/stack-vs-queue/"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intellipaat.com/blog/how-to-create-a-fixed-footer-with-css/" TargetMode="External"/><Relationship Id="rId2" Type="http://schemas.openxmlformats.org/officeDocument/2006/relationships/hyperlink" Target="https://intellipaat.com/blog/tutorial/python-tutorial/python-variables/"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hyperlink" Target="https://intellipaat.com/blog/http-request-methods/"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intellipaat.com/blog/keyframes-in-css/"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ntellipaat.com/blog/css-box-model/" TargetMode="Externa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intellipaat.com/blog/css-flexbox/"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hyperlink" Target="https://intellipaat.com/blog/css-box-shadow/" TargetMode="Externa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F1079C-5CAF-DADD-1988-AE129E7B5701}"/>
              </a:ext>
            </a:extLst>
          </p:cNvPr>
          <p:cNvSpPr txBox="1"/>
          <p:nvPr/>
        </p:nvSpPr>
        <p:spPr>
          <a:xfrm>
            <a:off x="243840" y="187087"/>
            <a:ext cx="9093200" cy="6483826"/>
          </a:xfrm>
          <a:prstGeom prst="rect">
            <a:avLst/>
          </a:prstGeom>
          <a:noFill/>
        </p:spPr>
        <p:txBody>
          <a:bodyPr wrap="square">
            <a:spAutoFit/>
          </a:bodyPr>
          <a:lstStyle/>
          <a:p>
            <a:pPr algn="l">
              <a:spcBef>
                <a:spcPts val="2400"/>
              </a:spcBef>
              <a:spcAft>
                <a:spcPts val="1800"/>
              </a:spcAft>
              <a:buNone/>
            </a:pPr>
            <a:r>
              <a:rPr lang="en-US" sz="1200" b="0" i="0" dirty="0">
                <a:solidFill>
                  <a:srgbClr val="272C37"/>
                </a:solidFill>
                <a:effectLst/>
                <a:latin typeface="Roboto" panose="02000000000000000000" pitchFamily="2" charset="0"/>
              </a:rPr>
              <a:t>1. What are the CSS frameworks?</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Semantic UI: Semantic UI uses human-friendly HTML class names to create responsive and visually appealing interfaces. It offers a wide range of ready-to-use components such as buttons, modals, and forms, with a focus on clean, semantic code.</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Tailwind CSS: The utility-first Tailwind CSS framework is different, as it provides low-level classes to create custom designs, therefore eliminating the need to write custom CSS. Its focus on rapid development and flexibly designed components makes it tailored for component-based UI architectures.</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Materialize CSS: Materialize CSS is a responsive front-end framework based on Google’s Material Design principles. It offers you pre-styled components, animations and a mobile-first grid system to quickly build sleek and consistent UIs.</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Primer: Primer is GitHub’s design system and CSS framework created with scalability and maintainability in mind. It provides a collection of configurable accessible components and utilities that help in building consistent user interfaces across GitHub products.</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Foundation: Foundation is a responsive front-end CSS framework developed by </a:t>
            </a:r>
            <a:r>
              <a:rPr lang="en-US" sz="1200" b="0" i="0" dirty="0" err="1">
                <a:solidFill>
                  <a:srgbClr val="3A3A3A"/>
                </a:solidFill>
                <a:effectLst/>
                <a:latin typeface="Roboto" panose="02000000000000000000" pitchFamily="2" charset="0"/>
              </a:rPr>
              <a:t>Zurb</a:t>
            </a:r>
            <a:r>
              <a:rPr lang="en-US" sz="1200" b="0" i="0" dirty="0">
                <a:solidFill>
                  <a:srgbClr val="3A3A3A"/>
                </a:solidFill>
                <a:effectLst/>
                <a:latin typeface="Roboto" panose="02000000000000000000" pitchFamily="2" charset="0"/>
              </a:rPr>
              <a:t>. It comes with a powerful grid system along with user interface components and accessibility features that allow the construction of responsive websites and apps at an enterprise level.</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Gumby: Gumby is a responsive CSS framework that features a flexible 960-grid system along with configurable user interface (UI) elements. In addition, it supports Sass out of the box, making it easier to modify styles, thus prioritizing speed.</a:t>
            </a:r>
          </a:p>
          <a:p>
            <a:pPr algn="just">
              <a:spcBef>
                <a:spcPts val="1650"/>
              </a:spcBef>
              <a:spcAft>
                <a:spcPts val="600"/>
              </a:spcAft>
              <a:buFont typeface="Arial" panose="020B0604020202020204" pitchFamily="34" charset="0"/>
              <a:buChar char="•"/>
            </a:pPr>
            <a:r>
              <a:rPr lang="en-US" sz="1200" b="0" i="0" dirty="0" err="1">
                <a:solidFill>
                  <a:srgbClr val="3A3A3A"/>
                </a:solidFill>
                <a:effectLst/>
                <a:latin typeface="Roboto" panose="02000000000000000000" pitchFamily="2" charset="0"/>
              </a:rPr>
              <a:t>UIkit</a:t>
            </a:r>
            <a:r>
              <a:rPr lang="en-US" sz="1200" b="0" i="0" dirty="0">
                <a:solidFill>
                  <a:srgbClr val="3A3A3A"/>
                </a:solidFill>
                <a:effectLst/>
                <a:latin typeface="Roboto" panose="02000000000000000000" pitchFamily="2" charset="0"/>
              </a:rPr>
              <a:t>: </a:t>
            </a:r>
            <a:r>
              <a:rPr lang="en-US" sz="1200" b="0" i="0" dirty="0" err="1">
                <a:solidFill>
                  <a:srgbClr val="3A3A3A"/>
                </a:solidFill>
                <a:effectLst/>
                <a:latin typeface="Roboto" panose="02000000000000000000" pitchFamily="2" charset="0"/>
              </a:rPr>
              <a:t>UIkit</a:t>
            </a:r>
            <a:r>
              <a:rPr lang="en-US" sz="1200" b="0" i="0" dirty="0">
                <a:solidFill>
                  <a:srgbClr val="3A3A3A"/>
                </a:solidFill>
                <a:effectLst/>
                <a:latin typeface="Roboto" panose="02000000000000000000" pitchFamily="2" charset="0"/>
              </a:rPr>
              <a:t> is a lightweight and modular CSS framework for developing fast and powerful web interfaces. Its responsive grid system comes complete with pre-built components, animations, and a minimalistic design.</a:t>
            </a:r>
          </a:p>
          <a:p>
            <a:pPr algn="just">
              <a:spcBef>
                <a:spcPts val="1650"/>
              </a:spcBef>
              <a:spcAft>
                <a:spcPts val="600"/>
              </a:spcAft>
              <a:buFont typeface="Arial" panose="020B0604020202020204" pitchFamily="34" charset="0"/>
              <a:buChar char="•"/>
            </a:pPr>
            <a:r>
              <a:rPr lang="en-US" sz="1200" b="0" i="0" dirty="0">
                <a:solidFill>
                  <a:srgbClr val="3A3A3A"/>
                </a:solidFill>
                <a:effectLst/>
                <a:latin typeface="Roboto" panose="02000000000000000000" pitchFamily="2" charset="0"/>
              </a:rPr>
              <a:t>Bootstrap: Bootstrap is a well known front-end CSS framework developed by Twitter. It gives you a responsive grid system, pre-designed UI components, and JavaScript plugins, making it convenient for building consistent and mobile-first web applications quickly. </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62453C6-CFDE-C236-C457-36AC669CE0F7}"/>
              </a:ext>
            </a:extLst>
          </p:cNvPr>
          <p:cNvGraphicFramePr>
            <a:graphicFrameLocks noGrp="1"/>
          </p:cNvGraphicFramePr>
          <p:nvPr>
            <p:extLst>
              <p:ext uri="{D42A27DB-BD31-4B8C-83A1-F6EECF244321}">
                <p14:modId xmlns:p14="http://schemas.microsoft.com/office/powerpoint/2010/main" val="3032068459"/>
              </p:ext>
            </p:extLst>
          </p:nvPr>
        </p:nvGraphicFramePr>
        <p:xfrm>
          <a:off x="776573" y="2379258"/>
          <a:ext cx="8543924" cy="2834640"/>
        </p:xfrm>
        <a:graphic>
          <a:graphicData uri="http://schemas.openxmlformats.org/drawingml/2006/table">
            <a:tbl>
              <a:tblPr/>
              <a:tblGrid>
                <a:gridCol w="4271962">
                  <a:extLst>
                    <a:ext uri="{9D8B030D-6E8A-4147-A177-3AD203B41FA5}">
                      <a16:colId xmlns:a16="http://schemas.microsoft.com/office/drawing/2014/main" val="3597255943"/>
                    </a:ext>
                  </a:extLst>
                </a:gridCol>
                <a:gridCol w="4271962">
                  <a:extLst>
                    <a:ext uri="{9D8B030D-6E8A-4147-A177-3AD203B41FA5}">
                      <a16:colId xmlns:a16="http://schemas.microsoft.com/office/drawing/2014/main" val="3656342052"/>
                    </a:ext>
                  </a:extLst>
                </a:gridCol>
              </a:tblGrid>
              <a:tr h="365760">
                <a:tc>
                  <a:txBody>
                    <a:bodyPr/>
                    <a:lstStyle/>
                    <a:p>
                      <a:pPr algn="ctr" fontAlgn="t">
                        <a:buNone/>
                      </a:pPr>
                      <a:r>
                        <a:rPr lang="en-US" sz="1800" b="0">
                          <a:solidFill>
                            <a:srgbClr val="FFFFFF"/>
                          </a:solidFill>
                          <a:effectLst/>
                        </a:rPr>
                        <a:t>Advantages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Disadvantages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038335471"/>
                  </a:ext>
                </a:extLst>
              </a:tr>
              <a:tr h="640080">
                <a:tc>
                  <a:txBody>
                    <a:bodyPr/>
                    <a:lstStyle/>
                    <a:p>
                      <a:pPr fontAlgn="t">
                        <a:buNone/>
                      </a:pPr>
                      <a:r>
                        <a:rPr lang="en-US" sz="1800" b="0">
                          <a:effectLst/>
                        </a:rPr>
                        <a:t>Styles of numerous documents can be organized from a single file.</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sz="1800" b="0">
                          <a:effectLst/>
                        </a:rPr>
                        <a:t>An extra download is necessary to import style information for each file.</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761825947"/>
                  </a:ext>
                </a:extLst>
              </a:tr>
              <a:tr h="914400">
                <a:tc>
                  <a:txBody>
                    <a:bodyPr/>
                    <a:lstStyle/>
                    <a:p>
                      <a:pPr fontAlgn="t">
                        <a:buNone/>
                      </a:pPr>
                      <a:r>
                        <a:rPr lang="en-US" sz="1800" b="0">
                          <a:effectLst/>
                        </a:rPr>
                        <a:t>Classes can be made for use on numerous </a:t>
                      </a:r>
                      <a:r>
                        <a:rPr lang="en-US" sz="1800" b="0" u="none" strike="noStrike">
                          <a:solidFill>
                            <a:srgbClr val="0F5A9E"/>
                          </a:solidFill>
                          <a:effectLst/>
                          <a:hlinkClick r:id="rId2"/>
                        </a:rPr>
                        <a:t>HTML</a:t>
                      </a:r>
                      <a:r>
                        <a:rPr lang="en-US" sz="1800" b="0">
                          <a:effectLst/>
                        </a:rPr>
                        <a:t> element types in many parts of the site.</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sz="1800" b="0">
                          <a:effectLst/>
                        </a:rPr>
                        <a:t>The execution of the file may be delayed until the external style sheet is fully loaded.</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3555658616"/>
                  </a:ext>
                </a:extLst>
              </a:tr>
              <a:tr h="914400">
                <a:tc>
                  <a:txBody>
                    <a:bodyPr/>
                    <a:lstStyle/>
                    <a:p>
                      <a:pPr fontAlgn="t">
                        <a:buNone/>
                      </a:pPr>
                      <a:r>
                        <a:rPr lang="en-US" sz="1800" b="0">
                          <a:effectLst/>
                        </a:rPr>
                        <a:t>In complex contexts, methods such as selectors and grouping can be implemented to apply styles.</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r>
                        <a:rPr lang="en-US" sz="1800" b="0" i="0" kern="1200" dirty="0">
                          <a:solidFill>
                            <a:schemeClr val="tx1"/>
                          </a:solidFill>
                          <a:effectLst/>
                          <a:latin typeface="+mn-lt"/>
                          <a:ea typeface="+mn-ea"/>
                          <a:cs typeface="+mn-cs"/>
                        </a:rPr>
                        <a:t>Web pages must be tested across multiple browsers to check for compatibility issues</a:t>
                      </a:r>
                      <a:endParaRPr lang="en-US" sz="1800" dirty="0"/>
                    </a:p>
                  </a:txBody>
                  <a:tcPr>
                    <a:lnL w="7620" cap="flat" cmpd="sng" algn="ctr">
                      <a:solidFill>
                        <a:srgbClr val="DEE2E6"/>
                      </a:solidFill>
                      <a:prstDash val="solid"/>
                      <a:round/>
                      <a:headEnd type="none" w="med" len="med"/>
                      <a:tailEnd type="none" w="med" len="med"/>
                    </a:lnL>
                    <a:lnT w="7620" cap="flat" cmpd="sng" algn="ctr">
                      <a:solidFill>
                        <a:srgbClr val="DEE2E6"/>
                      </a:solidFill>
                      <a:prstDash val="solid"/>
                      <a:round/>
                      <a:headEnd type="none" w="med" len="med"/>
                      <a:tailEnd type="none" w="med" len="med"/>
                    </a:lnT>
                  </a:tcPr>
                </a:tc>
                <a:extLst>
                  <a:ext uri="{0D108BD9-81ED-4DB2-BD59-A6C34878D82A}">
                    <a16:rowId xmlns:a16="http://schemas.microsoft.com/office/drawing/2014/main" val="3753686847"/>
                  </a:ext>
                </a:extLst>
              </a:tr>
            </a:tbl>
          </a:graphicData>
        </a:graphic>
      </p:graphicFrame>
      <p:sp>
        <p:nvSpPr>
          <p:cNvPr id="3" name="Rectangle 1">
            <a:extLst>
              <a:ext uri="{FF2B5EF4-FFF2-40B4-BE49-F238E27FC236}">
                <a16:creationId xmlns:a16="http://schemas.microsoft.com/office/drawing/2014/main" id="{889B2456-4737-8357-E3D4-DCBC331D2DE7}"/>
              </a:ext>
            </a:extLst>
          </p:cNvPr>
          <p:cNvSpPr>
            <a:spLocks noChangeArrowheads="1"/>
          </p:cNvSpPr>
          <p:nvPr/>
        </p:nvSpPr>
        <p:spPr bwMode="auto">
          <a:xfrm>
            <a:off x="353493" y="1207078"/>
            <a:ext cx="7330197" cy="5078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72C37"/>
                </a:solidFill>
                <a:effectLst/>
                <a:latin typeface="Roboto" panose="02000000000000000000" pitchFamily="2" charset="0"/>
              </a:rPr>
              <a:t>2. What are the advantages and disadvantages of using external style sheets?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43BB1D-A15B-25FD-6756-34CC2DB08A8F}"/>
              </a:ext>
            </a:extLst>
          </p:cNvPr>
          <p:cNvSpPr txBox="1"/>
          <p:nvPr/>
        </p:nvSpPr>
        <p:spPr>
          <a:xfrm>
            <a:off x="470848" y="796822"/>
            <a:ext cx="4954136"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What are the advantages and disadvantages of embedded style sheets?</a:t>
            </a:r>
          </a:p>
        </p:txBody>
      </p:sp>
      <p:graphicFrame>
        <p:nvGraphicFramePr>
          <p:cNvPr id="4" name="Table 3">
            <a:extLst>
              <a:ext uri="{FF2B5EF4-FFF2-40B4-BE49-F238E27FC236}">
                <a16:creationId xmlns:a16="http://schemas.microsoft.com/office/drawing/2014/main" id="{B0D39FF4-3307-2005-D5CB-9164E775EC64}"/>
              </a:ext>
            </a:extLst>
          </p:cNvPr>
          <p:cNvGraphicFramePr>
            <a:graphicFrameLocks noGrp="1"/>
          </p:cNvGraphicFramePr>
          <p:nvPr/>
        </p:nvGraphicFramePr>
        <p:xfrm>
          <a:off x="681038" y="1989614"/>
          <a:ext cx="8543924" cy="4023360"/>
        </p:xfrm>
        <a:graphic>
          <a:graphicData uri="http://schemas.openxmlformats.org/drawingml/2006/table">
            <a:tbl>
              <a:tblPr/>
              <a:tblGrid>
                <a:gridCol w="4271962">
                  <a:extLst>
                    <a:ext uri="{9D8B030D-6E8A-4147-A177-3AD203B41FA5}">
                      <a16:colId xmlns:a16="http://schemas.microsoft.com/office/drawing/2014/main" val="2712591860"/>
                    </a:ext>
                  </a:extLst>
                </a:gridCol>
                <a:gridCol w="4271962">
                  <a:extLst>
                    <a:ext uri="{9D8B030D-6E8A-4147-A177-3AD203B41FA5}">
                      <a16:colId xmlns:a16="http://schemas.microsoft.com/office/drawing/2014/main" val="850816634"/>
                    </a:ext>
                  </a:extLst>
                </a:gridCol>
              </a:tblGrid>
              <a:tr h="365760">
                <a:tc>
                  <a:txBody>
                    <a:bodyPr/>
                    <a:lstStyle/>
                    <a:p>
                      <a:pPr algn="ctr" fontAlgn="t">
                        <a:buNone/>
                      </a:pPr>
                      <a:r>
                        <a:rPr lang="en-US" sz="1800" b="0">
                          <a:solidFill>
                            <a:srgbClr val="FFFFFF"/>
                          </a:solidFill>
                          <a:effectLst/>
                        </a:rPr>
                        <a:t>Advantages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Disadvantages</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998187491"/>
                  </a:ext>
                </a:extLst>
              </a:tr>
              <a:tr h="914400">
                <a:tc>
                  <a:txBody>
                    <a:bodyPr/>
                    <a:lstStyle/>
                    <a:p>
                      <a:pPr fontAlgn="t">
                        <a:buNone/>
                      </a:pPr>
                      <a:r>
                        <a:rPr lang="en-US" sz="1800" b="0">
                          <a:effectLst/>
                        </a:rPr>
                        <a:t>Classes can be created for use on multiple tag types within the same document.</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a:effectLst/>
                        </a:rPr>
                        <a:t>Styles cannot be controlled for multiple web pages from a single location.</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037041321"/>
                  </a:ext>
                </a:extLst>
              </a:tr>
              <a:tr h="914400">
                <a:tc>
                  <a:txBody>
                    <a:bodyPr/>
                    <a:lstStyle/>
                    <a:p>
                      <a:pPr fontAlgn="t">
                        <a:buNone/>
                      </a:pPr>
                      <a:r>
                        <a:rPr lang="en-US" sz="1800" b="0">
                          <a:effectLst/>
                        </a:rPr>
                        <a:t>No extra download is required to import style information, unlike external style sheets.</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a:effectLst/>
                        </a:rPr>
                        <a:t>Increases the overall size of the HTML file, making it bulkier and harder to manage.</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924414051"/>
                  </a:ext>
                </a:extLst>
              </a:tr>
              <a:tr h="914400">
                <a:tc>
                  <a:txBody>
                    <a:bodyPr/>
                    <a:lstStyle/>
                    <a:p>
                      <a:pPr fontAlgn="t">
                        <a:buNone/>
                      </a:pPr>
                      <a:r>
                        <a:rPr lang="en-US" sz="1800" b="0">
                          <a:effectLst/>
                        </a:rPr>
                        <a:t>Easy to override external or browser default styles for a specific page.</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a:effectLst/>
                        </a:rPr>
                        <a:t>Poor maintainability – style code is mixed with content, which makes updates more difficult.</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90262035"/>
                  </a:ext>
                </a:extLst>
              </a:tr>
              <a:tr h="914400">
                <a:tc>
                  <a:txBody>
                    <a:bodyPr/>
                    <a:lstStyle/>
                    <a:p>
                      <a:pPr fontAlgn="t">
                        <a:buNone/>
                      </a:pPr>
                      <a:r>
                        <a:rPr lang="en-US" sz="1800" b="0">
                          <a:effectLst/>
                        </a:rPr>
                        <a:t>Ideal for single-page documents or when quick custom styling is needed.</a:t>
                      </a:r>
                      <a:endParaRPr lang="en-US" sz="180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800" b="0" dirty="0">
                          <a:effectLst/>
                        </a:rPr>
                        <a:t>Duplication of styles across multiple pages of the same embedded CSS is reused, leading to code redundancy.</a:t>
                      </a:r>
                      <a:endParaRPr lang="en-US" sz="1800" dirty="0">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531584404"/>
                  </a:ext>
                </a:extLst>
              </a:tr>
            </a:tbl>
          </a:graphicData>
        </a:graphic>
      </p:graphicFrame>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6C0E5B-71FB-6883-BE3E-E6AC32B2EF64}"/>
              </a:ext>
            </a:extLst>
          </p:cNvPr>
          <p:cNvSpPr txBox="1"/>
          <p:nvPr/>
        </p:nvSpPr>
        <p:spPr>
          <a:xfrm>
            <a:off x="2477069" y="-2396106"/>
            <a:ext cx="4954136" cy="1165703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How can you include CSS in a web page?</a:t>
            </a:r>
          </a:p>
          <a:p>
            <a:pPr algn="just">
              <a:lnSpc>
                <a:spcPts val="2100"/>
              </a:lnSpc>
              <a:spcBef>
                <a:spcPts val="1650"/>
              </a:spcBef>
              <a:buNone/>
            </a:pPr>
            <a:r>
              <a:rPr lang="en-US" b="0" i="0" dirty="0">
                <a:solidFill>
                  <a:srgbClr val="3A3A3A"/>
                </a:solidFill>
                <a:effectLst/>
                <a:latin typeface="Roboto" panose="02000000000000000000" pitchFamily="2" charset="0"/>
              </a:rPr>
              <a:t>There are different ways by which you can include </a:t>
            </a:r>
            <a:r>
              <a:rPr lang="en-US" b="0" i="0" u="none" strike="noStrike" dirty="0">
                <a:solidFill>
                  <a:srgbClr val="0F5A9E"/>
                </a:solidFill>
                <a:effectLst/>
                <a:latin typeface="Roboto" panose="02000000000000000000" pitchFamily="2" charset="0"/>
                <a:hlinkClick r:id="rId2"/>
              </a:rPr>
              <a:t>CSS</a:t>
            </a:r>
            <a:r>
              <a:rPr lang="en-US" b="0" i="0" dirty="0">
                <a:solidFill>
                  <a:srgbClr val="3A3A3A"/>
                </a:solidFill>
                <a:effectLst/>
                <a:latin typeface="Roboto" panose="02000000000000000000" pitchFamily="2" charset="0"/>
              </a:rPr>
              <a:t> in a web page:</a:t>
            </a:r>
          </a:p>
          <a:p>
            <a:pPr algn="just">
              <a:lnSpc>
                <a:spcPts val="2100"/>
              </a:lnSpc>
              <a:spcBef>
                <a:spcPts val="750"/>
              </a:spcBef>
              <a:buNone/>
            </a:pPr>
            <a:r>
              <a:rPr lang="en-US" b="0" i="0" dirty="0">
                <a:solidFill>
                  <a:srgbClr val="3A3A3A"/>
                </a:solidFill>
                <a:effectLst/>
                <a:latin typeface="Roboto" panose="02000000000000000000" pitchFamily="2" charset="0"/>
              </a:rPr>
              <a:t>External Style Sheet: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An external file is linked to the HTML document using the &lt;link&gt; tag.</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Syntax:</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&lt;link </a:t>
            </a:r>
            <a:r>
              <a:rPr lang="en-US" b="0" i="0" dirty="0" err="1">
                <a:solidFill>
                  <a:srgbClr val="212529"/>
                </a:solidFill>
                <a:effectLst/>
                <a:latin typeface="Courier New" panose="02070309020205020404" pitchFamily="49" charset="0"/>
              </a:rPr>
              <a:t>rel</a:t>
            </a:r>
            <a:r>
              <a:rPr lang="en-US" b="0" i="0" dirty="0">
                <a:solidFill>
                  <a:srgbClr val="212529"/>
                </a:solidFill>
                <a:effectLst/>
                <a:latin typeface="Courier New" panose="02070309020205020404" pitchFamily="49" charset="0"/>
              </a:rPr>
              <a:t>="stylesheet" type="text/</a:t>
            </a:r>
            <a:r>
              <a:rPr lang="en-US" b="0" i="0" dirty="0" err="1">
                <a:solidFill>
                  <a:srgbClr val="212529"/>
                </a:solidFill>
                <a:effectLst/>
                <a:latin typeface="Courier New" panose="02070309020205020404" pitchFamily="49" charset="0"/>
              </a:rPr>
              <a:t>css</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="styles.css"&gt;</a:t>
            </a:r>
          </a:p>
          <a:p>
            <a:pPr algn="just">
              <a:lnSpc>
                <a:spcPts val="2100"/>
              </a:lnSpc>
              <a:spcBef>
                <a:spcPts val="1650"/>
              </a:spcBef>
              <a:buNone/>
            </a:pPr>
            <a:r>
              <a:rPr lang="en-US" b="0" i="0" dirty="0">
                <a:solidFill>
                  <a:srgbClr val="3A3A3A"/>
                </a:solidFill>
                <a:effectLst/>
                <a:latin typeface="Roboto" panose="02000000000000000000" pitchFamily="2" charset="0"/>
              </a:rPr>
              <a:t>Embed CSS with a Style Tag:</a:t>
            </a:r>
          </a:p>
          <a:p>
            <a:pPr algn="just">
              <a:lnSpc>
                <a:spcPts val="2100"/>
              </a:lnSpc>
              <a:spcBef>
                <a:spcPts val="750"/>
              </a:spcBef>
              <a:buNone/>
            </a:pPr>
            <a:r>
              <a:rPr lang="en-US" b="0" i="0" dirty="0">
                <a:solidFill>
                  <a:srgbClr val="3A3A3A"/>
                </a:solidFill>
                <a:effectLst/>
                <a:latin typeface="Roboto" panose="02000000000000000000" pitchFamily="2" charset="0"/>
              </a:rPr>
              <a:t>Another way to include CSS in a web page is by having a set of CSS styles included within the HTML page.</a:t>
            </a:r>
          </a:p>
          <a:p>
            <a:pPr algn="just">
              <a:lnSpc>
                <a:spcPts val="2100"/>
              </a:lnSpc>
              <a:spcBef>
                <a:spcPts val="750"/>
              </a:spcBef>
              <a:buNone/>
            </a:pPr>
            <a:r>
              <a:rPr lang="en-US" b="0" i="0" dirty="0">
                <a:solidFill>
                  <a:srgbClr val="3A3A3A"/>
                </a:solidFill>
                <a:effectLst/>
                <a:latin typeface="Roboto" panose="02000000000000000000" pitchFamily="2" charset="0"/>
              </a:rPr>
              <a:t>Syntax:</a:t>
            </a:r>
          </a:p>
          <a:p>
            <a:pPr algn="l">
              <a:spcBef>
                <a:spcPts val="1125"/>
              </a:spcBef>
              <a:spcAft>
                <a:spcPts val="375"/>
              </a:spcAft>
              <a:buNone/>
            </a:pPr>
            <a:r>
              <a:rPr lang="en-US" b="0" i="0" dirty="0">
                <a:solidFill>
                  <a:srgbClr val="212529"/>
                </a:solidFill>
                <a:effectLst/>
                <a:latin typeface="Courier New" panose="02070309020205020404" pitchFamily="49" charset="0"/>
              </a:rPr>
              <a:t>&lt;style type="text/</a:t>
            </a:r>
            <a:r>
              <a:rPr lang="en-US" b="0" i="0" dirty="0" err="1">
                <a:solidFill>
                  <a:srgbClr val="212529"/>
                </a:solidFill>
                <a:effectLst/>
                <a:latin typeface="Courier New" panose="02070309020205020404" pitchFamily="49" charset="0"/>
              </a:rPr>
              <a:t>css</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 Add style rules here */</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just">
              <a:lnSpc>
                <a:spcPts val="2100"/>
              </a:lnSpc>
              <a:spcBef>
                <a:spcPts val="1650"/>
              </a:spcBef>
              <a:buNone/>
            </a:pPr>
            <a:r>
              <a:rPr lang="en-US" b="0" i="0" dirty="0">
                <a:solidFill>
                  <a:srgbClr val="3A3A3A"/>
                </a:solidFill>
                <a:effectLst/>
                <a:latin typeface="Roboto" panose="02000000000000000000" pitchFamily="2" charset="0"/>
              </a:rPr>
              <a:t>The CSS rules have to be added between the opening and closing </a:t>
            </a:r>
            <a:r>
              <a:rPr lang="en-US" b="0" i="0" dirty="0">
                <a:solidFill>
                  <a:srgbClr val="3A3A3A"/>
                </a:solidFill>
                <a:effectLst/>
                <a:latin typeface="Courier New" panose="02070309020205020404" pitchFamily="49" charset="0"/>
              </a:rPr>
              <a:t>&lt;style&gt;</a:t>
            </a:r>
            <a:r>
              <a:rPr lang="en-US" b="0" i="0" dirty="0">
                <a:solidFill>
                  <a:srgbClr val="3A3A3A"/>
                </a:solidFill>
                <a:effectLst/>
                <a:latin typeface="Roboto" panose="02000000000000000000" pitchFamily="2" charset="0"/>
              </a:rPr>
              <a:t> tags. The CSS is written exactly like in standalone style-sheet files.</a:t>
            </a:r>
          </a:p>
          <a:p>
            <a:pPr algn="just">
              <a:lnSpc>
                <a:spcPts val="2100"/>
              </a:lnSpc>
              <a:spcBef>
                <a:spcPts val="750"/>
              </a:spcBef>
              <a:buNone/>
            </a:pPr>
            <a:r>
              <a:rPr lang="en-US" b="0" i="0" dirty="0">
                <a:solidFill>
                  <a:srgbClr val="3A3A3A"/>
                </a:solidFill>
                <a:effectLst/>
                <a:latin typeface="Roboto" panose="02000000000000000000" pitchFamily="2" charset="0"/>
              </a:rPr>
              <a:t>Inline Styles to HTML Elements: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Style can be added directly to the HTML element with the help of a &lt;style&gt; attribute.</a:t>
            </a:r>
          </a:p>
          <a:p>
            <a:pPr algn="l">
              <a:spcBef>
                <a:spcPts val="1125"/>
              </a:spcBef>
              <a:spcAft>
                <a:spcPts val="375"/>
              </a:spcAft>
              <a:buNone/>
            </a:pPr>
            <a:r>
              <a:rPr lang="en-US" b="0" i="0" dirty="0">
                <a:solidFill>
                  <a:srgbClr val="212529"/>
                </a:solidFill>
                <a:effectLst/>
                <a:latin typeface="Courier New" panose="02070309020205020404" pitchFamily="49" charset="0"/>
              </a:rPr>
              <a:t>&lt;h2 style="color: red; background: black;"&gt;Inline Style&lt;/h2&gt;</a:t>
            </a:r>
          </a:p>
          <a:p>
            <a:pPr algn="just">
              <a:lnSpc>
                <a:spcPts val="2100"/>
              </a:lnSpc>
              <a:spcBef>
                <a:spcPts val="1650"/>
              </a:spcBef>
              <a:buNone/>
            </a:pPr>
            <a:r>
              <a:rPr lang="en-US" b="0" i="0" dirty="0">
                <a:solidFill>
                  <a:srgbClr val="3A3A3A"/>
                </a:solidFill>
                <a:effectLst/>
                <a:latin typeface="Roboto" panose="02000000000000000000" pitchFamily="2" charset="0"/>
              </a:rPr>
              <a:t>Import a Style-sheet File:</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Another way to add CSS is by using the @import rule. Here, an external file is imported into another CSS file. This is useful for adding a new CSS file within the CSS itself.</a:t>
            </a:r>
          </a:p>
          <a:p>
            <a:pPr algn="l">
              <a:spcBef>
                <a:spcPts val="1125"/>
              </a:spcBef>
              <a:spcAft>
                <a:spcPts val="375"/>
              </a:spcAft>
              <a:buNone/>
            </a:pPr>
            <a:r>
              <a:rPr lang="en-US" b="0" i="0" dirty="0">
                <a:solidFill>
                  <a:srgbClr val="212529"/>
                </a:solidFill>
                <a:effectLst/>
                <a:latin typeface="Courier New" panose="02070309020205020404" pitchFamily="49" charset="0"/>
              </a:rPr>
              <a:t>@import "path/to/style.css";</a:t>
            </a: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578434-69E0-9C55-CA18-9EEEA03CCA23}"/>
              </a:ext>
            </a:extLst>
          </p:cNvPr>
          <p:cNvSpPr txBox="1"/>
          <p:nvPr/>
        </p:nvSpPr>
        <p:spPr>
          <a:xfrm>
            <a:off x="2477069" y="8398"/>
            <a:ext cx="4954136" cy="684802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What are the different types of selectors in CSS?</a:t>
            </a:r>
          </a:p>
          <a:p>
            <a:pPr algn="just">
              <a:lnSpc>
                <a:spcPts val="2100"/>
              </a:lnSpc>
              <a:spcBef>
                <a:spcPts val="1650"/>
              </a:spcBef>
              <a:buNone/>
            </a:pPr>
            <a:r>
              <a:rPr lang="en-US" b="0" i="0" dirty="0">
                <a:solidFill>
                  <a:srgbClr val="3A3A3A"/>
                </a:solidFill>
                <a:effectLst/>
                <a:latin typeface="Roboto" panose="02000000000000000000" pitchFamily="2" charset="0"/>
              </a:rPr>
              <a:t>A </a:t>
            </a:r>
            <a:r>
              <a:rPr lang="en-US" b="0" i="0" u="none" strike="noStrike" dirty="0">
                <a:solidFill>
                  <a:srgbClr val="0F5A9E"/>
                </a:solidFill>
                <a:effectLst/>
                <a:latin typeface="Roboto" panose="02000000000000000000" pitchFamily="2" charset="0"/>
                <a:hlinkClick r:id="rId2"/>
              </a:rPr>
              <a:t>CSS selector</a:t>
            </a:r>
            <a:r>
              <a:rPr lang="en-US" b="0" i="0" dirty="0">
                <a:solidFill>
                  <a:srgbClr val="3A3A3A"/>
                </a:solidFill>
                <a:effectLst/>
                <a:latin typeface="Roboto" panose="02000000000000000000" pitchFamily="2" charset="0"/>
              </a:rPr>
              <a:t> in a CSS rule set helps select the content that needs to be styled. The different types of selectors are listed below:</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Universal Selector: The universal selector selects all elements on a page. The provided styles will get applied to all the elements on the page.</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color: "green";</a:t>
            </a:r>
          </a:p>
          <a:p>
            <a:pPr algn="l">
              <a:spcBef>
                <a:spcPts val="1125"/>
              </a:spcBef>
              <a:spcAft>
                <a:spcPts val="375"/>
              </a:spcAft>
              <a:buNone/>
            </a:pPr>
            <a:r>
              <a:rPr lang="en-US" b="0" i="0" dirty="0">
                <a:solidFill>
                  <a:srgbClr val="212529"/>
                </a:solidFill>
                <a:effectLst/>
                <a:latin typeface="Courier New" panose="02070309020205020404" pitchFamily="49" charset="0"/>
              </a:rPr>
              <a:t>font-size: 20px;</a:t>
            </a:r>
          </a:p>
          <a:p>
            <a:pPr algn="l">
              <a:spcBef>
                <a:spcPts val="1125"/>
              </a:spcBef>
              <a:spcAft>
                <a:spcPts val="375"/>
              </a:spcAft>
              <a:buNone/>
            </a:pPr>
            <a:r>
              <a:rPr lang="en-US" b="0" i="0" dirty="0">
                <a:solidFill>
                  <a:srgbClr val="212529"/>
                </a:solidFill>
                <a:effectLst/>
                <a:latin typeface="Courier New" panose="02070309020205020404" pitchFamily="49" charset="0"/>
              </a:rPr>
              <a:t>line-height: 25px;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A715FD-34B0-02DF-8E5A-2BDE3353346D}"/>
              </a:ext>
            </a:extLst>
          </p:cNvPr>
          <p:cNvSpPr txBox="1"/>
          <p:nvPr/>
        </p:nvSpPr>
        <p:spPr>
          <a:xfrm>
            <a:off x="2477069" y="-1875451"/>
            <a:ext cx="4954136" cy="10615727"/>
          </a:xfrm>
          <a:prstGeom prst="rect">
            <a:avLst/>
          </a:prstGeom>
          <a:noFill/>
        </p:spPr>
        <p:txBody>
          <a:bodyPr wrap="square">
            <a:spAutoFit/>
          </a:bodyPr>
          <a:lstStyle/>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Element Type Selector: The element type selector selects one or more HTML elements of the same name. In the example below, the provided styles will be applied to all the ul elements on the page.</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ul {</a:t>
            </a:r>
          </a:p>
          <a:p>
            <a:pPr algn="l">
              <a:spcBef>
                <a:spcPts val="1125"/>
              </a:spcBef>
              <a:spcAft>
                <a:spcPts val="375"/>
              </a:spcAft>
              <a:buNone/>
            </a:pPr>
            <a:r>
              <a:rPr lang="en-US" b="0" i="0" dirty="0">
                <a:solidFill>
                  <a:srgbClr val="212529"/>
                </a:solidFill>
                <a:effectLst/>
                <a:latin typeface="Courier New" panose="02070309020205020404" pitchFamily="49" charset="0"/>
              </a:rPr>
              <a:t>line-style: none;</a:t>
            </a:r>
          </a:p>
          <a:p>
            <a:pPr algn="l">
              <a:spcBef>
                <a:spcPts val="1125"/>
              </a:spcBef>
              <a:spcAft>
                <a:spcPts val="375"/>
              </a:spcAft>
              <a:buNone/>
            </a:pPr>
            <a:r>
              <a:rPr lang="en-US" b="0" i="0" dirty="0">
                <a:solidFill>
                  <a:srgbClr val="212529"/>
                </a:solidFill>
                <a:effectLst/>
                <a:latin typeface="Courier New" panose="02070309020205020404" pitchFamily="49" charset="0"/>
              </a:rPr>
              <a:t>border: solid 1px #ccc;</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ID Selector: The ID selector is used for selecting any HTML element that has an </a:t>
            </a:r>
            <a:r>
              <a:rPr lang="en-US" b="0" i="0" u="none" strike="noStrike" dirty="0">
                <a:solidFill>
                  <a:srgbClr val="0F5A9E"/>
                </a:solidFill>
                <a:effectLst/>
                <a:latin typeface="Roboto" panose="02000000000000000000" pitchFamily="2" charset="0"/>
                <a:hlinkClick r:id="rId2"/>
              </a:rPr>
              <a:t>ID attribute</a:t>
            </a:r>
            <a:r>
              <a:rPr lang="en-US" b="0" i="0" dirty="0">
                <a:solidFill>
                  <a:srgbClr val="3A3A3A"/>
                </a:solidFill>
                <a:effectLst/>
                <a:latin typeface="Roboto" panose="02000000000000000000" pitchFamily="2" charset="0"/>
              </a:rPr>
              <a:t> same as the selector. In the below example, the assigned styles will get applied to all the elements having the ID container.</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#container {</a:t>
            </a:r>
          </a:p>
          <a:p>
            <a:pPr algn="l">
              <a:spcBef>
                <a:spcPts val="1125"/>
              </a:spcBef>
              <a:spcAft>
                <a:spcPts val="375"/>
              </a:spcAft>
              <a:buNone/>
            </a:pPr>
            <a:r>
              <a:rPr lang="en-US" b="0" i="0" dirty="0">
                <a:solidFill>
                  <a:srgbClr val="212529"/>
                </a:solidFill>
                <a:effectLst/>
                <a:latin typeface="Courier New" panose="02070309020205020404" pitchFamily="49" charset="0"/>
              </a:rPr>
              <a:t>width: 960px;</a:t>
            </a:r>
          </a:p>
          <a:p>
            <a:pPr algn="l">
              <a:spcBef>
                <a:spcPts val="1125"/>
              </a:spcBef>
              <a:spcAft>
                <a:spcPts val="375"/>
              </a:spcAft>
              <a:buNone/>
            </a:pPr>
            <a:r>
              <a:rPr lang="en-US" b="0" i="0" dirty="0">
                <a:solidFill>
                  <a:srgbClr val="212529"/>
                </a:solidFill>
                <a:effectLst/>
                <a:latin typeface="Courier New" panose="02070309020205020404" pitchFamily="49" charset="0"/>
              </a:rPr>
              <a:t>margin: 0 auto;</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&lt;div id="container"&gt;&lt;/div&gt;</a:t>
            </a: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C24CF5-D53B-6FB7-8FA5-EDF84062D249}"/>
              </a:ext>
            </a:extLst>
          </p:cNvPr>
          <p:cNvSpPr txBox="1"/>
          <p:nvPr/>
        </p:nvSpPr>
        <p:spPr>
          <a:xfrm>
            <a:off x="2477069" y="-4122220"/>
            <a:ext cx="4954136" cy="15109264"/>
          </a:xfrm>
          <a:prstGeom prst="rect">
            <a:avLst/>
          </a:prstGeom>
          <a:noFill/>
        </p:spPr>
        <p:txBody>
          <a:bodyPr wrap="square">
            <a:spAutoFit/>
          </a:bodyPr>
          <a:lstStyle/>
          <a:p>
            <a:pPr algn="just">
              <a:lnSpc>
                <a:spcPts val="2100"/>
              </a:lnSpc>
              <a:spcBef>
                <a:spcPts val="1650"/>
              </a:spcBef>
              <a:spcAft>
                <a:spcPts val="600"/>
              </a:spcAft>
              <a:buFont typeface="Arial" panose="020B0604020202020204" pitchFamily="34" charset="0"/>
              <a:buChar char="•"/>
            </a:pP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Class Selector: The class selector choses all the page elements with class attributes that are set to the same value as the class. The styles get applied to all the elements having the same ID on the page.</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.box {</a:t>
            </a:r>
          </a:p>
          <a:p>
            <a:pPr algn="l">
              <a:spcBef>
                <a:spcPts val="1125"/>
              </a:spcBef>
              <a:spcAft>
                <a:spcPts val="375"/>
              </a:spcAft>
              <a:buNone/>
            </a:pPr>
            <a:r>
              <a:rPr lang="en-US" b="0" i="0" dirty="0">
                <a:solidFill>
                  <a:srgbClr val="212529"/>
                </a:solidFill>
                <a:effectLst/>
                <a:latin typeface="Courier New" panose="02070309020205020404" pitchFamily="49" charset="0"/>
              </a:rPr>
              <a:t>padding: 10px;</a:t>
            </a:r>
          </a:p>
          <a:p>
            <a:pPr algn="l">
              <a:spcBef>
                <a:spcPts val="1125"/>
              </a:spcBef>
              <a:spcAft>
                <a:spcPts val="375"/>
              </a:spcAft>
              <a:buNone/>
            </a:pPr>
            <a:r>
              <a:rPr lang="en-US" b="0" i="0" dirty="0">
                <a:solidFill>
                  <a:srgbClr val="212529"/>
                </a:solidFill>
                <a:effectLst/>
                <a:latin typeface="Courier New" panose="02070309020205020404" pitchFamily="49" charset="0"/>
              </a:rPr>
              <a:t>margin: 10px;</a:t>
            </a:r>
          </a:p>
          <a:p>
            <a:pPr algn="l">
              <a:spcBef>
                <a:spcPts val="1125"/>
              </a:spcBef>
              <a:spcAft>
                <a:spcPts val="375"/>
              </a:spcAft>
              <a:buNone/>
            </a:pPr>
            <a:r>
              <a:rPr lang="en-US" b="0" i="0" dirty="0">
                <a:solidFill>
                  <a:srgbClr val="212529"/>
                </a:solidFill>
                <a:effectLst/>
                <a:latin typeface="Courier New" panose="02070309020205020404" pitchFamily="49" charset="0"/>
              </a:rPr>
              <a:t>width: 240px;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class="box"&gt;&lt;/div&gt;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Descendant Combinator: The descendant selector or, more accurately, the descendant combinator lets you combine two or more selectors and be more specific in the selection method.</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#container .box {</a:t>
            </a:r>
          </a:p>
          <a:p>
            <a:pPr algn="l">
              <a:spcBef>
                <a:spcPts val="1125"/>
              </a:spcBef>
              <a:spcAft>
                <a:spcPts val="375"/>
              </a:spcAft>
              <a:buNone/>
            </a:pPr>
            <a:r>
              <a:rPr lang="en-US" b="0" i="0" dirty="0">
                <a:solidFill>
                  <a:srgbClr val="212529"/>
                </a:solidFill>
                <a:effectLst/>
                <a:latin typeface="Courier New" panose="02070309020205020404" pitchFamily="49" charset="0"/>
              </a:rPr>
              <a:t>float: left;</a:t>
            </a:r>
          </a:p>
          <a:p>
            <a:pPr algn="l">
              <a:spcBef>
                <a:spcPts val="1125"/>
              </a:spcBef>
              <a:spcAft>
                <a:spcPts val="375"/>
              </a:spcAft>
              <a:buNone/>
            </a:pPr>
            <a:r>
              <a:rPr lang="en-US" b="0" i="0" dirty="0">
                <a:solidFill>
                  <a:srgbClr val="212529"/>
                </a:solidFill>
                <a:effectLst/>
                <a:latin typeface="Courier New" panose="02070309020205020404" pitchFamily="49" charset="0"/>
              </a:rPr>
              <a:t>padding-bottom: 15px;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&lt;div id="container"&gt;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class="box"&gt;&lt;/div&gt;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class="box-2"&gt;&lt;/div&gt;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class="”box”"&gt;&lt;/div&gt;</a:t>
            </a: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85ECDB-23A7-65F3-DE02-835BD6610954}"/>
              </a:ext>
            </a:extLst>
          </p:cNvPr>
          <p:cNvSpPr txBox="1"/>
          <p:nvPr/>
        </p:nvSpPr>
        <p:spPr>
          <a:xfrm>
            <a:off x="2477069" y="-2179380"/>
            <a:ext cx="4954136" cy="11223585"/>
          </a:xfrm>
          <a:prstGeom prst="rect">
            <a:avLst/>
          </a:prstGeom>
          <a:noFill/>
        </p:spPr>
        <p:txBody>
          <a:bodyPr wrap="square">
            <a:spAutoFit/>
          </a:bodyPr>
          <a:lstStyle/>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 the above example, the declaration block applies to all elements having a class, “box”, that are inside an element with the ID, “container”.  It is worth noting that the .box element does not have to be an immediate child; there can be another element wrapping the .box, and the styles will still apply.</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Child Combinator: The child combinator is similar to the descendant combinator, except it only targets immediate child elements.</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#container &gt; .box {</a:t>
            </a:r>
          </a:p>
          <a:p>
            <a:pPr algn="l">
              <a:spcBef>
                <a:spcPts val="1125"/>
              </a:spcBef>
              <a:spcAft>
                <a:spcPts val="375"/>
              </a:spcAft>
              <a:buNone/>
            </a:pPr>
            <a:r>
              <a:rPr lang="en-US" b="0" i="0" dirty="0">
                <a:solidFill>
                  <a:srgbClr val="212529"/>
                </a:solidFill>
                <a:effectLst/>
                <a:latin typeface="Courier New" panose="02070309020205020404" pitchFamily="49" charset="0"/>
              </a:rPr>
              <a:t>float: left;</a:t>
            </a:r>
          </a:p>
          <a:p>
            <a:pPr algn="l">
              <a:spcBef>
                <a:spcPts val="1125"/>
              </a:spcBef>
              <a:spcAft>
                <a:spcPts val="375"/>
              </a:spcAft>
              <a:buNone/>
            </a:pPr>
            <a:r>
              <a:rPr lang="en-US" b="0" i="0" dirty="0">
                <a:solidFill>
                  <a:srgbClr val="212529"/>
                </a:solidFill>
                <a:effectLst/>
                <a:latin typeface="Courier New" panose="02070309020205020404" pitchFamily="49" charset="0"/>
              </a:rPr>
              <a:t>padding-bottom: 15px;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&lt;div id="container"&gt;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class="box"&gt;&lt;/div&gt;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class="box"&gt;&lt;/div&gt;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just">
              <a:lnSpc>
                <a:spcPts val="2100"/>
              </a:lnSpc>
              <a:spcBef>
                <a:spcPts val="1650"/>
              </a:spcBef>
              <a:buNone/>
            </a:pPr>
            <a:r>
              <a:rPr lang="en-US" b="0" i="0" dirty="0">
                <a:solidFill>
                  <a:srgbClr val="3A3A3A"/>
                </a:solidFill>
                <a:effectLst/>
                <a:latin typeface="Roboto" panose="02000000000000000000" pitchFamily="2" charset="0"/>
              </a:rPr>
              <a:t>The selector will match all elements that have a class, “box”, and are immediate children of the element, “container”.</a:t>
            </a:r>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003BF5C-CB4B-60B0-1C7B-ABC1BD5E24AC}"/>
              </a:ext>
            </a:extLst>
          </p:cNvPr>
          <p:cNvSpPr txBox="1"/>
          <p:nvPr/>
        </p:nvSpPr>
        <p:spPr>
          <a:xfrm>
            <a:off x="2477069" y="-1493295"/>
            <a:ext cx="4954136" cy="9851415"/>
          </a:xfrm>
          <a:prstGeom prst="rect">
            <a:avLst/>
          </a:prstGeom>
          <a:noFill/>
        </p:spPr>
        <p:txBody>
          <a:bodyPr wrap="square">
            <a:spAutoFit/>
          </a:bodyPr>
          <a:lstStyle/>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General Sibling Combinator: The general sibling combinator matches elements based on sibling relationships. The selected elements are adjacent to each other in HTML.</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h2 ~ p {</a:t>
            </a:r>
          </a:p>
          <a:p>
            <a:pPr algn="l">
              <a:spcBef>
                <a:spcPts val="1125"/>
              </a:spcBef>
              <a:spcAft>
                <a:spcPts val="375"/>
              </a:spcAft>
              <a:buNone/>
            </a:pPr>
            <a:r>
              <a:rPr lang="en-US" b="0" i="0" dirty="0">
                <a:solidFill>
                  <a:srgbClr val="212529"/>
                </a:solidFill>
                <a:effectLst/>
                <a:latin typeface="Courier New" panose="02070309020205020404" pitchFamily="49" charset="0"/>
              </a:rPr>
              <a:t>margin-bottom: 20px;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&lt;h2&gt;Title&lt;/h2&gt;</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 </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 </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 </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just">
              <a:lnSpc>
                <a:spcPts val="2100"/>
              </a:lnSpc>
              <a:spcBef>
                <a:spcPts val="1650"/>
              </a:spcBef>
              <a:buNone/>
            </a:pPr>
            <a:r>
              <a:rPr lang="en-US" b="0" i="0" dirty="0">
                <a:solidFill>
                  <a:srgbClr val="3A3A3A"/>
                </a:solidFill>
                <a:effectLst/>
                <a:latin typeface="Roboto" panose="02000000000000000000" pitchFamily="2" charset="0"/>
              </a:rPr>
              <a:t>In the above example, all paragraph elements, (&lt;p&gt;), will be styled with the specified rules, but only if they are siblings of &lt;h2&gt; elements. Even if there are other elements in between &lt;h2&gt; and &lt;p&gt;, the styles will still apply.</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DF2E3F-CE3B-BB37-9662-887402628D64}"/>
              </a:ext>
            </a:extLst>
          </p:cNvPr>
          <p:cNvSpPr txBox="1"/>
          <p:nvPr/>
        </p:nvSpPr>
        <p:spPr>
          <a:xfrm>
            <a:off x="2477069" y="-2401236"/>
            <a:ext cx="4954136" cy="11667297"/>
          </a:xfrm>
          <a:prstGeom prst="rect">
            <a:avLst/>
          </a:prstGeom>
          <a:noFill/>
        </p:spPr>
        <p:txBody>
          <a:bodyPr wrap="square">
            <a:spAutoFit/>
          </a:bodyPr>
          <a:lstStyle/>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Adjacent Sibling Combinator: The adjacent sibling combinator is almost the same as the general sibling selector but the targeted element must be an immediate sibling, not just a general sibling. The adjacent sibling combinator uses the plus symbol, (+).</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p + p {</a:t>
            </a:r>
          </a:p>
          <a:p>
            <a:pPr algn="l">
              <a:spcBef>
                <a:spcPts val="1125"/>
              </a:spcBef>
              <a:spcAft>
                <a:spcPts val="375"/>
              </a:spcAft>
              <a:buNone/>
            </a:pPr>
            <a:r>
              <a:rPr lang="en-US" b="0" i="0" dirty="0">
                <a:solidFill>
                  <a:srgbClr val="212529"/>
                </a:solidFill>
                <a:effectLst/>
                <a:latin typeface="Courier New" panose="02070309020205020404" pitchFamily="49" charset="0"/>
              </a:rPr>
              <a:t>text-indent: 1.Sem;</a:t>
            </a:r>
          </a:p>
          <a:p>
            <a:pPr algn="l">
              <a:spcBef>
                <a:spcPts val="1125"/>
              </a:spcBef>
              <a:spcAft>
                <a:spcPts val="375"/>
              </a:spcAft>
              <a:buNone/>
            </a:pPr>
            <a:r>
              <a:rPr lang="en-US" b="0" i="0" dirty="0">
                <a:solidFill>
                  <a:srgbClr val="212529"/>
                </a:solidFill>
                <a:effectLst/>
                <a:latin typeface="Courier New" panose="02070309020205020404" pitchFamily="49" charset="0"/>
              </a:rPr>
              <a:t>margin-bottom: 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&lt;h2&gt;Title&lt;/h2&gt;</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&lt;div class="”box”"&gt;</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Paragraph example.</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just">
              <a:lnSpc>
                <a:spcPts val="2100"/>
              </a:lnSpc>
              <a:spcBef>
                <a:spcPts val="1650"/>
              </a:spcBef>
              <a:buNone/>
            </a:pPr>
            <a:r>
              <a:rPr lang="en-US" b="0" i="0" dirty="0">
                <a:solidFill>
                  <a:srgbClr val="3A3A3A"/>
                </a:solidFill>
                <a:effectLst/>
                <a:latin typeface="Roboto" panose="02000000000000000000" pitchFamily="2" charset="0"/>
              </a:rPr>
              <a:t>In the above example, the specified styles will apply only to those paragraph elements that immediately follow other paragraph elements. This means that the first paragraph element on a page will not receive these </a:t>
            </a:r>
            <a:r>
              <a:rPr lang="en-US" b="0" i="0" dirty="0" err="1">
                <a:solidFill>
                  <a:srgbClr val="3A3A3A"/>
                </a:solidFill>
                <a:effectLst/>
                <a:latin typeface="Roboto" panose="02000000000000000000" pitchFamily="2" charset="0"/>
              </a:rPr>
              <a:t>styles.If</a:t>
            </a:r>
            <a:r>
              <a:rPr lang="en-US" b="0" i="0" dirty="0">
                <a:solidFill>
                  <a:srgbClr val="3A3A3A"/>
                </a:solidFill>
                <a:effectLst/>
                <a:latin typeface="Roboto" panose="02000000000000000000" pitchFamily="2" charset="0"/>
              </a:rPr>
              <a:t> there are other elements appearing between two paragraphs, the styles will not apply to the second paragraph.</a:t>
            </a:r>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EAFC54-F5EC-0585-7628-7459845157F2}"/>
              </a:ext>
            </a:extLst>
          </p:cNvPr>
          <p:cNvSpPr txBox="1"/>
          <p:nvPr/>
        </p:nvSpPr>
        <p:spPr>
          <a:xfrm>
            <a:off x="2477069" y="488016"/>
            <a:ext cx="4954136" cy="5888792"/>
          </a:xfrm>
          <a:prstGeom prst="rect">
            <a:avLst/>
          </a:prstGeom>
          <a:noFill/>
        </p:spPr>
        <p:txBody>
          <a:bodyPr wrap="square">
            <a:spAutoFit/>
          </a:bodyPr>
          <a:lstStyle/>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Attribute Selector: The attribute selector targets elements based on the presence and/or value of HTML attributes. It is declared using square brackets.</a:t>
            </a:r>
          </a:p>
          <a:p>
            <a:pPr algn="l">
              <a:spcBef>
                <a:spcPts val="1125"/>
              </a:spcBef>
              <a:spcAft>
                <a:spcPts val="375"/>
              </a:spcAft>
              <a:buNone/>
            </a:pPr>
            <a:r>
              <a:rPr lang="en-US" b="0" i="0" dirty="0">
                <a:solidFill>
                  <a:srgbClr val="212529"/>
                </a:solidFill>
                <a:effectLst/>
                <a:latin typeface="Courier New" panose="02070309020205020404" pitchFamily="49" charset="0"/>
              </a:rPr>
              <a:t>&lt;!-- Style Part --&gt;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input[type=”text”]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#444;</a:t>
            </a:r>
          </a:p>
          <a:p>
            <a:pPr algn="l">
              <a:spcBef>
                <a:spcPts val="1125"/>
              </a:spcBef>
              <a:spcAft>
                <a:spcPts val="375"/>
              </a:spcAft>
              <a:buNone/>
            </a:pPr>
            <a:r>
              <a:rPr lang="en-US" b="0" i="0" dirty="0">
                <a:solidFill>
                  <a:srgbClr val="212529"/>
                </a:solidFill>
                <a:effectLst/>
                <a:latin typeface="Courier New" panose="02070309020205020404" pitchFamily="49" charset="0"/>
              </a:rPr>
              <a:t>width: 200px;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Body Part --&gt;</a:t>
            </a:r>
          </a:p>
          <a:p>
            <a:pPr algn="l">
              <a:spcBef>
                <a:spcPts val="1125"/>
              </a:spcBef>
              <a:spcAft>
                <a:spcPts val="375"/>
              </a:spcAft>
              <a:buNone/>
            </a:pPr>
            <a:r>
              <a:rPr lang="en-US" b="0" i="0" dirty="0">
                <a:solidFill>
                  <a:srgbClr val="212529"/>
                </a:solidFill>
                <a:effectLst/>
                <a:latin typeface="Courier New" panose="02070309020205020404" pitchFamily="49" charset="0"/>
              </a:rPr>
              <a:t>&lt;input type="text"&gt;</a:t>
            </a:r>
          </a:p>
        </p:txBody>
      </p:sp>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370E8A-0C71-A901-B8B2-C9A4BA208EA3}"/>
              </a:ext>
            </a:extLst>
          </p:cNvPr>
          <p:cNvSpPr txBox="1"/>
          <p:nvPr/>
        </p:nvSpPr>
        <p:spPr>
          <a:xfrm>
            <a:off x="2477069" y="1174102"/>
            <a:ext cx="4954136" cy="451662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What is the difference among inline, inline-block, and block elements?</a:t>
            </a:r>
          </a:p>
          <a:p>
            <a:pPr algn="just">
              <a:lnSpc>
                <a:spcPts val="2100"/>
              </a:lnSpc>
              <a:spcBef>
                <a:spcPts val="1650"/>
              </a:spcBef>
              <a:buNone/>
            </a:pPr>
            <a:r>
              <a:rPr lang="en-US" b="0" i="0" dirty="0">
                <a:solidFill>
                  <a:srgbClr val="3A3A3A"/>
                </a:solidFill>
                <a:effectLst/>
                <a:latin typeface="Roboto" panose="02000000000000000000" pitchFamily="2" charset="0"/>
              </a:rPr>
              <a:t>Block Element: Block elements always start on a new line and occupy an entire row or width. Examples of block elements are &lt;div&gt; and &lt;p&gt;.</a:t>
            </a:r>
          </a:p>
          <a:p>
            <a:pPr algn="just">
              <a:lnSpc>
                <a:spcPts val="2100"/>
              </a:lnSpc>
              <a:spcBef>
                <a:spcPts val="750"/>
              </a:spcBef>
              <a:buNone/>
            </a:pPr>
            <a:r>
              <a:rPr lang="en-US" b="0" i="0" dirty="0">
                <a:solidFill>
                  <a:srgbClr val="3A3A3A"/>
                </a:solidFill>
                <a:effectLst/>
                <a:latin typeface="Roboto" panose="02000000000000000000" pitchFamily="2" charset="0"/>
              </a:rPr>
              <a:t>Inline Elements: Inline elements do not start on a new line; they appear on the same line as the content and tags beside them. Some examples of inline elements are &lt;a&gt;, &lt;strong&gt;, &lt;span&gt;, and &lt;</a:t>
            </a:r>
            <a:r>
              <a:rPr lang="en-US" b="0" i="0" dirty="0" err="1">
                <a:solidFill>
                  <a:srgbClr val="3A3A3A"/>
                </a:solidFill>
                <a:effectLst/>
                <a:latin typeface="Roboto" panose="02000000000000000000" pitchFamily="2" charset="0"/>
              </a:rPr>
              <a:t>img</a:t>
            </a:r>
            <a:r>
              <a:rPr lang="en-US" b="0" i="0" dirty="0">
                <a:solidFill>
                  <a:srgbClr val="3A3A3A"/>
                </a:solidFill>
                <a:effectLst/>
                <a:latin typeface="Roboto" panose="02000000000000000000" pitchFamily="2" charset="0"/>
              </a:rPr>
              <a:t>&gt;.</a:t>
            </a:r>
          </a:p>
          <a:p>
            <a:pPr algn="just">
              <a:lnSpc>
                <a:spcPts val="2100"/>
              </a:lnSpc>
              <a:spcBef>
                <a:spcPts val="750"/>
              </a:spcBef>
              <a:buNone/>
            </a:pPr>
            <a:r>
              <a:rPr lang="en-US" b="0" i="0" dirty="0">
                <a:solidFill>
                  <a:srgbClr val="3A3A3A"/>
                </a:solidFill>
                <a:effectLst/>
                <a:latin typeface="Roboto" panose="02000000000000000000" pitchFamily="2" charset="0"/>
              </a:rPr>
              <a:t>Inline-block Elements: Inline-block elements are similar to inline elements, but they can have padding, margins, and set height and width values.</a:t>
            </a:r>
          </a:p>
        </p:txBody>
      </p:sp>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602B99-A0A7-943A-9639-EFCC17C72ACE}"/>
              </a:ext>
            </a:extLst>
          </p:cNvPr>
          <p:cNvSpPr txBox="1"/>
          <p:nvPr/>
        </p:nvSpPr>
        <p:spPr>
          <a:xfrm>
            <a:off x="2477069" y="-1295485"/>
            <a:ext cx="4954136" cy="945579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What are pseudo elements and pseudo classes?</a:t>
            </a:r>
          </a:p>
          <a:p>
            <a:pPr algn="just">
              <a:lnSpc>
                <a:spcPts val="2100"/>
              </a:lnSpc>
              <a:spcBef>
                <a:spcPts val="1650"/>
              </a:spcBef>
              <a:buNone/>
            </a:pPr>
            <a:r>
              <a:rPr lang="en-US" b="0" i="0" dirty="0">
                <a:solidFill>
                  <a:srgbClr val="3A3A3A"/>
                </a:solidFill>
                <a:effectLst/>
                <a:latin typeface="Roboto" panose="02000000000000000000" pitchFamily="2" charset="0"/>
              </a:rPr>
              <a:t>Pseudo-elements help to create items that do not normally exist in the document tree. The examples of pseudo-elements are:</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before:Inserts</a:t>
            </a:r>
            <a:r>
              <a:rPr lang="en-US" b="0" i="0" dirty="0">
                <a:solidFill>
                  <a:srgbClr val="3A3A3A"/>
                </a:solidFill>
                <a:effectLst/>
                <a:latin typeface="Roboto" panose="02000000000000000000" pitchFamily="2" charset="0"/>
              </a:rPr>
              <a:t> content before the content of an element.</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p::before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content: "Note: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color: red;</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::after: Inserts content after the content of an element.</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p::after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content: " [End]";</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color: gray;</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::selection: Styles the portion of text selected by the user.</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::selection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background: yellow;</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color: black;</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F00EB6-5D5F-F2CF-DCF1-3A061EFC5136}"/>
              </a:ext>
            </a:extLst>
          </p:cNvPr>
          <p:cNvSpPr txBox="1"/>
          <p:nvPr/>
        </p:nvSpPr>
        <p:spPr>
          <a:xfrm>
            <a:off x="2477069" y="-1851085"/>
            <a:ext cx="4954136" cy="10566995"/>
          </a:xfrm>
          <a:prstGeom prst="rect">
            <a:avLst/>
          </a:prstGeom>
          <a:noFill/>
        </p:spPr>
        <p:txBody>
          <a:bodyPr wrap="square">
            <a:spAutoFit/>
          </a:bodyPr>
          <a:lstStyle/>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first-letter:Styles</a:t>
            </a:r>
            <a:r>
              <a:rPr lang="en-US" b="0" i="0" dirty="0">
                <a:solidFill>
                  <a:srgbClr val="3A3A3A"/>
                </a:solidFill>
                <a:effectLst/>
                <a:latin typeface="Roboto" panose="02000000000000000000" pitchFamily="2" charset="0"/>
              </a:rPr>
              <a:t> the first letter of the text in an element.</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p::first-letter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font-size: 200%;</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  color: green;</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::first-line: Styles the first line of text inside an element.</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p::first-line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font-weight: bold;</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Pseudo classes select regular elements under specific conditions such as when a user is hovering over a link. The examples of pseudo classes are: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hover:Applies</a:t>
            </a:r>
            <a:r>
              <a:rPr lang="en-US" b="0" i="0" dirty="0">
                <a:solidFill>
                  <a:srgbClr val="3A3A3A"/>
                </a:solidFill>
                <a:effectLst/>
                <a:latin typeface="Roboto" panose="02000000000000000000" pitchFamily="2" charset="0"/>
              </a:rPr>
              <a:t> when the user hovers the mouse pointer over an element.</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a:hover {</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color: orange;</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text-decoration: underline;</a:t>
            </a:r>
          </a:p>
          <a:p>
            <a:pPr algn="just">
              <a:lnSpc>
                <a:spcPts val="2100"/>
              </a:lnSpc>
              <a:spcBef>
                <a:spcPts val="1125"/>
              </a:spcBef>
              <a:spcAft>
                <a:spcPts val="375"/>
              </a:spcAft>
              <a:buFont typeface="Arial" panose="020B0604020202020204" pitchFamily="34" charset="0"/>
              <a:buChar char="•"/>
            </a:pPr>
            <a:r>
              <a:rPr lang="en-US" b="0" i="0" dirty="0">
                <a:solidFill>
                  <a:srgbClr val="212529"/>
                </a:solidFill>
                <a:effectLst/>
                <a:latin typeface="Courier New" panose="02070309020205020404" pitchFamily="49" charset="0"/>
              </a:rPr>
              <a:t>}</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active:Applies</a:t>
            </a:r>
            <a:r>
              <a:rPr lang="en-US" b="0" i="0" dirty="0">
                <a:solidFill>
                  <a:srgbClr val="3A3A3A"/>
                </a:solidFill>
                <a:effectLst/>
                <a:latin typeface="Roboto" panose="02000000000000000000" pitchFamily="2" charset="0"/>
              </a:rPr>
              <a:t> when an element is being clicked or activated.</a:t>
            </a:r>
          </a:p>
          <a:p>
            <a:pPr algn="l">
              <a:spcBef>
                <a:spcPts val="1125"/>
              </a:spcBef>
              <a:spcAft>
                <a:spcPts val="375"/>
              </a:spcAft>
              <a:buNone/>
            </a:pPr>
            <a:r>
              <a:rPr lang="en-US" b="0" i="0" dirty="0" err="1">
                <a:solidFill>
                  <a:srgbClr val="212529"/>
                </a:solidFill>
                <a:effectLst/>
                <a:latin typeface="Courier New" panose="02070309020205020404" pitchFamily="49" charset="0"/>
              </a:rPr>
              <a:t>button:active</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red;</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90DD52-14FE-E667-296A-7C7122478738}"/>
              </a:ext>
            </a:extLst>
          </p:cNvPr>
          <p:cNvSpPr txBox="1"/>
          <p:nvPr/>
        </p:nvSpPr>
        <p:spPr>
          <a:xfrm>
            <a:off x="2477069" y="293091"/>
            <a:ext cx="4954136" cy="6278642"/>
          </a:xfrm>
          <a:prstGeom prst="rect">
            <a:avLst/>
          </a:prstGeom>
          <a:noFill/>
        </p:spPr>
        <p:txBody>
          <a:bodyPr wrap="square">
            <a:spAutoFit/>
          </a:bodyPr>
          <a:lstStyle/>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link:Targets</a:t>
            </a:r>
            <a:r>
              <a:rPr lang="en-US" b="0" i="0" dirty="0">
                <a:solidFill>
                  <a:srgbClr val="3A3A3A"/>
                </a:solidFill>
                <a:effectLst/>
                <a:latin typeface="Roboto" panose="02000000000000000000" pitchFamily="2" charset="0"/>
              </a:rPr>
              <a:t> all unvisited hyperlinks.</a:t>
            </a:r>
          </a:p>
          <a:p>
            <a:pPr algn="l">
              <a:spcBef>
                <a:spcPts val="1125"/>
              </a:spcBef>
              <a:spcAft>
                <a:spcPts val="375"/>
              </a:spcAft>
              <a:buNone/>
            </a:pPr>
            <a:r>
              <a:rPr lang="en-US" b="0" i="0" dirty="0">
                <a:solidFill>
                  <a:srgbClr val="212529"/>
                </a:solidFill>
                <a:effectLst/>
                <a:latin typeface="Courier New" panose="02070309020205020404" pitchFamily="49" charset="0"/>
              </a:rPr>
              <a:t>a:link {</a:t>
            </a:r>
          </a:p>
          <a:p>
            <a:pPr algn="l">
              <a:spcBef>
                <a:spcPts val="1125"/>
              </a:spcBef>
              <a:spcAft>
                <a:spcPts val="375"/>
              </a:spcAft>
              <a:buNone/>
            </a:pPr>
            <a:r>
              <a:rPr lang="en-US" b="0" i="0" dirty="0">
                <a:solidFill>
                  <a:srgbClr val="212529"/>
                </a:solidFill>
                <a:effectLst/>
                <a:latin typeface="Courier New" panose="02070309020205020404" pitchFamily="49" charset="0"/>
              </a:rPr>
              <a:t>color: blue;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visited:Targets</a:t>
            </a:r>
            <a:r>
              <a:rPr lang="en-US" b="0" i="0" dirty="0">
                <a:solidFill>
                  <a:srgbClr val="3A3A3A"/>
                </a:solidFill>
                <a:effectLst/>
                <a:latin typeface="Roboto" panose="02000000000000000000" pitchFamily="2" charset="0"/>
              </a:rPr>
              <a:t> hyperlinks that the user has already visited.</a:t>
            </a:r>
          </a:p>
          <a:p>
            <a:pPr algn="l">
              <a:spcBef>
                <a:spcPts val="1125"/>
              </a:spcBef>
              <a:spcAft>
                <a:spcPts val="375"/>
              </a:spcAft>
              <a:buNone/>
            </a:pPr>
            <a:r>
              <a:rPr lang="en-US" b="0" i="0" dirty="0">
                <a:solidFill>
                  <a:srgbClr val="212529"/>
                </a:solidFill>
                <a:effectLst/>
                <a:latin typeface="Courier New" panose="02070309020205020404" pitchFamily="49" charset="0"/>
              </a:rPr>
              <a:t>a:visited {</a:t>
            </a:r>
          </a:p>
          <a:p>
            <a:pPr algn="l">
              <a:spcBef>
                <a:spcPts val="1125"/>
              </a:spcBef>
              <a:spcAft>
                <a:spcPts val="375"/>
              </a:spcAft>
              <a:buNone/>
            </a:pPr>
            <a:r>
              <a:rPr lang="en-US" b="0" i="0" dirty="0">
                <a:solidFill>
                  <a:srgbClr val="212529"/>
                </a:solidFill>
                <a:effectLst/>
                <a:latin typeface="Courier New" panose="02070309020205020404" pitchFamily="49" charset="0"/>
              </a:rPr>
              <a:t>color: purple;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t>
            </a:r>
            <a:r>
              <a:rPr lang="en-US" b="0" i="0" dirty="0" err="1">
                <a:solidFill>
                  <a:srgbClr val="3A3A3A"/>
                </a:solidFill>
                <a:effectLst/>
                <a:latin typeface="Roboto" panose="02000000000000000000" pitchFamily="2" charset="0"/>
              </a:rPr>
              <a:t>focus:Applies</a:t>
            </a:r>
            <a:r>
              <a:rPr lang="en-US" b="0" i="0" dirty="0">
                <a:solidFill>
                  <a:srgbClr val="3A3A3A"/>
                </a:solidFill>
                <a:effectLst/>
                <a:latin typeface="Roboto" panose="02000000000000000000" pitchFamily="2" charset="0"/>
              </a:rPr>
              <a:t> when an element (like a form field) is focused via keyboard or mouse.</a:t>
            </a:r>
          </a:p>
          <a:p>
            <a:pPr algn="l">
              <a:spcBef>
                <a:spcPts val="1125"/>
              </a:spcBef>
              <a:spcAft>
                <a:spcPts val="375"/>
              </a:spcAft>
              <a:buNone/>
            </a:pPr>
            <a:r>
              <a:rPr lang="en-US" b="0" i="0" dirty="0" err="1">
                <a:solidFill>
                  <a:srgbClr val="212529"/>
                </a:solidFill>
                <a:effectLst/>
                <a:latin typeface="Courier New" panose="02070309020205020404" pitchFamily="49" charset="0"/>
              </a:rPr>
              <a:t>input:focus</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border: 2px solid green;</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A53334-3045-AC90-5A17-5C498F965DD4}"/>
              </a:ext>
            </a:extLst>
          </p:cNvPr>
          <p:cNvSpPr txBox="1"/>
          <p:nvPr/>
        </p:nvSpPr>
        <p:spPr>
          <a:xfrm>
            <a:off x="279779" y="264559"/>
            <a:ext cx="4954136"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What are the differences between adaptive design and responsive design?</a:t>
            </a:r>
          </a:p>
        </p:txBody>
      </p:sp>
      <p:graphicFrame>
        <p:nvGraphicFramePr>
          <p:cNvPr id="4" name="Table 3">
            <a:extLst>
              <a:ext uri="{FF2B5EF4-FFF2-40B4-BE49-F238E27FC236}">
                <a16:creationId xmlns:a16="http://schemas.microsoft.com/office/drawing/2014/main" id="{7C3B2F38-44A4-E745-1CB6-74EA6D927E11}"/>
              </a:ext>
            </a:extLst>
          </p:cNvPr>
          <p:cNvGraphicFramePr>
            <a:graphicFrameLocks noGrp="1"/>
          </p:cNvGraphicFramePr>
          <p:nvPr/>
        </p:nvGraphicFramePr>
        <p:xfrm>
          <a:off x="1872862" y="1822304"/>
          <a:ext cx="6160276" cy="4357980"/>
        </p:xfrm>
        <a:graphic>
          <a:graphicData uri="http://schemas.openxmlformats.org/drawingml/2006/table">
            <a:tbl>
              <a:tblPr/>
              <a:tblGrid>
                <a:gridCol w="3080138">
                  <a:extLst>
                    <a:ext uri="{9D8B030D-6E8A-4147-A177-3AD203B41FA5}">
                      <a16:colId xmlns:a16="http://schemas.microsoft.com/office/drawing/2014/main" val="1967570694"/>
                    </a:ext>
                  </a:extLst>
                </a:gridCol>
                <a:gridCol w="3080138">
                  <a:extLst>
                    <a:ext uri="{9D8B030D-6E8A-4147-A177-3AD203B41FA5}">
                      <a16:colId xmlns:a16="http://schemas.microsoft.com/office/drawing/2014/main" val="3318314428"/>
                    </a:ext>
                  </a:extLst>
                </a:gridCol>
              </a:tblGrid>
              <a:tr h="263717">
                <a:tc>
                  <a:txBody>
                    <a:bodyPr/>
                    <a:lstStyle/>
                    <a:p>
                      <a:pPr algn="ctr" fontAlgn="t">
                        <a:buNone/>
                      </a:pPr>
                      <a:r>
                        <a:rPr lang="en-US" sz="1300" b="0">
                          <a:solidFill>
                            <a:srgbClr val="FFFFFF"/>
                          </a:solidFill>
                          <a:effectLst/>
                        </a:rPr>
                        <a:t>Adaptive Design</a:t>
                      </a:r>
                      <a:endParaRPr lang="en-US" sz="1300">
                        <a:solidFill>
                          <a:srgbClr val="FFFFFF"/>
                        </a:solidFill>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300" b="0">
                          <a:solidFill>
                            <a:srgbClr val="FFFFFF"/>
                          </a:solidFill>
                          <a:effectLst/>
                        </a:rPr>
                        <a:t>Responsive Design</a:t>
                      </a:r>
                      <a:endParaRPr lang="en-US" sz="1300">
                        <a:solidFill>
                          <a:srgbClr val="FFFFFF"/>
                        </a:solidFill>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3935925809"/>
                  </a:ext>
                </a:extLst>
              </a:tr>
              <a:tr h="461506">
                <a:tc>
                  <a:txBody>
                    <a:bodyPr/>
                    <a:lstStyle/>
                    <a:p>
                      <a:pPr fontAlgn="t">
                        <a:buNone/>
                      </a:pPr>
                      <a:r>
                        <a:rPr lang="en-US" sz="1300" b="0">
                          <a:effectLst/>
                        </a:rPr>
                        <a:t>It focuses on multiple fixed layout sizes in website development.</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300" b="0">
                          <a:effectLst/>
                        </a:rPr>
                        <a:t>It focuses on showing content based on available browser space.</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456131294"/>
                  </a:ext>
                </a:extLst>
              </a:tr>
              <a:tr h="1252658">
                <a:tc>
                  <a:txBody>
                    <a:bodyPr/>
                    <a:lstStyle/>
                    <a:p>
                      <a:pPr fontAlgn="t">
                        <a:buNone/>
                      </a:pPr>
                      <a:r>
                        <a:rPr lang="en-US" sz="1300" b="0">
                          <a:effectLst/>
                        </a:rPr>
                        <a:t>In this kind of website design, first the available space is detected and then the layout, with the most appropriate size, is picked and used to display the content. Resizing the browser window has no effect on the design.</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300" b="0">
                          <a:effectLst/>
                        </a:rPr>
                        <a:t>In this kind of website design, when the </a:t>
                      </a:r>
                      <a:r>
                        <a:rPr lang="en-US" sz="1300" b="0" u="none" strike="noStrike">
                          <a:solidFill>
                            <a:srgbClr val="0F5A9E"/>
                          </a:solidFill>
                          <a:effectLst/>
                          <a:hlinkClick r:id="rId2"/>
                        </a:rPr>
                        <a:t>browser window</a:t>
                      </a:r>
                      <a:r>
                        <a:rPr lang="en-US" sz="1300" b="0">
                          <a:effectLst/>
                        </a:rPr>
                        <a:t> is resized, the content of the website is dynamically and optimally rearranged to accommodate the window.</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075813172"/>
                  </a:ext>
                </a:extLst>
              </a:tr>
              <a:tr h="857082">
                <a:tc>
                  <a:txBody>
                    <a:bodyPr/>
                    <a:lstStyle/>
                    <a:p>
                      <a:pPr fontAlgn="t">
                        <a:buNone/>
                      </a:pPr>
                      <a:r>
                        <a:rPr lang="en-US" sz="1300" b="0">
                          <a:effectLst/>
                        </a:rPr>
                        <a:t>It uses six standard screen widths, 320 px, 480 px, 760 px, 960 px, 1200 px, and 1600 px.</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300" b="0">
                          <a:effectLst/>
                        </a:rPr>
                        <a:t>Depending on the target device’s properties, it uses CSS media queries to change styles for adapting to different screens.</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106186742"/>
                  </a:ext>
                </a:extLst>
              </a:tr>
              <a:tr h="1054870">
                <a:tc>
                  <a:txBody>
                    <a:bodyPr/>
                    <a:lstStyle/>
                    <a:p>
                      <a:pPr fontAlgn="t">
                        <a:buNone/>
                      </a:pPr>
                      <a:r>
                        <a:rPr lang="en-US" sz="1300" b="0">
                          <a:effectLst/>
                        </a:rPr>
                        <a:t>It takes a lot of time and effort because the options and realities of the end users need to be examined first and then the best possible adaptive solutions are designed.</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300" b="0">
                          <a:effectLst/>
                        </a:rPr>
                        <a:t>Building and designing fluid websites that can accommodate content depending on the screen size does not take much work.</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653864374"/>
                  </a:ext>
                </a:extLst>
              </a:tr>
              <a:tr h="461506">
                <a:tc>
                  <a:txBody>
                    <a:bodyPr/>
                    <a:lstStyle/>
                    <a:p>
                      <a:pPr fontAlgn="t">
                        <a:buNone/>
                      </a:pPr>
                      <a:r>
                        <a:rPr lang="en-US" sz="1300" b="0">
                          <a:effectLst/>
                        </a:rPr>
                        <a:t>It gives a lot of control over the design for specific screens.</a:t>
                      </a:r>
                      <a:endParaRPr lang="en-US" sz="130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sz="1300" b="0" dirty="0">
                          <a:effectLst/>
                        </a:rPr>
                        <a:t>It does not allow much control over the design.</a:t>
                      </a:r>
                      <a:endParaRPr lang="en-US" sz="1300" dirty="0">
                        <a:effectLst/>
                      </a:endParaRPr>
                    </a:p>
                  </a:txBody>
                  <a:tcPr marL="65929" marR="65929" marT="32965" marB="32965">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1162869239"/>
                  </a:ext>
                </a:extLst>
              </a:tr>
            </a:tbl>
          </a:graphicData>
        </a:graphic>
      </p:graphicFrame>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84FB28-472D-A84A-B198-BD40E2A2EF6D}"/>
              </a:ext>
            </a:extLst>
          </p:cNvPr>
          <p:cNvSpPr txBox="1"/>
          <p:nvPr/>
        </p:nvSpPr>
        <p:spPr>
          <a:xfrm>
            <a:off x="2477069" y="-2410213"/>
            <a:ext cx="4954136" cy="1168525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What are the properties of Flexbox?</a:t>
            </a:r>
          </a:p>
          <a:p>
            <a:pPr algn="just">
              <a:lnSpc>
                <a:spcPts val="2100"/>
              </a:lnSpc>
              <a:spcBef>
                <a:spcPts val="1650"/>
              </a:spcBef>
              <a:buNone/>
            </a:pPr>
            <a:r>
              <a:rPr lang="en-US" b="0" i="0" dirty="0">
                <a:solidFill>
                  <a:srgbClr val="3A3A3A"/>
                </a:solidFill>
                <a:effectLst/>
                <a:latin typeface="Roboto" panose="02000000000000000000" pitchFamily="2" charset="0"/>
              </a:rPr>
              <a:t>The numerous characteristics of </a:t>
            </a:r>
            <a:r>
              <a:rPr lang="en-US" b="0" i="0" u="none" strike="noStrike" dirty="0">
                <a:solidFill>
                  <a:srgbClr val="0F5A9E"/>
                </a:solidFill>
                <a:effectLst/>
                <a:latin typeface="Roboto" panose="02000000000000000000" pitchFamily="2" charset="0"/>
                <a:hlinkClick r:id="rId2"/>
              </a:rPr>
              <a:t>CSS Flexbox</a:t>
            </a:r>
            <a:r>
              <a:rPr lang="en-US" b="0" i="0" dirty="0">
                <a:solidFill>
                  <a:srgbClr val="3A3A3A"/>
                </a:solidFill>
                <a:effectLst/>
                <a:latin typeface="Roboto" panose="02000000000000000000" pitchFamily="2" charset="0"/>
              </a:rPr>
              <a:t> can be used to create intricate and powerful compositions.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display is used to describe a flex container. The flex value is utilized to establish a flex container.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flex-direction is employed to determine the direction of the primary axis, which is the axis that flex items are arranged along. This property can have the values row, row-reverse, column, and column-reverse.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justify-content aligns flex items parallel to the primary axis. This property can take many different values, including flex-start, flex-end, center, space-between, space-around, and space-evenly.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align-items align flex items perpendicular to the primary axis. Flex-start, flex-end, center, baseline, and stretch are all possible values for this attribute.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flex-wrap determines whether or not flex items should wrap when their width exceeds the width of the flex container. This property’s possible values are </a:t>
            </a:r>
            <a:r>
              <a:rPr lang="en-US" b="0" i="0" dirty="0" err="1">
                <a:solidFill>
                  <a:srgbClr val="3A3A3A"/>
                </a:solidFill>
                <a:effectLst/>
                <a:latin typeface="Roboto" panose="02000000000000000000" pitchFamily="2" charset="0"/>
              </a:rPr>
              <a:t>nowrap</a:t>
            </a:r>
            <a:r>
              <a:rPr lang="en-US" b="0" i="0" dirty="0">
                <a:solidFill>
                  <a:srgbClr val="3A3A3A"/>
                </a:solidFill>
                <a:effectLst/>
                <a:latin typeface="Roboto" panose="02000000000000000000" pitchFamily="2" charset="0"/>
              </a:rPr>
              <a:t>, wrap, and wrap-reverse.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align-content is used to align flex lines perpendicular to the major axis when there is extra space in the flex container. This property’s likely values are flex-start, flex-end, center, space-between, space-around, and stretch.</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flex is employed to establish the flex grow, flex shrink, and flex basis of a flex item. The shorthand property flex creates all three values at the same time. The individual properties are flex-grow, flex-shrink, and flex-basis.</a:t>
            </a:r>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B1EB57-8207-E57E-9C51-CED6A471BA96}"/>
              </a:ext>
            </a:extLst>
          </p:cNvPr>
          <p:cNvSpPr txBox="1"/>
          <p:nvPr/>
        </p:nvSpPr>
        <p:spPr>
          <a:xfrm>
            <a:off x="2477069" y="1949955"/>
            <a:ext cx="4954136" cy="296491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What is the difference between physical and logical tags?</a:t>
            </a:r>
          </a:p>
          <a:p>
            <a:pPr algn="just">
              <a:lnSpc>
                <a:spcPts val="2100"/>
              </a:lnSpc>
              <a:spcBef>
                <a:spcPts val="1650"/>
              </a:spcBef>
              <a:buNone/>
            </a:pPr>
            <a:r>
              <a:rPr lang="en-US" b="0" i="0" dirty="0">
                <a:solidFill>
                  <a:srgbClr val="3A3A3A"/>
                </a:solidFill>
                <a:effectLst/>
                <a:latin typeface="Roboto" panose="02000000000000000000" pitchFamily="2" charset="0"/>
              </a:rPr>
              <a:t>Logical tags mainly focus on the content and are older as compared to the physical tags. Logical tags are hardly used in terms of presentation. In terms of aesthetics, logical tags do not serve any purpose. However, physical tags find their application in presentation.</a:t>
            </a: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B8D771A-3CDC-18D6-1966-8510056091E6}"/>
              </a:ext>
            </a:extLst>
          </p:cNvPr>
          <p:cNvSpPr txBox="1"/>
          <p:nvPr/>
        </p:nvSpPr>
        <p:spPr>
          <a:xfrm>
            <a:off x="2477069" y="-981617"/>
            <a:ext cx="4954136" cy="8828058"/>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Basic CSS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What is the difference between min(), max(), and clamp()?</a:t>
            </a:r>
          </a:p>
          <a:p>
            <a:pPr algn="just">
              <a:lnSpc>
                <a:spcPts val="2100"/>
              </a:lnSpc>
              <a:spcBef>
                <a:spcPts val="1650"/>
              </a:spcBef>
              <a:buNone/>
            </a:pPr>
            <a:r>
              <a:rPr lang="en-US" b="0" i="0" dirty="0">
                <a:solidFill>
                  <a:srgbClr val="3A3A3A"/>
                </a:solidFill>
                <a:effectLst/>
                <a:latin typeface="Roboto" panose="02000000000000000000" pitchFamily="2" charset="0"/>
              </a:rPr>
              <a:t>min(), max(), and clamp() are CSS functions used to create responsive values like widths, padding, or font sizes.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min(value1, value2) returns the smallest of the given values.</a:t>
            </a:r>
          </a:p>
          <a:p>
            <a:pPr algn="l">
              <a:spcBef>
                <a:spcPts val="1125"/>
              </a:spcBef>
              <a:spcAft>
                <a:spcPts val="375"/>
              </a:spcAft>
              <a:buNone/>
            </a:pPr>
            <a:r>
              <a:rPr lang="en-US" b="0" i="0" dirty="0">
                <a:solidFill>
                  <a:srgbClr val="212529"/>
                </a:solidFill>
                <a:effectLst/>
                <a:latin typeface="Courier New" panose="02070309020205020404" pitchFamily="49" charset="0"/>
              </a:rPr>
              <a:t>width: min(100%, 600px); /* Uses 100% unless it's more than 600px */</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max(value1, value2) returns the largest of the values.</a:t>
            </a:r>
          </a:p>
          <a:p>
            <a:pPr algn="l">
              <a:spcBef>
                <a:spcPts val="1125"/>
              </a:spcBef>
              <a:spcAft>
                <a:spcPts val="375"/>
              </a:spcAft>
              <a:buNone/>
            </a:pPr>
            <a:r>
              <a:rPr lang="en-US" b="0" i="0" dirty="0">
                <a:solidFill>
                  <a:srgbClr val="212529"/>
                </a:solidFill>
                <a:effectLst/>
                <a:latin typeface="Courier New" panose="02070309020205020404" pitchFamily="49" charset="0"/>
              </a:rPr>
              <a:t>width: max(300px, 50%); /* Ensures at least 300px width */</a:t>
            </a:r>
          </a:p>
          <a:p>
            <a:pPr algn="just">
              <a:lnSpc>
                <a:spcPts val="2100"/>
              </a:lnSpc>
              <a:spcBef>
                <a:spcPts val="1650"/>
              </a:spcBef>
              <a:buNone/>
            </a:pPr>
            <a:r>
              <a:rPr lang="en-US" b="0" i="0" dirty="0">
                <a:solidFill>
                  <a:srgbClr val="3A3A3A"/>
                </a:solidFill>
                <a:effectLst/>
                <a:latin typeface="Roboto" panose="02000000000000000000" pitchFamily="2" charset="0"/>
              </a:rPr>
              <a:t>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clamp(min, preferred, max) sets a range and picks the preferred value within that range.</a:t>
            </a:r>
          </a:p>
          <a:p>
            <a:pPr algn="l">
              <a:spcBef>
                <a:spcPts val="1125"/>
              </a:spcBef>
              <a:spcAft>
                <a:spcPts val="375"/>
              </a:spcAft>
              <a:buNone/>
            </a:pPr>
            <a:r>
              <a:rPr lang="en-US" b="0" i="0" dirty="0">
                <a:solidFill>
                  <a:srgbClr val="212529"/>
                </a:solidFill>
                <a:effectLst/>
                <a:latin typeface="Courier New" panose="02070309020205020404" pitchFamily="49" charset="0"/>
              </a:rPr>
              <a:t>font-size: clamp(1rem, 2vw, 2rem); /* Responsive font size */</a:t>
            </a:r>
          </a:p>
          <a:p>
            <a:pPr algn="just">
              <a:lnSpc>
                <a:spcPts val="2100"/>
              </a:lnSpc>
              <a:spcBef>
                <a:spcPts val="1650"/>
              </a:spcBef>
              <a:buNone/>
            </a:pPr>
            <a:r>
              <a:rPr lang="en-US" b="0" i="0" dirty="0">
                <a:solidFill>
                  <a:srgbClr val="3A3A3A"/>
                </a:solidFill>
                <a:effectLst/>
                <a:latin typeface="Roboto" panose="02000000000000000000" pitchFamily="2" charset="0"/>
              </a:rPr>
              <a:t>These functions are great for making designs fluid and adaptable across devices without using multiple media queries.</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1E30CD-5C05-64E1-7AB7-13465FB365F5}"/>
              </a:ext>
            </a:extLst>
          </p:cNvPr>
          <p:cNvSpPr txBox="1"/>
          <p:nvPr/>
        </p:nvSpPr>
        <p:spPr>
          <a:xfrm>
            <a:off x="2477069" y="-884154"/>
            <a:ext cx="4954136" cy="863313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What are :is() and :where() pseudo-classes? How do they differ?</a:t>
            </a:r>
          </a:p>
          <a:p>
            <a:pPr algn="just">
              <a:lnSpc>
                <a:spcPts val="2100"/>
              </a:lnSpc>
              <a:spcBef>
                <a:spcPts val="1650"/>
              </a:spcBef>
              <a:buNone/>
            </a:pPr>
            <a:r>
              <a:rPr lang="en-US" b="0" i="0" dirty="0">
                <a:solidFill>
                  <a:srgbClr val="3A3A3A"/>
                </a:solidFill>
                <a:effectLst/>
                <a:latin typeface="Roboto" panose="02000000000000000000" pitchFamily="2" charset="0"/>
              </a:rPr>
              <a:t>The :is() and :where() pseudo-classes allow you to group multiple selectors together in a clean and readable way. They simplify your CSS and reduce repetition when applying the same styles to multiple elements.</a:t>
            </a:r>
          </a:p>
          <a:p>
            <a:pPr algn="just">
              <a:lnSpc>
                <a:spcPts val="2100"/>
              </a:lnSpc>
              <a:spcBef>
                <a:spcPts val="750"/>
              </a:spcBef>
              <a:buNone/>
            </a:pPr>
            <a:r>
              <a:rPr lang="en-US" b="0" i="0" dirty="0">
                <a:solidFill>
                  <a:srgbClr val="3A3A3A"/>
                </a:solidFill>
                <a:effectLst/>
                <a:latin typeface="Roboto" panose="02000000000000000000" pitchFamily="2" charset="0"/>
              </a:rPr>
              <a:t>Example using :is():</a:t>
            </a:r>
          </a:p>
          <a:p>
            <a:pPr algn="just">
              <a:lnSpc>
                <a:spcPts val="2100"/>
              </a:lnSpc>
              <a:spcBef>
                <a:spcPts val="750"/>
              </a:spcBef>
              <a:buNone/>
            </a:pPr>
            <a:r>
              <a:rPr lang="en-US" b="0" i="0" dirty="0">
                <a:solidFill>
                  <a:srgbClr val="3A3A3A"/>
                </a:solidFill>
                <a:effectLst/>
                <a:latin typeface="Roboto" panose="02000000000000000000" pitchFamily="2" charset="0"/>
              </a:rPr>
              <a:t>:is(h1, h2, h3) {</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margin-bottom: 1em;</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This applies the style to h1, h2, and h3.</a:t>
            </a:r>
          </a:p>
          <a:p>
            <a:pPr algn="just">
              <a:lnSpc>
                <a:spcPts val="2100"/>
              </a:lnSpc>
              <a:spcBef>
                <a:spcPts val="750"/>
              </a:spcBef>
              <a:buNone/>
            </a:pPr>
            <a:r>
              <a:rPr lang="en-US" b="0" i="0" dirty="0">
                <a:solidFill>
                  <a:srgbClr val="3A3A3A"/>
                </a:solidFill>
                <a:effectLst/>
                <a:latin typeface="Roboto" panose="02000000000000000000" pitchFamily="2" charset="0"/>
              </a:rPr>
              <a:t>The difference lies in specificity: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:is() takes the highest specificity of the matched selector.</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:where() always has zero specificity, so it never wins over other rules with higher specificity.</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 using :where():</a:t>
            </a:r>
          </a:p>
          <a:p>
            <a:pPr algn="just">
              <a:lnSpc>
                <a:spcPts val="2100"/>
              </a:lnSpc>
              <a:spcBef>
                <a:spcPts val="1650"/>
              </a:spcBef>
              <a:buNone/>
            </a:pPr>
            <a:r>
              <a:rPr lang="en-US" b="0" i="0" dirty="0">
                <a:solidFill>
                  <a:srgbClr val="3A3A3A"/>
                </a:solidFill>
                <a:effectLst/>
                <a:latin typeface="Roboto" panose="02000000000000000000" pitchFamily="2" charset="0"/>
              </a:rPr>
              <a:t>:where(h1, h2, h3) {</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color: gray;</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This won’t interfere with more specific styles elsewhere in your CSS. Use :where() when you want to apply base styles without the risk of overriding other styles unintentionally.</a:t>
            </a: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533ABF-A1B7-AF47-5959-304CCA021C84}"/>
              </a:ext>
            </a:extLst>
          </p:cNvPr>
          <p:cNvSpPr txBox="1"/>
          <p:nvPr/>
        </p:nvSpPr>
        <p:spPr>
          <a:xfrm>
            <a:off x="2477069" y="1081769"/>
            <a:ext cx="4954136" cy="47012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What is the syntax to link an external style sheet?</a:t>
            </a:r>
          </a:p>
          <a:p>
            <a:pPr algn="just">
              <a:lnSpc>
                <a:spcPts val="2100"/>
              </a:lnSpc>
              <a:spcBef>
                <a:spcPts val="1650"/>
              </a:spcBef>
              <a:buNone/>
            </a:pPr>
            <a:r>
              <a:rPr lang="en-US" b="0" i="0" dirty="0">
                <a:solidFill>
                  <a:srgbClr val="3A3A3A"/>
                </a:solidFill>
                <a:effectLst/>
                <a:latin typeface="Roboto" panose="02000000000000000000" pitchFamily="2" charset="0"/>
              </a:rPr>
              <a:t>An external style sheet comprises style description that can be linked with the HTML document externally. An external style sheet is one of the best and most organized ways to keep the style separate from the</a:t>
            </a:r>
            <a:r>
              <a:rPr lang="en-US" b="0" i="0" u="none" strike="noStrike" dirty="0">
                <a:solidFill>
                  <a:srgbClr val="0F5A9E"/>
                </a:solidFill>
                <a:effectLst/>
                <a:latin typeface="Roboto" panose="02000000000000000000" pitchFamily="2" charset="0"/>
                <a:hlinkClick r:id="rId2"/>
              </a:rPr>
              <a:t> structure</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The syntax for linking an external style sheet is as follows:</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&lt;link </a:t>
            </a:r>
            <a:r>
              <a:rPr lang="en-US" b="0" i="0" dirty="0" err="1">
                <a:solidFill>
                  <a:srgbClr val="212529"/>
                </a:solidFill>
                <a:effectLst/>
                <a:latin typeface="Courier New" panose="02070309020205020404" pitchFamily="49" charset="0"/>
              </a:rPr>
              <a:t>rel</a:t>
            </a:r>
            <a:r>
              <a:rPr lang="en-US" b="0" i="0" dirty="0">
                <a:solidFill>
                  <a:srgbClr val="212529"/>
                </a:solidFill>
                <a:effectLst/>
                <a:latin typeface="Courier New" panose="02070309020205020404" pitchFamily="49" charset="0"/>
              </a:rPr>
              <a:t>="stylesheet" type="text/</a:t>
            </a:r>
            <a:r>
              <a:rPr lang="en-US" b="0" i="0" dirty="0" err="1">
                <a:solidFill>
                  <a:srgbClr val="212529"/>
                </a:solidFill>
                <a:effectLst/>
                <a:latin typeface="Courier New" panose="02070309020205020404" pitchFamily="49" charset="0"/>
              </a:rPr>
              <a:t>css</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="styles.css"&gt;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4935AB-B654-908B-CA9E-9101696A338D}"/>
              </a:ext>
            </a:extLst>
          </p:cNvPr>
          <p:cNvSpPr txBox="1"/>
          <p:nvPr/>
        </p:nvSpPr>
        <p:spPr>
          <a:xfrm>
            <a:off x="2477069" y="-722571"/>
            <a:ext cx="4954136" cy="830996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How can embedded style be linked with HTML documents?</a:t>
            </a:r>
          </a:p>
          <a:p>
            <a:pPr algn="just">
              <a:lnSpc>
                <a:spcPts val="2100"/>
              </a:lnSpc>
              <a:spcBef>
                <a:spcPts val="1650"/>
              </a:spcBef>
              <a:buNone/>
            </a:pPr>
            <a:r>
              <a:rPr lang="en-US" b="0" i="0" dirty="0">
                <a:solidFill>
                  <a:srgbClr val="3A3A3A"/>
                </a:solidFill>
                <a:effectLst/>
                <a:latin typeface="Roboto" panose="02000000000000000000" pitchFamily="2" charset="0"/>
              </a:rPr>
              <a:t>Embedded style can be implemented within HTML code. It is written using the &lt;Style&gt; tag and used under the &lt;Head&gt; structure.</a:t>
            </a:r>
          </a:p>
          <a:p>
            <a:pPr algn="just">
              <a:lnSpc>
                <a:spcPts val="2100"/>
              </a:lnSpc>
              <a:spcBef>
                <a:spcPts val="750"/>
              </a:spcBef>
              <a:buNone/>
            </a:pPr>
            <a:r>
              <a:rPr lang="en-US" b="0" i="0" dirty="0">
                <a:solidFill>
                  <a:srgbClr val="3A3A3A"/>
                </a:solidFill>
                <a:effectLst/>
                <a:latin typeface="Roboto" panose="02000000000000000000" pitchFamily="2" charset="0"/>
              </a:rPr>
              <a:t>Its syntax is as follows:</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&lt;style type="text/</a:t>
            </a:r>
            <a:r>
              <a:rPr lang="en-US" b="0" i="0" dirty="0" err="1">
                <a:solidFill>
                  <a:srgbClr val="212529"/>
                </a:solidFill>
                <a:effectLst/>
                <a:latin typeface="Courier New" panose="02070309020205020404" pitchFamily="49" charset="0"/>
              </a:rPr>
              <a:t>css</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 CSS rules go here */</a:t>
            </a:r>
          </a:p>
          <a:p>
            <a:pPr algn="l">
              <a:spcBef>
                <a:spcPts val="1125"/>
              </a:spcBef>
              <a:spcAft>
                <a:spcPts val="375"/>
              </a:spcAft>
              <a:buNone/>
            </a:pPr>
            <a:r>
              <a:rPr lang="en-US" b="0" i="0" dirty="0">
                <a:solidFill>
                  <a:srgbClr val="212529"/>
                </a:solidFill>
                <a:effectLst/>
                <a:latin typeface="Courier New" panose="02070309020205020404" pitchFamily="49" charset="0"/>
              </a:rPr>
              <a:t>body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a:t>
            </a:r>
            <a:r>
              <a:rPr lang="en-US" b="0" i="0" dirty="0" err="1">
                <a:solidFill>
                  <a:srgbClr val="212529"/>
                </a:solidFill>
                <a:effectLst/>
                <a:latin typeface="Courier New" panose="02070309020205020404" pitchFamily="49" charset="0"/>
              </a:rPr>
              <a:t>lightblue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font-family: Arial, sans-serif;</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h1 {</a:t>
            </a:r>
          </a:p>
          <a:p>
            <a:pPr algn="l">
              <a:spcBef>
                <a:spcPts val="1125"/>
              </a:spcBef>
              <a:spcAft>
                <a:spcPts val="375"/>
              </a:spcAft>
              <a:buNone/>
            </a:pPr>
            <a:r>
              <a:rPr lang="en-US" b="0" i="0" dirty="0">
                <a:solidFill>
                  <a:srgbClr val="212529"/>
                </a:solidFill>
                <a:effectLst/>
                <a:latin typeface="Courier New" panose="02070309020205020404" pitchFamily="49" charset="0"/>
              </a:rPr>
              <a:t>color: </a:t>
            </a:r>
            <a:r>
              <a:rPr lang="en-US" b="0" i="0" dirty="0" err="1">
                <a:solidFill>
                  <a:srgbClr val="212529"/>
                </a:solidFill>
                <a:effectLst/>
                <a:latin typeface="Courier New" panose="02070309020205020404" pitchFamily="49" charset="0"/>
              </a:rPr>
              <a:t>darkblue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text-align: center;</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3F4489D-BED3-E29A-C28A-5E91F0189D2B}"/>
              </a:ext>
            </a:extLst>
          </p:cNvPr>
          <p:cNvSpPr txBox="1"/>
          <p:nvPr/>
        </p:nvSpPr>
        <p:spPr>
          <a:xfrm>
            <a:off x="2477069" y="-852094"/>
            <a:ext cx="4954136" cy="856901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Why is the @import function an easy way to insert a file?</a:t>
            </a:r>
          </a:p>
          <a:p>
            <a:pPr algn="just">
              <a:lnSpc>
                <a:spcPts val="2100"/>
              </a:lnSpc>
              <a:spcBef>
                <a:spcPts val="1650"/>
              </a:spcBef>
              <a:buNone/>
            </a:pPr>
            <a:r>
              <a:rPr lang="en-US" b="0" i="0" dirty="0">
                <a:solidFill>
                  <a:srgbClr val="3A3A3A"/>
                </a:solidFill>
                <a:effectLst/>
                <a:latin typeface="Roboto" panose="02000000000000000000" pitchFamily="2" charset="0"/>
              </a:rPr>
              <a:t>The syntax is shown by coding as:</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  @import </a:t>
            </a:r>
            <a:r>
              <a:rPr lang="en-US" b="0" i="0" dirty="0" err="1">
                <a:solidFill>
                  <a:srgbClr val="212529"/>
                </a:solidFill>
                <a:effectLst/>
                <a:latin typeface="Courier New" panose="02070309020205020404" pitchFamily="49" charset="0"/>
              </a:rPr>
              <a:t>url</a:t>
            </a:r>
            <a:r>
              <a:rPr lang="en-US" b="0" i="0" dirty="0">
                <a:solidFill>
                  <a:srgbClr val="212529"/>
                </a:solidFill>
                <a:effectLst/>
                <a:latin typeface="Courier New" panose="02070309020205020404" pitchFamily="49" charset="0"/>
              </a:rPr>
              <a:t>("https://www.example.com/styles.css");</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What are the advantages of using CSS?</a:t>
            </a:r>
          </a:p>
          <a:p>
            <a:pPr algn="just">
              <a:lnSpc>
                <a:spcPts val="2100"/>
              </a:lnSpc>
              <a:spcBef>
                <a:spcPts val="1650"/>
              </a:spcBef>
              <a:buNone/>
            </a:pPr>
            <a:r>
              <a:rPr lang="en-US" b="0" i="0" dirty="0">
                <a:solidFill>
                  <a:srgbClr val="3A3A3A"/>
                </a:solidFill>
                <a:effectLst/>
                <a:latin typeface="Roboto" panose="02000000000000000000" pitchFamily="2" charset="0"/>
              </a:rPr>
              <a:t>The main advantages of using CSS are: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Separation of Content from Presentation: CSS enables presentation of the same content in multiple formats for mobile, desktop, or laptop.</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Bandwidth: When CSS is used effectively, the browser cache can store the style sheets and these can be used on multiple pages without the need to redownload.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Easy to Maintain: By making small changes, CSS can be used to completely change the look and feel of a web page. For a global change, we simply have to change the style, and all elements in all web pages will be automatically updated.</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C92A2F-9067-6A5E-78ED-296D187A33DD}"/>
              </a:ext>
            </a:extLst>
          </p:cNvPr>
          <p:cNvSpPr txBox="1"/>
          <p:nvPr/>
        </p:nvSpPr>
        <p:spPr>
          <a:xfrm>
            <a:off x="197893" y="196320"/>
            <a:ext cx="4954136"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How is border-box different from content-box?</a:t>
            </a:r>
          </a:p>
        </p:txBody>
      </p:sp>
      <p:pic>
        <p:nvPicPr>
          <p:cNvPr id="5122" name="Picture 2" descr="border box">
            <a:extLst>
              <a:ext uri="{FF2B5EF4-FFF2-40B4-BE49-F238E27FC236}">
                <a16:creationId xmlns:a16="http://schemas.microsoft.com/office/drawing/2014/main" id="{E4BBDA4C-69AA-5782-949D-D98B8907A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2905" y="511791"/>
            <a:ext cx="4876800" cy="16478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29D645F-1808-FDC8-171F-0AC7CF659321}"/>
              </a:ext>
            </a:extLst>
          </p:cNvPr>
          <p:cNvSpPr txBox="1"/>
          <p:nvPr/>
        </p:nvSpPr>
        <p:spPr>
          <a:xfrm>
            <a:off x="197893" y="2159616"/>
            <a:ext cx="9469271" cy="7530267"/>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The border-box property contains the content, border, and padding in height and width properties. If you look at the example below, the box-sizing for the div element is set as border-box. The height and width considered for the div content will also include the padding and border:</a:t>
            </a:r>
          </a:p>
          <a:p>
            <a:pPr algn="l">
              <a:spcBef>
                <a:spcPts val="1125"/>
              </a:spcBef>
              <a:spcAft>
                <a:spcPts val="375"/>
              </a:spcAft>
              <a:buNone/>
            </a:pPr>
            <a:r>
              <a:rPr lang="en-US" b="0" i="0" dirty="0">
                <a:solidFill>
                  <a:srgbClr val="212529"/>
                </a:solidFill>
                <a:effectLst/>
                <a:latin typeface="Courier New" panose="02070309020205020404" pitchFamily="49" charset="0"/>
              </a:rPr>
              <a:t>div {</a:t>
            </a:r>
          </a:p>
          <a:p>
            <a:pPr algn="l">
              <a:spcBef>
                <a:spcPts val="1125"/>
              </a:spcBef>
              <a:spcAft>
                <a:spcPts val="375"/>
              </a:spcAft>
              <a:buNone/>
            </a:pPr>
            <a:r>
              <a:rPr lang="en-US" b="0" i="0" dirty="0">
                <a:solidFill>
                  <a:srgbClr val="212529"/>
                </a:solidFill>
                <a:effectLst/>
                <a:latin typeface="Courier New" panose="02070309020205020404" pitchFamily="49" charset="0"/>
              </a:rPr>
              <a:t>width: 300px;</a:t>
            </a:r>
          </a:p>
          <a:p>
            <a:pPr algn="l">
              <a:spcBef>
                <a:spcPts val="1125"/>
              </a:spcBef>
              <a:spcAft>
                <a:spcPts val="375"/>
              </a:spcAft>
              <a:buNone/>
            </a:pPr>
            <a:r>
              <a:rPr lang="en-US" b="0" i="0" dirty="0">
                <a:solidFill>
                  <a:srgbClr val="212529"/>
                </a:solidFill>
                <a:effectLst/>
                <a:latin typeface="Courier New" panose="02070309020205020404" pitchFamily="49" charset="0"/>
              </a:rPr>
              <a:t>height: 200px;</a:t>
            </a:r>
          </a:p>
          <a:p>
            <a:pPr algn="l">
              <a:spcBef>
                <a:spcPts val="1125"/>
              </a:spcBef>
              <a:spcAft>
                <a:spcPts val="375"/>
              </a:spcAft>
              <a:buNone/>
            </a:pPr>
            <a:r>
              <a:rPr lang="en-US" b="0" i="0" dirty="0">
                <a:solidFill>
                  <a:srgbClr val="212529"/>
                </a:solidFill>
                <a:effectLst/>
                <a:latin typeface="Courier New" panose="02070309020205020404" pitchFamily="49" charset="0"/>
              </a:rPr>
              <a:t>padding: 15px;</a:t>
            </a:r>
          </a:p>
          <a:p>
            <a:pPr algn="l">
              <a:spcBef>
                <a:spcPts val="1125"/>
              </a:spcBef>
              <a:spcAft>
                <a:spcPts val="375"/>
              </a:spcAft>
              <a:buNone/>
            </a:pPr>
            <a:r>
              <a:rPr lang="en-US" b="0" i="0" dirty="0">
                <a:solidFill>
                  <a:srgbClr val="212529"/>
                </a:solidFill>
                <a:effectLst/>
                <a:latin typeface="Courier New" panose="02070309020205020404" pitchFamily="49" charset="0"/>
              </a:rPr>
              <a:t>border: 5px solid grey;</a:t>
            </a:r>
          </a:p>
          <a:p>
            <a:pPr algn="l">
              <a:spcBef>
                <a:spcPts val="1125"/>
              </a:spcBef>
              <a:spcAft>
                <a:spcPts val="375"/>
              </a:spcAft>
              <a:buNone/>
            </a:pPr>
            <a:r>
              <a:rPr lang="en-US" b="0" i="0" dirty="0">
                <a:solidFill>
                  <a:srgbClr val="212529"/>
                </a:solidFill>
                <a:effectLst/>
                <a:latin typeface="Courier New" panose="02070309020205020404" pitchFamily="49" charset="0"/>
              </a:rPr>
              <a:t>margin: 30px;</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moz</a:t>
            </a:r>
            <a:r>
              <a:rPr lang="en-US" b="0" i="0" dirty="0">
                <a:solidFill>
                  <a:srgbClr val="212529"/>
                </a:solidFill>
                <a:effectLst/>
                <a:latin typeface="Courier New" panose="02070309020205020404" pitchFamily="49" charset="0"/>
              </a:rPr>
              <a:t>-box-sizing: border-box;</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webkit</a:t>
            </a:r>
            <a:r>
              <a:rPr lang="en-US" b="0" i="0" dirty="0">
                <a:solidFill>
                  <a:srgbClr val="212529"/>
                </a:solidFill>
                <a:effectLst/>
                <a:latin typeface="Courier New" panose="02070309020205020404" pitchFamily="49" charset="0"/>
              </a:rPr>
              <a:t>-box-sizing: border-box;</a:t>
            </a:r>
          </a:p>
          <a:p>
            <a:pPr algn="l">
              <a:spcBef>
                <a:spcPts val="1125"/>
              </a:spcBef>
              <a:spcAft>
                <a:spcPts val="375"/>
              </a:spcAft>
              <a:buNone/>
            </a:pPr>
            <a:r>
              <a:rPr lang="en-US" b="0" i="0" dirty="0">
                <a:solidFill>
                  <a:srgbClr val="212529"/>
                </a:solidFill>
                <a:effectLst/>
                <a:latin typeface="Courier New" panose="02070309020205020404" pitchFamily="49" charset="0"/>
              </a:rPr>
              <a:t>box-sizing: border-box;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The actual height of the div content in this case is:</a:t>
            </a:r>
          </a:p>
          <a:p>
            <a:pPr algn="just">
              <a:lnSpc>
                <a:spcPts val="2100"/>
              </a:lnSpc>
              <a:spcBef>
                <a:spcPts val="750"/>
              </a:spcBef>
              <a:buNone/>
            </a:pPr>
            <a:r>
              <a:rPr lang="en-US" b="0" i="0" dirty="0">
                <a:solidFill>
                  <a:srgbClr val="3A3A3A"/>
                </a:solidFill>
                <a:effectLst/>
                <a:latin typeface="Roboto" panose="02000000000000000000" pitchFamily="2" charset="0"/>
              </a:rPr>
              <a:t>Actual height = height – padding on top and bottom – border on top and bottom</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 200 – (15 × 2) – (5 × 2)</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 160 </a:t>
            </a:r>
            <a:r>
              <a:rPr lang="en-US" b="0" i="0" dirty="0" err="1">
                <a:solidFill>
                  <a:srgbClr val="3A3A3A"/>
                </a:solidFill>
                <a:effectLst/>
                <a:latin typeface="Roboto" panose="02000000000000000000" pitchFamily="2" charset="0"/>
              </a:rPr>
              <a:t>px</a:t>
            </a:r>
            <a:endParaRPr lang="en-US" b="0" i="0" dirty="0">
              <a:solidFill>
                <a:srgbClr val="3A3A3A"/>
              </a:solidFill>
              <a:effectLst/>
              <a:latin typeface="Roboto" panose="02000000000000000000" pitchFamily="2" charset="0"/>
            </a:endParaRP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5AD070-507C-EBAE-84D3-ED65C008FA05}"/>
              </a:ext>
            </a:extLst>
          </p:cNvPr>
          <p:cNvSpPr txBox="1"/>
          <p:nvPr/>
        </p:nvSpPr>
        <p:spPr>
          <a:xfrm>
            <a:off x="348018" y="221164"/>
            <a:ext cx="4387755" cy="3798476"/>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The actual width of the div content in this case is: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Actual width = width – padding on right and left – border on right and left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 300 – (15 × 2) – (5 × 2)</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 260 </a:t>
            </a:r>
            <a:r>
              <a:rPr lang="en-US" b="0" i="0" dirty="0" err="1">
                <a:solidFill>
                  <a:srgbClr val="3A3A3A"/>
                </a:solidFill>
                <a:effectLst/>
                <a:latin typeface="Roboto" panose="02000000000000000000" pitchFamily="2" charset="0"/>
              </a:rPr>
              <a:t>px</a:t>
            </a:r>
            <a:endParaRPr lang="en-US" b="0" i="0" dirty="0">
              <a:solidFill>
                <a:srgbClr val="3A3A3A"/>
              </a:solidFill>
              <a:effectLst/>
              <a:latin typeface="Roboto" panose="02000000000000000000" pitchFamily="2" charset="0"/>
            </a:endParaRPr>
          </a:p>
          <a:p>
            <a:pPr algn="just">
              <a:lnSpc>
                <a:spcPts val="2100"/>
              </a:lnSpc>
              <a:spcBef>
                <a:spcPts val="750"/>
              </a:spcBef>
              <a:buNone/>
            </a:pPr>
            <a:r>
              <a:rPr lang="en-US" b="0" i="0" dirty="0">
                <a:solidFill>
                  <a:srgbClr val="3A3A3A"/>
                </a:solidFill>
                <a:effectLst/>
                <a:latin typeface="Roboto" panose="02000000000000000000" pitchFamily="2" charset="0"/>
              </a:rPr>
              <a:t>Let us take a look at the border-box model for the above example:</a:t>
            </a:r>
          </a:p>
          <a:p>
            <a:pPr algn="just">
              <a:lnSpc>
                <a:spcPts val="2100"/>
              </a:lnSpc>
              <a:spcBef>
                <a:spcPts val="750"/>
              </a:spcBef>
              <a:buNone/>
            </a:pPr>
            <a:r>
              <a:rPr lang="en-US" b="0" i="0" dirty="0">
                <a:solidFill>
                  <a:srgbClr val="3A3A3A"/>
                </a:solidFill>
                <a:effectLst/>
                <a:latin typeface="Roboto" panose="02000000000000000000" pitchFamily="2" charset="0"/>
              </a:rPr>
              <a:t>Content-box, on the other hand, is the default value box-sizing property. Height and the width properties do not include border and padding and only have content.</a:t>
            </a:r>
          </a:p>
        </p:txBody>
      </p:sp>
      <p:sp>
        <p:nvSpPr>
          <p:cNvPr id="5" name="TextBox 4">
            <a:extLst>
              <a:ext uri="{FF2B5EF4-FFF2-40B4-BE49-F238E27FC236}">
                <a16:creationId xmlns:a16="http://schemas.microsoft.com/office/drawing/2014/main" id="{B1858584-402A-BE03-01BD-D1F080E02968}"/>
              </a:ext>
            </a:extLst>
          </p:cNvPr>
          <p:cNvSpPr txBox="1"/>
          <p:nvPr/>
        </p:nvSpPr>
        <p:spPr>
          <a:xfrm>
            <a:off x="5170229" y="889970"/>
            <a:ext cx="4954136" cy="4593565"/>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div {</a:t>
            </a:r>
          </a:p>
          <a:p>
            <a:pPr algn="l">
              <a:spcBef>
                <a:spcPts val="1125"/>
              </a:spcBef>
              <a:spcAft>
                <a:spcPts val="375"/>
              </a:spcAft>
              <a:buNone/>
            </a:pPr>
            <a:r>
              <a:rPr lang="en-US" b="0" i="0" dirty="0">
                <a:solidFill>
                  <a:srgbClr val="212529"/>
                </a:solidFill>
                <a:effectLst/>
                <a:latin typeface="Courier New" panose="02070309020205020404" pitchFamily="49" charset="0"/>
              </a:rPr>
              <a:t>width: 300px;</a:t>
            </a:r>
          </a:p>
          <a:p>
            <a:pPr algn="l">
              <a:spcBef>
                <a:spcPts val="1125"/>
              </a:spcBef>
              <a:spcAft>
                <a:spcPts val="375"/>
              </a:spcAft>
              <a:buNone/>
            </a:pPr>
            <a:r>
              <a:rPr lang="en-US" b="0" i="0" dirty="0">
                <a:solidFill>
                  <a:srgbClr val="212529"/>
                </a:solidFill>
                <a:effectLst/>
                <a:latin typeface="Courier New" panose="02070309020205020404" pitchFamily="49" charset="0"/>
              </a:rPr>
              <a:t>height: 200px;</a:t>
            </a:r>
          </a:p>
          <a:p>
            <a:pPr algn="l">
              <a:spcBef>
                <a:spcPts val="1125"/>
              </a:spcBef>
              <a:spcAft>
                <a:spcPts val="375"/>
              </a:spcAft>
              <a:buNone/>
            </a:pPr>
            <a:r>
              <a:rPr lang="en-US" b="0" i="0" dirty="0">
                <a:solidFill>
                  <a:srgbClr val="212529"/>
                </a:solidFill>
                <a:effectLst/>
                <a:latin typeface="Courier New" panose="02070309020205020404" pitchFamily="49" charset="0"/>
              </a:rPr>
              <a:t>padding: 15px;</a:t>
            </a:r>
          </a:p>
          <a:p>
            <a:pPr algn="l">
              <a:spcBef>
                <a:spcPts val="1125"/>
              </a:spcBef>
              <a:spcAft>
                <a:spcPts val="375"/>
              </a:spcAft>
              <a:buNone/>
            </a:pPr>
            <a:r>
              <a:rPr lang="en-US" b="0" i="0" dirty="0">
                <a:solidFill>
                  <a:srgbClr val="212529"/>
                </a:solidFill>
                <a:effectLst/>
                <a:latin typeface="Courier New" panose="02070309020205020404" pitchFamily="49" charset="0"/>
              </a:rPr>
              <a:t>border: 5px solid grey;</a:t>
            </a:r>
          </a:p>
          <a:p>
            <a:pPr algn="l">
              <a:spcBef>
                <a:spcPts val="1125"/>
              </a:spcBef>
              <a:spcAft>
                <a:spcPts val="375"/>
              </a:spcAft>
              <a:buNone/>
            </a:pPr>
            <a:r>
              <a:rPr lang="en-US" b="0" i="0" dirty="0">
                <a:solidFill>
                  <a:srgbClr val="212529"/>
                </a:solidFill>
                <a:effectLst/>
                <a:latin typeface="Courier New" panose="02070309020205020404" pitchFamily="49" charset="0"/>
              </a:rPr>
              <a:t>margin: 30px;</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moz</a:t>
            </a:r>
            <a:r>
              <a:rPr lang="en-US" b="0" i="0" dirty="0">
                <a:solidFill>
                  <a:srgbClr val="212529"/>
                </a:solidFill>
                <a:effectLst/>
                <a:latin typeface="Courier New" panose="02070309020205020404" pitchFamily="49" charset="0"/>
              </a:rPr>
              <a:t>-box-sizing: content-box;</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webkit</a:t>
            </a:r>
            <a:r>
              <a:rPr lang="en-US" b="0" i="0" dirty="0">
                <a:solidFill>
                  <a:srgbClr val="212529"/>
                </a:solidFill>
                <a:effectLst/>
                <a:latin typeface="Courier New" panose="02070309020205020404" pitchFamily="49" charset="0"/>
              </a:rPr>
              <a:t>-box-sizing: content-box;</a:t>
            </a:r>
          </a:p>
          <a:p>
            <a:pPr algn="l">
              <a:spcBef>
                <a:spcPts val="1125"/>
              </a:spcBef>
              <a:spcAft>
                <a:spcPts val="375"/>
              </a:spcAft>
              <a:buNone/>
            </a:pPr>
            <a:r>
              <a:rPr lang="en-US" b="0" i="0" dirty="0">
                <a:solidFill>
                  <a:srgbClr val="212529"/>
                </a:solidFill>
                <a:effectLst/>
                <a:latin typeface="Courier New" panose="02070309020205020404" pitchFamily="49" charset="0"/>
              </a:rPr>
              <a:t>box-sizing: content-box;</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860808-D942-4D15-EE66-C3464DDDC573}"/>
              </a:ext>
            </a:extLst>
          </p:cNvPr>
          <p:cNvSpPr txBox="1"/>
          <p:nvPr/>
        </p:nvSpPr>
        <p:spPr>
          <a:xfrm>
            <a:off x="552734" y="619289"/>
            <a:ext cx="4954136" cy="1477328"/>
          </a:xfrm>
          <a:prstGeom prst="rect">
            <a:avLst/>
          </a:prstGeom>
          <a:noFill/>
        </p:spPr>
        <p:txBody>
          <a:bodyPr wrap="square">
            <a:spAutoFit/>
          </a:bodyPr>
          <a:lstStyle/>
          <a:p>
            <a:r>
              <a:rPr lang="en-US" b="0" i="0" dirty="0">
                <a:solidFill>
                  <a:srgbClr val="3A3A3A"/>
                </a:solidFill>
                <a:effectLst/>
                <a:latin typeface="Roboto" panose="02000000000000000000" pitchFamily="2" charset="0"/>
              </a:rPr>
              <a:t>Here, content-box is the box-sizing for the div element. The height and width for the div content do not include padding and border. The full height and width parameters are specified for the content as shown below:</a:t>
            </a:r>
            <a:endParaRPr lang="en-US" dirty="0"/>
          </a:p>
        </p:txBody>
      </p:sp>
      <p:pic>
        <p:nvPicPr>
          <p:cNvPr id="6148" name="Picture 4" descr="Content Box">
            <a:extLst>
              <a:ext uri="{FF2B5EF4-FFF2-40B4-BE49-F238E27FC236}">
                <a16:creationId xmlns:a16="http://schemas.microsoft.com/office/drawing/2014/main" id="{D892CF4A-6A7F-F3E9-BAE5-04887EDB9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605088"/>
            <a:ext cx="4876800"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0D805C-C6B6-F42B-4CD0-73BD0C5E6A35}"/>
              </a:ext>
            </a:extLst>
          </p:cNvPr>
          <p:cNvSpPr txBox="1"/>
          <p:nvPr/>
        </p:nvSpPr>
        <p:spPr>
          <a:xfrm>
            <a:off x="2477069" y="14810"/>
            <a:ext cx="4954136" cy="68352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Explain the RGB stream</a:t>
            </a:r>
          </a:p>
          <a:p>
            <a:pPr algn="just">
              <a:lnSpc>
                <a:spcPts val="2100"/>
              </a:lnSpc>
              <a:spcBef>
                <a:spcPts val="1650"/>
              </a:spcBef>
              <a:buNone/>
            </a:pPr>
            <a:r>
              <a:rPr lang="en-US" b="0" i="0" dirty="0">
                <a:solidFill>
                  <a:srgbClr val="3A3A3A"/>
                </a:solidFill>
                <a:effectLst/>
                <a:latin typeface="Roboto" panose="02000000000000000000" pitchFamily="2" charset="0"/>
              </a:rPr>
              <a:t>RGB represents the colors in CSS. The RGB streams are red, green, and blue. The intensity of the colors can be set from 0 to 255. It enables CSS to have a spectrum of visible colors. Example code using RGB in CSS:</a:t>
            </a:r>
          </a:p>
          <a:p>
            <a:pPr algn="l">
              <a:spcBef>
                <a:spcPts val="1125"/>
              </a:spcBef>
              <a:spcAft>
                <a:spcPts val="375"/>
              </a:spcAft>
              <a:buNone/>
            </a:pPr>
            <a:r>
              <a:rPr lang="en-US" b="0" i="0" dirty="0">
                <a:solidFill>
                  <a:srgbClr val="212529"/>
                </a:solidFill>
                <a:effectLst/>
                <a:latin typeface="Courier New" panose="02070309020205020404" pitchFamily="49" charset="0"/>
              </a:rPr>
              <a:t>div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a:t>
            </a:r>
            <a:r>
              <a:rPr lang="en-US" b="0" i="0" dirty="0" err="1">
                <a:solidFill>
                  <a:srgbClr val="212529"/>
                </a:solidFill>
                <a:effectLst/>
                <a:latin typeface="Courier New" panose="02070309020205020404" pitchFamily="49" charset="0"/>
              </a:rPr>
              <a:t>rgb</a:t>
            </a:r>
            <a:r>
              <a:rPr lang="en-US" b="0" i="0" dirty="0">
                <a:solidFill>
                  <a:srgbClr val="212529"/>
                </a:solidFill>
                <a:effectLst/>
                <a:latin typeface="Courier New" panose="02070309020205020404" pitchFamily="49" charset="0"/>
              </a:rPr>
              <a:t>(255, 0, 0); /* Pure red */</a:t>
            </a:r>
          </a:p>
          <a:p>
            <a:pPr algn="l">
              <a:spcBef>
                <a:spcPts val="1125"/>
              </a:spcBef>
              <a:spcAft>
                <a:spcPts val="375"/>
              </a:spcAft>
              <a:buNone/>
            </a:pPr>
            <a:r>
              <a:rPr lang="en-US" b="0" i="0" dirty="0">
                <a:solidFill>
                  <a:srgbClr val="212529"/>
                </a:solidFill>
                <a:effectLst/>
                <a:latin typeface="Courier New" panose="02070309020205020404" pitchFamily="49" charset="0"/>
              </a:rPr>
              <a:t>color: </a:t>
            </a:r>
            <a:r>
              <a:rPr lang="en-US" b="0" i="0" dirty="0" err="1">
                <a:solidFill>
                  <a:srgbClr val="212529"/>
                </a:solidFill>
                <a:effectLst/>
                <a:latin typeface="Courier New" panose="02070309020205020404" pitchFamily="49" charset="0"/>
              </a:rPr>
              <a:t>rgb</a:t>
            </a:r>
            <a:r>
              <a:rPr lang="en-US" b="0" i="0" dirty="0">
                <a:solidFill>
                  <a:srgbClr val="212529"/>
                </a:solidFill>
                <a:effectLst/>
                <a:latin typeface="Courier New" panose="02070309020205020404" pitchFamily="49" charset="0"/>
              </a:rPr>
              <a:t>(255, 255, 255); /* White text */</a:t>
            </a:r>
          </a:p>
          <a:p>
            <a:pPr algn="l">
              <a:spcBef>
                <a:spcPts val="1125"/>
              </a:spcBef>
              <a:spcAft>
                <a:spcPts val="375"/>
              </a:spcAft>
              <a:buNone/>
            </a:pPr>
            <a:r>
              <a:rPr lang="en-US" b="0" i="0" dirty="0">
                <a:solidFill>
                  <a:srgbClr val="212529"/>
                </a:solidFill>
                <a:effectLst/>
                <a:latin typeface="Courier New" panose="02070309020205020404" pitchFamily="49" charset="0"/>
              </a:rPr>
              <a:t>padding: 20px;</a:t>
            </a:r>
          </a:p>
          <a:p>
            <a:pPr algn="l">
              <a:spcBef>
                <a:spcPts val="1125"/>
              </a:spcBef>
              <a:spcAft>
                <a:spcPts val="375"/>
              </a:spcAft>
              <a:buNone/>
            </a:pPr>
            <a:r>
              <a:rPr lang="en-US" b="0" i="0" dirty="0">
                <a:solidFill>
                  <a:srgbClr val="212529"/>
                </a:solidFill>
                <a:effectLst/>
                <a:latin typeface="Courier New" panose="02070309020205020404" pitchFamily="49" charset="0"/>
              </a:rPr>
              <a:t>font-size: 18px;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In this example:</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rgb</a:t>
            </a:r>
            <a:r>
              <a:rPr lang="en-US" b="0" i="0" dirty="0">
                <a:solidFill>
                  <a:srgbClr val="3A3A3A"/>
                </a:solidFill>
                <a:effectLst/>
                <a:latin typeface="Roboto" panose="02000000000000000000" pitchFamily="2" charset="0"/>
              </a:rPr>
              <a:t>(255,0,0) sets a red background.</a:t>
            </a:r>
          </a:p>
          <a:p>
            <a:pPr algn="just">
              <a:lnSpc>
                <a:spcPts val="2100"/>
              </a:lnSpc>
              <a:spcBef>
                <a:spcPts val="75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rgb</a:t>
            </a:r>
            <a:r>
              <a:rPr lang="en-US" b="0" i="0" dirty="0">
                <a:solidFill>
                  <a:srgbClr val="3A3A3A"/>
                </a:solidFill>
                <a:effectLst/>
                <a:latin typeface="Roboto" panose="02000000000000000000" pitchFamily="2" charset="0"/>
              </a:rPr>
              <a:t>(255,0,0) sets the text color to white.</a:t>
            </a:r>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413D13-D7A6-E99C-5455-7182CB2172D0}"/>
              </a:ext>
            </a:extLst>
          </p:cNvPr>
          <p:cNvSpPr txBox="1"/>
          <p:nvPr/>
        </p:nvSpPr>
        <p:spPr>
          <a:xfrm>
            <a:off x="2477069" y="770145"/>
            <a:ext cx="4954136" cy="532453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Define z-index</a:t>
            </a:r>
          </a:p>
          <a:p>
            <a:pPr algn="just">
              <a:lnSpc>
                <a:spcPts val="2100"/>
              </a:lnSpc>
              <a:spcBef>
                <a:spcPts val="1650"/>
              </a:spcBef>
              <a:buNone/>
            </a:pPr>
            <a:r>
              <a:rPr lang="en-US" b="0" i="0" dirty="0">
                <a:solidFill>
                  <a:srgbClr val="3A3A3A"/>
                </a:solidFill>
                <a:effectLst/>
                <a:latin typeface="Roboto" panose="02000000000000000000" pitchFamily="2" charset="0"/>
              </a:rPr>
              <a:t>Z-index helps specify the </a:t>
            </a:r>
            <a:r>
              <a:rPr lang="en-US" b="0" i="0" u="none" strike="noStrike" dirty="0">
                <a:solidFill>
                  <a:srgbClr val="0F5A9E"/>
                </a:solidFill>
                <a:effectLst/>
                <a:latin typeface="Roboto" panose="02000000000000000000" pitchFamily="2" charset="0"/>
                <a:hlinkClick r:id="rId2"/>
              </a:rPr>
              <a:t>stack</a:t>
            </a:r>
            <a:r>
              <a:rPr lang="en-US" b="0" i="0" dirty="0">
                <a:solidFill>
                  <a:srgbClr val="3A3A3A"/>
                </a:solidFill>
                <a:effectLst/>
                <a:latin typeface="Roboto" panose="02000000000000000000" pitchFamily="2" charset="0"/>
              </a:rPr>
              <a:t> order of elements that overlap each other. While the default value of z-index is zero, it can take both positive and negative </a:t>
            </a:r>
            <a:r>
              <a:rPr lang="en-US" b="0" i="0" dirty="0" err="1">
                <a:solidFill>
                  <a:srgbClr val="3A3A3A"/>
                </a:solidFill>
                <a:effectLst/>
                <a:latin typeface="Roboto" panose="02000000000000000000" pitchFamily="2" charset="0"/>
              </a:rPr>
              <a:t>values.The</a:t>
            </a:r>
            <a:r>
              <a:rPr lang="en-US" b="0" i="0" dirty="0">
                <a:solidFill>
                  <a:srgbClr val="3A3A3A"/>
                </a:solidFill>
                <a:effectLst/>
                <a:latin typeface="Roboto" panose="02000000000000000000" pitchFamily="2" charset="0"/>
              </a:rPr>
              <a:t> element with a greater stack order is always above the element with a lower stack order.</a:t>
            </a:r>
          </a:p>
          <a:p>
            <a:pPr algn="just">
              <a:lnSpc>
                <a:spcPts val="2100"/>
              </a:lnSpc>
              <a:spcBef>
                <a:spcPts val="750"/>
              </a:spcBef>
              <a:buNone/>
            </a:pPr>
            <a:r>
              <a:rPr lang="en-US" b="0" i="0" dirty="0">
                <a:solidFill>
                  <a:srgbClr val="3A3A3A"/>
                </a:solidFill>
                <a:effectLst/>
                <a:latin typeface="Roboto" panose="02000000000000000000" pitchFamily="2" charset="0"/>
              </a:rPr>
              <a:t>Z-index can assume the following values: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auto: It sets the stack order equal to its parents.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number: It sets the stack order of the element. Negative values are allowed.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initial: It sets this property to its default value.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inherit: It inherits this property from its parent element.</a:t>
            </a: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D15708-6B39-FF63-3360-1759B09B6B31}"/>
              </a:ext>
            </a:extLst>
          </p:cNvPr>
          <p:cNvSpPr txBox="1"/>
          <p:nvPr/>
        </p:nvSpPr>
        <p:spPr>
          <a:xfrm>
            <a:off x="225189" y="350322"/>
            <a:ext cx="4954136" cy="10695236"/>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&lt;!DOCTYPE html&gt;</a:t>
            </a:r>
          </a:p>
          <a:p>
            <a:pPr algn="l">
              <a:spcBef>
                <a:spcPts val="1125"/>
              </a:spcBef>
              <a:spcAft>
                <a:spcPts val="375"/>
              </a:spcAft>
              <a:buNone/>
            </a:pPr>
            <a:r>
              <a:rPr lang="en-US" b="0" i="0" dirty="0">
                <a:solidFill>
                  <a:srgbClr val="212529"/>
                </a:solidFill>
                <a:effectLst/>
                <a:latin typeface="Courier New" panose="02070309020205020404" pitchFamily="49" charset="0"/>
              </a:rPr>
              <a:t>&lt;html&gt;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.box1 {</a:t>
            </a:r>
          </a:p>
          <a:p>
            <a:pPr algn="l">
              <a:spcBef>
                <a:spcPts val="1125"/>
              </a:spcBef>
              <a:spcAft>
                <a:spcPts val="375"/>
              </a:spcAft>
              <a:buNone/>
            </a:pPr>
            <a:r>
              <a:rPr lang="en-US" b="0" i="0" dirty="0">
                <a:solidFill>
                  <a:srgbClr val="212529"/>
                </a:solidFill>
                <a:effectLst/>
                <a:latin typeface="Courier New" panose="02070309020205020404" pitchFamily="49" charset="0"/>
              </a:rPr>
              <a:t>width: 150px;</a:t>
            </a:r>
          </a:p>
          <a:p>
            <a:pPr algn="l">
              <a:spcBef>
                <a:spcPts val="1125"/>
              </a:spcBef>
              <a:spcAft>
                <a:spcPts val="375"/>
              </a:spcAft>
              <a:buNone/>
            </a:pPr>
            <a:r>
              <a:rPr lang="en-US" b="0" i="0" dirty="0">
                <a:solidFill>
                  <a:srgbClr val="212529"/>
                </a:solidFill>
                <a:effectLst/>
                <a:latin typeface="Courier New" panose="02070309020205020404" pitchFamily="49" charset="0"/>
              </a:rPr>
              <a:t>height: 150px;</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red;</a:t>
            </a:r>
          </a:p>
          <a:p>
            <a:pPr algn="l">
              <a:spcBef>
                <a:spcPts val="1125"/>
              </a:spcBef>
              <a:spcAft>
                <a:spcPts val="375"/>
              </a:spcAft>
              <a:buNone/>
            </a:pPr>
            <a:r>
              <a:rPr lang="en-US" b="0" i="0" dirty="0">
                <a:solidFill>
                  <a:srgbClr val="212529"/>
                </a:solidFill>
                <a:effectLst/>
                <a:latin typeface="Courier New" panose="02070309020205020404" pitchFamily="49" charset="0"/>
              </a:rPr>
              <a:t>position: absolute;</a:t>
            </a:r>
          </a:p>
          <a:p>
            <a:pPr algn="l">
              <a:spcBef>
                <a:spcPts val="1125"/>
              </a:spcBef>
              <a:spcAft>
                <a:spcPts val="375"/>
              </a:spcAft>
              <a:buNone/>
            </a:pPr>
            <a:r>
              <a:rPr lang="en-US" b="0" i="0" dirty="0">
                <a:solidFill>
                  <a:srgbClr val="212529"/>
                </a:solidFill>
                <a:effectLst/>
                <a:latin typeface="Courier New" panose="02070309020205020404" pitchFamily="49" charset="0"/>
              </a:rPr>
              <a:t>top: 50px;</a:t>
            </a:r>
          </a:p>
          <a:p>
            <a:pPr algn="l">
              <a:spcBef>
                <a:spcPts val="1125"/>
              </a:spcBef>
              <a:spcAft>
                <a:spcPts val="375"/>
              </a:spcAft>
              <a:buNone/>
            </a:pPr>
            <a:r>
              <a:rPr lang="en-US" b="0" i="0" dirty="0">
                <a:solidFill>
                  <a:srgbClr val="212529"/>
                </a:solidFill>
                <a:effectLst/>
                <a:latin typeface="Courier New" panose="02070309020205020404" pitchFamily="49" charset="0"/>
              </a:rPr>
              <a:t>left: 50px;</a:t>
            </a:r>
          </a:p>
          <a:p>
            <a:pPr algn="l">
              <a:spcBef>
                <a:spcPts val="1125"/>
              </a:spcBef>
              <a:spcAft>
                <a:spcPts val="375"/>
              </a:spcAft>
              <a:buNone/>
            </a:pPr>
            <a:r>
              <a:rPr lang="en-US" b="0" i="0" dirty="0">
                <a:solidFill>
                  <a:srgbClr val="212529"/>
                </a:solidFill>
                <a:effectLst/>
                <a:latin typeface="Courier New" panose="02070309020205020404" pitchFamily="49" charset="0"/>
              </a:rPr>
              <a:t>z-index: 1;</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.box2 {</a:t>
            </a:r>
          </a:p>
          <a:p>
            <a:pPr algn="l">
              <a:spcBef>
                <a:spcPts val="1125"/>
              </a:spcBef>
              <a:spcAft>
                <a:spcPts val="375"/>
              </a:spcAft>
              <a:buNone/>
            </a:pPr>
            <a:r>
              <a:rPr lang="en-US" b="0" i="0" dirty="0">
                <a:solidFill>
                  <a:srgbClr val="212529"/>
                </a:solidFill>
                <a:effectLst/>
                <a:latin typeface="Courier New" panose="02070309020205020404" pitchFamily="49" charset="0"/>
              </a:rPr>
              <a:t>width: 150px;</a:t>
            </a:r>
          </a:p>
          <a:p>
            <a:pPr algn="l">
              <a:spcBef>
                <a:spcPts val="1125"/>
              </a:spcBef>
              <a:spcAft>
                <a:spcPts val="375"/>
              </a:spcAft>
              <a:buNone/>
            </a:pPr>
            <a:r>
              <a:rPr lang="en-US" b="0" i="0" dirty="0">
                <a:solidFill>
                  <a:srgbClr val="212529"/>
                </a:solidFill>
                <a:effectLst/>
                <a:latin typeface="Courier New" panose="02070309020205020404" pitchFamily="49" charset="0"/>
              </a:rPr>
              <a:t>height: 150px;</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green;</a:t>
            </a:r>
          </a:p>
          <a:p>
            <a:pPr algn="l">
              <a:spcBef>
                <a:spcPts val="1125"/>
              </a:spcBef>
              <a:spcAft>
                <a:spcPts val="375"/>
              </a:spcAft>
              <a:buNone/>
            </a:pPr>
            <a:r>
              <a:rPr lang="en-US" b="0" i="0" dirty="0">
                <a:solidFill>
                  <a:srgbClr val="212529"/>
                </a:solidFill>
                <a:effectLst/>
                <a:latin typeface="Courier New" panose="02070309020205020404" pitchFamily="49" charset="0"/>
              </a:rPr>
              <a:t>position: absolute;</a:t>
            </a:r>
          </a:p>
          <a:p>
            <a:pPr algn="l">
              <a:spcBef>
                <a:spcPts val="1125"/>
              </a:spcBef>
              <a:spcAft>
                <a:spcPts val="375"/>
              </a:spcAft>
              <a:buNone/>
            </a:pPr>
            <a:r>
              <a:rPr lang="en-US" b="0" i="0" dirty="0">
                <a:solidFill>
                  <a:srgbClr val="212529"/>
                </a:solidFill>
                <a:effectLst/>
                <a:latin typeface="Courier New" panose="02070309020205020404" pitchFamily="49" charset="0"/>
              </a:rPr>
              <a:t>top: 100px;</a:t>
            </a:r>
          </a:p>
          <a:p>
            <a:pPr algn="l">
              <a:spcBef>
                <a:spcPts val="1125"/>
              </a:spcBef>
              <a:spcAft>
                <a:spcPts val="375"/>
              </a:spcAft>
              <a:buNone/>
            </a:pPr>
            <a:r>
              <a:rPr lang="en-US" b="0" i="0" dirty="0">
                <a:solidFill>
                  <a:srgbClr val="212529"/>
                </a:solidFill>
                <a:effectLst/>
                <a:latin typeface="Courier New" panose="02070309020205020404" pitchFamily="49" charset="0"/>
              </a:rPr>
              <a:t>left: 100px;</a:t>
            </a:r>
          </a:p>
          <a:p>
            <a:pPr algn="l">
              <a:spcBef>
                <a:spcPts val="1125"/>
              </a:spcBef>
              <a:spcAft>
                <a:spcPts val="375"/>
              </a:spcAft>
              <a:buNone/>
            </a:pPr>
            <a:r>
              <a:rPr lang="en-US" b="0" i="0" dirty="0">
                <a:solidFill>
                  <a:srgbClr val="212529"/>
                </a:solidFill>
                <a:effectLst/>
                <a:latin typeface="Courier New" panose="02070309020205020404" pitchFamily="49" charset="0"/>
              </a:rPr>
              <a:t>z-index: 2;</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F8D8C233-DA00-1BA5-A660-BC372EA236D5}"/>
              </a:ext>
            </a:extLst>
          </p:cNvPr>
          <p:cNvSpPr txBox="1"/>
          <p:nvPr/>
        </p:nvSpPr>
        <p:spPr>
          <a:xfrm>
            <a:off x="3637128" y="101685"/>
            <a:ext cx="4954136" cy="8817799"/>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.box3 {</a:t>
            </a:r>
          </a:p>
          <a:p>
            <a:pPr algn="l">
              <a:spcBef>
                <a:spcPts val="1125"/>
              </a:spcBef>
              <a:spcAft>
                <a:spcPts val="375"/>
              </a:spcAft>
              <a:buNone/>
            </a:pPr>
            <a:r>
              <a:rPr lang="en-US" b="0" i="0" dirty="0">
                <a:solidFill>
                  <a:srgbClr val="212529"/>
                </a:solidFill>
                <a:effectLst/>
                <a:latin typeface="Courier New" panose="02070309020205020404" pitchFamily="49" charset="0"/>
              </a:rPr>
              <a:t>width: 150px;</a:t>
            </a:r>
          </a:p>
          <a:p>
            <a:pPr algn="l">
              <a:spcBef>
                <a:spcPts val="1125"/>
              </a:spcBef>
              <a:spcAft>
                <a:spcPts val="375"/>
              </a:spcAft>
              <a:buNone/>
            </a:pPr>
            <a:r>
              <a:rPr lang="en-US" b="0" i="0" dirty="0">
                <a:solidFill>
                  <a:srgbClr val="212529"/>
                </a:solidFill>
                <a:effectLst/>
                <a:latin typeface="Courier New" panose="02070309020205020404" pitchFamily="49" charset="0"/>
              </a:rPr>
              <a:t>height: 150px;</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blue;</a:t>
            </a:r>
          </a:p>
          <a:p>
            <a:pPr algn="l">
              <a:spcBef>
                <a:spcPts val="1125"/>
              </a:spcBef>
              <a:spcAft>
                <a:spcPts val="375"/>
              </a:spcAft>
              <a:buNone/>
            </a:pPr>
            <a:r>
              <a:rPr lang="en-US" b="0" i="0" dirty="0">
                <a:solidFill>
                  <a:srgbClr val="212529"/>
                </a:solidFill>
                <a:effectLst/>
                <a:latin typeface="Courier New" panose="02070309020205020404" pitchFamily="49" charset="0"/>
              </a:rPr>
              <a:t>position: absolute;</a:t>
            </a:r>
          </a:p>
          <a:p>
            <a:pPr algn="l">
              <a:spcBef>
                <a:spcPts val="1125"/>
              </a:spcBef>
              <a:spcAft>
                <a:spcPts val="375"/>
              </a:spcAft>
              <a:buNone/>
            </a:pPr>
            <a:r>
              <a:rPr lang="en-US" b="0" i="0" dirty="0">
                <a:solidFill>
                  <a:srgbClr val="212529"/>
                </a:solidFill>
                <a:effectLst/>
                <a:latin typeface="Courier New" panose="02070309020205020404" pitchFamily="49" charset="0"/>
              </a:rPr>
              <a:t>top: 150px;</a:t>
            </a:r>
          </a:p>
          <a:p>
            <a:pPr algn="l">
              <a:spcBef>
                <a:spcPts val="1125"/>
              </a:spcBef>
              <a:spcAft>
                <a:spcPts val="375"/>
              </a:spcAft>
              <a:buNone/>
            </a:pPr>
            <a:r>
              <a:rPr lang="en-US" b="0" i="0" dirty="0">
                <a:solidFill>
                  <a:srgbClr val="212529"/>
                </a:solidFill>
                <a:effectLst/>
                <a:latin typeface="Courier New" panose="02070309020205020404" pitchFamily="49" charset="0"/>
              </a:rPr>
              <a:t>left: 150px;</a:t>
            </a:r>
          </a:p>
          <a:p>
            <a:pPr algn="l">
              <a:spcBef>
                <a:spcPts val="1125"/>
              </a:spcBef>
              <a:spcAft>
                <a:spcPts val="375"/>
              </a:spcAft>
              <a:buNone/>
            </a:pPr>
            <a:r>
              <a:rPr lang="en-US" b="0" i="0" dirty="0">
                <a:solidFill>
                  <a:srgbClr val="212529"/>
                </a:solidFill>
                <a:effectLst/>
                <a:latin typeface="Courier New" panose="02070309020205020404" pitchFamily="49" charset="0"/>
              </a:rPr>
              <a:t>z-index: 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&lt;div class="box1"&gt;&lt;/div&gt;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class="box2"&gt;&lt;/div&gt;</a:t>
            </a:r>
          </a:p>
          <a:p>
            <a:pPr algn="l">
              <a:spcBef>
                <a:spcPts val="1125"/>
              </a:spcBef>
              <a:spcAft>
                <a:spcPts val="375"/>
              </a:spcAft>
              <a:buNone/>
            </a:pPr>
            <a:r>
              <a:rPr lang="en-US" b="0" i="0" dirty="0">
                <a:solidFill>
                  <a:srgbClr val="212529"/>
                </a:solidFill>
                <a:effectLst/>
                <a:latin typeface="Courier New" panose="02070309020205020404" pitchFamily="49" charset="0"/>
              </a:rPr>
              <a:t>&lt;div class="box3"&gt;&lt;/div&gt;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r>
              <a:rPr lang="en-US" b="0" i="0" dirty="0">
                <a:solidFill>
                  <a:srgbClr val="212529"/>
                </a:solidFill>
                <a:effectLst/>
                <a:latin typeface="Courier New" panose="02070309020205020404" pitchFamily="49" charset="0"/>
              </a:rPr>
              <a:t>&lt;/html&gt;</a:t>
            </a:r>
          </a:p>
        </p:txBody>
      </p:sp>
      <p:pic>
        <p:nvPicPr>
          <p:cNvPr id="7170" name="Picture 2" descr="Z-index">
            <a:extLst>
              <a:ext uri="{FF2B5EF4-FFF2-40B4-BE49-F238E27FC236}">
                <a16:creationId xmlns:a16="http://schemas.microsoft.com/office/drawing/2014/main" id="{8BF11E3A-1AA8-B442-39E8-C288086BC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2076" y="2891619"/>
            <a:ext cx="3913924" cy="2471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685497-6413-33FF-0CA4-68FAF2496D11}"/>
              </a:ext>
            </a:extLst>
          </p:cNvPr>
          <p:cNvSpPr txBox="1"/>
          <p:nvPr/>
        </p:nvSpPr>
        <p:spPr>
          <a:xfrm>
            <a:off x="402609" y="306206"/>
            <a:ext cx="9027994" cy="55938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Name the different ways to position some aspects in CSS</a:t>
            </a:r>
          </a:p>
          <a:p>
            <a:pPr algn="just">
              <a:lnSpc>
                <a:spcPts val="2100"/>
              </a:lnSpc>
              <a:spcBef>
                <a:spcPts val="1650"/>
              </a:spcBef>
              <a:buNone/>
            </a:pPr>
            <a:r>
              <a:rPr lang="en-US" b="0" i="0" dirty="0">
                <a:solidFill>
                  <a:srgbClr val="3A3A3A"/>
                </a:solidFill>
                <a:effectLst/>
                <a:latin typeface="Roboto" panose="02000000000000000000" pitchFamily="2" charset="0"/>
              </a:rPr>
              <a:t>The positioning method type is determined by the positioning property. The five different position values are:</a:t>
            </a:r>
          </a:p>
          <a:p>
            <a:pPr algn="just">
              <a:lnSpc>
                <a:spcPts val="2100"/>
              </a:lnSpc>
              <a:spcBef>
                <a:spcPts val="750"/>
              </a:spcBef>
              <a:buNone/>
            </a:pPr>
            <a:r>
              <a:rPr lang="en-US" b="0" i="0" dirty="0">
                <a:solidFill>
                  <a:srgbClr val="3A3A3A"/>
                </a:solidFill>
                <a:effectLst/>
                <a:latin typeface="Roboto" panose="02000000000000000000" pitchFamily="2" charset="0"/>
              </a:rPr>
              <a:t>1. </a:t>
            </a:r>
            <a:r>
              <a:rPr lang="en-US" b="0" i="0" dirty="0" err="1">
                <a:solidFill>
                  <a:srgbClr val="3A3A3A"/>
                </a:solidFill>
                <a:effectLst/>
                <a:latin typeface="Roboto" panose="02000000000000000000" pitchFamily="2" charset="0"/>
              </a:rPr>
              <a:t>fixed:This</a:t>
            </a:r>
            <a:r>
              <a:rPr lang="en-US" b="0" i="0" dirty="0">
                <a:solidFill>
                  <a:srgbClr val="3A3A3A"/>
                </a:solidFill>
                <a:effectLst/>
                <a:latin typeface="Roboto" panose="02000000000000000000" pitchFamily="2" charset="0"/>
              </a:rPr>
              <a:t> is the default position </a:t>
            </a:r>
            <a:r>
              <a:rPr lang="en-US" b="0" i="0" dirty="0" err="1">
                <a:solidFill>
                  <a:srgbClr val="3A3A3A"/>
                </a:solidFill>
                <a:effectLst/>
                <a:latin typeface="Roboto" panose="02000000000000000000" pitchFamily="2" charset="0"/>
              </a:rPr>
              <a:t>value.Elements</a:t>
            </a:r>
            <a:r>
              <a:rPr lang="en-US" b="0" i="0" dirty="0">
                <a:solidFill>
                  <a:srgbClr val="3A3A3A"/>
                </a:solidFill>
                <a:effectLst/>
                <a:latin typeface="Roboto" panose="02000000000000000000" pitchFamily="2" charset="0"/>
              </a:rPr>
              <a:t> are positioned according to the normal document flow. top, right, bottom, and left properties do not affect static elements.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2. </a:t>
            </a:r>
            <a:r>
              <a:rPr lang="en-US" b="0" i="0" u="none" strike="noStrike" dirty="0" err="1">
                <a:solidFill>
                  <a:srgbClr val="0F5A9E"/>
                </a:solidFill>
                <a:effectLst/>
                <a:latin typeface="Roboto" panose="02000000000000000000" pitchFamily="2" charset="0"/>
                <a:hlinkClick r:id="rId2"/>
              </a:rPr>
              <a:t>static</a:t>
            </a:r>
            <a:r>
              <a:rPr lang="en-US" b="0" i="0" dirty="0" err="1">
                <a:solidFill>
                  <a:srgbClr val="3A3A3A"/>
                </a:solidFill>
                <a:effectLst/>
                <a:latin typeface="Roboto" panose="02000000000000000000" pitchFamily="2" charset="0"/>
              </a:rPr>
              <a:t>:The</a:t>
            </a:r>
            <a:r>
              <a:rPr lang="en-US" b="0" i="0" dirty="0">
                <a:solidFill>
                  <a:srgbClr val="3A3A3A"/>
                </a:solidFill>
                <a:effectLst/>
                <a:latin typeface="Roboto" panose="02000000000000000000" pitchFamily="2" charset="0"/>
              </a:rPr>
              <a:t> element is positioned relative to its normal </a:t>
            </a:r>
            <a:r>
              <a:rPr lang="en-US" b="0" i="0" dirty="0" err="1">
                <a:solidFill>
                  <a:srgbClr val="3A3A3A"/>
                </a:solidFill>
                <a:effectLst/>
                <a:latin typeface="Roboto" panose="02000000000000000000" pitchFamily="2" charset="0"/>
              </a:rPr>
              <a:t>position.Offsets</a:t>
            </a:r>
            <a:r>
              <a:rPr lang="en-US" b="0" i="0" dirty="0">
                <a:solidFill>
                  <a:srgbClr val="3A3A3A"/>
                </a:solidFill>
                <a:effectLst/>
                <a:latin typeface="Roboto" panose="02000000000000000000" pitchFamily="2" charset="0"/>
              </a:rPr>
              <a:t> with top, left, etc., move the element without removing it from the flow.</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3. absolute: The element is positioned relative to the nearest positioned ancestor (not static).If no such ancestor exists, it is positioned relative to the &lt;html&gt; (root).It is removed from the normal document flow.</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4. fixed: The element is positioned relative to the browser </a:t>
            </a:r>
            <a:r>
              <a:rPr lang="en-US" b="0" i="0" dirty="0" err="1">
                <a:solidFill>
                  <a:srgbClr val="3A3A3A"/>
                </a:solidFill>
                <a:effectLst/>
                <a:latin typeface="Roboto" panose="02000000000000000000" pitchFamily="2" charset="0"/>
              </a:rPr>
              <a:t>window.It</a:t>
            </a:r>
            <a:r>
              <a:rPr lang="en-US" b="0" i="0" dirty="0">
                <a:solidFill>
                  <a:srgbClr val="3A3A3A"/>
                </a:solidFill>
                <a:effectLst/>
                <a:latin typeface="Roboto" panose="02000000000000000000" pitchFamily="2" charset="0"/>
              </a:rPr>
              <a:t> stays fixed in place even when the page is </a:t>
            </a:r>
            <a:r>
              <a:rPr lang="en-US" b="0" i="0" dirty="0" err="1">
                <a:solidFill>
                  <a:srgbClr val="3A3A3A"/>
                </a:solidFill>
                <a:effectLst/>
                <a:latin typeface="Roboto" panose="02000000000000000000" pitchFamily="2" charset="0"/>
              </a:rPr>
              <a:t>scrolled.Useful</a:t>
            </a:r>
            <a:r>
              <a:rPr lang="en-US" b="0" i="0" dirty="0">
                <a:solidFill>
                  <a:srgbClr val="3A3A3A"/>
                </a:solidFill>
                <a:effectLst/>
                <a:latin typeface="Roboto" panose="02000000000000000000" pitchFamily="2" charset="0"/>
              </a:rPr>
              <a:t> for sticky headers, </a:t>
            </a:r>
            <a:r>
              <a:rPr lang="en-US" b="0" i="0" u="none" strike="noStrike" dirty="0">
                <a:solidFill>
                  <a:srgbClr val="0F5A9E"/>
                </a:solidFill>
                <a:effectLst/>
                <a:latin typeface="Roboto" panose="02000000000000000000" pitchFamily="2" charset="0"/>
                <a:hlinkClick r:id="rId3"/>
              </a:rPr>
              <a:t>footers</a:t>
            </a:r>
            <a:r>
              <a:rPr lang="en-US" b="0" i="0" dirty="0">
                <a:solidFill>
                  <a:srgbClr val="3A3A3A"/>
                </a:solidFill>
                <a:effectLst/>
                <a:latin typeface="Roboto" panose="02000000000000000000" pitchFamily="2" charset="0"/>
              </a:rPr>
              <a:t>, or buttons.</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 </a:t>
            </a:r>
            <a:r>
              <a:rPr lang="en-US" b="0" i="0" dirty="0" err="1">
                <a:solidFill>
                  <a:srgbClr val="3A3A3A"/>
                </a:solidFill>
                <a:effectLst/>
                <a:latin typeface="Roboto" panose="02000000000000000000" pitchFamily="2" charset="0"/>
              </a:rPr>
              <a:t>sticky:A</a:t>
            </a:r>
            <a:r>
              <a:rPr lang="en-US" b="0" i="0" dirty="0">
                <a:solidFill>
                  <a:srgbClr val="3A3A3A"/>
                </a:solidFill>
                <a:effectLst/>
                <a:latin typeface="Roboto" panose="02000000000000000000" pitchFamily="2" charset="0"/>
              </a:rPr>
              <a:t> hybrid of relative and </a:t>
            </a:r>
            <a:r>
              <a:rPr lang="en-US" b="0" i="0" dirty="0" err="1">
                <a:solidFill>
                  <a:srgbClr val="3A3A3A"/>
                </a:solidFill>
                <a:effectLst/>
                <a:latin typeface="Roboto" panose="02000000000000000000" pitchFamily="2" charset="0"/>
              </a:rPr>
              <a:t>fixed.The</a:t>
            </a:r>
            <a:r>
              <a:rPr lang="en-US" b="0" i="0" dirty="0">
                <a:solidFill>
                  <a:srgbClr val="3A3A3A"/>
                </a:solidFill>
                <a:effectLst/>
                <a:latin typeface="Roboto" panose="02000000000000000000" pitchFamily="2" charset="0"/>
              </a:rPr>
              <a:t> element toggles between relative and fixed based on the scroll </a:t>
            </a:r>
            <a:r>
              <a:rPr lang="en-US" b="0" i="0" dirty="0" err="1">
                <a:solidFill>
                  <a:srgbClr val="3A3A3A"/>
                </a:solidFill>
                <a:effectLst/>
                <a:latin typeface="Roboto" panose="02000000000000000000" pitchFamily="2" charset="0"/>
              </a:rPr>
              <a:t>position.It</a:t>
            </a:r>
            <a:r>
              <a:rPr lang="en-US" b="0" i="0" dirty="0">
                <a:solidFill>
                  <a:srgbClr val="3A3A3A"/>
                </a:solidFill>
                <a:effectLst/>
                <a:latin typeface="Roboto" panose="02000000000000000000" pitchFamily="2" charset="0"/>
              </a:rPr>
              <a:t> “sticks” to a defined offset (top, left, etc.) when the scroll crosses that threshold.</a:t>
            </a:r>
          </a:p>
          <a:p>
            <a:pPr algn="just">
              <a:lnSpc>
                <a:spcPts val="2100"/>
              </a:lnSpc>
              <a:spcBef>
                <a:spcPts val="750"/>
              </a:spcBef>
              <a:buNone/>
            </a:pPr>
            <a:r>
              <a:rPr lang="en-US" b="0" i="0" dirty="0">
                <a:solidFill>
                  <a:srgbClr val="3A3A3A"/>
                </a:solidFill>
                <a:effectLst/>
                <a:latin typeface="Roboto" panose="02000000000000000000" pitchFamily="2" charset="0"/>
              </a:rPr>
              <a:t>The elements are positioned with the help of top, left, right, and bottom properties. These properties need to be set first, and they work depending on position value.</a:t>
            </a: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F832E9-F10E-D195-06F6-967AC4DA678C}"/>
              </a:ext>
            </a:extLst>
          </p:cNvPr>
          <p:cNvSpPr txBox="1"/>
          <p:nvPr/>
        </p:nvSpPr>
        <p:spPr>
          <a:xfrm>
            <a:off x="2477069" y="933010"/>
            <a:ext cx="4954136" cy="499880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What is the property that is used to control image scrolling?</a:t>
            </a:r>
          </a:p>
          <a:p>
            <a:pPr algn="just">
              <a:lnSpc>
                <a:spcPts val="2100"/>
              </a:lnSpc>
              <a:spcBef>
                <a:spcPts val="1650"/>
              </a:spcBef>
              <a:buNone/>
            </a:pPr>
            <a:r>
              <a:rPr lang="en-US" b="0" i="0" dirty="0">
                <a:solidFill>
                  <a:srgbClr val="3A3A3A"/>
                </a:solidFill>
                <a:effectLst/>
                <a:latin typeface="Roboto" panose="02000000000000000000" pitchFamily="2" charset="0"/>
              </a:rPr>
              <a:t>The background-attachment property is used to set whether the background image remains fixed or is scrollable with the rest of the page. Here is an example for a fixed background-image:</a:t>
            </a:r>
          </a:p>
          <a:p>
            <a:pPr algn="l">
              <a:spcBef>
                <a:spcPts val="1125"/>
              </a:spcBef>
              <a:spcAft>
                <a:spcPts val="375"/>
              </a:spcAft>
              <a:buNone/>
            </a:pPr>
            <a:r>
              <a:rPr lang="en-US" b="0" i="0" dirty="0">
                <a:solidFill>
                  <a:srgbClr val="212529"/>
                </a:solidFill>
                <a:effectLst/>
                <a:latin typeface="Courier New" panose="02070309020205020404" pitchFamily="49" charset="0"/>
              </a:rPr>
              <a:t>body {</a:t>
            </a:r>
          </a:p>
          <a:p>
            <a:pPr algn="l">
              <a:spcBef>
                <a:spcPts val="1125"/>
              </a:spcBef>
              <a:spcAft>
                <a:spcPts val="375"/>
              </a:spcAft>
              <a:buNone/>
            </a:pPr>
            <a:r>
              <a:rPr lang="en-US" b="0" i="0" dirty="0">
                <a:solidFill>
                  <a:srgbClr val="212529"/>
                </a:solidFill>
                <a:effectLst/>
                <a:latin typeface="Courier New" panose="02070309020205020404" pitchFamily="49" charset="0"/>
              </a:rPr>
              <a:t>background-image: </a:t>
            </a:r>
            <a:r>
              <a:rPr lang="en-US" b="0" i="0" dirty="0" err="1">
                <a:solidFill>
                  <a:srgbClr val="212529"/>
                </a:solidFill>
                <a:effectLst/>
                <a:latin typeface="Courier New" panose="02070309020205020404" pitchFamily="49" charset="0"/>
              </a:rPr>
              <a:t>url</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url_of_image</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background-repeat: no-repeat;</a:t>
            </a:r>
          </a:p>
          <a:p>
            <a:pPr algn="l">
              <a:spcBef>
                <a:spcPts val="1125"/>
              </a:spcBef>
              <a:spcAft>
                <a:spcPts val="375"/>
              </a:spcAft>
              <a:buNone/>
            </a:pPr>
            <a:r>
              <a:rPr lang="en-US" b="0" i="0" dirty="0">
                <a:solidFill>
                  <a:srgbClr val="212529"/>
                </a:solidFill>
                <a:effectLst/>
                <a:latin typeface="Courier New" panose="02070309020205020404" pitchFamily="49" charset="0"/>
              </a:rPr>
              <a:t>background-attachment: fixed;</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67671C-B277-E44A-8299-DD68176C1ADA}"/>
              </a:ext>
            </a:extLst>
          </p:cNvPr>
          <p:cNvSpPr txBox="1"/>
          <p:nvPr/>
        </p:nvSpPr>
        <p:spPr>
          <a:xfrm>
            <a:off x="2477069" y="1489573"/>
            <a:ext cx="4954136" cy="38856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In CSS, what are pseudo-classes? Give an illustration.</a:t>
            </a:r>
          </a:p>
          <a:p>
            <a:pPr algn="just">
              <a:lnSpc>
                <a:spcPts val="2100"/>
              </a:lnSpc>
              <a:spcBef>
                <a:spcPts val="1650"/>
              </a:spcBef>
              <a:buNone/>
            </a:pPr>
            <a:r>
              <a:rPr lang="en-US" b="0" i="0" dirty="0">
                <a:solidFill>
                  <a:srgbClr val="3A3A3A"/>
                </a:solidFill>
                <a:effectLst/>
                <a:latin typeface="Roboto" panose="02000000000000000000" pitchFamily="2" charset="0"/>
              </a:rPr>
              <a:t>Pseudo-classes are keywords that specify a special state of an element. An example is the :hover pseudo-class, which applies styles when the mouse is over an element. </a:t>
            </a:r>
          </a:p>
          <a:p>
            <a:pPr algn="just">
              <a:lnSpc>
                <a:spcPts val="2100"/>
              </a:lnSpc>
              <a:spcBef>
                <a:spcPts val="750"/>
              </a:spcBef>
              <a:buNone/>
            </a:pPr>
            <a:r>
              <a:rPr lang="en-US" b="0" i="0" dirty="0">
                <a:solidFill>
                  <a:srgbClr val="3A3A3A"/>
                </a:solidFill>
                <a:effectLst/>
                <a:latin typeface="Roboto" panose="02000000000000000000" pitchFamily="2" charset="0"/>
              </a:rPr>
              <a:t>For instance,</a:t>
            </a:r>
          </a:p>
          <a:p>
            <a:pPr algn="l">
              <a:spcBef>
                <a:spcPts val="1125"/>
              </a:spcBef>
              <a:spcAft>
                <a:spcPts val="375"/>
              </a:spcAft>
              <a:buNone/>
            </a:pPr>
            <a:r>
              <a:rPr lang="en-US" b="0" i="0" dirty="0">
                <a:solidFill>
                  <a:srgbClr val="212529"/>
                </a:solidFill>
                <a:effectLst/>
                <a:latin typeface="Courier New" panose="02070309020205020404" pitchFamily="49" charset="0"/>
              </a:rPr>
              <a:t>a:hover {</a:t>
            </a:r>
          </a:p>
          <a:p>
            <a:pPr algn="l">
              <a:spcBef>
                <a:spcPts val="1125"/>
              </a:spcBef>
              <a:spcAft>
                <a:spcPts val="375"/>
              </a:spcAft>
              <a:buNone/>
            </a:pPr>
            <a:r>
              <a:rPr lang="en-US" b="0" i="0" dirty="0">
                <a:solidFill>
                  <a:srgbClr val="212529"/>
                </a:solidFill>
                <a:effectLst/>
                <a:latin typeface="Courier New" panose="02070309020205020404" pitchFamily="49" charset="0"/>
              </a:rPr>
              <a:t>color: red;</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B3B3F8-15CC-1525-0930-CBA07D62AFD7}"/>
              </a:ext>
            </a:extLst>
          </p:cNvPr>
          <p:cNvSpPr txBox="1"/>
          <p:nvPr/>
        </p:nvSpPr>
        <p:spPr>
          <a:xfrm>
            <a:off x="2477069" y="-2407648"/>
            <a:ext cx="4954136" cy="11680121"/>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CSS Interview Questions for Experienced Professionals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What is the purpose of the @layer rule in CSS?</a:t>
            </a:r>
          </a:p>
          <a:p>
            <a:pPr algn="just">
              <a:lnSpc>
                <a:spcPts val="2100"/>
              </a:lnSpc>
              <a:spcBef>
                <a:spcPts val="1650"/>
              </a:spcBef>
              <a:buNone/>
            </a:pPr>
            <a:r>
              <a:rPr lang="en-US" b="0" i="0" dirty="0">
                <a:solidFill>
                  <a:srgbClr val="3A3A3A"/>
                </a:solidFill>
                <a:effectLst/>
                <a:latin typeface="Roboto" panose="02000000000000000000" pitchFamily="2" charset="0"/>
              </a:rPr>
              <a:t>The @layer rule allows you to manage various components known as layers in CSS, especially in a scenario where multiple resets and bases are being pulled from several different libraries. It streamlines the process of managing prioritization while avoiding conflicts by grouping CSS rules into specified layers with a definite hierarchy of importance.</a:t>
            </a:r>
          </a:p>
          <a:p>
            <a:pPr algn="just">
              <a:lnSpc>
                <a:spcPts val="2100"/>
              </a:lnSpc>
              <a:spcBef>
                <a:spcPts val="750"/>
              </a:spcBef>
              <a:buNone/>
            </a:pPr>
            <a:r>
              <a:rPr lang="en-US" b="0" i="0" dirty="0">
                <a:solidFill>
                  <a:srgbClr val="3A3A3A"/>
                </a:solidFill>
                <a:effectLst/>
                <a:latin typeface="Roboto" panose="02000000000000000000" pitchFamily="2" charset="0"/>
              </a:rPr>
              <a:t>When rules are set using the same specificity, layers set priority will take over.</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@layer reset, base, components;</a:t>
            </a:r>
          </a:p>
          <a:p>
            <a:pPr algn="l">
              <a:spcBef>
                <a:spcPts val="1125"/>
              </a:spcBef>
              <a:spcAft>
                <a:spcPts val="375"/>
              </a:spcAft>
              <a:buNone/>
            </a:pPr>
            <a:r>
              <a:rPr lang="en-US" b="0" i="0" dirty="0">
                <a:solidFill>
                  <a:srgbClr val="212529"/>
                </a:solidFill>
                <a:effectLst/>
                <a:latin typeface="Courier New" panose="02070309020205020404" pitchFamily="49" charset="0"/>
              </a:rPr>
              <a:t>@layer base {</a:t>
            </a:r>
          </a:p>
          <a:p>
            <a:pPr algn="l">
              <a:spcBef>
                <a:spcPts val="1125"/>
              </a:spcBef>
              <a:spcAft>
                <a:spcPts val="375"/>
              </a:spcAft>
              <a:buNone/>
            </a:pPr>
            <a:r>
              <a:rPr lang="en-US" b="0" i="0" dirty="0">
                <a:solidFill>
                  <a:srgbClr val="212529"/>
                </a:solidFill>
                <a:effectLst/>
                <a:latin typeface="Courier New" panose="02070309020205020404" pitchFamily="49" charset="0"/>
              </a:rPr>
              <a:t>h1 {</a:t>
            </a:r>
          </a:p>
          <a:p>
            <a:pPr algn="l">
              <a:spcBef>
                <a:spcPts val="1125"/>
              </a:spcBef>
              <a:spcAft>
                <a:spcPts val="375"/>
              </a:spcAft>
              <a:buNone/>
            </a:pPr>
            <a:r>
              <a:rPr lang="en-US" b="0" i="0" dirty="0">
                <a:solidFill>
                  <a:srgbClr val="212529"/>
                </a:solidFill>
                <a:effectLst/>
                <a:latin typeface="Courier New" panose="02070309020205020404" pitchFamily="49" charset="0"/>
              </a:rPr>
              <a:t>color: black;</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@layer components {</a:t>
            </a:r>
          </a:p>
          <a:p>
            <a:pPr algn="l">
              <a:spcBef>
                <a:spcPts val="1125"/>
              </a:spcBef>
              <a:spcAft>
                <a:spcPts val="375"/>
              </a:spcAft>
              <a:buNone/>
            </a:pPr>
            <a:r>
              <a:rPr lang="en-US" b="0" i="0" dirty="0">
                <a:solidFill>
                  <a:srgbClr val="212529"/>
                </a:solidFill>
                <a:effectLst/>
                <a:latin typeface="Courier New" panose="02070309020205020404" pitchFamily="49" charset="0"/>
              </a:rPr>
              <a:t>h1 {</a:t>
            </a:r>
          </a:p>
          <a:p>
            <a:pPr algn="l">
              <a:spcBef>
                <a:spcPts val="1125"/>
              </a:spcBef>
              <a:spcAft>
                <a:spcPts val="375"/>
              </a:spcAft>
              <a:buNone/>
            </a:pPr>
            <a:r>
              <a:rPr lang="en-US" b="0" i="0" dirty="0">
                <a:solidFill>
                  <a:srgbClr val="212529"/>
                </a:solidFill>
                <a:effectLst/>
                <a:latin typeface="Courier New" panose="02070309020205020404" pitchFamily="49" charset="0"/>
              </a:rPr>
              <a:t>color: red;</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In this case, the h1 from the components layer will take precedence, even though both selectors are equally specific, because components was declared after base.</a:t>
            </a: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96DE0B-F26E-BA97-7A1E-CCDFD954110D}"/>
              </a:ext>
            </a:extLst>
          </p:cNvPr>
          <p:cNvSpPr txBox="1"/>
          <p:nvPr/>
        </p:nvSpPr>
        <p:spPr>
          <a:xfrm>
            <a:off x="2477069" y="-303226"/>
            <a:ext cx="4954136" cy="747127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What distinguishes visibility: hidden from display: none?</a:t>
            </a:r>
          </a:p>
          <a:p>
            <a:pPr algn="just">
              <a:lnSpc>
                <a:spcPts val="2100"/>
              </a:lnSpc>
              <a:spcBef>
                <a:spcPts val="1650"/>
              </a:spcBef>
              <a:buNone/>
            </a:pPr>
            <a:r>
              <a:rPr lang="en-US" b="0" i="0" dirty="0">
                <a:solidFill>
                  <a:srgbClr val="3A3A3A"/>
                </a:solidFill>
                <a:effectLst/>
                <a:latin typeface="Roboto" panose="02000000000000000000" pitchFamily="2" charset="0"/>
              </a:rPr>
              <a:t>Display: none eliminates an element from the layout, preventing it from showing up on the page or occupying any space. </a:t>
            </a:r>
          </a:p>
          <a:p>
            <a:pPr algn="just">
              <a:lnSpc>
                <a:spcPts val="2100"/>
              </a:lnSpc>
              <a:spcBef>
                <a:spcPts val="750"/>
              </a:spcBef>
              <a:buNone/>
            </a:pPr>
            <a:r>
              <a:rPr lang="en-US" b="0" i="0" dirty="0">
                <a:solidFill>
                  <a:srgbClr val="3A3A3A"/>
                </a:solidFill>
                <a:effectLst/>
                <a:latin typeface="Roboto" panose="02000000000000000000" pitchFamily="2" charset="0"/>
              </a:rPr>
              <a:t>Visibility: hidden makes the element invisible, although it still takes up room in the arrangement.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In CSS, how can an element be centered vertically?</a:t>
            </a:r>
          </a:p>
          <a:p>
            <a:pPr algn="l">
              <a:spcBef>
                <a:spcPts val="1125"/>
              </a:spcBef>
              <a:spcAft>
                <a:spcPts val="375"/>
              </a:spcAft>
              <a:buNone/>
            </a:pPr>
            <a:r>
              <a:rPr lang="en-US" b="0" i="0" dirty="0">
                <a:solidFill>
                  <a:srgbClr val="212529"/>
                </a:solidFill>
                <a:effectLst/>
                <a:latin typeface="Courier New" panose="02070309020205020404" pitchFamily="49" charset="0"/>
              </a:rPr>
              <a:t>.container {</a:t>
            </a:r>
          </a:p>
          <a:p>
            <a:pPr algn="l">
              <a:spcBef>
                <a:spcPts val="1125"/>
              </a:spcBef>
              <a:spcAft>
                <a:spcPts val="375"/>
              </a:spcAft>
              <a:buNone/>
            </a:pPr>
            <a:r>
              <a:rPr lang="en-US" b="0" i="0" dirty="0">
                <a:solidFill>
                  <a:srgbClr val="212529"/>
                </a:solidFill>
                <a:effectLst/>
                <a:latin typeface="Courier New" panose="02070309020205020404" pitchFamily="49" charset="0"/>
              </a:rPr>
              <a:t>display: flex;</a:t>
            </a:r>
          </a:p>
          <a:p>
            <a:pPr algn="l">
              <a:spcBef>
                <a:spcPts val="1125"/>
              </a:spcBef>
              <a:spcAft>
                <a:spcPts val="375"/>
              </a:spcAft>
              <a:buNone/>
            </a:pPr>
            <a:r>
              <a:rPr lang="en-US" b="0" i="0" dirty="0">
                <a:solidFill>
                  <a:srgbClr val="212529"/>
                </a:solidFill>
                <a:effectLst/>
                <a:latin typeface="Courier New" panose="02070309020205020404" pitchFamily="49" charset="0"/>
              </a:rPr>
              <a:t>justify-content: center; /* horizontally center */</a:t>
            </a:r>
          </a:p>
          <a:p>
            <a:pPr algn="l">
              <a:spcBef>
                <a:spcPts val="1125"/>
              </a:spcBef>
              <a:spcAft>
                <a:spcPts val="375"/>
              </a:spcAft>
              <a:buNone/>
            </a:pPr>
            <a:r>
              <a:rPr lang="en-US" b="0" i="0" dirty="0">
                <a:solidFill>
                  <a:srgbClr val="212529"/>
                </a:solidFill>
                <a:effectLst/>
                <a:latin typeface="Courier New" panose="02070309020205020404" pitchFamily="49" charset="0"/>
              </a:rPr>
              <a:t>align-items: center; /* vertically center */</a:t>
            </a:r>
          </a:p>
          <a:p>
            <a:pPr algn="l">
              <a:spcBef>
                <a:spcPts val="1125"/>
              </a:spcBef>
              <a:spcAft>
                <a:spcPts val="375"/>
              </a:spcAft>
              <a:buNone/>
            </a:pPr>
            <a:r>
              <a:rPr lang="en-US" b="0" i="0" dirty="0">
                <a:solidFill>
                  <a:srgbClr val="212529"/>
                </a:solidFill>
                <a:effectLst/>
                <a:latin typeface="Courier New" panose="02070309020205020404" pitchFamily="49" charset="0"/>
              </a:rPr>
              <a:t>height: 100vh; /* adjust as needed */</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FFB54F-ED7D-D1B4-A3CF-AF0F289DAACD}"/>
              </a:ext>
            </a:extLst>
          </p:cNvPr>
          <p:cNvSpPr txBox="1"/>
          <p:nvPr/>
        </p:nvSpPr>
        <p:spPr>
          <a:xfrm>
            <a:off x="2477069" y="-1851085"/>
            <a:ext cx="4954136" cy="1056699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Why would you use a CSS preprocessor such as Sass or Less?</a:t>
            </a:r>
          </a:p>
          <a:p>
            <a:pPr algn="just">
              <a:lnSpc>
                <a:spcPts val="2100"/>
              </a:lnSpc>
              <a:spcBef>
                <a:spcPts val="1650"/>
              </a:spcBef>
              <a:buNone/>
            </a:pPr>
            <a:r>
              <a:rPr lang="en-US" b="0" i="0" dirty="0">
                <a:solidFill>
                  <a:srgbClr val="3A3A3A"/>
                </a:solidFill>
                <a:effectLst/>
                <a:latin typeface="Roboto" panose="02000000000000000000" pitchFamily="2" charset="0"/>
              </a:rPr>
              <a:t>Preprocessors for CSS add features like variables, nesting, </a:t>
            </a:r>
            <a:r>
              <a:rPr lang="en-US" b="0" i="0" dirty="0" err="1">
                <a:solidFill>
                  <a:srgbClr val="3A3A3A"/>
                </a:solidFill>
                <a:effectLst/>
                <a:latin typeface="Roboto" panose="02000000000000000000" pitchFamily="2" charset="0"/>
              </a:rPr>
              <a:t>mixins</a:t>
            </a:r>
            <a:r>
              <a:rPr lang="en-US" b="0" i="0" dirty="0">
                <a:solidFill>
                  <a:srgbClr val="3A3A3A"/>
                </a:solidFill>
                <a:effectLst/>
                <a:latin typeface="Roboto" panose="02000000000000000000" pitchFamily="2" charset="0"/>
              </a:rPr>
              <a:t>, and functions to extend the possibilities of CSS. They make stylesheets more scalable and maintainable.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How may CSS be used to create a responsive design?</a:t>
            </a:r>
          </a:p>
          <a:p>
            <a:pPr algn="just">
              <a:lnSpc>
                <a:spcPts val="2100"/>
              </a:lnSpc>
              <a:spcBef>
                <a:spcPts val="1650"/>
              </a:spcBef>
              <a:buNone/>
            </a:pPr>
            <a:r>
              <a:rPr lang="en-US" b="0" i="0" dirty="0">
                <a:solidFill>
                  <a:srgbClr val="3A3A3A"/>
                </a:solidFill>
                <a:effectLst/>
                <a:latin typeface="Roboto" panose="02000000000000000000" pitchFamily="2" charset="0"/>
              </a:rPr>
              <a:t>Responsive design can be achieved using CSS media queries to apply different styles based on the device’s screen size or orientation.</a:t>
            </a:r>
          </a:p>
          <a:p>
            <a:pPr algn="just">
              <a:lnSpc>
                <a:spcPts val="2100"/>
              </a:lnSpc>
              <a:spcBef>
                <a:spcPts val="750"/>
              </a:spcBef>
              <a:buNone/>
            </a:pPr>
            <a:r>
              <a:rPr lang="en-US" b="0" i="0" dirty="0">
                <a:solidFill>
                  <a:srgbClr val="3A3A3A"/>
                </a:solidFill>
                <a:effectLst/>
                <a:latin typeface="Roboto" panose="02000000000000000000" pitchFamily="2" charset="0"/>
              </a:rPr>
              <a:t>A media query is a CSS technique that allows you to apply styles conditionally based on characteristics of the user’s device, such as screen width, height, resolution, and orientation. It plays a crucial role in building responsive web designs.</a:t>
            </a:r>
          </a:p>
          <a:p>
            <a:pPr algn="l">
              <a:spcBef>
                <a:spcPts val="1125"/>
              </a:spcBef>
              <a:spcAft>
                <a:spcPts val="375"/>
              </a:spcAft>
              <a:buNone/>
            </a:pPr>
            <a:r>
              <a:rPr lang="en-US" b="0" i="0" dirty="0">
                <a:solidFill>
                  <a:srgbClr val="212529"/>
                </a:solidFill>
                <a:effectLst/>
                <a:latin typeface="Courier New" panose="02070309020205020404" pitchFamily="49" charset="0"/>
              </a:rPr>
              <a:t>@media screen and (max-width: 600px) {</a:t>
            </a:r>
          </a:p>
          <a:p>
            <a:pPr algn="l">
              <a:spcBef>
                <a:spcPts val="1125"/>
              </a:spcBef>
              <a:spcAft>
                <a:spcPts val="375"/>
              </a:spcAft>
              <a:buNone/>
            </a:pPr>
            <a:r>
              <a:rPr lang="en-US" b="0" i="0" dirty="0">
                <a:solidFill>
                  <a:srgbClr val="212529"/>
                </a:solidFill>
                <a:effectLst/>
                <a:latin typeface="Courier New" panose="02070309020205020404" pitchFamily="49" charset="0"/>
              </a:rPr>
              <a:t>/* Styles for small screens */</a:t>
            </a:r>
          </a:p>
          <a:p>
            <a:pPr algn="l">
              <a:spcBef>
                <a:spcPts val="1125"/>
              </a:spcBef>
              <a:spcAft>
                <a:spcPts val="375"/>
              </a:spcAft>
              <a:buNone/>
            </a:pPr>
            <a:r>
              <a:rPr lang="en-US" b="0" i="0" dirty="0">
                <a:solidFill>
                  <a:srgbClr val="212529"/>
                </a:solidFill>
                <a:effectLst/>
                <a:latin typeface="Courier New" panose="02070309020205020404" pitchFamily="49" charset="0"/>
              </a:rPr>
              <a:t>body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a:t>
            </a:r>
            <a:r>
              <a:rPr lang="en-US" b="0" i="0" dirty="0" err="1">
                <a:solidFill>
                  <a:srgbClr val="212529"/>
                </a:solidFill>
                <a:effectLst/>
                <a:latin typeface="Courier New" panose="02070309020205020404" pitchFamily="49" charset="0"/>
              </a:rPr>
              <a:t>lightgray</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font-size: 14px;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This media query applies specific styles only when the screen width is 600px or less, making it ideal for smartphones.</a:t>
            </a:r>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026D50-1CD7-1F88-90D3-AF0E2CFC49D8}"/>
              </a:ext>
            </a:extLst>
          </p:cNvPr>
          <p:cNvSpPr txBox="1"/>
          <p:nvPr/>
        </p:nvSpPr>
        <p:spPr>
          <a:xfrm>
            <a:off x="2477069" y="443132"/>
            <a:ext cx="4954136" cy="59785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What distinguishes inline display attributes from inline-block display properties?</a:t>
            </a:r>
          </a:p>
          <a:p>
            <a:pPr algn="just">
              <a:lnSpc>
                <a:spcPts val="2100"/>
              </a:lnSpc>
              <a:spcBef>
                <a:spcPts val="1650"/>
              </a:spcBef>
              <a:buNone/>
            </a:pPr>
            <a:r>
              <a:rPr lang="en-US" b="0" i="0" dirty="0">
                <a:solidFill>
                  <a:srgbClr val="3A3A3A"/>
                </a:solidFill>
                <a:effectLst/>
                <a:latin typeface="Roboto" panose="02000000000000000000" pitchFamily="2" charset="0"/>
              </a:rPr>
              <a:t>Inline elements don’t begin on a new line; instead, they flow with the surrounding content. Two instances are &lt;span&gt; and &lt;a&gt;.</a:t>
            </a:r>
          </a:p>
          <a:p>
            <a:pPr algn="just">
              <a:lnSpc>
                <a:spcPts val="2100"/>
              </a:lnSpc>
              <a:spcBef>
                <a:spcPts val="750"/>
              </a:spcBef>
              <a:buNone/>
            </a:pPr>
            <a:r>
              <a:rPr lang="en-US" b="0" i="0" dirty="0">
                <a:solidFill>
                  <a:srgbClr val="3A3A3A"/>
                </a:solidFill>
                <a:effectLst/>
                <a:latin typeface="Roboto" panose="02000000000000000000" pitchFamily="2" charset="0"/>
              </a:rPr>
              <a:t>Similar to inline elements, inline-block elements can also have height/width, padding, and margin values. They can be positioned using the top, bottom, left, and right attributes and do not begin on a new line.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Why is the CSS z-index attribute used?</a:t>
            </a:r>
          </a:p>
          <a:p>
            <a:pPr algn="just">
              <a:lnSpc>
                <a:spcPts val="2100"/>
              </a:lnSpc>
              <a:spcBef>
                <a:spcPts val="1650"/>
              </a:spcBef>
              <a:buNone/>
            </a:pPr>
            <a:r>
              <a:rPr lang="en-US" b="0" i="0" dirty="0">
                <a:solidFill>
                  <a:srgbClr val="3A3A3A"/>
                </a:solidFill>
                <a:effectLst/>
                <a:latin typeface="Roboto" panose="02000000000000000000" pitchFamily="2" charset="0"/>
              </a:rPr>
              <a:t>The stacked order of positioned items is managed by the z-index attribute. It describes an element’s stack order in relation to other elements on the page. Elements with lower z-index values are stacked underneath those with higher z-index values.</a:t>
            </a:r>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3FB448-7617-A48F-AE90-0106CD2BEF84}"/>
              </a:ext>
            </a:extLst>
          </p:cNvPr>
          <p:cNvSpPr txBox="1"/>
          <p:nvPr/>
        </p:nvSpPr>
        <p:spPr>
          <a:xfrm>
            <a:off x="2477069" y="-677687"/>
            <a:ext cx="4954136" cy="822019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How do you create a CSS animation?</a:t>
            </a:r>
          </a:p>
          <a:p>
            <a:pPr algn="l">
              <a:spcBef>
                <a:spcPts val="1125"/>
              </a:spcBef>
              <a:spcAft>
                <a:spcPts val="375"/>
              </a:spcAft>
              <a:buNone/>
            </a:pPr>
            <a:r>
              <a:rPr lang="en-US" b="0" i="0" dirty="0">
                <a:solidFill>
                  <a:srgbClr val="212529"/>
                </a:solidFill>
                <a:effectLst/>
                <a:latin typeface="Courier New" panose="02070309020205020404" pitchFamily="49" charset="0"/>
              </a:rPr>
              <a:t>@keyframes </a:t>
            </a:r>
            <a:r>
              <a:rPr lang="en-US" b="0" i="0" dirty="0" err="1">
                <a:solidFill>
                  <a:srgbClr val="212529"/>
                </a:solidFill>
                <a:effectLst/>
                <a:latin typeface="Courier New" panose="02070309020205020404" pitchFamily="49" charset="0"/>
              </a:rPr>
              <a:t>slidein</a:t>
            </a: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from {</a:t>
            </a:r>
          </a:p>
          <a:p>
            <a:pPr algn="l">
              <a:spcBef>
                <a:spcPts val="1125"/>
              </a:spcBef>
              <a:spcAft>
                <a:spcPts val="375"/>
              </a:spcAft>
              <a:buNone/>
            </a:pPr>
            <a:r>
              <a:rPr lang="en-US" b="0" i="0" dirty="0">
                <a:solidFill>
                  <a:srgbClr val="212529"/>
                </a:solidFill>
                <a:effectLst/>
                <a:latin typeface="Courier New" panose="02070309020205020404" pitchFamily="49" charset="0"/>
              </a:rPr>
              <a:t>/* Start the element fully to the left (off-screen) */</a:t>
            </a:r>
          </a:p>
          <a:p>
            <a:pPr algn="l">
              <a:spcBef>
                <a:spcPts val="1125"/>
              </a:spcBef>
              <a:spcAft>
                <a:spcPts val="375"/>
              </a:spcAft>
              <a:buNone/>
            </a:pPr>
            <a:r>
              <a:rPr lang="en-US" b="0" i="0" dirty="0">
                <a:solidFill>
                  <a:srgbClr val="212529"/>
                </a:solidFill>
                <a:effectLst/>
                <a:latin typeface="Courier New" panose="02070309020205020404" pitchFamily="49" charset="0"/>
              </a:rPr>
              <a:t>transform: </a:t>
            </a:r>
            <a:r>
              <a:rPr lang="en-US" b="0" i="0" dirty="0" err="1">
                <a:solidFill>
                  <a:srgbClr val="212529"/>
                </a:solidFill>
                <a:effectLst/>
                <a:latin typeface="Courier New" panose="02070309020205020404" pitchFamily="49" charset="0"/>
              </a:rPr>
              <a:t>translateX</a:t>
            </a:r>
            <a:r>
              <a:rPr lang="en-US" b="0" i="0" dirty="0">
                <a:solidFill>
                  <a:srgbClr val="212529"/>
                </a:solidFill>
                <a:effectLst/>
                <a:latin typeface="Courier New" panose="02070309020205020404" pitchFamily="49" charset="0"/>
              </a:rPr>
              <a:t>(-100%);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to {</a:t>
            </a:r>
          </a:p>
          <a:p>
            <a:pPr algn="l">
              <a:spcBef>
                <a:spcPts val="1125"/>
              </a:spcBef>
              <a:spcAft>
                <a:spcPts val="375"/>
              </a:spcAft>
              <a:buNone/>
            </a:pPr>
            <a:r>
              <a:rPr lang="en-US" b="0" i="0" dirty="0">
                <a:solidFill>
                  <a:srgbClr val="212529"/>
                </a:solidFill>
                <a:effectLst/>
                <a:latin typeface="Courier New" panose="02070309020205020404" pitchFamily="49" charset="0"/>
              </a:rPr>
              <a:t>/* End with the element in its original position */</a:t>
            </a:r>
          </a:p>
          <a:p>
            <a:pPr algn="l">
              <a:spcBef>
                <a:spcPts val="1125"/>
              </a:spcBef>
              <a:spcAft>
                <a:spcPts val="375"/>
              </a:spcAft>
              <a:buNone/>
            </a:pPr>
            <a:r>
              <a:rPr lang="en-US" b="0" i="0" dirty="0">
                <a:solidFill>
                  <a:srgbClr val="212529"/>
                </a:solidFill>
                <a:effectLst/>
                <a:latin typeface="Courier New" panose="02070309020205020404" pitchFamily="49" charset="0"/>
              </a:rPr>
              <a:t>transform: </a:t>
            </a:r>
            <a:r>
              <a:rPr lang="en-US" b="0" i="0" dirty="0" err="1">
                <a:solidFill>
                  <a:srgbClr val="212529"/>
                </a:solidFill>
                <a:effectLst/>
                <a:latin typeface="Courier New" panose="02070309020205020404" pitchFamily="49" charset="0"/>
              </a:rPr>
              <a:t>translateX</a:t>
            </a:r>
            <a:r>
              <a:rPr lang="en-US" b="0" i="0" dirty="0">
                <a:solidFill>
                  <a:srgbClr val="212529"/>
                </a:solidFill>
                <a:effectLst/>
                <a:latin typeface="Courier New" panose="02070309020205020404" pitchFamily="49" charset="0"/>
              </a:rPr>
              <a:t>(0);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.element {</a:t>
            </a:r>
          </a:p>
          <a:p>
            <a:pPr algn="l">
              <a:spcBef>
                <a:spcPts val="1125"/>
              </a:spcBef>
              <a:spcAft>
                <a:spcPts val="375"/>
              </a:spcAft>
              <a:buNone/>
            </a:pPr>
            <a:r>
              <a:rPr lang="en-US" b="0" i="0" dirty="0">
                <a:solidFill>
                  <a:srgbClr val="212529"/>
                </a:solidFill>
                <a:effectLst/>
                <a:latin typeface="Courier New" panose="02070309020205020404" pitchFamily="49" charset="0"/>
              </a:rPr>
              <a:t>animation: </a:t>
            </a:r>
            <a:r>
              <a:rPr lang="en-US" b="0" i="0" dirty="0" err="1">
                <a:solidFill>
                  <a:srgbClr val="212529"/>
                </a:solidFill>
                <a:effectLst/>
                <a:latin typeface="Courier New" panose="02070309020205020404" pitchFamily="49" charset="0"/>
              </a:rPr>
              <a:t>slidein</a:t>
            </a:r>
            <a:r>
              <a:rPr lang="en-US" b="0" i="0" dirty="0">
                <a:solidFill>
                  <a:srgbClr val="212529"/>
                </a:solidFill>
                <a:effectLst/>
                <a:latin typeface="Courier New" panose="02070309020205020404" pitchFamily="49" charset="0"/>
              </a:rPr>
              <a:t> 1s ease-in-out; /* Animate over 1 second with ease-in-out timing */</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0C4499-0376-66A7-8B12-347C1D6C5FEC}"/>
              </a:ext>
            </a:extLst>
          </p:cNvPr>
          <p:cNvSpPr txBox="1"/>
          <p:nvPr/>
        </p:nvSpPr>
        <p:spPr>
          <a:xfrm>
            <a:off x="2477069" y="-808492"/>
            <a:ext cx="4954136" cy="848180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What are sprites in CSS? How can website performance be enhanced?</a:t>
            </a:r>
          </a:p>
          <a:p>
            <a:pPr algn="just">
              <a:lnSpc>
                <a:spcPts val="2100"/>
              </a:lnSpc>
              <a:spcBef>
                <a:spcPts val="1650"/>
              </a:spcBef>
              <a:buNone/>
            </a:pPr>
            <a:r>
              <a:rPr lang="en-US" b="0" i="0" dirty="0">
                <a:solidFill>
                  <a:srgbClr val="3A3A3A"/>
                </a:solidFill>
                <a:effectLst/>
                <a:latin typeface="Roboto" panose="02000000000000000000" pitchFamily="2" charset="0"/>
              </a:rPr>
              <a:t>CSS sprites use CSS to display particular portions of a picture by combining many images into a single image. By lowering the numbers of </a:t>
            </a:r>
            <a:r>
              <a:rPr lang="en-US" b="0" i="0" u="none" strike="noStrike" dirty="0">
                <a:solidFill>
                  <a:srgbClr val="0F5A9E"/>
                </a:solidFill>
                <a:effectLst/>
                <a:latin typeface="Roboto" panose="02000000000000000000" pitchFamily="2" charset="0"/>
                <a:hlinkClick r:id="rId2"/>
              </a:rPr>
              <a:t>HTTP requests</a:t>
            </a:r>
            <a:r>
              <a:rPr lang="en-US" b="0" i="0" dirty="0">
                <a:solidFill>
                  <a:srgbClr val="3A3A3A"/>
                </a:solidFill>
                <a:effectLst/>
                <a:latin typeface="Roboto" panose="02000000000000000000" pitchFamily="2" charset="0"/>
              </a:rPr>
              <a:t> needed to load many images, they enhance website performance by speeding up page loads.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is the overflow property in CSS used for?</a:t>
            </a:r>
          </a:p>
          <a:p>
            <a:pPr algn="just">
              <a:lnSpc>
                <a:spcPts val="2100"/>
              </a:lnSpc>
              <a:spcBef>
                <a:spcPts val="1650"/>
              </a:spcBef>
              <a:buNone/>
            </a:pPr>
            <a:r>
              <a:rPr lang="en-US" b="0" i="0" dirty="0">
                <a:solidFill>
                  <a:srgbClr val="3A3A3A"/>
                </a:solidFill>
                <a:effectLst/>
                <a:latin typeface="Roboto" panose="02000000000000000000" pitchFamily="2" charset="0"/>
              </a:rPr>
              <a:t>The handling of material that extends beyond the boundaries of its contained element is determined by the overflow attribute. It has four settings: scroll, auto, hidden, and visible.</a:t>
            </a:r>
          </a:p>
          <a:p>
            <a:pPr algn="just">
              <a:lnSpc>
                <a:spcPts val="2100"/>
              </a:lnSpc>
              <a:spcBef>
                <a:spcPts val="750"/>
              </a:spcBef>
              <a:buNone/>
            </a:pPr>
            <a:r>
              <a:rPr lang="en-US" b="0" i="0" dirty="0">
                <a:solidFill>
                  <a:srgbClr val="3A3A3A"/>
                </a:solidFill>
                <a:effectLst/>
                <a:latin typeface="Roboto" panose="02000000000000000000" pitchFamily="2" charset="0"/>
              </a:rPr>
              <a:t>Syntax:</a:t>
            </a:r>
          </a:p>
          <a:p>
            <a:pPr algn="l">
              <a:spcBef>
                <a:spcPts val="1125"/>
              </a:spcBef>
              <a:spcAft>
                <a:spcPts val="375"/>
              </a:spcAft>
              <a:buNone/>
            </a:pPr>
            <a:r>
              <a:rPr lang="en-US" b="0" i="0" dirty="0">
                <a:solidFill>
                  <a:srgbClr val="212529"/>
                </a:solidFill>
                <a:effectLst/>
                <a:latin typeface="Courier New" panose="02070309020205020404" pitchFamily="49" charset="0"/>
              </a:rPr>
              <a:t>.box {</a:t>
            </a:r>
          </a:p>
          <a:p>
            <a:pPr algn="l">
              <a:spcBef>
                <a:spcPts val="1125"/>
              </a:spcBef>
              <a:spcAft>
                <a:spcPts val="375"/>
              </a:spcAft>
              <a:buNone/>
            </a:pPr>
            <a:r>
              <a:rPr lang="en-US" b="0" i="0" dirty="0">
                <a:solidFill>
                  <a:srgbClr val="212529"/>
                </a:solidFill>
                <a:effectLst/>
                <a:latin typeface="Courier New" panose="02070309020205020404" pitchFamily="49" charset="0"/>
              </a:rPr>
              <a:t>width: 200px;</a:t>
            </a:r>
          </a:p>
          <a:p>
            <a:pPr algn="l">
              <a:spcBef>
                <a:spcPts val="1125"/>
              </a:spcBef>
              <a:spcAft>
                <a:spcPts val="375"/>
              </a:spcAft>
              <a:buNone/>
            </a:pPr>
            <a:r>
              <a:rPr lang="en-US" b="0" i="0" dirty="0">
                <a:solidFill>
                  <a:srgbClr val="212529"/>
                </a:solidFill>
                <a:effectLst/>
                <a:latin typeface="Courier New" panose="02070309020205020404" pitchFamily="49" charset="0"/>
              </a:rPr>
              <a:t>height: 100px;</a:t>
            </a:r>
          </a:p>
          <a:p>
            <a:pPr algn="l">
              <a:spcBef>
                <a:spcPts val="1125"/>
              </a:spcBef>
              <a:spcAft>
                <a:spcPts val="375"/>
              </a:spcAft>
              <a:buNone/>
            </a:pPr>
            <a:r>
              <a:rPr lang="en-US" b="0" i="0" dirty="0">
                <a:solidFill>
                  <a:srgbClr val="212529"/>
                </a:solidFill>
                <a:effectLst/>
                <a:latin typeface="Courier New" panose="02070309020205020404" pitchFamily="49" charset="0"/>
              </a:rPr>
              <a:t>border: 2px solid black;</a:t>
            </a:r>
          </a:p>
          <a:p>
            <a:pPr algn="l">
              <a:spcBef>
                <a:spcPts val="1125"/>
              </a:spcBef>
              <a:spcAft>
                <a:spcPts val="375"/>
              </a:spcAft>
              <a:buNone/>
            </a:pPr>
            <a:r>
              <a:rPr lang="en-US" b="0" i="0" dirty="0">
                <a:solidFill>
                  <a:srgbClr val="212529"/>
                </a:solidFill>
                <a:effectLst/>
                <a:latin typeface="Courier New" panose="02070309020205020404" pitchFamily="49" charset="0"/>
              </a:rPr>
              <a:t>overflow: auto; /* Try changing to hidden, scroll, visible */</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5F3FBB-F11E-BAFF-7F91-0487E20C5225}"/>
              </a:ext>
            </a:extLst>
          </p:cNvPr>
          <p:cNvSpPr txBox="1"/>
          <p:nvPr/>
        </p:nvSpPr>
        <p:spPr>
          <a:xfrm>
            <a:off x="2477069" y="-1989585"/>
            <a:ext cx="4954136" cy="1084399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What are container queries in CSS, and how do they differ from media </a:t>
            </a:r>
            <a:r>
              <a:rPr lang="en-US" b="0" i="0" dirty="0" err="1">
                <a:solidFill>
                  <a:srgbClr val="272C37"/>
                </a:solidFill>
                <a:effectLst/>
                <a:latin typeface="Roboto" panose="02000000000000000000" pitchFamily="2" charset="0"/>
              </a:rPr>
              <a:t>queries?What</a:t>
            </a:r>
            <a:r>
              <a:rPr lang="en-US" b="0" i="0" dirty="0">
                <a:solidFill>
                  <a:srgbClr val="272C37"/>
                </a:solidFill>
                <a:effectLst/>
                <a:latin typeface="Roboto" panose="02000000000000000000" pitchFamily="2" charset="0"/>
              </a:rPr>
              <a:t> are container queries in CSS, and how do they differ from media queries?</a:t>
            </a:r>
          </a:p>
          <a:p>
            <a:pPr algn="just">
              <a:lnSpc>
                <a:spcPts val="2100"/>
              </a:lnSpc>
              <a:spcBef>
                <a:spcPts val="1650"/>
              </a:spcBef>
              <a:buNone/>
            </a:pPr>
            <a:r>
              <a:rPr lang="en-US" b="0" i="0" dirty="0">
                <a:solidFill>
                  <a:srgbClr val="3A3A3A"/>
                </a:solidFill>
                <a:effectLst/>
                <a:latin typeface="Roboto" panose="02000000000000000000" pitchFamily="2" charset="0"/>
              </a:rPr>
              <a:t>With container queries, you can now style CSS with respect to a parent container instead of the entire browser window. This is useful when building modular, reusable components that respond to the space available to them. Media queries, on the other hand, employ a “one-size-fits-all” approach by styling the entire layout based on the viewport (the whole screen).</a:t>
            </a:r>
          </a:p>
          <a:p>
            <a:pPr algn="just">
              <a:lnSpc>
                <a:spcPts val="2100"/>
              </a:lnSpc>
              <a:spcBef>
                <a:spcPts val="750"/>
              </a:spcBef>
              <a:buNone/>
            </a:pPr>
            <a:r>
              <a:rPr lang="en-US" b="0" i="0" dirty="0">
                <a:solidFill>
                  <a:srgbClr val="3A3A3A"/>
                </a:solidFill>
                <a:effectLst/>
                <a:latin typeface="Roboto" panose="02000000000000000000" pitchFamily="2" charset="0"/>
              </a:rPr>
              <a:t>If you have a card or a sidebar that needs to adapt with the amount of space it is provided with (as opposed to the screen), then container queries are your best bet.</a:t>
            </a:r>
          </a:p>
          <a:p>
            <a:pPr algn="just">
              <a:lnSpc>
                <a:spcPts val="2100"/>
              </a:lnSpc>
              <a:spcBef>
                <a:spcPts val="750"/>
              </a:spcBef>
              <a:buNone/>
            </a:pPr>
            <a:r>
              <a:rPr lang="en-US" b="0" i="0" dirty="0">
                <a:solidFill>
                  <a:srgbClr val="3A3A3A"/>
                </a:solidFill>
                <a:effectLst/>
                <a:latin typeface="Roboto" panose="02000000000000000000" pitchFamily="2" charset="0"/>
              </a:rPr>
              <a:t>For example:</a:t>
            </a:r>
          </a:p>
          <a:p>
            <a:pPr algn="l">
              <a:spcBef>
                <a:spcPts val="1125"/>
              </a:spcBef>
              <a:spcAft>
                <a:spcPts val="375"/>
              </a:spcAft>
              <a:buNone/>
            </a:pPr>
            <a:r>
              <a:rPr lang="en-US" b="0" i="0" dirty="0">
                <a:solidFill>
                  <a:srgbClr val="212529"/>
                </a:solidFill>
                <a:effectLst/>
                <a:latin typeface="Courier New" panose="02070309020205020404" pitchFamily="49" charset="0"/>
              </a:rPr>
              <a:t>.container {</a:t>
            </a:r>
          </a:p>
          <a:p>
            <a:pPr algn="l">
              <a:spcBef>
                <a:spcPts val="1125"/>
              </a:spcBef>
              <a:spcAft>
                <a:spcPts val="375"/>
              </a:spcAft>
              <a:buNone/>
            </a:pPr>
            <a:r>
              <a:rPr lang="en-US" b="0" i="0" dirty="0">
                <a:solidFill>
                  <a:srgbClr val="212529"/>
                </a:solidFill>
                <a:effectLst/>
                <a:latin typeface="Courier New" panose="02070309020205020404" pitchFamily="49" charset="0"/>
              </a:rPr>
              <a:t>container-type: inline-size;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@container (max-width: 600px) {</a:t>
            </a:r>
          </a:p>
          <a:p>
            <a:pPr algn="l">
              <a:spcBef>
                <a:spcPts val="1125"/>
              </a:spcBef>
              <a:spcAft>
                <a:spcPts val="375"/>
              </a:spcAft>
              <a:buNone/>
            </a:pPr>
            <a:r>
              <a:rPr lang="en-US" b="0" i="0" dirty="0">
                <a:solidFill>
                  <a:srgbClr val="212529"/>
                </a:solidFill>
                <a:effectLst/>
                <a:latin typeface="Courier New" panose="02070309020205020404" pitchFamily="49" charset="0"/>
              </a:rPr>
              <a:t>.text {</a:t>
            </a:r>
          </a:p>
          <a:p>
            <a:pPr algn="l">
              <a:spcBef>
                <a:spcPts val="1125"/>
              </a:spcBef>
              <a:spcAft>
                <a:spcPts val="375"/>
              </a:spcAft>
              <a:buNone/>
            </a:pPr>
            <a:r>
              <a:rPr lang="en-US" b="0" i="0" dirty="0">
                <a:solidFill>
                  <a:srgbClr val="212529"/>
                </a:solidFill>
                <a:effectLst/>
                <a:latin typeface="Courier New" panose="02070309020205020404" pitchFamily="49" charset="0"/>
              </a:rPr>
              <a:t>font-size: 14px;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In this example, the .text element will only change font size when its parent .container is less than 600px wide, regardless of the screen size.</a:t>
            </a:r>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341D99-983F-5C52-39B7-6390EA81918F}"/>
              </a:ext>
            </a:extLst>
          </p:cNvPr>
          <p:cNvSpPr txBox="1"/>
          <p:nvPr/>
        </p:nvSpPr>
        <p:spPr>
          <a:xfrm>
            <a:off x="2477069" y="1815303"/>
            <a:ext cx="4954136" cy="323421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Describe the advantages of the CSS grid layout paradigm.</a:t>
            </a:r>
          </a:p>
          <a:p>
            <a:pPr algn="just">
              <a:lnSpc>
                <a:spcPts val="2100"/>
              </a:lnSpc>
              <a:spcBef>
                <a:spcPts val="1650"/>
              </a:spcBef>
              <a:buNone/>
            </a:pPr>
            <a:r>
              <a:rPr lang="en-US" b="0" i="0" dirty="0">
                <a:solidFill>
                  <a:srgbClr val="3A3A3A"/>
                </a:solidFill>
                <a:effectLst/>
                <a:latin typeface="Roboto" panose="02000000000000000000" pitchFamily="2" charset="0"/>
              </a:rPr>
              <a:t>A two-dimensional layout method for grouping elements in rows and columns is the CSS grid layout. When compared to more conventional techniques like flexbox or floats, it offers a more potent and adaptable way to design grid-based layouts. The precise arrangement and alignment of items within a grid are made possible by grid layout.</a:t>
            </a:r>
          </a:p>
        </p:txBody>
      </p:sp>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D3307E-5E9E-9887-D4D7-B7D9813C4BC1}"/>
              </a:ext>
            </a:extLst>
          </p:cNvPr>
          <p:cNvSpPr txBox="1"/>
          <p:nvPr/>
        </p:nvSpPr>
        <p:spPr>
          <a:xfrm>
            <a:off x="266132" y="396180"/>
            <a:ext cx="4954136" cy="4516621"/>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Advanced CSS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How can a responsive navigation menu be made with CSS?</a:t>
            </a:r>
          </a:p>
          <a:p>
            <a:pPr algn="just">
              <a:lnSpc>
                <a:spcPts val="2100"/>
              </a:lnSpc>
              <a:spcBef>
                <a:spcPts val="1650"/>
              </a:spcBef>
              <a:buNone/>
            </a:pPr>
            <a:r>
              <a:rPr lang="en-US" b="0" i="0" dirty="0">
                <a:solidFill>
                  <a:srgbClr val="3A3A3A"/>
                </a:solidFill>
                <a:effectLst/>
                <a:latin typeface="Roboto" panose="02000000000000000000" pitchFamily="2" charset="0"/>
              </a:rPr>
              <a:t>One method for making the navigation menu’s layout flexible is to utilize CSS flexbox or CSS grid. The menu’s style and layout can then be modified using media queries in accordance with the screen size. For improved usability, other methods, such as employing the checkbox hack to hide the menu behind a toggle button on smaller screens, might be utilized.</a:t>
            </a:r>
          </a:p>
          <a:p>
            <a:pPr algn="just">
              <a:lnSpc>
                <a:spcPts val="2100"/>
              </a:lnSpc>
              <a:spcBef>
                <a:spcPts val="750"/>
              </a:spcBef>
              <a:buNone/>
            </a:pPr>
            <a:r>
              <a:rPr lang="en-US" b="0" i="0" dirty="0">
                <a:solidFill>
                  <a:srgbClr val="3A3A3A"/>
                </a:solidFill>
                <a:effectLst/>
                <a:latin typeface="Roboto" panose="02000000000000000000" pitchFamily="2" charset="0"/>
              </a:rPr>
              <a:t>HTML + CSS: Responsive Navigation Menu:</a:t>
            </a:r>
          </a:p>
        </p:txBody>
      </p:sp>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C5C62D-11C2-2FE9-538B-1F099F18A944}"/>
              </a:ext>
            </a:extLst>
          </p:cNvPr>
          <p:cNvSpPr txBox="1"/>
          <p:nvPr/>
        </p:nvSpPr>
        <p:spPr>
          <a:xfrm>
            <a:off x="-116005" y="-2485435"/>
            <a:ext cx="4954136" cy="12572673"/>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&lt;!DOCTYPE html&gt;</a:t>
            </a:r>
          </a:p>
          <a:p>
            <a:pPr algn="l">
              <a:spcBef>
                <a:spcPts val="1125"/>
              </a:spcBef>
              <a:spcAft>
                <a:spcPts val="375"/>
              </a:spcAft>
              <a:buNone/>
            </a:pPr>
            <a:r>
              <a:rPr lang="en-US" b="0" i="0" dirty="0">
                <a:solidFill>
                  <a:srgbClr val="212529"/>
                </a:solidFill>
                <a:effectLst/>
                <a:latin typeface="Courier New" panose="02070309020205020404" pitchFamily="49" charset="0"/>
              </a:rPr>
              <a:t>&lt;html lang="</a:t>
            </a:r>
            <a:r>
              <a:rPr lang="en-US" b="0" i="0" dirty="0" err="1">
                <a:solidFill>
                  <a:srgbClr val="212529"/>
                </a:solidFill>
                <a:effectLst/>
                <a:latin typeface="Courier New" panose="02070309020205020404" pitchFamily="49" charset="0"/>
              </a:rPr>
              <a:t>en</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&lt;meta charset="UTF-8"&gt;</a:t>
            </a:r>
          </a:p>
          <a:p>
            <a:pPr algn="l">
              <a:spcBef>
                <a:spcPts val="1125"/>
              </a:spcBef>
              <a:spcAft>
                <a:spcPts val="375"/>
              </a:spcAft>
              <a:buNone/>
            </a:pPr>
            <a:r>
              <a:rPr lang="en-US" b="0" i="0" dirty="0">
                <a:solidFill>
                  <a:srgbClr val="212529"/>
                </a:solidFill>
                <a:effectLst/>
                <a:latin typeface="Courier New" panose="02070309020205020404" pitchFamily="49" charset="0"/>
              </a:rPr>
              <a:t>&lt;title&gt;Responsive Nav Menu&lt;/title&gt;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r>
              <a:rPr lang="en-US" b="0" i="0" dirty="0">
                <a:solidFill>
                  <a:srgbClr val="212529"/>
                </a:solidFill>
                <a:effectLst/>
                <a:latin typeface="Courier New" panose="02070309020205020404" pitchFamily="49" charset="0"/>
              </a:rPr>
              <a:t>margin: 0;</a:t>
            </a:r>
          </a:p>
          <a:p>
            <a:pPr algn="l">
              <a:spcBef>
                <a:spcPts val="1125"/>
              </a:spcBef>
              <a:spcAft>
                <a:spcPts val="375"/>
              </a:spcAft>
              <a:buNone/>
            </a:pPr>
            <a:r>
              <a:rPr lang="en-US" b="0" i="0" dirty="0">
                <a:solidFill>
                  <a:srgbClr val="212529"/>
                </a:solidFill>
                <a:effectLst/>
                <a:latin typeface="Courier New" panose="02070309020205020404" pitchFamily="49" charset="0"/>
              </a:rPr>
              <a:t>padding: 0;</a:t>
            </a:r>
          </a:p>
          <a:p>
            <a:pPr algn="l">
              <a:spcBef>
                <a:spcPts val="1125"/>
              </a:spcBef>
              <a:spcAft>
                <a:spcPts val="375"/>
              </a:spcAft>
              <a:buNone/>
            </a:pPr>
            <a:r>
              <a:rPr lang="en-US" b="0" i="0" dirty="0">
                <a:solidFill>
                  <a:srgbClr val="212529"/>
                </a:solidFill>
                <a:effectLst/>
                <a:latin typeface="Courier New" panose="02070309020205020404" pitchFamily="49" charset="0"/>
              </a:rPr>
              <a:t>box-sizing: border-box;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body {</a:t>
            </a:r>
          </a:p>
          <a:p>
            <a:pPr algn="l">
              <a:spcBef>
                <a:spcPts val="1125"/>
              </a:spcBef>
              <a:spcAft>
                <a:spcPts val="375"/>
              </a:spcAft>
              <a:buNone/>
            </a:pPr>
            <a:r>
              <a:rPr lang="en-US" b="0" i="0" dirty="0">
                <a:solidFill>
                  <a:srgbClr val="212529"/>
                </a:solidFill>
                <a:effectLst/>
                <a:latin typeface="Courier New" panose="02070309020205020404" pitchFamily="49" charset="0"/>
              </a:rPr>
              <a:t>font-family: Arial, sans-serif;</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nav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#333;</a:t>
            </a:r>
          </a:p>
          <a:p>
            <a:pPr algn="l">
              <a:spcBef>
                <a:spcPts val="1125"/>
              </a:spcBef>
              <a:spcAft>
                <a:spcPts val="375"/>
              </a:spcAft>
              <a:buNone/>
            </a:pPr>
            <a:r>
              <a:rPr lang="en-US" b="0" i="0" dirty="0">
                <a:solidFill>
                  <a:srgbClr val="212529"/>
                </a:solidFill>
                <a:effectLst/>
                <a:latin typeface="Courier New" panose="02070309020205020404" pitchFamily="49" charset="0"/>
              </a:rPr>
              <a:t>color: white;</a:t>
            </a:r>
          </a:p>
          <a:p>
            <a:pPr algn="l">
              <a:spcBef>
                <a:spcPts val="1125"/>
              </a:spcBef>
              <a:spcAft>
                <a:spcPts val="375"/>
              </a:spcAft>
              <a:buNone/>
            </a:pPr>
            <a:r>
              <a:rPr lang="en-US" b="0" i="0" dirty="0">
                <a:solidFill>
                  <a:srgbClr val="212529"/>
                </a:solidFill>
                <a:effectLst/>
                <a:latin typeface="Courier New" panose="02070309020205020404" pitchFamily="49" charset="0"/>
              </a:rPr>
              <a:t>padding: 10px 20px;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.nav-container {</a:t>
            </a:r>
          </a:p>
          <a:p>
            <a:pPr algn="l">
              <a:spcBef>
                <a:spcPts val="1125"/>
              </a:spcBef>
              <a:spcAft>
                <a:spcPts val="375"/>
              </a:spcAft>
              <a:buNone/>
            </a:pPr>
            <a:r>
              <a:rPr lang="en-US" b="0" i="0" dirty="0">
                <a:solidFill>
                  <a:srgbClr val="212529"/>
                </a:solidFill>
                <a:effectLst/>
                <a:latin typeface="Courier New" panose="02070309020205020404" pitchFamily="49" charset="0"/>
              </a:rPr>
              <a:t>display: flex;</a:t>
            </a:r>
          </a:p>
          <a:p>
            <a:pPr algn="l">
              <a:spcBef>
                <a:spcPts val="1125"/>
              </a:spcBef>
              <a:spcAft>
                <a:spcPts val="375"/>
              </a:spcAft>
              <a:buNone/>
            </a:pPr>
            <a:r>
              <a:rPr lang="en-US" b="0" i="0" dirty="0">
                <a:solidFill>
                  <a:srgbClr val="212529"/>
                </a:solidFill>
                <a:effectLst/>
                <a:latin typeface="Courier New" panose="02070309020205020404" pitchFamily="49" charset="0"/>
              </a:rPr>
              <a:t>justify-content: space-between;</a:t>
            </a:r>
          </a:p>
          <a:p>
            <a:pPr algn="l">
              <a:spcBef>
                <a:spcPts val="1125"/>
              </a:spcBef>
              <a:spcAft>
                <a:spcPts val="375"/>
              </a:spcAft>
              <a:buNone/>
            </a:pPr>
            <a:r>
              <a:rPr lang="en-US" b="0" i="0" dirty="0">
                <a:solidFill>
                  <a:srgbClr val="212529"/>
                </a:solidFill>
                <a:effectLst/>
                <a:latin typeface="Courier New" panose="02070309020205020404" pitchFamily="49" charset="0"/>
              </a:rPr>
              <a:t>align-items: center;</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
        <p:nvSpPr>
          <p:cNvPr id="5" name="TextBox 4">
            <a:extLst>
              <a:ext uri="{FF2B5EF4-FFF2-40B4-BE49-F238E27FC236}">
                <a16:creationId xmlns:a16="http://schemas.microsoft.com/office/drawing/2014/main" id="{DFCA6589-FD0B-CC49-4A04-D686F4718D0B}"/>
              </a:ext>
            </a:extLst>
          </p:cNvPr>
          <p:cNvSpPr txBox="1"/>
          <p:nvPr/>
        </p:nvSpPr>
        <p:spPr>
          <a:xfrm>
            <a:off x="2354239" y="-3480120"/>
            <a:ext cx="5036024" cy="14534748"/>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.logo {</a:t>
            </a:r>
          </a:p>
          <a:p>
            <a:pPr algn="l">
              <a:spcBef>
                <a:spcPts val="1125"/>
              </a:spcBef>
              <a:spcAft>
                <a:spcPts val="375"/>
              </a:spcAft>
              <a:buNone/>
            </a:pPr>
            <a:r>
              <a:rPr lang="en-US" b="0" i="0" dirty="0">
                <a:solidFill>
                  <a:srgbClr val="212529"/>
                </a:solidFill>
                <a:effectLst/>
                <a:latin typeface="Courier New" panose="02070309020205020404" pitchFamily="49" charset="0"/>
              </a:rPr>
              <a:t>font-size: 1.5rem;</a:t>
            </a:r>
          </a:p>
          <a:p>
            <a:pPr algn="l">
              <a:spcBef>
                <a:spcPts val="1125"/>
              </a:spcBef>
              <a:spcAft>
                <a:spcPts val="375"/>
              </a:spcAft>
              <a:buNone/>
            </a:pPr>
            <a:r>
              <a:rPr lang="en-US" b="0" i="0" dirty="0">
                <a:solidFill>
                  <a:srgbClr val="212529"/>
                </a:solidFill>
                <a:effectLst/>
                <a:latin typeface="Courier New" panose="02070309020205020404" pitchFamily="49" charset="0"/>
              </a:rPr>
              <a:t>font-weight: bold;</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.nav-links {</a:t>
            </a:r>
          </a:p>
          <a:p>
            <a:pPr algn="l">
              <a:spcBef>
                <a:spcPts val="1125"/>
              </a:spcBef>
              <a:spcAft>
                <a:spcPts val="375"/>
              </a:spcAft>
              <a:buNone/>
            </a:pPr>
            <a:r>
              <a:rPr lang="en-US" b="0" i="0" dirty="0">
                <a:solidFill>
                  <a:srgbClr val="212529"/>
                </a:solidFill>
                <a:effectLst/>
                <a:latin typeface="Courier New" panose="02070309020205020404" pitchFamily="49" charset="0"/>
              </a:rPr>
              <a:t>display: flex;</a:t>
            </a:r>
          </a:p>
          <a:p>
            <a:pPr algn="l">
              <a:spcBef>
                <a:spcPts val="1125"/>
              </a:spcBef>
              <a:spcAft>
                <a:spcPts val="375"/>
              </a:spcAft>
              <a:buNone/>
            </a:pPr>
            <a:r>
              <a:rPr lang="en-US" b="0" i="0" dirty="0">
                <a:solidFill>
                  <a:srgbClr val="212529"/>
                </a:solidFill>
                <a:effectLst/>
                <a:latin typeface="Courier New" panose="02070309020205020404" pitchFamily="49" charset="0"/>
              </a:rPr>
              <a:t>gap: 20px;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.nav-links a {</a:t>
            </a:r>
          </a:p>
          <a:p>
            <a:pPr algn="l">
              <a:spcBef>
                <a:spcPts val="1125"/>
              </a:spcBef>
              <a:spcAft>
                <a:spcPts val="375"/>
              </a:spcAft>
              <a:buNone/>
            </a:pPr>
            <a:r>
              <a:rPr lang="en-US" b="0" i="0" dirty="0">
                <a:solidFill>
                  <a:srgbClr val="212529"/>
                </a:solidFill>
                <a:effectLst/>
                <a:latin typeface="Courier New" panose="02070309020205020404" pitchFamily="49" charset="0"/>
              </a:rPr>
              <a:t>color: white;</a:t>
            </a:r>
          </a:p>
          <a:p>
            <a:pPr algn="l">
              <a:spcBef>
                <a:spcPts val="1125"/>
              </a:spcBef>
              <a:spcAft>
                <a:spcPts val="375"/>
              </a:spcAft>
              <a:buNone/>
            </a:pPr>
            <a:r>
              <a:rPr lang="en-US" b="0" i="0" dirty="0">
                <a:solidFill>
                  <a:srgbClr val="212529"/>
                </a:solidFill>
                <a:effectLst/>
                <a:latin typeface="Courier New" panose="02070309020205020404" pitchFamily="49" charset="0"/>
              </a:rPr>
              <a:t>text-decoration: none;</a:t>
            </a:r>
          </a:p>
          <a:p>
            <a:pPr algn="l">
              <a:spcBef>
                <a:spcPts val="1125"/>
              </a:spcBef>
              <a:spcAft>
                <a:spcPts val="375"/>
              </a:spcAft>
              <a:buNone/>
            </a:pPr>
            <a:r>
              <a:rPr lang="en-US" b="0" i="0" dirty="0">
                <a:solidFill>
                  <a:srgbClr val="212529"/>
                </a:solidFill>
                <a:effectLst/>
                <a:latin typeface="Courier New" panose="02070309020205020404" pitchFamily="49" charset="0"/>
              </a:rPr>
              <a:t>font-size: 1rem;</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Hide menu toggle checkbox and label by default */</a:t>
            </a:r>
          </a:p>
          <a:p>
            <a:pPr algn="l">
              <a:spcBef>
                <a:spcPts val="1125"/>
              </a:spcBef>
              <a:spcAft>
                <a:spcPts val="375"/>
              </a:spcAft>
              <a:buNone/>
            </a:pPr>
            <a:r>
              <a:rPr lang="en-US" b="0" i="0" dirty="0">
                <a:solidFill>
                  <a:srgbClr val="212529"/>
                </a:solidFill>
                <a:effectLst/>
                <a:latin typeface="Courier New" panose="02070309020205020404" pitchFamily="49" charset="0"/>
              </a:rPr>
              <a:t>.menu-toggle, .menu-icon {</a:t>
            </a:r>
          </a:p>
          <a:p>
            <a:pPr algn="l">
              <a:spcBef>
                <a:spcPts val="1125"/>
              </a:spcBef>
              <a:spcAft>
                <a:spcPts val="375"/>
              </a:spcAft>
              <a:buNone/>
            </a:pPr>
            <a:r>
              <a:rPr lang="en-US" b="0" i="0" dirty="0">
                <a:solidFill>
                  <a:srgbClr val="212529"/>
                </a:solidFill>
                <a:effectLst/>
                <a:latin typeface="Courier New" panose="02070309020205020404" pitchFamily="49" charset="0"/>
              </a:rPr>
              <a:t>display: none;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Responsive: For screens less than or equal to 768px */</a:t>
            </a:r>
          </a:p>
          <a:p>
            <a:pPr algn="l">
              <a:spcBef>
                <a:spcPts val="1125"/>
              </a:spcBef>
              <a:spcAft>
                <a:spcPts val="375"/>
              </a:spcAft>
              <a:buNone/>
            </a:pPr>
            <a:r>
              <a:rPr lang="en-US" b="0" i="0" dirty="0">
                <a:solidFill>
                  <a:srgbClr val="212529"/>
                </a:solidFill>
                <a:effectLst/>
                <a:latin typeface="Courier New" panose="02070309020205020404" pitchFamily="49" charset="0"/>
              </a:rPr>
              <a:t>@media (max-width: 768px) {</a:t>
            </a:r>
          </a:p>
          <a:p>
            <a:pPr algn="l">
              <a:spcBef>
                <a:spcPts val="1125"/>
              </a:spcBef>
              <a:spcAft>
                <a:spcPts val="375"/>
              </a:spcAft>
              <a:buNone/>
            </a:pPr>
            <a:r>
              <a:rPr lang="en-US" b="0" i="0" dirty="0">
                <a:solidFill>
                  <a:srgbClr val="212529"/>
                </a:solidFill>
                <a:effectLst/>
                <a:latin typeface="Courier New" panose="02070309020205020404" pitchFamily="49" charset="0"/>
              </a:rPr>
              <a:t>.nav-links {</a:t>
            </a:r>
          </a:p>
          <a:p>
            <a:pPr algn="l">
              <a:spcBef>
                <a:spcPts val="1125"/>
              </a:spcBef>
              <a:spcAft>
                <a:spcPts val="375"/>
              </a:spcAft>
              <a:buNone/>
            </a:pPr>
            <a:r>
              <a:rPr lang="en-US" b="0" i="0" dirty="0">
                <a:solidFill>
                  <a:srgbClr val="212529"/>
                </a:solidFill>
                <a:effectLst/>
                <a:latin typeface="Courier New" panose="02070309020205020404" pitchFamily="49" charset="0"/>
              </a:rPr>
              <a:t>display: none;</a:t>
            </a:r>
          </a:p>
          <a:p>
            <a:pPr algn="l">
              <a:spcBef>
                <a:spcPts val="1125"/>
              </a:spcBef>
              <a:spcAft>
                <a:spcPts val="375"/>
              </a:spcAft>
              <a:buNone/>
            </a:pPr>
            <a:r>
              <a:rPr lang="en-US" b="0" i="0" dirty="0">
                <a:solidFill>
                  <a:srgbClr val="212529"/>
                </a:solidFill>
                <a:effectLst/>
                <a:latin typeface="Courier New" panose="02070309020205020404" pitchFamily="49" charset="0"/>
              </a:rPr>
              <a:t>flex-direction: column;</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#444;</a:t>
            </a:r>
          </a:p>
          <a:p>
            <a:pPr algn="l">
              <a:spcBef>
                <a:spcPts val="1125"/>
              </a:spcBef>
              <a:spcAft>
                <a:spcPts val="375"/>
              </a:spcAft>
              <a:buNone/>
            </a:pPr>
            <a:r>
              <a:rPr lang="en-US" b="0" i="0" dirty="0">
                <a:solidFill>
                  <a:srgbClr val="212529"/>
                </a:solidFill>
                <a:effectLst/>
                <a:latin typeface="Courier New" panose="02070309020205020404" pitchFamily="49" charset="0"/>
              </a:rPr>
              <a:t>width: 100%;</a:t>
            </a:r>
          </a:p>
          <a:p>
            <a:pPr algn="l">
              <a:spcBef>
                <a:spcPts val="1125"/>
              </a:spcBef>
              <a:spcAft>
                <a:spcPts val="375"/>
              </a:spcAft>
              <a:buNone/>
            </a:pPr>
            <a:r>
              <a:rPr lang="en-US" b="0" i="0" dirty="0">
                <a:solidFill>
                  <a:srgbClr val="212529"/>
                </a:solidFill>
                <a:effectLst/>
                <a:latin typeface="Courier New" panose="02070309020205020404" pitchFamily="49" charset="0"/>
              </a:rPr>
              <a:t>padding: 10px 0;</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
        <p:nvSpPr>
          <p:cNvPr id="7" name="TextBox 6">
            <a:extLst>
              <a:ext uri="{FF2B5EF4-FFF2-40B4-BE49-F238E27FC236}">
                <a16:creationId xmlns:a16="http://schemas.microsoft.com/office/drawing/2014/main" id="{B95BC4F4-FCFB-C426-56E2-D129069CAA26}"/>
              </a:ext>
            </a:extLst>
          </p:cNvPr>
          <p:cNvSpPr txBox="1"/>
          <p:nvPr/>
        </p:nvSpPr>
        <p:spPr>
          <a:xfrm>
            <a:off x="4292221" y="-4324681"/>
            <a:ext cx="5036024" cy="16496824"/>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.menu-icon {</a:t>
            </a:r>
          </a:p>
          <a:p>
            <a:pPr algn="l">
              <a:spcBef>
                <a:spcPts val="1125"/>
              </a:spcBef>
              <a:spcAft>
                <a:spcPts val="375"/>
              </a:spcAft>
              <a:buNone/>
            </a:pPr>
            <a:r>
              <a:rPr lang="en-US" b="0" i="0" dirty="0">
                <a:solidFill>
                  <a:srgbClr val="212529"/>
                </a:solidFill>
                <a:effectLst/>
                <a:latin typeface="Courier New" panose="02070309020205020404" pitchFamily="49" charset="0"/>
              </a:rPr>
              <a:t>display: block;</a:t>
            </a:r>
          </a:p>
          <a:p>
            <a:pPr algn="l">
              <a:spcBef>
                <a:spcPts val="1125"/>
              </a:spcBef>
              <a:spcAft>
                <a:spcPts val="375"/>
              </a:spcAft>
              <a:buNone/>
            </a:pPr>
            <a:r>
              <a:rPr lang="en-US" b="0" i="0" dirty="0">
                <a:solidFill>
                  <a:srgbClr val="212529"/>
                </a:solidFill>
                <a:effectLst/>
                <a:latin typeface="Courier New" panose="02070309020205020404" pitchFamily="49" charset="0"/>
              </a:rPr>
              <a:t>font-size: 1.5rem;</a:t>
            </a:r>
          </a:p>
          <a:p>
            <a:pPr algn="l">
              <a:spcBef>
                <a:spcPts val="1125"/>
              </a:spcBef>
              <a:spcAft>
                <a:spcPts val="375"/>
              </a:spcAft>
              <a:buNone/>
            </a:pPr>
            <a:r>
              <a:rPr lang="en-US" b="0" i="0" dirty="0">
                <a:solidFill>
                  <a:srgbClr val="212529"/>
                </a:solidFill>
                <a:effectLst/>
                <a:latin typeface="Courier New" panose="02070309020205020404" pitchFamily="49" charset="0"/>
              </a:rPr>
              <a:t>cursor: pointer;</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#menu-toggle:checked + .menu-icon + .nav-links {</a:t>
            </a:r>
          </a:p>
          <a:p>
            <a:pPr algn="l">
              <a:spcBef>
                <a:spcPts val="1125"/>
              </a:spcBef>
              <a:spcAft>
                <a:spcPts val="375"/>
              </a:spcAft>
              <a:buNone/>
            </a:pPr>
            <a:r>
              <a:rPr lang="en-US" b="0" i="0" dirty="0">
                <a:solidFill>
                  <a:srgbClr val="212529"/>
                </a:solidFill>
                <a:effectLst/>
                <a:latin typeface="Courier New" panose="02070309020205020404" pitchFamily="49" charset="0"/>
              </a:rPr>
              <a:t>display: flex;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&lt;nav&gt;</a:t>
            </a:r>
          </a:p>
          <a:p>
            <a:pPr algn="l">
              <a:spcBef>
                <a:spcPts val="1125"/>
              </a:spcBef>
              <a:spcAft>
                <a:spcPts val="375"/>
              </a:spcAft>
              <a:buNone/>
            </a:pPr>
            <a:r>
              <a:rPr lang="en-US" b="0" i="0" dirty="0">
                <a:solidFill>
                  <a:srgbClr val="212529"/>
                </a:solidFill>
                <a:effectLst/>
                <a:latin typeface="Courier New" panose="02070309020205020404" pitchFamily="49" charset="0"/>
              </a:rPr>
              <a:t>&lt;div class="nav-container"&gt;</a:t>
            </a:r>
          </a:p>
          <a:p>
            <a:pPr algn="l">
              <a:spcBef>
                <a:spcPts val="1125"/>
              </a:spcBef>
              <a:spcAft>
                <a:spcPts val="375"/>
              </a:spcAft>
              <a:buNone/>
            </a:pPr>
            <a:r>
              <a:rPr lang="en-US" b="0" i="0" dirty="0">
                <a:solidFill>
                  <a:srgbClr val="212529"/>
                </a:solidFill>
                <a:effectLst/>
                <a:latin typeface="Courier New" panose="02070309020205020404" pitchFamily="49" charset="0"/>
              </a:rPr>
              <a:t>&lt;div class="logo"&gt;</a:t>
            </a:r>
            <a:r>
              <a:rPr lang="en-US" b="0" i="0" dirty="0" err="1">
                <a:solidFill>
                  <a:srgbClr val="212529"/>
                </a:solidFill>
                <a:effectLst/>
                <a:latin typeface="Courier New" panose="02070309020205020404" pitchFamily="49" charset="0"/>
              </a:rPr>
              <a:t>MySite</a:t>
            </a:r>
            <a:r>
              <a:rPr lang="en-US" b="0" i="0" dirty="0">
                <a:solidFill>
                  <a:srgbClr val="212529"/>
                </a:solidFill>
                <a:effectLst/>
                <a:latin typeface="Courier New" panose="02070309020205020404" pitchFamily="49" charset="0"/>
              </a:rPr>
              <a:t>&lt;/div&gt;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 Hidden checkbox hack for toggle --&gt;</a:t>
            </a:r>
          </a:p>
          <a:p>
            <a:pPr algn="l">
              <a:spcBef>
                <a:spcPts val="1125"/>
              </a:spcBef>
              <a:spcAft>
                <a:spcPts val="375"/>
              </a:spcAft>
              <a:buNone/>
            </a:pPr>
            <a:r>
              <a:rPr lang="en-US" b="0" i="0" dirty="0">
                <a:solidFill>
                  <a:srgbClr val="212529"/>
                </a:solidFill>
                <a:effectLst/>
                <a:latin typeface="Courier New" panose="02070309020205020404" pitchFamily="49" charset="0"/>
              </a:rPr>
              <a:t>&lt;input type="checkbox" id="menu-toggle" class="menu-toggle"&gt;</a:t>
            </a:r>
          </a:p>
          <a:p>
            <a:pPr algn="l">
              <a:spcBef>
                <a:spcPts val="1125"/>
              </a:spcBef>
              <a:spcAft>
                <a:spcPts val="375"/>
              </a:spcAft>
              <a:buNone/>
            </a:pPr>
            <a:r>
              <a:rPr lang="en-US" b="0" i="0" dirty="0">
                <a:solidFill>
                  <a:srgbClr val="212529"/>
                </a:solidFill>
                <a:effectLst/>
                <a:latin typeface="Courier New" panose="02070309020205020404" pitchFamily="49" charset="0"/>
              </a:rPr>
              <a:t>&lt;label for="menu-toggle" class="menu-icon"&gt;&amp;#9776;&lt;/label&gt;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&lt;div class="nav-links"&gt;</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="#"&gt;Home&lt;/a&gt;</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="#"&gt;About&lt;/a&gt;</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="#"&gt;Services&lt;/a&gt;</a:t>
            </a:r>
          </a:p>
          <a:p>
            <a:pPr algn="l">
              <a:spcBef>
                <a:spcPts val="1125"/>
              </a:spcBef>
              <a:spcAft>
                <a:spcPts val="375"/>
              </a:spcAft>
              <a:buNone/>
            </a:pPr>
            <a:r>
              <a:rPr lang="en-US" b="0" i="0" dirty="0">
                <a:solidFill>
                  <a:srgbClr val="212529"/>
                </a:solidFill>
                <a:effectLst/>
                <a:latin typeface="Courier New" panose="02070309020205020404" pitchFamily="49" charset="0"/>
              </a:rPr>
              <a:t>&lt;a </a:t>
            </a:r>
            <a:r>
              <a:rPr lang="en-US" b="0" i="0" dirty="0" err="1">
                <a:solidFill>
                  <a:srgbClr val="212529"/>
                </a:solidFill>
                <a:effectLst/>
                <a:latin typeface="Courier New" panose="02070309020205020404" pitchFamily="49" charset="0"/>
              </a:rPr>
              <a:t>href</a:t>
            </a:r>
            <a:r>
              <a:rPr lang="en-US" b="0" i="0" dirty="0">
                <a:solidFill>
                  <a:srgbClr val="212529"/>
                </a:solidFill>
                <a:effectLst/>
                <a:latin typeface="Courier New" panose="02070309020205020404" pitchFamily="49" charset="0"/>
              </a:rPr>
              <a:t>="#"&gt;Contact&lt;/a&gt;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l">
              <a:spcBef>
                <a:spcPts val="1125"/>
              </a:spcBef>
              <a:spcAft>
                <a:spcPts val="375"/>
              </a:spcAft>
              <a:buNone/>
            </a:pPr>
            <a:r>
              <a:rPr lang="en-US" b="0" i="0" dirty="0">
                <a:solidFill>
                  <a:srgbClr val="212529"/>
                </a:solidFill>
                <a:effectLst/>
                <a:latin typeface="Courier New" panose="02070309020205020404" pitchFamily="49" charset="0"/>
              </a:rPr>
              <a:t>&lt;/div&gt;</a:t>
            </a:r>
          </a:p>
          <a:p>
            <a:pPr algn="l">
              <a:spcBef>
                <a:spcPts val="1125"/>
              </a:spcBef>
              <a:spcAft>
                <a:spcPts val="375"/>
              </a:spcAft>
              <a:buNone/>
            </a:pPr>
            <a:r>
              <a:rPr lang="en-US" b="0" i="0" dirty="0">
                <a:solidFill>
                  <a:srgbClr val="212529"/>
                </a:solidFill>
                <a:effectLst/>
                <a:latin typeface="Courier New" panose="02070309020205020404" pitchFamily="49" charset="0"/>
              </a:rPr>
              <a:t>&lt;/nav&gt;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r>
              <a:rPr lang="en-US" b="0" i="0" dirty="0">
                <a:solidFill>
                  <a:srgbClr val="212529"/>
                </a:solidFill>
                <a:effectLst/>
                <a:latin typeface="Courier New" panose="02070309020205020404" pitchFamily="49" charset="0"/>
              </a:rPr>
              <a:t>&lt;/html&gt;</a:t>
            </a:r>
          </a:p>
        </p:txBody>
      </p:sp>
      <p:pic>
        <p:nvPicPr>
          <p:cNvPr id="8194" name="Picture 2" descr="navigation menu">
            <a:extLst>
              <a:ext uri="{FF2B5EF4-FFF2-40B4-BE49-F238E27FC236}">
                <a16:creationId xmlns:a16="http://schemas.microsoft.com/office/drawing/2014/main" id="{41FE307A-922F-FD28-35B8-7195E178B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789" y="3558014"/>
            <a:ext cx="9048750" cy="277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66CF4FC-1DA6-E022-6427-343BFBBF4596}"/>
              </a:ext>
            </a:extLst>
          </p:cNvPr>
          <p:cNvSpPr txBox="1"/>
          <p:nvPr/>
        </p:nvSpPr>
        <p:spPr>
          <a:xfrm>
            <a:off x="225188" y="111158"/>
            <a:ext cx="9355539" cy="215700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How do you create a sticky header using CSS?</a:t>
            </a:r>
          </a:p>
          <a:p>
            <a:pPr algn="just">
              <a:lnSpc>
                <a:spcPts val="2100"/>
              </a:lnSpc>
              <a:spcBef>
                <a:spcPts val="1650"/>
              </a:spcBef>
              <a:buNone/>
            </a:pPr>
            <a:r>
              <a:rPr lang="en-US" b="0" i="0" dirty="0">
                <a:solidFill>
                  <a:srgbClr val="3A3A3A"/>
                </a:solidFill>
                <a:effectLst/>
                <a:latin typeface="Roboto" panose="02000000000000000000" pitchFamily="2" charset="0"/>
              </a:rPr>
              <a:t>To make a sticky header with CSS, you apply the property position: sticky; and assign a top value. This keeps the header attached to the top portion of the page as the user scrolls down past it . If you are interested in changing the header using a CSS animation, like fading or sliding down when it “sticks”, you can use position: sticky together with</a:t>
            </a:r>
            <a:r>
              <a:rPr lang="en-US" b="0" i="0" u="none" strike="noStrike" dirty="0">
                <a:solidFill>
                  <a:srgbClr val="0F5A9E"/>
                </a:solidFill>
                <a:effectLst/>
                <a:latin typeface="Roboto" panose="02000000000000000000" pitchFamily="2" charset="0"/>
                <a:hlinkClick r:id="rId2"/>
              </a:rPr>
              <a:t> keyframe</a:t>
            </a:r>
            <a:r>
              <a:rPr lang="en-US" b="0" i="0" dirty="0">
                <a:solidFill>
                  <a:srgbClr val="3A3A3A"/>
                </a:solidFill>
                <a:effectLst/>
                <a:latin typeface="Roboto" panose="02000000000000000000" pitchFamily="2" charset="0"/>
              </a:rPr>
              <a:t> animations or transitions.</a:t>
            </a:r>
          </a:p>
        </p:txBody>
      </p:sp>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47B11A-A008-65A6-0609-D59FDFCA2CFC}"/>
              </a:ext>
            </a:extLst>
          </p:cNvPr>
          <p:cNvSpPr txBox="1"/>
          <p:nvPr/>
        </p:nvSpPr>
        <p:spPr>
          <a:xfrm>
            <a:off x="225188" y="0"/>
            <a:ext cx="4954136" cy="10118154"/>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&lt;!DOCTYPE html&gt;</a:t>
            </a:r>
          </a:p>
          <a:p>
            <a:pPr algn="l">
              <a:spcBef>
                <a:spcPts val="1125"/>
              </a:spcBef>
              <a:spcAft>
                <a:spcPts val="375"/>
              </a:spcAft>
              <a:buNone/>
            </a:pPr>
            <a:r>
              <a:rPr lang="en-US" b="0" i="0" dirty="0">
                <a:solidFill>
                  <a:srgbClr val="212529"/>
                </a:solidFill>
                <a:effectLst/>
                <a:latin typeface="Courier New" panose="02070309020205020404" pitchFamily="49" charset="0"/>
              </a:rPr>
              <a:t>&lt;html lang="</a:t>
            </a:r>
            <a:r>
              <a:rPr lang="en-US" b="0" i="0" dirty="0" err="1">
                <a:solidFill>
                  <a:srgbClr val="212529"/>
                </a:solidFill>
                <a:effectLst/>
                <a:latin typeface="Courier New" panose="02070309020205020404" pitchFamily="49" charset="0"/>
              </a:rPr>
              <a:t>en</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a:p>
            <a:pPr algn="l">
              <a:spcBef>
                <a:spcPts val="1125"/>
              </a:spcBef>
              <a:spcAft>
                <a:spcPts val="375"/>
              </a:spcAft>
              <a:buNone/>
            </a:pPr>
            <a:r>
              <a:rPr lang="en-US" b="0" i="0" dirty="0">
                <a:solidFill>
                  <a:srgbClr val="212529"/>
                </a:solidFill>
                <a:effectLst/>
                <a:latin typeface="Courier New" panose="02070309020205020404" pitchFamily="49" charset="0"/>
              </a:rPr>
              <a:t>&lt;meta charset="UTF-8"&gt;</a:t>
            </a:r>
          </a:p>
          <a:p>
            <a:pPr algn="l">
              <a:spcBef>
                <a:spcPts val="1125"/>
              </a:spcBef>
              <a:spcAft>
                <a:spcPts val="375"/>
              </a:spcAft>
              <a:buNone/>
            </a:pPr>
            <a:r>
              <a:rPr lang="en-US" b="0" i="0" dirty="0">
                <a:solidFill>
                  <a:srgbClr val="212529"/>
                </a:solidFill>
                <a:effectLst/>
                <a:latin typeface="Courier New" panose="02070309020205020404" pitchFamily="49" charset="0"/>
              </a:rPr>
              <a:t>&lt;title&gt;Sticky Header (No Animation)&lt;/title&gt;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 Sticky Header */</a:t>
            </a:r>
          </a:p>
          <a:p>
            <a:pPr algn="l">
              <a:spcBef>
                <a:spcPts val="1125"/>
              </a:spcBef>
              <a:spcAft>
                <a:spcPts val="375"/>
              </a:spcAft>
              <a:buNone/>
            </a:pPr>
            <a:r>
              <a:rPr lang="en-US" b="0" i="0" dirty="0">
                <a:solidFill>
                  <a:srgbClr val="212529"/>
                </a:solidFill>
                <a:effectLst/>
                <a:latin typeface="Courier New" panose="02070309020205020404" pitchFamily="49" charset="0"/>
              </a:rPr>
              <a:t>header {</a:t>
            </a:r>
          </a:p>
          <a:p>
            <a:pPr algn="l">
              <a:spcBef>
                <a:spcPts val="1125"/>
              </a:spcBef>
              <a:spcAft>
                <a:spcPts val="375"/>
              </a:spcAft>
              <a:buNone/>
            </a:pPr>
            <a:r>
              <a:rPr lang="en-US" b="0" i="0" dirty="0">
                <a:solidFill>
                  <a:srgbClr val="212529"/>
                </a:solidFill>
                <a:effectLst/>
                <a:latin typeface="Courier New" panose="02070309020205020404" pitchFamily="49" charset="0"/>
              </a:rPr>
              <a:t>position: sticky;</a:t>
            </a:r>
          </a:p>
          <a:p>
            <a:pPr algn="l">
              <a:spcBef>
                <a:spcPts val="1125"/>
              </a:spcBef>
              <a:spcAft>
                <a:spcPts val="375"/>
              </a:spcAft>
              <a:buNone/>
            </a:pPr>
            <a:r>
              <a:rPr lang="en-US" b="0" i="0" dirty="0">
                <a:solidFill>
                  <a:srgbClr val="212529"/>
                </a:solidFill>
                <a:effectLst/>
                <a:latin typeface="Courier New" panose="02070309020205020404" pitchFamily="49" charset="0"/>
              </a:rPr>
              <a:t>top: 0;</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#333;</a:t>
            </a:r>
          </a:p>
          <a:p>
            <a:pPr algn="l">
              <a:spcBef>
                <a:spcPts val="1125"/>
              </a:spcBef>
              <a:spcAft>
                <a:spcPts val="375"/>
              </a:spcAft>
              <a:buNone/>
            </a:pPr>
            <a:r>
              <a:rPr lang="en-US" b="0" i="0" dirty="0">
                <a:solidFill>
                  <a:srgbClr val="212529"/>
                </a:solidFill>
                <a:effectLst/>
                <a:latin typeface="Courier New" panose="02070309020205020404" pitchFamily="49" charset="0"/>
              </a:rPr>
              <a:t>color: white;</a:t>
            </a:r>
          </a:p>
          <a:p>
            <a:pPr algn="l">
              <a:spcBef>
                <a:spcPts val="1125"/>
              </a:spcBef>
              <a:spcAft>
                <a:spcPts val="375"/>
              </a:spcAft>
              <a:buNone/>
            </a:pPr>
            <a:r>
              <a:rPr lang="en-US" b="0" i="0" dirty="0">
                <a:solidFill>
                  <a:srgbClr val="212529"/>
                </a:solidFill>
                <a:effectLst/>
                <a:latin typeface="Courier New" panose="02070309020205020404" pitchFamily="49" charset="0"/>
              </a:rPr>
              <a:t>text-align: center;</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section {</a:t>
            </a:r>
          </a:p>
          <a:p>
            <a:pPr algn="l">
              <a:spcBef>
                <a:spcPts val="1125"/>
              </a:spcBef>
              <a:spcAft>
                <a:spcPts val="375"/>
              </a:spcAft>
              <a:buNone/>
            </a:pPr>
            <a:r>
              <a:rPr lang="en-US" b="0" i="0" dirty="0">
                <a:solidFill>
                  <a:srgbClr val="212529"/>
                </a:solidFill>
                <a:effectLst/>
                <a:latin typeface="Courier New" panose="02070309020205020404" pitchFamily="49" charset="0"/>
              </a:rPr>
              <a:t>height: 1200px; /* Simulate scrollable content */</a:t>
            </a:r>
          </a:p>
          <a:p>
            <a:pPr algn="l">
              <a:spcBef>
                <a:spcPts val="1125"/>
              </a:spcBef>
              <a:spcAft>
                <a:spcPts val="375"/>
              </a:spcAft>
              <a:buNone/>
            </a:pPr>
            <a:r>
              <a:rPr lang="en-US" b="0" i="0" dirty="0">
                <a:solidFill>
                  <a:srgbClr val="212529"/>
                </a:solidFill>
                <a:effectLst/>
                <a:latin typeface="Courier New" panose="02070309020205020404" pitchFamily="49" charset="0"/>
              </a:rPr>
              <a:t>background: linear-gradient(to bottom, #f0f0f0, #ccc);</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&lt;/style&gt;</a:t>
            </a:r>
          </a:p>
          <a:p>
            <a:pPr algn="l">
              <a:spcBef>
                <a:spcPts val="1125"/>
              </a:spcBef>
              <a:spcAft>
                <a:spcPts val="375"/>
              </a:spcAft>
              <a:buNone/>
            </a:pPr>
            <a:r>
              <a:rPr lang="en-US" b="0" i="0" dirty="0">
                <a:solidFill>
                  <a:srgbClr val="212529"/>
                </a:solidFill>
                <a:effectLst/>
                <a:latin typeface="Courier New" panose="02070309020205020404" pitchFamily="49" charset="0"/>
              </a:rPr>
              <a:t>&lt;/head&gt;</a:t>
            </a:r>
          </a:p>
        </p:txBody>
      </p:sp>
      <p:sp>
        <p:nvSpPr>
          <p:cNvPr id="7" name="TextBox 6">
            <a:extLst>
              <a:ext uri="{FF2B5EF4-FFF2-40B4-BE49-F238E27FC236}">
                <a16:creationId xmlns:a16="http://schemas.microsoft.com/office/drawing/2014/main" id="{0DD13E9F-97C1-F6BB-E58A-9EE18F637555}"/>
              </a:ext>
            </a:extLst>
          </p:cNvPr>
          <p:cNvSpPr txBox="1"/>
          <p:nvPr/>
        </p:nvSpPr>
        <p:spPr>
          <a:xfrm>
            <a:off x="4005619" y="791992"/>
            <a:ext cx="4954136" cy="7109639"/>
          </a:xfrm>
          <a:prstGeom prst="rect">
            <a:avLst/>
          </a:prstGeom>
          <a:noFill/>
        </p:spPr>
        <p:txBody>
          <a:bodyPr wrap="square">
            <a:spAutoFit/>
          </a:bodyPr>
          <a:lstStyle/>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r>
              <a:rPr lang="en-US" b="0" i="0" dirty="0">
                <a:solidFill>
                  <a:srgbClr val="212529"/>
                </a:solidFill>
                <a:effectLst/>
                <a:latin typeface="Courier New" panose="02070309020205020404" pitchFamily="49" charset="0"/>
              </a:rPr>
              <a:t>&lt;header&gt;</a:t>
            </a:r>
          </a:p>
          <a:p>
            <a:pPr algn="l">
              <a:spcBef>
                <a:spcPts val="1125"/>
              </a:spcBef>
              <a:spcAft>
                <a:spcPts val="375"/>
              </a:spcAft>
              <a:buNone/>
            </a:pPr>
            <a:r>
              <a:rPr lang="en-US" b="0" i="0" dirty="0">
                <a:solidFill>
                  <a:srgbClr val="212529"/>
                </a:solidFill>
                <a:effectLst/>
                <a:latin typeface="Courier New" panose="02070309020205020404" pitchFamily="49" charset="0"/>
              </a:rPr>
              <a:t>&lt;h1&gt;Sticky Header&lt;/h1&gt;</a:t>
            </a:r>
          </a:p>
          <a:p>
            <a:pPr algn="l">
              <a:spcBef>
                <a:spcPts val="1125"/>
              </a:spcBef>
              <a:spcAft>
                <a:spcPts val="375"/>
              </a:spcAft>
              <a:buNone/>
            </a:pPr>
            <a:r>
              <a:rPr lang="en-US" b="0" i="0" dirty="0">
                <a:solidFill>
                  <a:srgbClr val="212529"/>
                </a:solidFill>
                <a:effectLst/>
                <a:latin typeface="Courier New" panose="02070309020205020404" pitchFamily="49" charset="0"/>
              </a:rPr>
              <a:t>&lt;/header&gt;</a:t>
            </a:r>
          </a:p>
          <a:p>
            <a:pPr algn="l">
              <a:spcBef>
                <a:spcPts val="1125"/>
              </a:spcBef>
              <a:spcAft>
                <a:spcPts val="375"/>
              </a:spcAft>
              <a:buNone/>
            </a:pPr>
            <a:r>
              <a:rPr lang="en-US" b="0" i="0" dirty="0">
                <a:solidFill>
                  <a:srgbClr val="212529"/>
                </a:solidFill>
                <a:effectLst/>
                <a:latin typeface="Courier New" panose="02070309020205020404" pitchFamily="49" charset="0"/>
              </a:rPr>
              <a:t>&lt;section&gt;</a:t>
            </a:r>
          </a:p>
          <a:p>
            <a:pPr algn="l">
              <a:spcBef>
                <a:spcPts val="1125"/>
              </a:spcBef>
              <a:spcAft>
                <a:spcPts val="375"/>
              </a:spcAft>
              <a:buNone/>
            </a:pPr>
            <a:r>
              <a:rPr lang="en-US" b="0" i="0" dirty="0">
                <a:solidFill>
                  <a:srgbClr val="212529"/>
                </a:solidFill>
                <a:effectLst/>
                <a:latin typeface="Courier New" panose="02070309020205020404" pitchFamily="49" charset="0"/>
              </a:rPr>
              <a:t>&lt;p&gt;This is some long content. Scroll down to see the header stay fixed at the top of the page.&lt;/p&gt;</a:t>
            </a:r>
          </a:p>
          <a:p>
            <a:pPr algn="l">
              <a:spcBef>
                <a:spcPts val="1125"/>
              </a:spcBef>
              <a:spcAft>
                <a:spcPts val="375"/>
              </a:spcAft>
              <a:buNone/>
            </a:pPr>
            <a:r>
              <a:rPr lang="en-US" b="0" i="0" dirty="0">
                <a:solidFill>
                  <a:srgbClr val="212529"/>
                </a:solidFill>
                <a:effectLst/>
                <a:latin typeface="Courier New" panose="02070309020205020404" pitchFamily="49" charset="0"/>
              </a:rPr>
              <a:t>&lt;p&gt;More dummy content to help scrolling...&lt;/p&gt;</a:t>
            </a:r>
          </a:p>
          <a:p>
            <a:pPr algn="l">
              <a:spcBef>
                <a:spcPts val="1125"/>
              </a:spcBef>
              <a:spcAft>
                <a:spcPts val="375"/>
              </a:spcAft>
              <a:buNone/>
            </a:pPr>
            <a:r>
              <a:rPr lang="en-US" b="0" i="0" dirty="0">
                <a:solidFill>
                  <a:srgbClr val="212529"/>
                </a:solidFill>
                <a:effectLst/>
                <a:latin typeface="Courier New" panose="02070309020205020404" pitchFamily="49" charset="0"/>
              </a:rPr>
              <a:t>&lt;/section&gt;</a:t>
            </a:r>
          </a:p>
          <a:p>
            <a:pPr algn="l">
              <a:spcBef>
                <a:spcPts val="1125"/>
              </a:spcBef>
              <a:spcAft>
                <a:spcPts val="375"/>
              </a:spcAft>
              <a:buNone/>
            </a:pPr>
            <a:r>
              <a:rPr lang="en-US" b="0" i="0" dirty="0">
                <a:solidFill>
                  <a:srgbClr val="212529"/>
                </a:solidFill>
                <a:effectLst/>
                <a:latin typeface="Courier New" panose="02070309020205020404" pitchFamily="49" charset="0"/>
              </a:rPr>
              <a:t>&lt;section&gt;</a:t>
            </a:r>
          </a:p>
          <a:p>
            <a:pPr algn="l">
              <a:spcBef>
                <a:spcPts val="1125"/>
              </a:spcBef>
              <a:spcAft>
                <a:spcPts val="375"/>
              </a:spcAft>
              <a:buNone/>
            </a:pPr>
            <a:r>
              <a:rPr lang="en-US" b="0" i="0" dirty="0">
                <a:solidFill>
                  <a:srgbClr val="212529"/>
                </a:solidFill>
                <a:effectLst/>
                <a:latin typeface="Courier New" panose="02070309020205020404" pitchFamily="49" charset="0"/>
              </a:rPr>
              <a:t>&lt;p&gt;You're still scrolling, and the header is still there!&lt;/p&gt;</a:t>
            </a:r>
          </a:p>
          <a:p>
            <a:pPr algn="l">
              <a:spcBef>
                <a:spcPts val="1125"/>
              </a:spcBef>
              <a:spcAft>
                <a:spcPts val="375"/>
              </a:spcAft>
              <a:buNone/>
            </a:pPr>
            <a:r>
              <a:rPr lang="en-US" b="0" i="0" dirty="0">
                <a:solidFill>
                  <a:srgbClr val="212529"/>
                </a:solidFill>
                <a:effectLst/>
                <a:latin typeface="Courier New" panose="02070309020205020404" pitchFamily="49" charset="0"/>
              </a:rPr>
              <a:t>&lt;/section&gt;</a:t>
            </a:r>
          </a:p>
          <a:p>
            <a:pPr algn="l">
              <a:spcBef>
                <a:spcPts val="1125"/>
              </a:spcBef>
              <a:spcAft>
                <a:spcPts val="375"/>
              </a:spcAft>
              <a:buNone/>
            </a:pPr>
            <a:r>
              <a:rPr lang="en-US" b="0" i="0" dirty="0">
                <a:solidFill>
                  <a:srgbClr val="212529"/>
                </a:solidFill>
                <a:effectLst/>
                <a:latin typeface="Courier New" panose="02070309020205020404" pitchFamily="49" charset="0"/>
              </a:rPr>
              <a:t>&lt;/body&gt;</a:t>
            </a:r>
          </a:p>
          <a:p>
            <a:pPr algn="l">
              <a:spcBef>
                <a:spcPts val="1125"/>
              </a:spcBef>
              <a:spcAft>
                <a:spcPts val="375"/>
              </a:spcAft>
              <a:buNone/>
            </a:pPr>
            <a:r>
              <a:rPr lang="en-US" b="0" i="0" dirty="0">
                <a:solidFill>
                  <a:srgbClr val="212529"/>
                </a:solidFill>
                <a:effectLst/>
                <a:latin typeface="Courier New" panose="02070309020205020404" pitchFamily="49" charset="0"/>
              </a:rPr>
              <a:t>&lt;/html&gt;</a:t>
            </a:r>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571437-9838-86EE-7436-F5E6B00E3B16}"/>
              </a:ext>
            </a:extLst>
          </p:cNvPr>
          <p:cNvSpPr txBox="1"/>
          <p:nvPr/>
        </p:nvSpPr>
        <p:spPr>
          <a:xfrm>
            <a:off x="0" y="136234"/>
            <a:ext cx="4954136" cy="432682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Describe the effects of the CSS box model on layout.</a:t>
            </a:r>
          </a:p>
          <a:p>
            <a:pPr algn="just">
              <a:lnSpc>
                <a:spcPts val="2100"/>
              </a:lnSpc>
              <a:spcBef>
                <a:spcPts val="1650"/>
              </a:spcBef>
              <a:buNone/>
            </a:pPr>
            <a:r>
              <a:rPr lang="en-US" b="0" i="0" dirty="0">
                <a:solidFill>
                  <a:srgbClr val="3A3A3A"/>
                </a:solidFill>
                <a:effectLst/>
                <a:latin typeface="Roboto" panose="02000000000000000000" pitchFamily="2" charset="0"/>
              </a:rPr>
              <a:t>The organization of the items on a web page is described by the </a:t>
            </a:r>
            <a:r>
              <a:rPr lang="en-US" b="0" i="0" u="none" strike="noStrike" dirty="0">
                <a:solidFill>
                  <a:srgbClr val="0F5A9E"/>
                </a:solidFill>
                <a:effectLst/>
                <a:latin typeface="Roboto" panose="02000000000000000000" pitchFamily="2" charset="0"/>
                <a:hlinkClick r:id="rId2"/>
              </a:rPr>
              <a:t>CSS box model</a:t>
            </a:r>
            <a:r>
              <a:rPr lang="en-US" b="0" i="0" dirty="0">
                <a:solidFill>
                  <a:srgbClr val="3A3A3A"/>
                </a:solidFill>
                <a:effectLst/>
                <a:latin typeface="Roboto" panose="02000000000000000000" pitchFamily="2" charset="0"/>
              </a:rPr>
              <a:t>. Content, padding, border, and margin make up its components. Text and images are displayed in the content area, which is surrounded by a border; the space outside the border is known as the margin. Padding is the area that appears between the content and the border. It determines how an element fits into the layout and how it works with other elements.</a:t>
            </a:r>
          </a:p>
          <a:p>
            <a:pPr>
              <a:buNone/>
            </a:pPr>
            <a:br>
              <a:rPr lang="en-US" dirty="0"/>
            </a:br>
            <a:endParaRPr lang="en-US" dirty="0"/>
          </a:p>
        </p:txBody>
      </p:sp>
      <p:pic>
        <p:nvPicPr>
          <p:cNvPr id="5" name="Picture 4">
            <a:extLst>
              <a:ext uri="{FF2B5EF4-FFF2-40B4-BE49-F238E27FC236}">
                <a16:creationId xmlns:a16="http://schemas.microsoft.com/office/drawing/2014/main" id="{4E8B149F-0687-3940-28B3-5AECF72ABC8D}"/>
              </a:ext>
            </a:extLst>
          </p:cNvPr>
          <p:cNvPicPr>
            <a:picLocks noChangeAspect="1"/>
          </p:cNvPicPr>
          <p:nvPr/>
        </p:nvPicPr>
        <p:blipFill>
          <a:blip r:embed="rId3"/>
          <a:stretch>
            <a:fillRect/>
          </a:stretch>
        </p:blipFill>
        <p:spPr>
          <a:xfrm>
            <a:off x="5229578" y="471380"/>
            <a:ext cx="4316035" cy="2957620"/>
          </a:xfrm>
          <a:prstGeom prst="rect">
            <a:avLst/>
          </a:prstGeom>
        </p:spPr>
      </p:pic>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05B4FEF-A9A4-B91C-BF38-D46BAFCC14CD}"/>
              </a:ext>
            </a:extLst>
          </p:cNvPr>
          <p:cNvSpPr txBox="1"/>
          <p:nvPr/>
        </p:nvSpPr>
        <p:spPr>
          <a:xfrm>
            <a:off x="2477069" y="45588"/>
            <a:ext cx="4954136" cy="677364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Describe the advantages of the CSS flexbox layout approach over conventional layout techniques.</a:t>
            </a:r>
          </a:p>
          <a:p>
            <a:pPr algn="just">
              <a:lnSpc>
                <a:spcPts val="2100"/>
              </a:lnSpc>
              <a:spcBef>
                <a:spcPts val="1650"/>
              </a:spcBef>
              <a:buNone/>
            </a:pPr>
            <a:r>
              <a:rPr lang="en-US" b="0" i="0" dirty="0">
                <a:solidFill>
                  <a:srgbClr val="3A3A3A"/>
                </a:solidFill>
                <a:effectLst/>
                <a:latin typeface="Roboto" panose="02000000000000000000" pitchFamily="2" charset="0"/>
              </a:rPr>
              <a:t>A style concept known as CSS Flexible Box style, or </a:t>
            </a:r>
            <a:r>
              <a:rPr lang="en-US" b="0" i="0" u="none" strike="noStrike" dirty="0">
                <a:solidFill>
                  <a:srgbClr val="0F5A9E"/>
                </a:solidFill>
                <a:effectLst/>
                <a:latin typeface="Roboto" panose="02000000000000000000" pitchFamily="2" charset="0"/>
                <a:hlinkClick r:id="rId2"/>
              </a:rPr>
              <a:t>flexbox</a:t>
            </a:r>
            <a:r>
              <a:rPr lang="en-US" b="0" i="0" dirty="0">
                <a:solidFill>
                  <a:srgbClr val="3A3A3A"/>
                </a:solidFill>
                <a:effectLst/>
                <a:latin typeface="Roboto" panose="02000000000000000000" pitchFamily="2" charset="0"/>
              </a:rPr>
              <a:t>, enables the development of responsive and adaptable layouts with a single-dimensional axis (horizontal or vertical).</a:t>
            </a:r>
          </a:p>
          <a:p>
            <a:pPr algn="just">
              <a:lnSpc>
                <a:spcPts val="2100"/>
              </a:lnSpc>
              <a:spcBef>
                <a:spcPts val="750"/>
              </a:spcBef>
              <a:buNone/>
            </a:pPr>
            <a:r>
              <a:rPr lang="en-US" b="0" i="0" dirty="0">
                <a:solidFill>
                  <a:srgbClr val="3A3A3A"/>
                </a:solidFill>
                <a:effectLst/>
                <a:latin typeface="Roboto" panose="02000000000000000000" pitchFamily="2" charset="0"/>
              </a:rPr>
              <a:t>Compared to more conventional layout techniques like floats or positioning, it offers a more effective and natural approach to dividing up space and orienting objects inside a container.</a:t>
            </a:r>
          </a:p>
          <a:p>
            <a:pPr algn="just">
              <a:lnSpc>
                <a:spcPts val="2100"/>
              </a:lnSpc>
              <a:spcBef>
                <a:spcPts val="750"/>
              </a:spcBef>
              <a:buNone/>
            </a:pPr>
            <a:r>
              <a:rPr lang="en-US" b="0" i="0" dirty="0">
                <a:solidFill>
                  <a:srgbClr val="3A3A3A"/>
                </a:solidFill>
                <a:effectLst/>
                <a:latin typeface="Roboto" panose="02000000000000000000" pitchFamily="2" charset="0"/>
              </a:rPr>
              <a:t>Powerful capabilities offered by Flexbox include the ability to quickly rearrange objects, manage space alignment and distribution, and automatically modify the layout according to the amount of available space and the size of the content.</a:t>
            </a:r>
          </a:p>
          <a:p>
            <a:pPr algn="just">
              <a:lnSpc>
                <a:spcPts val="2100"/>
              </a:lnSpc>
              <a:spcBef>
                <a:spcPts val="750"/>
              </a:spcBef>
              <a:buNone/>
            </a:pPr>
            <a:r>
              <a:rPr lang="en-US" b="0" i="0" dirty="0">
                <a:solidFill>
                  <a:srgbClr val="3A3A3A"/>
                </a:solidFill>
                <a:effectLst/>
                <a:latin typeface="Roboto" panose="02000000000000000000" pitchFamily="2" charset="0"/>
              </a:rPr>
              <a:t>Its benefits include better responsiveness, simpler and cleaner markup, and enhanced support for intricate layouts without the need for workarounds or hacks.</a:t>
            </a:r>
          </a:p>
        </p:txBody>
      </p:sp>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03A602-90BC-A8B0-5335-1908F0FF703E}"/>
              </a:ext>
            </a:extLst>
          </p:cNvPr>
          <p:cNvSpPr txBox="1"/>
          <p:nvPr/>
        </p:nvSpPr>
        <p:spPr>
          <a:xfrm>
            <a:off x="2477069" y="-1102162"/>
            <a:ext cx="4954136" cy="906914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How may a responsive design be created without the use of media queries?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Applying relative measurements for widths, heights, and margins, such as percentages and viewport units (</a:t>
            </a:r>
            <a:r>
              <a:rPr lang="en-US" b="0" i="0" dirty="0" err="1">
                <a:solidFill>
                  <a:srgbClr val="3A3A3A"/>
                </a:solidFill>
                <a:effectLst/>
                <a:latin typeface="Roboto" panose="02000000000000000000" pitchFamily="2" charset="0"/>
              </a:rPr>
              <a:t>vw</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vh</a:t>
            </a:r>
            <a:r>
              <a:rPr lang="en-US" b="0" i="0" dirty="0">
                <a:solidFill>
                  <a:srgbClr val="3A3A3A"/>
                </a:solidFill>
                <a:effectLst/>
                <a:latin typeface="Roboto" panose="02000000000000000000" pitchFamily="2" charset="0"/>
              </a:rPr>
              <a: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Using CSS grids and flexbox for flexible layouts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Using proportionate, </a:t>
            </a:r>
            <a:r>
              <a:rPr lang="en-US" b="0" i="0" dirty="0" err="1">
                <a:solidFill>
                  <a:srgbClr val="3A3A3A"/>
                </a:solidFill>
                <a:effectLst/>
                <a:latin typeface="Roboto" panose="02000000000000000000" pitchFamily="2" charset="0"/>
              </a:rPr>
              <a:t>em</a:t>
            </a:r>
            <a:r>
              <a:rPr lang="en-US" b="0" i="0" dirty="0">
                <a:solidFill>
                  <a:srgbClr val="3A3A3A"/>
                </a:solidFill>
                <a:effectLst/>
                <a:latin typeface="Roboto" panose="02000000000000000000" pitchFamily="2" charset="0"/>
              </a:rPr>
              <a:t>, or rem-based font sizes with flowing typography.</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How can CSS performance be optimized for faster page loading?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CSS files can be made smaller by minifying them.</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Reducing the number of HTTP requests by combining several CSS files into one file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Avoiding picks with excessive precision and nesting</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Minimizing the usage of pricey CSS attributes like border-radius and </a:t>
            </a:r>
            <a:r>
              <a:rPr lang="en-US" b="0" i="0" u="none" strike="noStrike" dirty="0">
                <a:solidFill>
                  <a:srgbClr val="0F5A9E"/>
                </a:solidFill>
                <a:effectLst/>
                <a:latin typeface="Roboto" panose="02000000000000000000" pitchFamily="2" charset="0"/>
                <a:hlinkClick r:id="rId2"/>
              </a:rPr>
              <a:t>box-shadow</a:t>
            </a:r>
            <a:endParaRPr lang="en-US" b="0" i="0" dirty="0">
              <a:solidFill>
                <a:srgbClr val="3A3A3A"/>
              </a:solidFill>
              <a:effectLst/>
              <a:latin typeface="Roboto" panose="02000000000000000000" pitchFamily="2" charset="0"/>
            </a:endParaRP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Reducing the number of server requests by integrating smaller images into a single image using CSS sprites</a:t>
            </a:r>
          </a:p>
        </p:txBody>
      </p:sp>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9D91311-DA5E-4E2C-9AD4-9553E1B4426C}"/>
              </a:ext>
            </a:extLst>
          </p:cNvPr>
          <p:cNvSpPr txBox="1"/>
          <p:nvPr/>
        </p:nvSpPr>
        <p:spPr>
          <a:xfrm>
            <a:off x="2477069" y="712437"/>
            <a:ext cx="4954136" cy="54399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Describe the differences between the CSS selectors :nth-child() and :nth-of-type().</a:t>
            </a:r>
          </a:p>
          <a:p>
            <a:pPr algn="just">
              <a:lnSpc>
                <a:spcPts val="2100"/>
              </a:lnSpc>
              <a:spcBef>
                <a:spcPts val="1650"/>
              </a:spcBef>
              <a:buNone/>
            </a:pPr>
            <a:r>
              <a:rPr lang="en-US" b="0" i="0" dirty="0">
                <a:solidFill>
                  <a:srgbClr val="3A3A3A"/>
                </a:solidFill>
                <a:effectLst/>
                <a:latin typeface="Roboto" panose="02000000000000000000" pitchFamily="2" charset="0"/>
              </a:rPr>
              <a:t>:nth-child(): Regardless of type, this function chooses elements based on where they are in a group of siblings.</a:t>
            </a:r>
          </a:p>
          <a:p>
            <a:pPr algn="just">
              <a:lnSpc>
                <a:spcPts val="2100"/>
              </a:lnSpc>
              <a:spcBef>
                <a:spcPts val="750"/>
              </a:spcBef>
              <a:buNone/>
            </a:pPr>
            <a:r>
              <a:rPr lang="en-US" b="0" i="0" dirty="0">
                <a:solidFill>
                  <a:srgbClr val="3A3A3A"/>
                </a:solidFill>
                <a:effectLst/>
                <a:latin typeface="Roboto" panose="02000000000000000000" pitchFamily="2" charset="0"/>
              </a:rPr>
              <a:t>:nth-of-type(): Chooses components of a particular type according to where they fall in a sibling group.</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How can a modal dialogue that uses only CSS be implemented?</a:t>
            </a:r>
          </a:p>
          <a:p>
            <a:pPr algn="just">
              <a:lnSpc>
                <a:spcPts val="2100"/>
              </a:lnSpc>
              <a:spcBef>
                <a:spcPts val="1650"/>
              </a:spcBef>
              <a:buNone/>
            </a:pPr>
            <a:r>
              <a:rPr lang="en-US" b="0" i="0" dirty="0">
                <a:solidFill>
                  <a:srgbClr val="3A3A3A"/>
                </a:solidFill>
                <a:effectLst/>
                <a:latin typeface="Roboto" panose="02000000000000000000" pitchFamily="2" charset="0"/>
              </a:rPr>
              <a:t>To build a modal dialogue without JavaScript, use a combination of CSS sibling selectors and HTML input elements, such as a checkbox. Make use of CSS to display the modal once the input element is checked.</a:t>
            </a:r>
          </a:p>
        </p:txBody>
      </p:sp>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E493DB9-CC87-F595-40FD-C374DCF72D60}"/>
              </a:ext>
            </a:extLst>
          </p:cNvPr>
          <p:cNvSpPr txBox="1"/>
          <p:nvPr/>
        </p:nvSpPr>
        <p:spPr>
          <a:xfrm>
            <a:off x="2477069" y="656011"/>
            <a:ext cx="4954136" cy="555280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Provide examples of when and how to utilize CSS vendor prefixes, along with an explanation of their function.</a:t>
            </a:r>
          </a:p>
          <a:p>
            <a:pPr algn="just">
              <a:lnSpc>
                <a:spcPts val="2100"/>
              </a:lnSpc>
              <a:spcBef>
                <a:spcPts val="1650"/>
              </a:spcBef>
              <a:buNone/>
            </a:pPr>
            <a:r>
              <a:rPr lang="en-US" b="0" i="0" dirty="0">
                <a:solidFill>
                  <a:srgbClr val="3A3A3A"/>
                </a:solidFill>
                <a:effectLst/>
                <a:latin typeface="Roboto" panose="02000000000000000000" pitchFamily="2" charset="0"/>
              </a:rPr>
              <a:t>CSS vendor prefixes are used to add experimental or browser-specific CSS features that may not be fully supported across all browsers.</a:t>
            </a:r>
          </a:p>
          <a:p>
            <a:pPr algn="l">
              <a:spcBef>
                <a:spcPts val="1125"/>
              </a:spcBef>
              <a:spcAft>
                <a:spcPts val="375"/>
              </a:spcAft>
              <a:buNone/>
            </a:pPr>
            <a:r>
              <a:rPr lang="en-US" b="0" i="0" dirty="0">
                <a:solidFill>
                  <a:srgbClr val="212529"/>
                </a:solidFill>
                <a:effectLst/>
                <a:latin typeface="Courier New" panose="02070309020205020404" pitchFamily="49" charset="0"/>
              </a:rPr>
              <a:t>.box {</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webkit</a:t>
            </a:r>
            <a:r>
              <a:rPr lang="en-US" b="0" i="0" dirty="0">
                <a:solidFill>
                  <a:srgbClr val="212529"/>
                </a:solidFill>
                <a:effectLst/>
                <a:latin typeface="Courier New" panose="02070309020205020404" pitchFamily="49" charset="0"/>
              </a:rPr>
              <a:t>-border-radius: 10px; /* Safari, Chrome */</a:t>
            </a:r>
          </a:p>
          <a:p>
            <a:pPr algn="l">
              <a:spcBef>
                <a:spcPts val="1125"/>
              </a:spcBef>
              <a:spcAft>
                <a:spcPts val="375"/>
              </a:spcAft>
              <a:buNone/>
            </a:pP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moz</a:t>
            </a:r>
            <a:r>
              <a:rPr lang="en-US" b="0" i="0" dirty="0">
                <a:solidFill>
                  <a:srgbClr val="212529"/>
                </a:solidFill>
                <a:effectLst/>
                <a:latin typeface="Courier New" panose="02070309020205020404" pitchFamily="49" charset="0"/>
              </a:rPr>
              <a:t>-border-radius: 10px; /* Firefox */</a:t>
            </a:r>
          </a:p>
          <a:p>
            <a:pPr algn="l">
              <a:spcBef>
                <a:spcPts val="1125"/>
              </a:spcBef>
              <a:spcAft>
                <a:spcPts val="375"/>
              </a:spcAft>
              <a:buNone/>
            </a:pPr>
            <a:r>
              <a:rPr lang="en-US" b="0" i="0" dirty="0">
                <a:solidFill>
                  <a:srgbClr val="212529"/>
                </a:solidFill>
                <a:effectLst/>
                <a:latin typeface="Courier New" panose="02070309020205020404" pitchFamily="49" charset="0"/>
              </a:rPr>
              <a:t>border-radius: 10px; /* Standard */</a:t>
            </a: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6B92CC-7984-E1FF-C5E0-BA0B5FB322BB}"/>
              </a:ext>
            </a:extLst>
          </p:cNvPr>
          <p:cNvSpPr txBox="1"/>
          <p:nvPr/>
        </p:nvSpPr>
        <p:spPr>
          <a:xfrm>
            <a:off x="2477069" y="-1616406"/>
            <a:ext cx="4954136" cy="1009763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Describe the function of CSS custom properties, often known as variables, and give instances of how to use them.</a:t>
            </a:r>
          </a:p>
          <a:p>
            <a:pPr algn="just">
              <a:lnSpc>
                <a:spcPts val="2100"/>
              </a:lnSpc>
              <a:spcBef>
                <a:spcPts val="1650"/>
              </a:spcBef>
              <a:buNone/>
            </a:pPr>
            <a:r>
              <a:rPr lang="en-US" b="0" i="0" dirty="0">
                <a:solidFill>
                  <a:srgbClr val="3A3A3A"/>
                </a:solidFill>
                <a:effectLst/>
                <a:latin typeface="Roboto" panose="02000000000000000000" pitchFamily="2" charset="0"/>
              </a:rPr>
              <a:t>CSS custom properties, or variables, allow for the definition of reusable values in CSS.</a:t>
            </a:r>
          </a:p>
          <a:p>
            <a:pPr algn="l">
              <a:spcBef>
                <a:spcPts val="1125"/>
              </a:spcBef>
              <a:spcAft>
                <a:spcPts val="375"/>
              </a:spcAft>
              <a:buNone/>
            </a:pPr>
            <a:r>
              <a:rPr lang="en-US" b="0" i="0" dirty="0">
                <a:solidFill>
                  <a:srgbClr val="212529"/>
                </a:solidFill>
                <a:effectLst/>
                <a:latin typeface="Courier New" panose="02070309020205020404" pitchFamily="49" charset="0"/>
              </a:rPr>
              <a:t>:root {</a:t>
            </a:r>
          </a:p>
          <a:p>
            <a:pPr algn="l">
              <a:spcBef>
                <a:spcPts val="1125"/>
              </a:spcBef>
              <a:spcAft>
                <a:spcPts val="375"/>
              </a:spcAft>
              <a:buNone/>
            </a:pPr>
            <a:r>
              <a:rPr lang="en-US" b="0" i="0" dirty="0">
                <a:solidFill>
                  <a:srgbClr val="212529"/>
                </a:solidFill>
                <a:effectLst/>
                <a:latin typeface="Courier New" panose="02070309020205020404" pitchFamily="49" charset="0"/>
              </a:rPr>
              <a:t>--primary-color: #3498db;</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.button {</a:t>
            </a:r>
          </a:p>
          <a:p>
            <a:pPr algn="l">
              <a:spcBef>
                <a:spcPts val="1125"/>
              </a:spcBef>
              <a:spcAft>
                <a:spcPts val="375"/>
              </a:spcAft>
              <a:buNone/>
            </a:pPr>
            <a:r>
              <a:rPr lang="en-US" b="0" i="0" dirty="0">
                <a:solidFill>
                  <a:srgbClr val="212529"/>
                </a:solidFill>
                <a:effectLst/>
                <a:latin typeface="Courier New" panose="02070309020205020404" pitchFamily="49" charset="0"/>
              </a:rPr>
              <a:t>background-color: var(--primary-color);</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Explanation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:root is a pseudo-class selector that targets the highest-level element in the DOM (usually &lt;html&gt;). It’s commonly used for defining global CSS variables.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–primary-color: #3498db; defines a custom property (CSS variable) for the primary color (a shade of blue).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.button is a class selector. The button’s background color is set using the variable –primary-color with var(–primary-color).This makes your design more maintainable and scalable, as you can update the color in one place and apply it throughout your CSS.</a:t>
            </a:r>
          </a:p>
        </p:txBody>
      </p:sp>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A76069-538B-47C1-8DE9-2E1D9B779208}"/>
              </a:ext>
            </a:extLst>
          </p:cNvPr>
          <p:cNvSpPr txBox="1"/>
          <p:nvPr/>
        </p:nvSpPr>
        <p:spPr>
          <a:xfrm>
            <a:off x="2477069" y="107143"/>
            <a:ext cx="4954136" cy="66505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Write a sample CSS container query that changes the font size when the parent container is less than 600px wide.</a:t>
            </a:r>
          </a:p>
          <a:p>
            <a:pPr algn="l">
              <a:spcBef>
                <a:spcPts val="1125"/>
              </a:spcBef>
              <a:spcAft>
                <a:spcPts val="375"/>
              </a:spcAft>
              <a:buNone/>
            </a:pPr>
            <a:r>
              <a:rPr lang="en-US" b="0" i="0" dirty="0">
                <a:solidFill>
                  <a:srgbClr val="212529"/>
                </a:solidFill>
                <a:effectLst/>
                <a:latin typeface="Courier New" panose="02070309020205020404" pitchFamily="49" charset="0"/>
              </a:rPr>
              <a:t>.container {</a:t>
            </a:r>
          </a:p>
          <a:p>
            <a:pPr algn="l">
              <a:spcBef>
                <a:spcPts val="1125"/>
              </a:spcBef>
              <a:spcAft>
                <a:spcPts val="375"/>
              </a:spcAft>
              <a:buNone/>
            </a:pPr>
            <a:r>
              <a:rPr lang="en-US" b="0" i="0" dirty="0">
                <a:solidFill>
                  <a:srgbClr val="212529"/>
                </a:solidFill>
                <a:effectLst/>
                <a:latin typeface="Courier New" panose="02070309020205020404" pitchFamily="49" charset="0"/>
              </a:rPr>
              <a:t>container-type: inline-size;</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@container (max-width: 600px) {</a:t>
            </a:r>
          </a:p>
          <a:p>
            <a:pPr algn="l">
              <a:spcBef>
                <a:spcPts val="1125"/>
              </a:spcBef>
              <a:spcAft>
                <a:spcPts val="375"/>
              </a:spcAft>
              <a:buNone/>
            </a:pPr>
            <a:r>
              <a:rPr lang="en-US" b="0" i="0" dirty="0">
                <a:solidFill>
                  <a:srgbClr val="212529"/>
                </a:solidFill>
                <a:effectLst/>
                <a:latin typeface="Courier New" panose="02070309020205020404" pitchFamily="49" charset="0"/>
              </a:rPr>
              <a:t>.responsive-text {</a:t>
            </a:r>
          </a:p>
          <a:p>
            <a:pPr algn="l">
              <a:spcBef>
                <a:spcPts val="1125"/>
              </a:spcBef>
              <a:spcAft>
                <a:spcPts val="375"/>
              </a:spcAft>
              <a:buNone/>
            </a:pPr>
            <a:r>
              <a:rPr lang="en-US" b="0" i="0" dirty="0">
                <a:solidFill>
                  <a:srgbClr val="212529"/>
                </a:solidFill>
                <a:effectLst/>
                <a:latin typeface="Courier New" panose="02070309020205020404" pitchFamily="49" charset="0"/>
              </a:rPr>
              <a:t>font-size: 14px;</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Here, the font-size of .responsive-text changes only when the .container it is inside becomes narrower than 600px. This enables component-level responsiveness.</a:t>
            </a:r>
          </a:p>
        </p:txBody>
      </p:sp>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1DC49C-B1E6-EE9D-E8F8-C487E879F0CC}"/>
              </a:ext>
            </a:extLst>
          </p:cNvPr>
          <p:cNvSpPr txBox="1"/>
          <p:nvPr/>
        </p:nvSpPr>
        <p:spPr>
          <a:xfrm>
            <a:off x="2477069" y="1629355"/>
            <a:ext cx="4954136" cy="360611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Explain the distinction between the transition properties and the CSS transform properties.</a:t>
            </a:r>
          </a:p>
          <a:p>
            <a:pPr algn="just">
              <a:lnSpc>
                <a:spcPts val="2100"/>
              </a:lnSpc>
              <a:spcBef>
                <a:spcPts val="1650"/>
              </a:spcBef>
              <a:buNone/>
            </a:pPr>
            <a:r>
              <a:rPr lang="en-US" b="0" i="0" dirty="0">
                <a:solidFill>
                  <a:srgbClr val="3A3A3A"/>
                </a:solidFill>
                <a:effectLst/>
                <a:latin typeface="Roboto" panose="02000000000000000000" pitchFamily="2" charset="0"/>
              </a:rPr>
              <a:t>Transform gives an element a 2D or 3D transformation (such as rotation, scaling, or translation) without changing the document flow or layout.</a:t>
            </a:r>
          </a:p>
          <a:p>
            <a:pPr algn="just">
              <a:lnSpc>
                <a:spcPts val="2100"/>
              </a:lnSpc>
              <a:spcBef>
                <a:spcPts val="750"/>
              </a:spcBef>
              <a:buNone/>
            </a:pPr>
            <a:r>
              <a:rPr lang="en-US" b="0" i="0" dirty="0">
                <a:solidFill>
                  <a:srgbClr val="3A3A3A"/>
                </a:solidFill>
                <a:effectLst/>
                <a:latin typeface="Roboto" panose="02000000000000000000" pitchFamily="2" charset="0"/>
              </a:rPr>
              <a:t>Transition animates the change between multiple property values and defines how CSS properties should change over time in response to user actions (e.g., hover, click).</a:t>
            </a:r>
          </a:p>
        </p:txBody>
      </p:sp>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333</TotalTime>
  <Words>7128</Words>
  <Application>Microsoft Office PowerPoint</Application>
  <PresentationFormat>A4 Paper (210x297 mm)</PresentationFormat>
  <Paragraphs>670</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52</cp:revision>
  <dcterms:created xsi:type="dcterms:W3CDTF">2026-02-06T21:19:28Z</dcterms:created>
  <dcterms:modified xsi:type="dcterms:W3CDTF">2026-02-25T04:53:24Z</dcterms:modified>
</cp:coreProperties>
</file>